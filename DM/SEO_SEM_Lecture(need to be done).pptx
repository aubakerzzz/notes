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9" r:id="rId23"/>
    <p:sldId id="303" r:id="rId24"/>
    <p:sldId id="304" r:id="rId25"/>
    <p:sldId id="300" r:id="rId26"/>
    <p:sldId id="301" r:id="rId27"/>
    <p:sldId id="302" r:id="rId28"/>
    <p:sldId id="305" r:id="rId29"/>
    <p:sldId id="277" r:id="rId30"/>
    <p:sldId id="278" r:id="rId31"/>
    <p:sldId id="292" r:id="rId32"/>
    <p:sldId id="296" r:id="rId33"/>
    <p:sldId id="298" r:id="rId34"/>
    <p:sldId id="297" r:id="rId35"/>
    <p:sldId id="293" r:id="rId36"/>
    <p:sldId id="294" r:id="rId37"/>
    <p:sldId id="295" r:id="rId38"/>
    <p:sldId id="279" r:id="rId39"/>
    <p:sldId id="283" r:id="rId40"/>
    <p:sldId id="284" r:id="rId41"/>
    <p:sldId id="285" r:id="rId42"/>
    <p:sldId id="286" r:id="rId43"/>
    <p:sldId id="287" r:id="rId44"/>
    <p:sldId id="288" r:id="rId45"/>
    <p:sldId id="290" r:id="rId46"/>
    <p:sldId id="291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456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031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7.png"/><Relationship Id="rId5" Type="http://schemas.openxmlformats.org/officeDocument/2006/relationships/image" Target="../media/image35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2.png"/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1.png"/><Relationship Id="rId5" Type="http://schemas.openxmlformats.org/officeDocument/2006/relationships/image" Target="../media/image47.png"/><Relationship Id="rId15" Type="http://schemas.openxmlformats.org/officeDocument/2006/relationships/image" Target="../media/image7.png"/><Relationship Id="rId10" Type="http://schemas.openxmlformats.org/officeDocument/2006/relationships/image" Target="../media/image50.png"/><Relationship Id="rId4" Type="http://schemas.openxmlformats.org/officeDocument/2006/relationships/image" Target="../media/image18.png"/><Relationship Id="rId9" Type="http://schemas.openxmlformats.org/officeDocument/2006/relationships/image" Target="../media/image13.png"/><Relationship Id="rId1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31089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&amp; SEM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Lecture Guide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00" cy="457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06040"/>
            <a:ext cx="3291840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26243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Optimization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2606040"/>
            <a:ext cx="3291840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4096512" y="26243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Marketing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• Keyword Research • On/Off/Technical SEO • Schema Markup • Backlink Types &amp; Strategies • Black/Grey Hat • E-E-A-T • Google Ads • Meta Tags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050792"/>
            <a:ext cx="256032" cy="2560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874520" y="3931920"/>
            <a:ext cx="502920" cy="502920"/>
          </a:xfrm>
          <a:prstGeom prst="ellipse">
            <a:avLst/>
          </a:prstGeom>
          <a:solidFill>
            <a:srgbClr val="00897B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4050792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291840" y="3931920"/>
            <a:ext cx="502920" cy="5029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4050792"/>
            <a:ext cx="256032" cy="2560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09160" y="3931920"/>
            <a:ext cx="502920" cy="502920"/>
          </a:xfrm>
          <a:prstGeom prst="ellipse">
            <a:avLst/>
          </a:prstGeom>
          <a:solidFill>
            <a:srgbClr val="4A148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050792"/>
            <a:ext cx="256032" cy="256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26480" y="39319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4050792"/>
            <a:ext cx="256032" cy="25603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543800" y="3931920"/>
            <a:ext cx="502920" cy="502920"/>
          </a:xfrm>
          <a:prstGeom prst="ellipse">
            <a:avLst/>
          </a:prstGeom>
          <a:solidFill>
            <a:srgbClr val="F57F17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2672" y="405079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Series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SEO?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1E88E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(Search Engine Optimization)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practice of optimizing a website to rank higher in organic (unpaid) search engine results pages (SERPs) to increase visibility and drive targeted traffic.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5760" y="237744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71600" y="2514600"/>
            <a:ext cx="594360" cy="594360"/>
          </a:xfrm>
          <a:prstGeom prst="ellipse">
            <a:avLst/>
          </a:prstGeom>
          <a:solidFill>
            <a:srgbClr val="00897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" y="264261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Traffic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36393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non-paid, natural search results that appear based on relevance and authority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00400" y="237744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06240" y="2514600"/>
            <a:ext cx="594360" cy="59436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264261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9184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Strategy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91840" y="36393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take time but provide sustainable, cost-effective traffic growth over months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35040" y="237744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40880" y="2514600"/>
            <a:ext cx="594360" cy="5943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752" y="2642616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2648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Process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126480" y="36393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use 200+ ranking factors including content quality, links, and technical health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7F1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SEM?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0D47A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(Search Engine Marketing)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digital marketing strategy that uses paid advertising to increase a website's visibility in SERPs, most commonly through Google Ads (PPC campaigns).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196596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331720"/>
            <a:ext cx="1965960" cy="45720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Ads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8803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Pay-Per-Click: Pay only when someone clicks your ad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87168" y="2331720"/>
            <a:ext cx="196596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2331720"/>
            <a:ext cx="1965960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4" name="Text 11"/>
          <p:cNvSpPr/>
          <p:nvPr/>
        </p:nvSpPr>
        <p:spPr>
          <a:xfrm>
            <a:off x="25603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Ads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78608" y="28803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banner ads shown across Google's network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08576" y="2331720"/>
            <a:ext cx="196596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08576" y="2331720"/>
            <a:ext cx="196596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8" name="Text 15"/>
          <p:cNvSpPr/>
          <p:nvPr/>
        </p:nvSpPr>
        <p:spPr>
          <a:xfrm>
            <a:off x="4681728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Ads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00016" y="28803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listings with image, price, and store name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29984" y="2331720"/>
            <a:ext cx="196596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29984" y="2331720"/>
            <a:ext cx="196596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19"/>
          <p:cNvSpPr/>
          <p:nvPr/>
        </p:nvSpPr>
        <p:spPr>
          <a:xfrm>
            <a:off x="6803136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21424" y="288036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who've previously visited your website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SEM is an umbrella term. In practice, SEM often refers specifically to paid advertising.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vs SEM: Key Differences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247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54680" y="1097280"/>
            <a:ext cx="2743200" cy="457200"/>
          </a:xfrm>
          <a:prstGeom prst="rect">
            <a:avLst/>
          </a:prstGeom>
          <a:solidFill>
            <a:srgbClr val="1A6632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1247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743200" cy="457200"/>
          </a:xfrm>
          <a:prstGeom prst="rect">
            <a:avLst/>
          </a:prstGeom>
          <a:solidFill>
            <a:srgbClr val="B8370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1247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(Paid)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60020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(time investment)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3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per click/impression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30552"/>
            <a:ext cx="2743200" cy="5029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54680" y="2130552"/>
            <a:ext cx="2743200" cy="5029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 to see results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130552"/>
            <a:ext cx="2743200" cy="5029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3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visibility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660904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7066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54680" y="2660904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27066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Long-lasting results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660904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27066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3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when budget ends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191256"/>
            <a:ext cx="2743200" cy="5029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2369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54680" y="3191256"/>
            <a:ext cx="2743200" cy="5029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2" name="Text 30"/>
          <p:cNvSpPr/>
          <p:nvPr/>
        </p:nvSpPr>
        <p:spPr>
          <a:xfrm>
            <a:off x="3246120" y="32369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user trust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3191256"/>
            <a:ext cx="2743200" cy="5029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32369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3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(marked as 'Ad')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721608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54680" y="3721608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4612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keyword targeting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3721608"/>
            <a:ext cx="27432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3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demographic targeting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251960"/>
            <a:ext cx="2743200" cy="5029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297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54680" y="4251960"/>
            <a:ext cx="2743200" cy="5029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4" name="Text 42"/>
          <p:cNvSpPr/>
          <p:nvPr/>
        </p:nvSpPr>
        <p:spPr>
          <a:xfrm>
            <a:off x="3246120" y="4297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authority &amp; growth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35040" y="4251960"/>
            <a:ext cx="2743200" cy="5029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6" name="Text 44"/>
          <p:cNvSpPr/>
          <p:nvPr/>
        </p:nvSpPr>
        <p:spPr>
          <a:xfrm>
            <a:off x="6126480" y="4297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3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launches &amp; quick wins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DD8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SEO &amp; SEM Matter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4173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DD8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online experiences begin with a search engine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188720"/>
            <a:ext cx="1920240" cy="14173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DD8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42032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never scroll past the first page of results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1188720"/>
            <a:ext cx="1920240" cy="14173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DD8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18304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website traffic comes from organic search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03136" y="1188720"/>
            <a:ext cx="1920240" cy="141732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DD8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94576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searches conducted every single day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2926080"/>
            <a:ext cx="594360" cy="594360"/>
          </a:xfrm>
          <a:prstGeom prst="ellipse">
            <a:avLst/>
          </a:prstGeom>
          <a:solidFill>
            <a:srgbClr val="1E88E5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044952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20040" y="3593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Reach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0040" y="3977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your brand with users actively searching for your products/services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993392" y="283464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496312" y="2926080"/>
            <a:ext cx="594360" cy="59436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044952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039112" y="3593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039112" y="3977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provides the best ROI of any digital channel; SEM only costs when clicked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712464" y="283464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215384" y="2926080"/>
            <a:ext cx="594360" cy="594360"/>
          </a:xfrm>
          <a:prstGeom prst="ellipse">
            <a:avLst/>
          </a:prstGeom>
          <a:solidFill>
            <a:srgbClr val="F57F17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044952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758184" y="3593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Results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3758184" y="3977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rankings, clicks, conversions, and revenue with precise analytics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431536" y="283464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5934456" y="2926080"/>
            <a:ext cx="594360" cy="594360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3044952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77256" y="3593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477256" y="3977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Outrank competitors and capture market share in your niche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7150608" y="283464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653528" y="2926080"/>
            <a:ext cx="594360" cy="594360"/>
          </a:xfrm>
          <a:prstGeom prst="ellipse">
            <a:avLst/>
          </a:prstGeom>
          <a:solidFill>
            <a:srgbClr val="00897B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3044952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196328" y="3593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Credibility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7196328" y="39776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organic rankings build consumer trust and brand authority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SEO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697480" cy="384048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161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197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6002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tags, meta descriptions, content quality, keyword usage, headings (H1-H6), internal linking, image alt text, URL structure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54680" y="11430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143000"/>
            <a:ext cx="2697480" cy="384048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21615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1197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SEO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46120" y="16002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building, social media marketing, guest blogging, brand mentions, influencer outreach, directory submissions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143000"/>
            <a:ext cx="2697480" cy="384048"/>
          </a:xfrm>
          <a:prstGeom prst="rect">
            <a:avLst/>
          </a:prstGeom>
          <a:solidFill>
            <a:srgbClr val="F57F1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121615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1197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26480" y="16002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speed, mobile-friendliness, crawlability, site architecture, XML sitemaps, robots.txt, canonical tags, HTTPS security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74320" y="30632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063240"/>
            <a:ext cx="2697480" cy="384048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13639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" y="31181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65760" y="35204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Profile, local citations, NAP consistency (Name, Address, Phone), local keywords, review management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154680" y="30632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54680" y="3063240"/>
            <a:ext cx="2697480" cy="384048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7832" y="3136392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20440" y="31181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SEO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246120" y="35204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design, fast mobile load times, touch-friendly UI, AMP (Accelerated Mobile Pages), mobile-friendly content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35040" y="30632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35040" y="3063240"/>
            <a:ext cx="2697480" cy="384048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3136392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00800" y="31181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SEO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26480" y="35204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data/schema markup, faceted navigation, product descriptions, category pages, rich snippets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37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DD8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SEM (Paid Advertising)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69748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795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Ads (PPC)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4533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ads at top/bottom of SERPs. Triggered by keywords. Pay only when clicked.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"Buy Running Shoes" → Google Ad appears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9748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1795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54533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banner/image ads on Google Display Network (2M+ websites).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46120" y="2514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Image banner ad on a news website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43000"/>
            <a:ext cx="269748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1795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Ads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54533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listings with image, price, store name. High purchase intent.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Nike Air Max - $89.99 (product image)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269748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99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46557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Skippable/non-skippable video ads on YouTube.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4348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15-second ad before YouTube video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30632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3063240"/>
            <a:ext cx="269748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3099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Campaigns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46557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mobile apps across Google Search, Play Store, YouTube.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46120" y="44348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App install ad for a fitness app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30632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063240"/>
            <a:ext cx="269748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099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346557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who previously visited your site with tailored messaging.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44348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Ad for shoes user viewed but didn't buy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Research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8595360" cy="5943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 is the process of finding and analyzing search terms that users enter into search engines, to guide content strategy, SEO optimization, and paid ad campaigns.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Keyword Research Helps You Discover: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228600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359152"/>
            <a:ext cx="594360" cy="594360"/>
          </a:xfrm>
          <a:prstGeom prst="ellipse">
            <a:avLst/>
          </a:prstGeom>
          <a:solidFill>
            <a:srgbClr val="1E88E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4688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3017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Volume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0040" y="3383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searches per keyword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993392" y="228600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96312" y="2359152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24688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39112" y="3017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Difficulty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039112" y="3383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 it is to rank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712464" y="228600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15384" y="2359152"/>
            <a:ext cx="594360" cy="594360"/>
          </a:xfrm>
          <a:prstGeom prst="ellipse">
            <a:avLst/>
          </a:prstGeom>
          <a:solidFill>
            <a:srgbClr val="F57F1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246888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58184" y="3017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(Cost/Click)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758184" y="3383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advertisers pay per click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431536" y="228600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34456" y="2359152"/>
            <a:ext cx="594360" cy="594360"/>
          </a:xfrm>
          <a:prstGeom prst="ellipse">
            <a:avLst/>
          </a:prstGeom>
          <a:solidFill>
            <a:srgbClr val="00897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4184" y="246888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77256" y="3017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Intent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77256" y="3383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searcher wants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7150608" y="228600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653528" y="2359152"/>
            <a:ext cx="594360" cy="5943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3256" y="246888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96328" y="30175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Gaps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7196328" y="3383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competitors rank for that you don't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274320" y="4160520"/>
            <a:ext cx="8595360" cy="82296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5" name="Text 27"/>
          <p:cNvSpPr/>
          <p:nvPr/>
        </p:nvSpPr>
        <p:spPr>
          <a:xfrm>
            <a:off x="45720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Popular Tools: 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2103120" y="42519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Keyword Planner  •  Ahrefs  •  SEMrush  •  Moz  •  Ubersuggest  •  Google Trends  •  Answer The Public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for Keyword Selection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530352" cy="1188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161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481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searches. Higher volume = more traffic potential. Aim for balance.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00253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500–10,000+ for main keywords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15568"/>
            <a:ext cx="530352" cy="1188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1161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Difficulty (KD)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481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0–100. Beginners target KD &lt; 30. Authority sites target higher.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0" y="200253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sites: KD 0–30 | Established: KD 30–70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14016"/>
            <a:ext cx="530352" cy="1188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761488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2459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Intent Match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7797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keyword match what your page offers? Informational for blogs; transactional for products.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" y="330098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types: Informational, Navigational, Commercial, Transactional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414016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414016"/>
            <a:ext cx="530352" cy="1188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761488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03520" y="2459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Click (CPC)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7797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CPC = strong commercial/buying intent.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0" y="330098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CPC ($2+) = High commercial value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12464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12464"/>
            <a:ext cx="530352" cy="1188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059936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8680" y="3758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&amp; Context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40782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must align with your business, product, or content topic.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" y="459943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Would this keyword bring ideal customers?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712464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712464"/>
            <a:ext cx="530352" cy="1188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4059936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03520" y="3758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Analysis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40782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who's ranking on page 1. Major brands DA 80+? May be too competitive.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03520" y="459943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Domain Authority of top 10 results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DD83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by Search Intent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188720" cy="8686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152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Intent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4447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wants to learn. Not ready to buy yet.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"How does SEO work?" • "What is a backlink?"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55280" y="1298448"/>
            <a:ext cx="822960" cy="5029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3441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Low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075688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75688"/>
            <a:ext cx="1188720" cy="8686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" y="2532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21122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Navigational Intent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404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wants to find a specific website or brand.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0624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"Facebook login" • "Gmail inbox"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55280" y="2258568"/>
            <a:ext cx="822960" cy="5029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23042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Medium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035808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35808"/>
            <a:ext cx="1188720" cy="86868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74320" y="3493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3072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Intent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4480" y="3364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researching before making a purchase.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0624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"Best SEO tools 2024" • "Ahrefs review"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55280" y="3218688"/>
            <a:ext cx="822960" cy="5029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32644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Medium-High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995928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95928"/>
            <a:ext cx="1188720" cy="868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023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74320" y="4453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54480" y="40325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Intent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554480" y="4325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ready to take an action — buy, sign up, download.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20624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"Buy Nike shoes online" • "Free trial SEO tool"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955280" y="4178808"/>
            <a:ext cx="82296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0" name="Text 38"/>
          <p:cNvSpPr/>
          <p:nvPr/>
        </p:nvSpPr>
        <p:spPr>
          <a:xfrm>
            <a:off x="7955280" y="42245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Highest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Match Types (Google Ads)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69748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521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160020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671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Reach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may show for searches related to your keyword, including synonyms and related searches.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2514600" cy="6858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34381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Keyword: running shoes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"jogging sneakers", "athletic footwear"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41330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Maximum reach, discovers new audiences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Less relevant traffic, higher spend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111556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115568"/>
            <a:ext cx="2697480" cy="5029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1521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7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"keyword"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03320" y="2148840"/>
            <a:ext cx="1600200" cy="2743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21671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46120" y="2514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show when keyword phrase appears within the search.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401568"/>
            <a:ext cx="2514600" cy="6858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4" name="Text 22"/>
          <p:cNvSpPr/>
          <p:nvPr/>
        </p:nvSpPr>
        <p:spPr>
          <a:xfrm>
            <a:off x="3319272" y="34381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"running shoes"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"buy running shoes", "cheap running shoes"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46120" y="41330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Balanced reach and relevance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4434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May miss some variations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11556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115568"/>
            <a:ext cx="269748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1521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[keyword]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83680" y="2148840"/>
            <a:ext cx="160020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1671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Reach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514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show only for exact keyword or very close variants.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401568"/>
            <a:ext cx="2514600" cy="6858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5" name="Text 33"/>
          <p:cNvSpPr/>
          <p:nvPr/>
        </p:nvSpPr>
        <p:spPr>
          <a:xfrm>
            <a:off x="6199632" y="34381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[running shoes]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"running shoes", "run shoes"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26480" y="41330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Most relevant traffic, best ROI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4434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Limited reach, lower volume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Keywords: Prevent ads showing for irrelevant searches. Adding 'free' as negative for a paid product prevents budget waste.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Long-Tail vs Short-Tail Keywords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6052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247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Short-Tail Keywords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 Terms — 1–2 words)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160520" cy="4572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19933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"shoes" • "SEO" • "diet"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4160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(10K–1M+/mo)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4160520" cy="4572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9443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2944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46704"/>
            <a:ext cx="4160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4198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00200" y="34198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(vague intent)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4160520" cy="4572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8953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8953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awareness, large authority sites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4160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370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(CPC):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4370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Expensive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109728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097280"/>
            <a:ext cx="41605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1247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Keywords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00600" y="15727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(3+ words — specific phrases)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1920240"/>
            <a:ext cx="4160520" cy="4572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993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19933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running shoes for flat feet"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395728"/>
            <a:ext cx="4160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 (50–2,000/mo)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871216"/>
            <a:ext cx="4160520" cy="4572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9443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2944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 Medium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346704"/>
            <a:ext cx="4160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4198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34198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(specific intent)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3822192"/>
            <a:ext cx="4160520" cy="4572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8953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35040" y="38953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sites, niche targeting, conversions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4297680"/>
            <a:ext cx="4160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4370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(CPC):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35040" y="4370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more affordable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Strategy: Use long-tail keywords to build traffic quickly, then pursue short-tail as your authority grows. 70% of all searches are long-tail.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in Keyword Research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115568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261872"/>
            <a:ext cx="530352" cy="53035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1289304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Goals &amp; Niche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15087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target audience, business objectives, and topic area.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1115568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1261872"/>
            <a:ext cx="530352" cy="530352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3" name="Text 10"/>
          <p:cNvSpPr/>
          <p:nvPr/>
        </p:nvSpPr>
        <p:spPr>
          <a:xfrm>
            <a:off x="4782312" y="1289304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394960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Seed Keywords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94960" y="15087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core topics and broad terms. Think like your customer.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075688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" y="2221992"/>
            <a:ext cx="530352" cy="5303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" y="2249424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60120" y="2130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Keyword Research Tools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0120" y="24688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seed keywords into Keyword Planner, Ahrefs, or SEMrush.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09160" y="2075688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82312" y="2221992"/>
            <a:ext cx="530352" cy="530352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23" name="Text 20"/>
          <p:cNvSpPr/>
          <p:nvPr/>
        </p:nvSpPr>
        <p:spPr>
          <a:xfrm>
            <a:off x="4782312" y="2249424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394960" y="2130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Volume &amp; Difficulty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394960" y="24688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monthly search volume (&gt;100) and keyword difficulty score.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3035808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182112"/>
            <a:ext cx="530352" cy="53035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8" name="Text 25"/>
          <p:cNvSpPr/>
          <p:nvPr/>
        </p:nvSpPr>
        <p:spPr>
          <a:xfrm>
            <a:off x="347472" y="3209544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60120" y="3090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Search Intent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60120" y="34290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keyword by intent. Match intent to your page type.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09160" y="3035808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82312" y="3182112"/>
            <a:ext cx="530352" cy="53035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3" name="Text 30"/>
          <p:cNvSpPr/>
          <p:nvPr/>
        </p:nvSpPr>
        <p:spPr>
          <a:xfrm>
            <a:off x="4782312" y="3209544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394960" y="3090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Competitor Keywords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394960" y="34290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keywords competitors rank for. Identify content gaps.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4320" y="3995928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47472" y="4142232"/>
            <a:ext cx="530352" cy="530352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8" name="Text 35"/>
          <p:cNvSpPr/>
          <p:nvPr/>
        </p:nvSpPr>
        <p:spPr>
          <a:xfrm>
            <a:off x="347472" y="4169664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96012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&amp; Create List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60120" y="43891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by opportunity. Build master spreadsheet with primary, secondary, LSI keywords.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709160" y="3995928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782312" y="4142232"/>
            <a:ext cx="530352" cy="530352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43" name="Text 40"/>
          <p:cNvSpPr/>
          <p:nvPr/>
        </p:nvSpPr>
        <p:spPr>
          <a:xfrm>
            <a:off x="4782312" y="4169664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539496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Keywords to Pages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394960" y="43891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1 primary keyword per page. Avoid keyword cannibalization.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SEO: The Three Pillars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697480" cy="777240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527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161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1545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 your website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19659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Tags &amp; Meta Descriptions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4048" y="2295144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Optimization in Content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4048" y="262432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Structure (H1, H2, H3...)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295351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Structure &amp; Slug Optimization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4048" y="3282696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 Strategy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61188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Alt Text &amp; File Names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84048" y="3941064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Quality &amp; Depth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84048" y="427024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(UX) Signals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84048" y="459943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 / Structured Data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54680" y="1115568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54680" y="1115568"/>
            <a:ext cx="2697480" cy="77724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52728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813048" y="1161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SEO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813048" y="1545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OUTSIDE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264408" y="19659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 Building (Quality Links)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264408" y="2295144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Blogging &amp; Outreach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264408" y="262432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Signals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264408" y="295351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Mentions &amp; Citations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264408" y="3282696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Marketing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264408" y="361188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Releases &amp; PR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264408" y="3941064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Participation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264408" y="427024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Listings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264408" y="459943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 Campaigns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035040" y="1115568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035040" y="1115568"/>
            <a:ext cx="2697480" cy="777240"/>
          </a:xfrm>
          <a:prstGeom prst="rect">
            <a:avLst/>
          </a:prstGeom>
          <a:solidFill>
            <a:srgbClr val="BF6000"/>
          </a:solidFill>
          <a:ln/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52728"/>
            <a:ext cx="457200" cy="4572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693408" y="1161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6693408" y="1545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health of your site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144768" y="19659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Speed (Core Web Vitals)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6144768" y="2295144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Responsiveness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144768" y="262432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(HTTPS)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6144768" y="295351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Sitemap Submission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6144768" y="3282696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Configuration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6144768" y="361188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Tags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6144768" y="3941064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Crawlability &amp; Indexability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6144768" y="427024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/ Schema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6144768" y="459943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404 Errors &amp; Redirects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On-Page SEO — In Depth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97280"/>
            <a:ext cx="109728" cy="12344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143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Tag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4447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on-page factor. Include primary keyword near start. Keep under 60 characters.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19659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&lt;title&gt;Buy Running Shoes Online | BestShoes.com&lt;/title&gt;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09160" y="10972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97280"/>
            <a:ext cx="109728" cy="12344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143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447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160-character summary in SERPs. Affects CTR. Include keyword and call-to-action.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92040" y="19659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the best running shoes for all surfaces. Free shipping over $50. Shop now!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24231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423160"/>
            <a:ext cx="10972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4688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Tags (H1–H6)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277063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= main heading (1 per page, primary keyword). H2–H3 = subheadings for structure.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32918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&lt;h1&gt;Best Running Shoes for 2024&lt;/h1&gt;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&lt;h2&gt;Trail Running Shoes&lt;/h2&gt;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09160" y="24231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2423160"/>
            <a:ext cx="109728" cy="123444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24688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Placement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92040" y="277063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primary keyword in H1, first 100 words, title, URL, meta. Avoid keyword stuffing.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92040" y="32918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 density: 1–2%. Use LSI keywords throughout.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374904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3749040"/>
            <a:ext cx="109728" cy="1234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37947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Structure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40965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descriptive URLs with keywords. Use hyphens not underscores.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46177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Good: /best-running-shoes-men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Bad: /product?id=12345&amp;cat=shoes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709160" y="374904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09160" y="3749040"/>
            <a:ext cx="109728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30"/>
          <p:cNvSpPr/>
          <p:nvPr/>
        </p:nvSpPr>
        <p:spPr>
          <a:xfrm>
            <a:off x="4892040" y="37947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Quality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92040" y="40965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E-E-A-T: Experience, Expertise, Authoritativeness, Trustworthiness. 1500+ words ranks better.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92040" y="46177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 topics comprehensively. Add images, videos, FAQs, tables.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Off-Page SEO — In Depth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Off-Page SEO factor is BACKLINKS — links from other websites pointing to yours. Google sees backlinks as votes of confidence.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4320" y="182880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828800"/>
            <a:ext cx="269748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86537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194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backlinks from high DA websites. Quality over quantity.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29077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Guest posts, broken link building, skyscraper technique, resource pages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54680" y="182880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828800"/>
            <a:ext cx="2697480" cy="3200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2"/>
          <p:cNvSpPr/>
          <p:nvPr/>
        </p:nvSpPr>
        <p:spPr>
          <a:xfrm>
            <a:off x="3246120" y="186537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Blogging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46120" y="2194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valuable articles for other industry blogs. Include a link back to your site.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246120" y="29077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Find sites: site:example.com "write for us"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35040" y="182880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1828800"/>
            <a:ext cx="2697480" cy="3200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186537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Signals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2194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Shares, likes, and engagement on social media indirectly boost SEO.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126480" y="29077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Share on LinkedIn, Twitter/X, Pinterest, Facebook consistently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4320" y="347472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474720"/>
            <a:ext cx="2697480" cy="32004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351129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Mentions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3840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Unlinked brand mentions help SEO. Convert unlinked mentions into backlinks.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45537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Use Google Alerts or Ahrefs to find brand mentions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154680" y="347472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154680" y="3474720"/>
            <a:ext cx="2697480" cy="3200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0" name="Text 27"/>
          <p:cNvSpPr/>
          <p:nvPr/>
        </p:nvSpPr>
        <p:spPr>
          <a:xfrm>
            <a:off x="3246120" y="351129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Citations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246120" y="3840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consistency across directories boosts local SEO.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246120" y="45537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Submit to: Google Business Profile, Yelp, Yellow Pages, Bing Places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035040" y="347472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035040" y="3474720"/>
            <a:ext cx="2697480" cy="320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5" name="Text 32"/>
          <p:cNvSpPr/>
          <p:nvPr/>
        </p:nvSpPr>
        <p:spPr>
          <a:xfrm>
            <a:off x="6126480" y="351129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126480" y="3840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newsworthy content to earn links from news sites and high-authority publications.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126480" y="45537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Data studies, surveys, infographics, expert quotes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F6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7F1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SEO — In Depth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97280"/>
            <a:ext cx="2011680" cy="347472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133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Core Web Vitals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15087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(&lt; 2.5s), FID/INP (&lt; 200ms), CLS (&lt; 0.1). Direct ranking factor since 2021.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50592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1097280"/>
            <a:ext cx="2011680" cy="3474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9"/>
          <p:cNvSpPr/>
          <p:nvPr/>
        </p:nvSpPr>
        <p:spPr>
          <a:xfrm>
            <a:off x="2542032" y="1133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Mobile-First Indexing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42032" y="15087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uses mobile version for indexing. Responsive design is mandatory.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26864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26864" y="1097280"/>
            <a:ext cx="201168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4718304" y="1133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HTTPS Security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18304" y="15087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certificates encrypt data and are a confirmed ranking signal.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03136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03136" y="1097280"/>
            <a:ext cx="201168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7"/>
          <p:cNvSpPr/>
          <p:nvPr/>
        </p:nvSpPr>
        <p:spPr>
          <a:xfrm>
            <a:off x="6894576" y="1133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Site Architecture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94576" y="15087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hierarchy: every page reachable in 3 clicks. Use breadcrumbs.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297180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2971800"/>
            <a:ext cx="201168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XML Sitemap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65760" y="33832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sitemap.xml to Google Search Console. Lists all important pages.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450592" y="297180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450592" y="2971800"/>
            <a:ext cx="201168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5"/>
          <p:cNvSpPr/>
          <p:nvPr/>
        </p:nvSpPr>
        <p:spPr>
          <a:xfrm>
            <a:off x="2542032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Robots.txt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42032" y="33832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which pages search engines can crawl. Block admin/thin pages.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626864" y="297180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26864" y="2971800"/>
            <a:ext cx="201168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29"/>
          <p:cNvSpPr/>
          <p:nvPr/>
        </p:nvSpPr>
        <p:spPr>
          <a:xfrm>
            <a:off x="4718304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Canonical Tags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718304" y="33832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 content issues. Tell Google the 'official' URL.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803136" y="297180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803136" y="2971800"/>
            <a:ext cx="2011680" cy="3474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6" name="Text 33"/>
          <p:cNvSpPr/>
          <p:nvPr/>
        </p:nvSpPr>
        <p:spPr>
          <a:xfrm>
            <a:off x="6894576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🕷️ Crawl Budget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894576" y="33832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Googlebot crawls important pages. Fix crawl errors in Search Console.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18872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On-Page SEO — Types &amp; What They Cover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5760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control directly within your website pages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1078992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1078992"/>
            <a:ext cx="2788920" cy="347472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1133856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" y="11155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Optimization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0040" y="1499616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keyword in title, H1, first paragraph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" y="178308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density 1–2% (natural usage)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20040" y="2066544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LSI / semantic keywords throughout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20040" y="2350008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topic comprehensively (pillar pages)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20040" y="263347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FAQs, tables, images, infographics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172968" y="1078992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172968" y="1078992"/>
            <a:ext cx="2788920" cy="347472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13385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20440" y="11155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 Optimization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264408" y="1499616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 tag: 50–60 chars, keyword first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264408" y="178308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&lt;meta description&gt;: 150–160 chars + CTA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264408" y="2066544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H1–H6 hierarchy with keyword variations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264408" y="2350008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&lt;alt&gt; text describing image content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264408" y="263347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 for rich snippets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117336" y="1078992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117336" y="1078992"/>
            <a:ext cx="2788920" cy="347472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133856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64808" y="11155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&amp; Site Structure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208776" y="1499616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descriptive slugs with hyphens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208776" y="178308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included in URL path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208776" y="2066544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breadcrumb navigation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208776" y="2350008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 to related pages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208776" y="263347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tags for duplicate content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228600" y="3072384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228600" y="3072384"/>
            <a:ext cx="2788920" cy="347472"/>
          </a:xfrm>
          <a:prstGeom prst="rect">
            <a:avLst/>
          </a:prstGeom>
          <a:solidFill>
            <a:srgbClr val="F57F17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" y="3127248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76072" y="310896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Engagement Signals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20040" y="3493008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page load speed (&lt; 2.5 sec)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320040" y="377647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layout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320040" y="4059936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CTA buttons and navigation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320040" y="434340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bounce rate with engaging content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320040" y="4626864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dwell time with multimedia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3172968" y="3072384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3172968" y="3072384"/>
            <a:ext cx="2788920" cy="347472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127248"/>
            <a:ext cx="228600" cy="2286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520440" y="310896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Media SEO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3264408" y="3493008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file names (keyword-slug.jpg)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3264408" y="377647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for every image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3264408" y="4059936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images (WebP format)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3264408" y="434340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for images below fold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3264408" y="4626864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transcripts for accessibility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6117336" y="3072384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6117336" y="3072384"/>
            <a:ext cx="2788920" cy="347472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127248"/>
            <a:ext cx="228600" cy="22860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6464808" y="310896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</a:t>
            </a:r>
            <a:endParaRPr lang="en-US" sz="1100" dirty="0"/>
          </a:p>
        </p:txBody>
      </p:sp>
      <p:sp>
        <p:nvSpPr>
          <p:cNvPr id="56" name="Text 47"/>
          <p:cNvSpPr/>
          <p:nvPr/>
        </p:nvSpPr>
        <p:spPr>
          <a:xfrm>
            <a:off x="6208776" y="3493008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related pages with keyword anchor text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6208776" y="377647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PageRank across site</a:t>
            </a:r>
            <a:endParaRPr lang="en-US" sz="900" dirty="0"/>
          </a:p>
        </p:txBody>
      </p:sp>
      <p:sp>
        <p:nvSpPr>
          <p:cNvPr id="58" name="Text 49"/>
          <p:cNvSpPr/>
          <p:nvPr/>
        </p:nvSpPr>
        <p:spPr>
          <a:xfrm>
            <a:off x="6208776" y="4059936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hub-and-spoke (pillar) model</a:t>
            </a:r>
            <a:endParaRPr lang="en-US" sz="900" dirty="0"/>
          </a:p>
        </p:txBody>
      </p:sp>
      <p:sp>
        <p:nvSpPr>
          <p:cNvPr id="59" name="Text 50"/>
          <p:cNvSpPr/>
          <p:nvPr/>
        </p:nvSpPr>
        <p:spPr>
          <a:xfrm>
            <a:off x="6208776" y="4343400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broken internal links regularly</a:t>
            </a:r>
            <a:endParaRPr lang="en-US" sz="900" dirty="0"/>
          </a:p>
        </p:txBody>
      </p:sp>
      <p:sp>
        <p:nvSpPr>
          <p:cNvPr id="60" name="Text 51"/>
          <p:cNvSpPr/>
          <p:nvPr/>
        </p:nvSpPr>
        <p:spPr>
          <a:xfrm>
            <a:off x="6208776" y="4626864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links per page to maintain value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18872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On-Page SEO — Step-by-Step How To Do It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5760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checklist for every page you want to rank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1078992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261872"/>
            <a:ext cx="548640" cy="5486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28930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1124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 First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3990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primary keyword + 3–5 secondary/LSI keywords for the page. Use Ahrefs, SEMrush, or Google Keyword Planner. Check search intent.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0120" y="17556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Tool: Ahrefs → Keywords Explorer → filter by KD &lt; 40 and volume &gt; 500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9160" y="1078992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1261872"/>
            <a:ext cx="548640" cy="5486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128930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40680" y="1124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Your Title Tag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40680" y="13990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compelling title: [Primary Keyword] + [Benefit/Modifier] | [Brand]. Keep under 60 characters.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40680" y="17556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Example: "Best SEO Tools 2024 – Ranked &amp; Reviewed | SearchPro"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28600" y="2084832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" y="2267712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8"/>
          <p:cNvSpPr/>
          <p:nvPr/>
        </p:nvSpPr>
        <p:spPr>
          <a:xfrm>
            <a:off x="320040" y="229514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60120" y="21305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Meta Description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" y="2404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150–160 character summary. Include primary keyword. Add compelling call-to-action.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60120" y="27614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Example: "Discover the 10 best SEO tools tested by experts. Start free today!"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709160" y="2084832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00600" y="2267712"/>
            <a:ext cx="548640" cy="548640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27" name="Text 24"/>
          <p:cNvSpPr/>
          <p:nvPr/>
        </p:nvSpPr>
        <p:spPr>
          <a:xfrm>
            <a:off x="4800600" y="229514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40680" y="21305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Content (H1–H6)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40680" y="2404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H1 per page with primary keyword. H2 for main sections, H3 for subsections. Write 1,500+ words for informational content.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440680" y="27614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Structure: H1 (topic) → H2 (subtopic 1) → H3 (detail) → H2 (subtopic 2)...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28600" y="3090672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20040" y="3273552"/>
            <a:ext cx="548640" cy="54864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3" name="Text 30"/>
          <p:cNvSpPr/>
          <p:nvPr/>
        </p:nvSpPr>
        <p:spPr>
          <a:xfrm>
            <a:off x="320040" y="330098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60120" y="3136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Images &amp; Media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60120" y="3410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files: 'seo-tools-comparison.jpg' not 'IMG_001.jpg'. Add alt text. Compress to &lt; 200KB. Use WebP format.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60120" y="376732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Alt: alt="SEMrush vs Ahrefs comparison table 2024"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709160" y="3090672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800600" y="3273552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9" name="Text 36"/>
          <p:cNvSpPr/>
          <p:nvPr/>
        </p:nvSpPr>
        <p:spPr>
          <a:xfrm>
            <a:off x="4800600" y="330098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440680" y="3136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 Strategy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40680" y="3410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3–5 internal links to related pages using descriptive anchor text. Link from high-authority pages to new pages.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440680" y="376732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Example: anchor "keyword research guide" → links to your guide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228600" y="4096512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20040" y="4279392"/>
            <a:ext cx="548640" cy="54864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45" name="Text 42"/>
          <p:cNvSpPr/>
          <p:nvPr/>
        </p:nvSpPr>
        <p:spPr>
          <a:xfrm>
            <a:off x="320040" y="430682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960120" y="4142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Page Speed &amp; UX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60120" y="4416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Core Web Vitals: LCP &lt; 2.5s, CLS &lt; 0.1, INP &lt; 200ms. Use Google PageSpeed Insights.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960120" y="47731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Test: pagespeed.web.dev — aim for 90+ score on mobile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709160" y="4096512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800600" y="4279392"/>
            <a:ext cx="548640" cy="5486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51" name="Text 48"/>
          <p:cNvSpPr/>
          <p:nvPr/>
        </p:nvSpPr>
        <p:spPr>
          <a:xfrm>
            <a:off x="4800600" y="430682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5440680" y="4142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Schema Markup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440680" y="4416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structured data (JSON-LD) for Article, Product, FAQ, How-To, Review. Helps display rich snippets.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5440680" y="47731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Use Schema.org or RankMath / Yoast plugins to auto-generate schema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18872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Off-Page SEO — Types &amp; Strategies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5760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authority, trust and signals from outside your website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1078992"/>
            <a:ext cx="8686800" cy="38404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SEO = everything done OUTSIDE your website to improve rankings. The core idea: earn signals that prove your site is trusted and authoritative.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8600" y="1554480"/>
            <a:ext cx="278892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1554480"/>
            <a:ext cx="2788920" cy="329184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6002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0040" y="1920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quality backlinks from authoritative sites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20040" y="21579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posting on niche blogs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20040" y="23865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link building (replace dead links)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20040" y="26151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Skyscraper technique (better content → steal links)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20040" y="28437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page link building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20040" y="30723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HARO (Help A Reporter Out) for PR links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172968" y="1554480"/>
            <a:ext cx="278892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172968" y="1554480"/>
            <a:ext cx="2788920" cy="329184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0020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11296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 &amp; Brand Mentions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64408" y="1920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featured in media, earn brand authority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3264408" y="21579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original data/research studies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3264408" y="23865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shareable infographics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3264408" y="26151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press releases for newsworthy events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3264408" y="28437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journalist queries (HARO, Qwoted)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3264408" y="30723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industry events or podcasts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117336" y="1554480"/>
            <a:ext cx="278892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117336" y="1554480"/>
            <a:ext cx="2788920" cy="329184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600200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55664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208776" y="1920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content others naturally link to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6208776" y="21579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ultimate guides (5,000+ words)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6208776" y="23865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research and statistics pages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6208776" y="26151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tools, calculators, templates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6208776" y="28437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content (X vs Y)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6208776" y="307238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topic newsjacking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228600" y="3364992"/>
            <a:ext cx="278892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228600" y="3364992"/>
            <a:ext cx="2788920" cy="329184"/>
          </a:xfrm>
          <a:prstGeom prst="rect">
            <a:avLst/>
          </a:prstGeom>
          <a:solidFill>
            <a:srgbClr val="F57F17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" y="3410712"/>
            <a:ext cx="219456" cy="21945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66928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Community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320040" y="37307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content and build brand signals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320040" y="39684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content across LinkedIn, X, Pinterest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320040" y="41970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community in Facebook/Reddit groups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320040" y="44256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in Quora with expert answers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320040" y="46542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channel with backlinks in descriptions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320040" y="48828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appearances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3172968" y="3364992"/>
            <a:ext cx="278892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3172968" y="3364992"/>
            <a:ext cx="2788920" cy="329184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410712"/>
            <a:ext cx="219456" cy="219456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3511296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 Signals</a:t>
            </a:r>
            <a:endParaRPr lang="en-US" sz="1100" dirty="0"/>
          </a:p>
        </p:txBody>
      </p:sp>
      <p:sp>
        <p:nvSpPr>
          <p:cNvPr id="53" name="Text 45"/>
          <p:cNvSpPr/>
          <p:nvPr/>
        </p:nvSpPr>
        <p:spPr>
          <a:xfrm>
            <a:off x="3264408" y="37307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businesses targeting local customers</a:t>
            </a:r>
            <a:endParaRPr lang="en-US" sz="850" dirty="0"/>
          </a:p>
        </p:txBody>
      </p:sp>
      <p:sp>
        <p:nvSpPr>
          <p:cNvPr id="54" name="Text 46"/>
          <p:cNvSpPr/>
          <p:nvPr/>
        </p:nvSpPr>
        <p:spPr>
          <a:xfrm>
            <a:off x="3264408" y="39684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optimization</a:t>
            </a:r>
            <a:endParaRPr lang="en-US" sz="850" dirty="0"/>
          </a:p>
        </p:txBody>
      </p:sp>
      <p:sp>
        <p:nvSpPr>
          <p:cNvPr id="55" name="Text 47"/>
          <p:cNvSpPr/>
          <p:nvPr/>
        </p:nvSpPr>
        <p:spPr>
          <a:xfrm>
            <a:off x="3264408" y="41970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NAP across 50+ directories</a:t>
            </a:r>
            <a:endParaRPr lang="en-US" sz="850" dirty="0"/>
          </a:p>
        </p:txBody>
      </p:sp>
      <p:sp>
        <p:nvSpPr>
          <p:cNvPr id="56" name="Text 48"/>
          <p:cNvSpPr/>
          <p:nvPr/>
        </p:nvSpPr>
        <p:spPr>
          <a:xfrm>
            <a:off x="3264408" y="44256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newspaper/blog features</a:t>
            </a:r>
            <a:endParaRPr lang="en-US" sz="850" dirty="0"/>
          </a:p>
        </p:txBody>
      </p:sp>
      <p:sp>
        <p:nvSpPr>
          <p:cNvPr id="57" name="Text 49"/>
          <p:cNvSpPr/>
          <p:nvPr/>
        </p:nvSpPr>
        <p:spPr>
          <a:xfrm>
            <a:off x="3264408" y="46542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sponsorships (charity, sports teams)</a:t>
            </a:r>
            <a:endParaRPr lang="en-US" sz="850" dirty="0"/>
          </a:p>
        </p:txBody>
      </p:sp>
      <p:sp>
        <p:nvSpPr>
          <p:cNvPr id="58" name="Text 50"/>
          <p:cNvSpPr/>
          <p:nvPr/>
        </p:nvSpPr>
        <p:spPr>
          <a:xfrm>
            <a:off x="3264408" y="48828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generation strategy</a:t>
            </a:r>
            <a:endParaRPr lang="en-US" sz="850" dirty="0"/>
          </a:p>
        </p:txBody>
      </p:sp>
      <p:sp>
        <p:nvSpPr>
          <p:cNvPr id="59" name="Shape 51"/>
          <p:cNvSpPr/>
          <p:nvPr/>
        </p:nvSpPr>
        <p:spPr>
          <a:xfrm>
            <a:off x="6117336" y="3364992"/>
            <a:ext cx="278892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52"/>
          <p:cNvSpPr/>
          <p:nvPr/>
        </p:nvSpPr>
        <p:spPr>
          <a:xfrm>
            <a:off x="6117336" y="3364992"/>
            <a:ext cx="2788920" cy="329184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410712"/>
            <a:ext cx="219456" cy="219456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6455664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&amp; Review Platforms</a:t>
            </a:r>
            <a:endParaRPr lang="en-US" sz="1100" dirty="0"/>
          </a:p>
        </p:txBody>
      </p:sp>
      <p:sp>
        <p:nvSpPr>
          <p:cNvPr id="63" name="Text 54"/>
          <p:cNvSpPr/>
          <p:nvPr/>
        </p:nvSpPr>
        <p:spPr>
          <a:xfrm>
            <a:off x="6208776" y="37307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signals and branded searches</a:t>
            </a:r>
            <a:endParaRPr lang="en-US" sz="850" dirty="0"/>
          </a:p>
        </p:txBody>
      </p:sp>
      <p:sp>
        <p:nvSpPr>
          <p:cNvPr id="64" name="Text 55"/>
          <p:cNvSpPr/>
          <p:nvPr/>
        </p:nvSpPr>
        <p:spPr>
          <a:xfrm>
            <a:off x="6208776" y="39684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Reddit, Quora meaningfully</a:t>
            </a:r>
            <a:endParaRPr lang="en-US" sz="850" dirty="0"/>
          </a:p>
        </p:txBody>
      </p:sp>
      <p:sp>
        <p:nvSpPr>
          <p:cNvPr id="65" name="Text 56"/>
          <p:cNvSpPr/>
          <p:nvPr/>
        </p:nvSpPr>
        <p:spPr>
          <a:xfrm>
            <a:off x="6208776" y="41970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all Google/Yelp reviews</a:t>
            </a:r>
            <a:endParaRPr lang="en-US" sz="850" dirty="0"/>
          </a:p>
        </p:txBody>
      </p:sp>
      <p:sp>
        <p:nvSpPr>
          <p:cNvPr id="66" name="Text 57"/>
          <p:cNvSpPr/>
          <p:nvPr/>
        </p:nvSpPr>
        <p:spPr>
          <a:xfrm>
            <a:off x="6208776" y="44256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presence on G2, Trustpilot, Capterra</a:t>
            </a:r>
            <a:endParaRPr lang="en-US" sz="850" dirty="0"/>
          </a:p>
        </p:txBody>
      </p:sp>
      <p:sp>
        <p:nvSpPr>
          <p:cNvPr id="67" name="Text 58"/>
          <p:cNvSpPr/>
          <p:nvPr/>
        </p:nvSpPr>
        <p:spPr>
          <a:xfrm>
            <a:off x="6208776" y="46542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on Stack Exchange</a:t>
            </a:r>
            <a:endParaRPr lang="en-US" sz="850" dirty="0"/>
          </a:p>
        </p:txBody>
      </p:sp>
      <p:sp>
        <p:nvSpPr>
          <p:cNvPr id="68" name="Text 59"/>
          <p:cNvSpPr/>
          <p:nvPr/>
        </p:nvSpPr>
        <p:spPr>
          <a:xfrm>
            <a:off x="6208776" y="488289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articles and newsletters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18872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Off-Page SEO — Step-by-Step Link Building Guide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5760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impactful off-page SEO activity — building a strong backlink profile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1078992"/>
            <a:ext cx="5074920" cy="2926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10972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BUILDING PROCESS (Step-by-Step)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8600" y="1444752"/>
            <a:ext cx="5074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536192"/>
            <a:ext cx="301752" cy="3017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292608" y="155448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" y="14813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Your Existing Backlinks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8368" y="16916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Ahrefs Site Explorer or SEMrush Backlink Audit. Check: total backlinks, referring domains, DA scores, toxic links. Disavow toxic links via Google Search Console.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28600" y="1965960"/>
            <a:ext cx="5074920" cy="475488"/>
          </a:xfrm>
          <a:prstGeom prst="rect">
            <a:avLst/>
          </a:prstGeom>
          <a:solidFill>
            <a:srgbClr val="E8EDF2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2608" y="2057400"/>
            <a:ext cx="301752" cy="301752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6" name="Text 13"/>
          <p:cNvSpPr/>
          <p:nvPr/>
        </p:nvSpPr>
        <p:spPr>
          <a:xfrm>
            <a:off x="292608" y="207568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" y="200253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Competitor Backlinks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8368" y="221284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Ahrefs: enter competitor URL → Backlinks report. Find sites linking to them but NOT you. These are your best outreach targets.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28600" y="2487168"/>
            <a:ext cx="5074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2608" y="2578608"/>
            <a:ext cx="301752" cy="30175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" y="25968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" y="252374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Link-Worthy Content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8368" y="273405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"linkable assets": original research, free tools, ultimate guides, data studies, infographics. Content must be 10x better than what ranks.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28600" y="3008376"/>
            <a:ext cx="5074920" cy="475488"/>
          </a:xfrm>
          <a:prstGeom prst="rect">
            <a:avLst/>
          </a:prstGeom>
          <a:solidFill>
            <a:srgbClr val="E8EDF2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92608" y="3099816"/>
            <a:ext cx="301752" cy="301752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26" name="Text 23"/>
          <p:cNvSpPr/>
          <p:nvPr/>
        </p:nvSpPr>
        <p:spPr>
          <a:xfrm>
            <a:off x="292608" y="311810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8368" y="304495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Guest Post Opportunities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58368" y="325526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Google: "your niche" + "write for us" / "guest post" / "submit article". Filter for sites DA &gt; 30 with real traffic.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28600" y="3529584"/>
            <a:ext cx="5074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92608" y="3621024"/>
            <a:ext cx="301752" cy="30175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1" name="Text 28"/>
          <p:cNvSpPr/>
          <p:nvPr/>
        </p:nvSpPr>
        <p:spPr>
          <a:xfrm>
            <a:off x="292608" y="363931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58368" y="35661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Outreach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58368" y="37764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personalized emails (NOT templates). Reference a specific post. Explain WHY your content adds value. Keep it short (under 150 words). Follow up once.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28600" y="4050792"/>
            <a:ext cx="5074920" cy="475488"/>
          </a:xfrm>
          <a:prstGeom prst="rect">
            <a:avLst/>
          </a:prstGeom>
          <a:solidFill>
            <a:srgbClr val="E8EDF2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292608" y="4142232"/>
            <a:ext cx="301752" cy="30175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6" name="Text 33"/>
          <p:cNvSpPr/>
          <p:nvPr/>
        </p:nvSpPr>
        <p:spPr>
          <a:xfrm>
            <a:off x="292608" y="416052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58368" y="408736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Link Building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58368" y="42976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Check My Links (Chrome extension) or Ahrefs to find broken links on relevant pages. Create replacement content. Email the site owner.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28600" y="4572000"/>
            <a:ext cx="5074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292608" y="4663440"/>
            <a:ext cx="301752" cy="301752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41" name="Text 38"/>
          <p:cNvSpPr/>
          <p:nvPr/>
        </p:nvSpPr>
        <p:spPr>
          <a:xfrm>
            <a:off x="292608" y="46817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58368" y="46085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Maintain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58368" y="48188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new/lost backlinks weekly in Ahrefs alerts. Reclaim lost links. Set Google Alerts for brand mentions. Convert unlinked mentions to backlinks.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486400" y="1078992"/>
            <a:ext cx="3429000" cy="2926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5" name="Text 42"/>
          <p:cNvSpPr/>
          <p:nvPr/>
        </p:nvSpPr>
        <p:spPr>
          <a:xfrm>
            <a:off x="5577840" y="1097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 QUALITY FACTORS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486400" y="1444752"/>
            <a:ext cx="34290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5486400" y="1444752"/>
            <a:ext cx="73152" cy="4754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8" name="Text 45"/>
          <p:cNvSpPr/>
          <p:nvPr/>
        </p:nvSpPr>
        <p:spPr>
          <a:xfrm>
            <a:off x="5632704" y="1481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Authority (DA)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5632704" y="1691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 (Aim for DA 40+)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5486400" y="1965960"/>
            <a:ext cx="3429000" cy="475488"/>
          </a:xfrm>
          <a:prstGeom prst="rect">
            <a:avLst/>
          </a:prstGeom>
          <a:solidFill>
            <a:srgbClr val="E8EDF2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486400" y="1965960"/>
            <a:ext cx="73152" cy="4754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2" name="Text 49"/>
          <p:cNvSpPr/>
          <p:nvPr/>
        </p:nvSpPr>
        <p:spPr>
          <a:xfrm>
            <a:off x="5632704" y="20025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5632704" y="2212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niche = 10x more valuable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5486400" y="2487168"/>
            <a:ext cx="34290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486400" y="2487168"/>
            <a:ext cx="73152" cy="47548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6" name="Text 53"/>
          <p:cNvSpPr/>
          <p:nvPr/>
        </p:nvSpPr>
        <p:spPr>
          <a:xfrm>
            <a:off x="5632704" y="2523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Placement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5632704" y="27340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In-content &gt; sidebar &gt; footer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5486400" y="3008376"/>
            <a:ext cx="3429000" cy="475488"/>
          </a:xfrm>
          <a:prstGeom prst="rect">
            <a:avLst/>
          </a:prstGeom>
          <a:solidFill>
            <a:srgbClr val="E8EDF2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5486400" y="3008376"/>
            <a:ext cx="73152" cy="47548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60" name="Text 57"/>
          <p:cNvSpPr/>
          <p:nvPr/>
        </p:nvSpPr>
        <p:spPr>
          <a:xfrm>
            <a:off x="5632704" y="3044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Text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5632704" y="32552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Mix: brand, naked URL, partial match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486400" y="3529584"/>
            <a:ext cx="34290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486400" y="3529584"/>
            <a:ext cx="73152" cy="47548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4" name="Text 61"/>
          <p:cNvSpPr/>
          <p:nvPr/>
        </p:nvSpPr>
        <p:spPr>
          <a:xfrm>
            <a:off x="5632704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DoFollow vs NoFollow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5632704" y="3776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DoFollow passes link juice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5486400" y="4050792"/>
            <a:ext cx="3429000" cy="475488"/>
          </a:xfrm>
          <a:prstGeom prst="rect">
            <a:avLst/>
          </a:prstGeom>
          <a:solidFill>
            <a:srgbClr val="E8EDF2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5486400" y="4050792"/>
            <a:ext cx="73152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8" name="Text 65"/>
          <p:cNvSpPr/>
          <p:nvPr/>
        </p:nvSpPr>
        <p:spPr>
          <a:xfrm>
            <a:off x="5632704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Referring Domains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5632704" y="4297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domains &gt; 1000 links from 5 sites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5486400" y="4572000"/>
            <a:ext cx="34290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5486400" y="4572000"/>
            <a:ext cx="73152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2" name="Text 69"/>
          <p:cNvSpPr/>
          <p:nvPr/>
        </p:nvSpPr>
        <p:spPr>
          <a:xfrm>
            <a:off x="5632704" y="46085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on Linking Page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5632704" y="48188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from pages with real traffic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FC012D-9C11-FA7F-3FCA-82391F7FD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30" y="212466"/>
            <a:ext cx="6219825" cy="781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D649A6-FF2A-A895-6918-FA9AD9070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30" y="1055331"/>
            <a:ext cx="67627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10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78429D-0DEB-3A1B-1A4D-9F32011EB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29" y="189819"/>
            <a:ext cx="6238875" cy="3457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C787E5-29BA-C264-481E-36231A8B2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00" y="3543300"/>
            <a:ext cx="564832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97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D2C07B-AF16-980D-4270-25CB6BAB0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16" y="292844"/>
            <a:ext cx="5667375" cy="2505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0181E1-93A5-2636-8623-4AE41C9AA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20" y="2692465"/>
            <a:ext cx="576262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75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96583F-1776-1ACC-5E3B-4063DB540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06" y="113134"/>
            <a:ext cx="6096000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29AD54-D279-60B0-ABC5-037899715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6" y="2399134"/>
            <a:ext cx="71056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68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40813-4DE9-8F47-6595-651B8D530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84" y="140055"/>
            <a:ext cx="6715125" cy="2847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D9ED3E-F7ED-94A4-CA25-F235E7687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96" y="2988030"/>
            <a:ext cx="66675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984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FB9562-960F-1458-D35C-5D14BBB8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46" y="677634"/>
            <a:ext cx="7808654" cy="422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01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27D05-4427-AD34-FBF3-39549410D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66" y="480623"/>
            <a:ext cx="8466673" cy="441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751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F6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7F1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18872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SEO — Areas &amp; What They Include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5760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that allows search engines to properly access, crawl, and index your site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82880" y="1078992"/>
            <a:ext cx="21031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1078992"/>
            <a:ext cx="2103120" cy="320040"/>
          </a:xfrm>
          <a:prstGeom prst="rect">
            <a:avLst/>
          </a:prstGeom>
          <a:solidFill>
            <a:srgbClr val="F57F1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1124712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11064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Crawlability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56032" y="144475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robots.txt: Allow/Disallow crawl paths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56032" y="169164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Sitemap submitted to Search Console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56032" y="193852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 for deep page discovery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56032" y="218541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budget optimization (large sites)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56032" y="243230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crawl errors in Search Console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56032" y="267919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orphan pages (every page linked)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423160" y="1078992"/>
            <a:ext cx="21031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423160" y="1078992"/>
            <a:ext cx="2103120" cy="320040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8" y="1124712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43200" y="11064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Indexability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496312" y="144475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robots: index vs noindex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2496312" y="169164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X-Robots-Tag for non-HTML files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496312" y="193852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tags prevent duplicate indexing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496312" y="218541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thin/low-quality pages or noindex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2496312" y="243230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handling (rel=next/prev)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496312" y="267919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for multilingual sites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4663440" y="1078992"/>
            <a:ext cx="21031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663440" y="1078992"/>
            <a:ext cx="2103120" cy="320040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1124712"/>
            <a:ext cx="210312" cy="2103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983480" y="11064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Speed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736592" y="144475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Vitals: LCP, CLS, INP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4736592" y="169164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compression (WebP / AVIF)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736592" y="193852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caching &amp; CDN setup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4736592" y="218541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Minify HTML, CSS, JavaScript files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4736592" y="243230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render-blocking resources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736592" y="267919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response time (&lt; 200ms TTFB)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6903720" y="1078992"/>
            <a:ext cx="21031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903720" y="1078992"/>
            <a:ext cx="2103120" cy="320040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1124712"/>
            <a:ext cx="210312" cy="21031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223760" y="11064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Optimization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6976872" y="144475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(adapts to screen size)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6976872" y="169164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indexing compliance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6976872" y="193852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target sizes (buttons ≥ 48px)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6976872" y="218541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size ≥ 16px on mobile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6976872" y="243230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intrusive interstitials (popups)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6976872" y="267919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Google Mobile-Friendly Test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182880" y="3072384"/>
            <a:ext cx="21031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182880" y="3072384"/>
            <a:ext cx="2103120" cy="32004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888" y="3118104"/>
            <a:ext cx="210312" cy="210312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02920" y="30998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Architecture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256032" y="343814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structure: max 3 clicks from homepage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256032" y="368503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URL hierarchy (/category/sub/)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256032" y="393192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navigation with schema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256032" y="417880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URL format (trailing slash or not)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256032" y="442569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across all pages (SSL certificate)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256032" y="467258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301 redirects (avoid chains/loops)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2423160" y="3072384"/>
            <a:ext cx="21031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2423160" y="3072384"/>
            <a:ext cx="2103120" cy="320040"/>
          </a:xfrm>
          <a:prstGeom prst="rect">
            <a:avLst/>
          </a:prstGeom>
          <a:solidFill>
            <a:srgbClr val="6A1B9A"/>
          </a:solidFill>
          <a:ln/>
        </p:spPr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7168" y="3118104"/>
            <a:ext cx="210312" cy="210312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2743200" y="30998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000" dirty="0"/>
          </a:p>
        </p:txBody>
      </p:sp>
      <p:sp>
        <p:nvSpPr>
          <p:cNvPr id="61" name="Text 52"/>
          <p:cNvSpPr/>
          <p:nvPr/>
        </p:nvSpPr>
        <p:spPr>
          <a:xfrm>
            <a:off x="2496312" y="343814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schema for Article, Product, FAQ</a:t>
            </a:r>
            <a:endParaRPr lang="en-US" sz="800" dirty="0"/>
          </a:p>
        </p:txBody>
      </p:sp>
      <p:sp>
        <p:nvSpPr>
          <p:cNvPr id="62" name="Text 53"/>
          <p:cNvSpPr/>
          <p:nvPr/>
        </p:nvSpPr>
        <p:spPr>
          <a:xfrm>
            <a:off x="2496312" y="368503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Business schema for local SEO</a:t>
            </a:r>
            <a:endParaRPr lang="en-US" sz="800" dirty="0"/>
          </a:p>
        </p:txBody>
      </p:sp>
      <p:sp>
        <p:nvSpPr>
          <p:cNvPr id="63" name="Text 54"/>
          <p:cNvSpPr/>
          <p:nvPr/>
        </p:nvSpPr>
        <p:spPr>
          <a:xfrm>
            <a:off x="2496312" y="393192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schema for navigation</a:t>
            </a:r>
            <a:endParaRPr lang="en-US" sz="800" dirty="0"/>
          </a:p>
        </p:txBody>
      </p:sp>
      <p:sp>
        <p:nvSpPr>
          <p:cNvPr id="64" name="Text 55"/>
          <p:cNvSpPr/>
          <p:nvPr/>
        </p:nvSpPr>
        <p:spPr>
          <a:xfrm>
            <a:off x="2496312" y="417880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Review/Rating schema for stars in SERPs</a:t>
            </a:r>
            <a:endParaRPr lang="en-US" sz="800" dirty="0"/>
          </a:p>
        </p:txBody>
      </p:sp>
      <p:sp>
        <p:nvSpPr>
          <p:cNvPr id="65" name="Text 56"/>
          <p:cNvSpPr/>
          <p:nvPr/>
        </p:nvSpPr>
        <p:spPr>
          <a:xfrm>
            <a:off x="2496312" y="442569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HowTo schema for step-by-step content</a:t>
            </a:r>
            <a:endParaRPr lang="en-US" sz="800" dirty="0"/>
          </a:p>
        </p:txBody>
      </p:sp>
      <p:sp>
        <p:nvSpPr>
          <p:cNvPr id="66" name="Text 57"/>
          <p:cNvSpPr/>
          <p:nvPr/>
        </p:nvSpPr>
        <p:spPr>
          <a:xfrm>
            <a:off x="2496312" y="467258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Rich Results Test by Google</a:t>
            </a:r>
            <a:endParaRPr lang="en-US" sz="800" dirty="0"/>
          </a:p>
        </p:txBody>
      </p:sp>
      <p:sp>
        <p:nvSpPr>
          <p:cNvPr id="67" name="Shape 58"/>
          <p:cNvSpPr/>
          <p:nvPr/>
        </p:nvSpPr>
        <p:spPr>
          <a:xfrm>
            <a:off x="4663440" y="3072384"/>
            <a:ext cx="21031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8" name="Shape 59"/>
          <p:cNvSpPr/>
          <p:nvPr/>
        </p:nvSpPr>
        <p:spPr>
          <a:xfrm>
            <a:off x="4663440" y="3072384"/>
            <a:ext cx="2103120" cy="32004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6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7448" y="3118104"/>
            <a:ext cx="210312" cy="210312"/>
          </a:xfrm>
          <a:prstGeom prst="rect">
            <a:avLst/>
          </a:prstGeom>
        </p:spPr>
      </p:pic>
      <p:sp>
        <p:nvSpPr>
          <p:cNvPr id="70" name="Text 60"/>
          <p:cNvSpPr/>
          <p:nvPr/>
        </p:nvSpPr>
        <p:spPr>
          <a:xfrm>
            <a:off x="4983480" y="30998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1000" dirty="0"/>
          </a:p>
        </p:txBody>
      </p:sp>
      <p:sp>
        <p:nvSpPr>
          <p:cNvPr id="71" name="Text 61"/>
          <p:cNvSpPr/>
          <p:nvPr/>
        </p:nvSpPr>
        <p:spPr>
          <a:xfrm>
            <a:off x="4736592" y="343814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mandatory (Google ranking signal)</a:t>
            </a:r>
            <a:endParaRPr lang="en-US" sz="800" dirty="0"/>
          </a:p>
        </p:txBody>
      </p:sp>
      <p:sp>
        <p:nvSpPr>
          <p:cNvPr id="72" name="Text 62"/>
          <p:cNvSpPr/>
          <p:nvPr/>
        </p:nvSpPr>
        <p:spPr>
          <a:xfrm>
            <a:off x="4736592" y="368503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headers for strict security</a:t>
            </a:r>
            <a:endParaRPr lang="en-US" sz="800" dirty="0"/>
          </a:p>
        </p:txBody>
      </p:sp>
      <p:sp>
        <p:nvSpPr>
          <p:cNvPr id="73" name="Text 63"/>
          <p:cNvSpPr/>
          <p:nvPr/>
        </p:nvSpPr>
        <p:spPr>
          <a:xfrm>
            <a:off x="4736592" y="393192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malware or hacked content</a:t>
            </a:r>
            <a:endParaRPr lang="en-US" sz="800" dirty="0"/>
          </a:p>
        </p:txBody>
      </p:sp>
      <p:sp>
        <p:nvSpPr>
          <p:cNvPr id="74" name="Text 64"/>
          <p:cNvSpPr/>
          <p:nvPr/>
        </p:nvSpPr>
        <p:spPr>
          <a:xfrm>
            <a:off x="4736592" y="417880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privacy policy page</a:t>
            </a:r>
            <a:endParaRPr lang="en-US" sz="800" dirty="0"/>
          </a:p>
        </p:txBody>
      </p:sp>
      <p:sp>
        <p:nvSpPr>
          <p:cNvPr id="75" name="Text 65"/>
          <p:cNvSpPr/>
          <p:nvPr/>
        </p:nvSpPr>
        <p:spPr>
          <a:xfrm>
            <a:off x="4736592" y="442569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forms (no mixed content warnings)</a:t>
            </a:r>
            <a:endParaRPr lang="en-US" sz="800" dirty="0"/>
          </a:p>
        </p:txBody>
      </p:sp>
      <p:sp>
        <p:nvSpPr>
          <p:cNvPr id="76" name="Text 66"/>
          <p:cNvSpPr/>
          <p:nvPr/>
        </p:nvSpPr>
        <p:spPr>
          <a:xfrm>
            <a:off x="4736592" y="467258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security audits (Sucuri, Wordfence)</a:t>
            </a:r>
            <a:endParaRPr lang="en-US" sz="800" dirty="0"/>
          </a:p>
        </p:txBody>
      </p:sp>
      <p:sp>
        <p:nvSpPr>
          <p:cNvPr id="77" name="Shape 67"/>
          <p:cNvSpPr/>
          <p:nvPr/>
        </p:nvSpPr>
        <p:spPr>
          <a:xfrm>
            <a:off x="6903720" y="3072384"/>
            <a:ext cx="21031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8" name="Shape 68"/>
          <p:cNvSpPr/>
          <p:nvPr/>
        </p:nvSpPr>
        <p:spPr>
          <a:xfrm>
            <a:off x="6903720" y="3072384"/>
            <a:ext cx="2103120" cy="320040"/>
          </a:xfrm>
          <a:prstGeom prst="rect">
            <a:avLst/>
          </a:prstGeom>
          <a:solidFill>
            <a:srgbClr val="0A2342"/>
          </a:solidFill>
          <a:ln/>
        </p:spPr>
      </p:sp>
      <p:pic>
        <p:nvPicPr>
          <p:cNvPr id="7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67728" y="3118104"/>
            <a:ext cx="210312" cy="210312"/>
          </a:xfrm>
          <a:prstGeom prst="rect">
            <a:avLst/>
          </a:prstGeom>
        </p:spPr>
      </p:pic>
      <p:sp>
        <p:nvSpPr>
          <p:cNvPr id="80" name="Text 69"/>
          <p:cNvSpPr/>
          <p:nvPr/>
        </p:nvSpPr>
        <p:spPr>
          <a:xfrm>
            <a:off x="7223760" y="30998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SEO</a:t>
            </a:r>
            <a:endParaRPr lang="en-US" sz="1000" dirty="0"/>
          </a:p>
        </p:txBody>
      </p:sp>
      <p:sp>
        <p:nvSpPr>
          <p:cNvPr id="81" name="Text 70"/>
          <p:cNvSpPr/>
          <p:nvPr/>
        </p:nvSpPr>
        <p:spPr>
          <a:xfrm>
            <a:off x="6976872" y="343814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tags for language/region targeting</a:t>
            </a:r>
            <a:endParaRPr lang="en-US" sz="800" dirty="0"/>
          </a:p>
        </p:txBody>
      </p:sp>
      <p:sp>
        <p:nvSpPr>
          <p:cNvPr id="82" name="Text 71"/>
          <p:cNvSpPr/>
          <p:nvPr/>
        </p:nvSpPr>
        <p:spPr>
          <a:xfrm>
            <a:off x="6976872" y="368503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domains or subdirectories</a:t>
            </a:r>
            <a:endParaRPr lang="en-US" sz="800" dirty="0"/>
          </a:p>
        </p:txBody>
      </p:sp>
      <p:sp>
        <p:nvSpPr>
          <p:cNvPr id="83" name="Text 72"/>
          <p:cNvSpPr/>
          <p:nvPr/>
        </p:nvSpPr>
        <p:spPr>
          <a:xfrm>
            <a:off x="6976872" y="393192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content (not just translated)</a:t>
            </a:r>
            <a:endParaRPr lang="en-US" sz="800" dirty="0"/>
          </a:p>
        </p:txBody>
      </p:sp>
      <p:sp>
        <p:nvSpPr>
          <p:cNvPr id="84" name="Text 73"/>
          <p:cNvSpPr/>
          <p:nvPr/>
        </p:nvSpPr>
        <p:spPr>
          <a:xfrm>
            <a:off x="6976872" y="417880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Console: target country</a:t>
            </a:r>
            <a:endParaRPr lang="en-US" sz="800" dirty="0"/>
          </a:p>
        </p:txBody>
      </p:sp>
      <p:sp>
        <p:nvSpPr>
          <p:cNvPr id="85" name="Text 74"/>
          <p:cNvSpPr/>
          <p:nvPr/>
        </p:nvSpPr>
        <p:spPr>
          <a:xfrm>
            <a:off x="6976872" y="442569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hosting or CDN near target users</a:t>
            </a:r>
            <a:endParaRPr lang="en-US" sz="800" dirty="0"/>
          </a:p>
        </p:txBody>
      </p:sp>
      <p:sp>
        <p:nvSpPr>
          <p:cNvPr id="86" name="Text 75"/>
          <p:cNvSpPr/>
          <p:nvPr/>
        </p:nvSpPr>
        <p:spPr>
          <a:xfrm>
            <a:off x="6976872" y="467258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and date format localization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F6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7F1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18872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SEO — Step-by-Step Audit &amp; Fix Guide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5760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audit process to find and fix technical issues hurting your rankings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82880" y="1078992"/>
            <a:ext cx="429768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1078992"/>
            <a:ext cx="502920" cy="93268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" y="133502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" y="111556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Your Site with Screaming Frog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" y="136245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Screaming Frog SEO Spider (free for &lt; 500 URLs). Run a full crawl. Export results.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9808" y="17190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Find: broken links (4xx), redirect chains (3xx), missing titles, duplicate meta, missing H1, thin pages (&lt;300 words)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09160" y="1078992"/>
            <a:ext cx="429768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078992"/>
            <a:ext cx="502920" cy="93268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2"/>
          <p:cNvSpPr/>
          <p:nvPr/>
        </p:nvSpPr>
        <p:spPr>
          <a:xfrm>
            <a:off x="4709160" y="133502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276088" y="111556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Google Search Console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76088" y="136245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Coverage report → find Excluded, Error, and Valid pages. Check Core Web Vitals. Review Manual Actions. Submit sitemap.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276088" y="17190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Crawl errors, URL not indexed, soft 404s, mobile usability issues, security issues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82880" y="2084832"/>
            <a:ext cx="429768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82880" y="2084832"/>
            <a:ext cx="502920" cy="9326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8"/>
          <p:cNvSpPr/>
          <p:nvPr/>
        </p:nvSpPr>
        <p:spPr>
          <a:xfrm>
            <a:off x="182880" y="23408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49808" y="212140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Site Speed with PageSpeed Insights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49808" y="236829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major page template at pagespeed.web.dev. Focus on mobile score. Prioritize 'Opportunities'.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49808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Unused JS/CSS, image sizing, server response, render-blocking, LCP element optimization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709160" y="2084832"/>
            <a:ext cx="429768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2084832"/>
            <a:ext cx="502920" cy="93268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7" name="Text 24"/>
          <p:cNvSpPr/>
          <p:nvPr/>
        </p:nvSpPr>
        <p:spPr>
          <a:xfrm>
            <a:off x="4709160" y="23408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276088" y="212140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Mobile Friendliness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276088" y="236829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Google's Mobile-Friendly Test. Test on real devices. Check font sizes, button sizes, viewport settings.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276088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Viewport meta tag, touch targets too small, content wider than screen, blocked resources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82880" y="3090672"/>
            <a:ext cx="429768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82880" y="3090672"/>
            <a:ext cx="502920" cy="9326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3" name="Text 30"/>
          <p:cNvSpPr/>
          <p:nvPr/>
        </p:nvSpPr>
        <p:spPr>
          <a:xfrm>
            <a:off x="182880" y="334670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49808" y="312724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URL Structure &amp; Canonicals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49808" y="337413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consistent URL format. Check for duplicate content (www vs non-www, http vs https). Add canonical tags.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49808" y="37307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Set up 301 redirects, implement canonical tags, consolidate URL variants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709160" y="3090672"/>
            <a:ext cx="429768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09160" y="3090672"/>
            <a:ext cx="502920" cy="9326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Text 36"/>
          <p:cNvSpPr/>
          <p:nvPr/>
        </p:nvSpPr>
        <p:spPr>
          <a:xfrm>
            <a:off x="4709160" y="334670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5276088" y="312724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Structured Data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276088" y="337413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 Rich Results Test. Check schema markup on all key page types. Fix validation errors.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276088" y="37307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Missing required fields, wrong schema type, errors in Search Console Enhancement reports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82880" y="4096512"/>
            <a:ext cx="429768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182880" y="4096512"/>
            <a:ext cx="502920" cy="9326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5" name="Text 42"/>
          <p:cNvSpPr/>
          <p:nvPr/>
        </p:nvSpPr>
        <p:spPr>
          <a:xfrm>
            <a:off x="182880" y="435254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749808" y="413308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Internal Links &amp; Sitemap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749808" y="437997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Screaming Frog: check Inlinks report. Find orphan/near-orphan pages. Ensure sitemap includes canonical, indexable URLs.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49808" y="47365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Add internal links to orphan pages, remove noindex pages from sitemap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709160" y="4096512"/>
            <a:ext cx="429768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709160" y="4096512"/>
            <a:ext cx="502920" cy="93268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1" name="Text 48"/>
          <p:cNvSpPr/>
          <p:nvPr/>
        </p:nvSpPr>
        <p:spPr>
          <a:xfrm>
            <a:off x="4709160" y="435254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52" name="Text 49"/>
          <p:cNvSpPr/>
          <p:nvPr/>
        </p:nvSpPr>
        <p:spPr>
          <a:xfrm>
            <a:off x="5276088" y="413308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Re-audit Monthly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5276088" y="437997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Google Search Console email alerts. Use Ahrefs Site Audit on weekly crawl schedule.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5276088" y="47365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Ongoing: Fix broken links, monitor crawl budget, check for algorithm impact after Google updates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8C9F5-B48B-CE93-FD55-F656A7465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05" y="201871"/>
            <a:ext cx="738187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23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6E6579-7A4D-EECB-3551-A49C1F69C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05" y="420266"/>
            <a:ext cx="8702333" cy="307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758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F21968-82A6-341B-1BC7-1F5AE9FF8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46" y="604157"/>
            <a:ext cx="634365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1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CDB308-D7DA-C935-BE32-C3D0593B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03" y="89808"/>
            <a:ext cx="9064955" cy="469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013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42C34B-D256-07D3-4379-F1893D7A8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81" y="234626"/>
            <a:ext cx="682942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46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55A292-CD34-F201-2095-4CD279922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48" y="238319"/>
            <a:ext cx="7134225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ED611D-25CF-D671-7FF9-40CAD32DB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987" y="1377820"/>
            <a:ext cx="59817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932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73F2E-08AA-1567-8807-B5467E67F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6" y="453701"/>
            <a:ext cx="63627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57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DD8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18872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Markup — What It Is &amp; All Major Types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57607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that tells Google exactly what your content means — unlocking Rich Results in SERPs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1051560"/>
            <a:ext cx="8686800" cy="47548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08813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code (vocabulary from Schema.org) added to your HTML that helps search engines understand your content's context. It enables </a:t>
            </a:r>
            <a:r>
              <a:rPr lang="en-US" sz="10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Results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enhanced SERP listings with stars, prices, FAQs, images, and more — dramatically improving CTR.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8600" y="1581912"/>
            <a:ext cx="8686800" cy="329184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618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Rich Result Examples: 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194560" y="161848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 4.8 (2,341 reviews)  •  $29.99  •  In Stock  •  FAQ dropdowns  •  How-To steps  •  Sitelinks  •  Breadcrumbs  •  Event dates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28600" y="1993392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" y="1993392"/>
            <a:ext cx="2084832" cy="274320"/>
          </a:xfrm>
          <a:prstGeom prst="rect">
            <a:avLst/>
          </a:prstGeom>
          <a:solidFill>
            <a:srgbClr val="0D47A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02996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" y="201168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/ BlogPosting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92608" y="22860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News, blog posts, editorial content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292608" y="248716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Article rich card, Google News eligibility, enhanced authorship display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423160" y="1993392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423160" y="1993392"/>
            <a:ext cx="2084832" cy="27432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2029968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697480" y="201168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2487168" y="22860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E-commerce product pages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2487168" y="248716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Price + rating stars + availability shown directly in Google Search results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4617720" y="1993392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17720" y="1993392"/>
            <a:ext cx="2084832" cy="274320"/>
          </a:xfrm>
          <a:prstGeom prst="rect">
            <a:avLst/>
          </a:prstGeom>
          <a:solidFill>
            <a:srgbClr val="004D40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029968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92040" y="201168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Page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681728" y="22860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Pages with question &amp; answer format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4681728" y="248716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Expandable Q&amp;A dropdowns in SERPs — doubles listing height, huge CTR boost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6812280" y="1993392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812280" y="1993392"/>
            <a:ext cx="2084832" cy="274320"/>
          </a:xfrm>
          <a:prstGeom prst="rect">
            <a:avLst/>
          </a:prstGeom>
          <a:solidFill>
            <a:srgbClr val="BF6000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029968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86600" y="201168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876288" y="22860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Step-by-step guides and tutorials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6876288" y="248716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Step-by-step preview shown in SERPs, rich snippet with images per step</a:t>
            </a:r>
            <a:endParaRPr lang="en-US" sz="750" dirty="0"/>
          </a:p>
        </p:txBody>
      </p:sp>
      <p:sp>
        <p:nvSpPr>
          <p:cNvPr id="36" name="Shape 29"/>
          <p:cNvSpPr/>
          <p:nvPr/>
        </p:nvSpPr>
        <p:spPr>
          <a:xfrm>
            <a:off x="228600" y="3035808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228600" y="3035808"/>
            <a:ext cx="2084832" cy="274320"/>
          </a:xfrm>
          <a:prstGeom prst="rect">
            <a:avLst/>
          </a:prstGeom>
          <a:solidFill>
            <a:srgbClr val="BF360C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072384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02920" y="30540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Business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292608" y="33284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Physical businesses (restaurants, shops, clinics)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292608" y="35295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Google Business Panel, map integration, opening hours directly in search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2423160" y="3035808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2423160" y="3035808"/>
            <a:ext cx="2084832" cy="274320"/>
          </a:xfrm>
          <a:prstGeom prst="rect">
            <a:avLst/>
          </a:prstGeom>
          <a:solidFill>
            <a:srgbClr val="B71C1C"/>
          </a:solidFill>
          <a:ln/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8880" y="3072384"/>
            <a:ext cx="201168" cy="20116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2697480" y="30540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Rating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2487168" y="33284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Review/rating pages for products, books, movies</a:t>
            </a:r>
            <a:endParaRPr lang="en-US" sz="750" dirty="0"/>
          </a:p>
        </p:txBody>
      </p:sp>
      <p:sp>
        <p:nvSpPr>
          <p:cNvPr id="47" name="Text 38"/>
          <p:cNvSpPr/>
          <p:nvPr/>
        </p:nvSpPr>
        <p:spPr>
          <a:xfrm>
            <a:off x="2487168" y="35295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Star ratings displayed in SERPs — up to 30% CTR increase in studies</a:t>
            </a:r>
            <a:endParaRPr lang="en-US" sz="750" dirty="0"/>
          </a:p>
        </p:txBody>
      </p:sp>
      <p:sp>
        <p:nvSpPr>
          <p:cNvPr id="48" name="Shape 39"/>
          <p:cNvSpPr/>
          <p:nvPr/>
        </p:nvSpPr>
        <p:spPr>
          <a:xfrm>
            <a:off x="4617720" y="3035808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4617720" y="3035808"/>
            <a:ext cx="2084832" cy="274320"/>
          </a:xfrm>
          <a:prstGeom prst="rect">
            <a:avLst/>
          </a:prstGeom>
          <a:solidFill>
            <a:srgbClr val="4A148C"/>
          </a:solidFill>
          <a:ln/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3440" y="3072384"/>
            <a:ext cx="201168" cy="20116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892040" y="30540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4681728" y="33284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Concerts, webinars, workshops, conferences</a:t>
            </a:r>
            <a:endParaRPr lang="en-US" sz="750" dirty="0"/>
          </a:p>
        </p:txBody>
      </p:sp>
      <p:sp>
        <p:nvSpPr>
          <p:cNvPr id="53" name="Text 43"/>
          <p:cNvSpPr/>
          <p:nvPr/>
        </p:nvSpPr>
        <p:spPr>
          <a:xfrm>
            <a:off x="4681728" y="35295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Event dates and ticket links shown in Google Search and Maps</a:t>
            </a:r>
            <a:endParaRPr lang="en-US" sz="750" dirty="0"/>
          </a:p>
        </p:txBody>
      </p:sp>
      <p:sp>
        <p:nvSpPr>
          <p:cNvPr id="54" name="Shape 44"/>
          <p:cNvSpPr/>
          <p:nvPr/>
        </p:nvSpPr>
        <p:spPr>
          <a:xfrm>
            <a:off x="6812280" y="3035808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6812280" y="3035808"/>
            <a:ext cx="2084832" cy="274320"/>
          </a:xfrm>
          <a:prstGeom prst="rect">
            <a:avLst/>
          </a:prstGeom>
          <a:solidFill>
            <a:srgbClr val="0D2B4E"/>
          </a:solidFill>
          <a:ln/>
        </p:spPr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3072384"/>
            <a:ext cx="201168" cy="20116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7086600" y="30540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6876288" y="33284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About pages, author bios, professional profiles</a:t>
            </a:r>
            <a:endParaRPr lang="en-US" sz="750" dirty="0"/>
          </a:p>
        </p:txBody>
      </p:sp>
      <p:sp>
        <p:nvSpPr>
          <p:cNvPr id="59" name="Text 48"/>
          <p:cNvSpPr/>
          <p:nvPr/>
        </p:nvSpPr>
        <p:spPr>
          <a:xfrm>
            <a:off x="6876288" y="35295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Knowledge Panel for notable people, authorship attribution for E-E-A-T</a:t>
            </a:r>
            <a:endParaRPr lang="en-US" sz="750" dirty="0"/>
          </a:p>
        </p:txBody>
      </p:sp>
      <p:sp>
        <p:nvSpPr>
          <p:cNvPr id="60" name="Shape 49"/>
          <p:cNvSpPr/>
          <p:nvPr/>
        </p:nvSpPr>
        <p:spPr>
          <a:xfrm>
            <a:off x="228600" y="4078224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0"/>
          <p:cNvSpPr/>
          <p:nvPr/>
        </p:nvSpPr>
        <p:spPr>
          <a:xfrm>
            <a:off x="228600" y="4078224"/>
            <a:ext cx="2084832" cy="274320"/>
          </a:xfrm>
          <a:prstGeom prst="rect">
            <a:avLst/>
          </a:prstGeom>
          <a:solidFill>
            <a:srgbClr val="006064"/>
          </a:solidFill>
          <a:ln/>
        </p:spPr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320" y="4114800"/>
            <a:ext cx="201168" cy="201168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502920" y="40965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BreadcrumbList</a:t>
            </a:r>
            <a:endParaRPr lang="en-US" sz="900" dirty="0"/>
          </a:p>
        </p:txBody>
      </p:sp>
      <p:sp>
        <p:nvSpPr>
          <p:cNvPr id="64" name="Text 52"/>
          <p:cNvSpPr/>
          <p:nvPr/>
        </p:nvSpPr>
        <p:spPr>
          <a:xfrm>
            <a:off x="292608" y="437083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Site navigation hierarchy on every page</a:t>
            </a:r>
            <a:endParaRPr lang="en-US" sz="750" dirty="0"/>
          </a:p>
        </p:txBody>
      </p:sp>
      <p:sp>
        <p:nvSpPr>
          <p:cNvPr id="65" name="Text 53"/>
          <p:cNvSpPr/>
          <p:nvPr/>
        </p:nvSpPr>
        <p:spPr>
          <a:xfrm>
            <a:off x="292608" y="457200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Breadcrumb path shown below URL in SERPs: Home &gt; Category &gt; Page</a:t>
            </a:r>
            <a:endParaRPr lang="en-US" sz="750" dirty="0"/>
          </a:p>
        </p:txBody>
      </p:sp>
      <p:sp>
        <p:nvSpPr>
          <p:cNvPr id="66" name="Shape 54"/>
          <p:cNvSpPr/>
          <p:nvPr/>
        </p:nvSpPr>
        <p:spPr>
          <a:xfrm>
            <a:off x="2423160" y="4078224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Shape 55"/>
          <p:cNvSpPr/>
          <p:nvPr/>
        </p:nvSpPr>
        <p:spPr>
          <a:xfrm>
            <a:off x="2423160" y="4078224"/>
            <a:ext cx="2084832" cy="274320"/>
          </a:xfrm>
          <a:prstGeom prst="rect">
            <a:avLst/>
          </a:prstGeom>
          <a:solidFill>
            <a:srgbClr val="4A148C"/>
          </a:solidFill>
          <a:ln/>
        </p:spPr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68880" y="4114800"/>
            <a:ext cx="201168" cy="201168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2697480" y="40965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Object</a:t>
            </a:r>
            <a:endParaRPr lang="en-US" sz="900" dirty="0"/>
          </a:p>
        </p:txBody>
      </p:sp>
      <p:sp>
        <p:nvSpPr>
          <p:cNvPr id="70" name="Text 57"/>
          <p:cNvSpPr/>
          <p:nvPr/>
        </p:nvSpPr>
        <p:spPr>
          <a:xfrm>
            <a:off x="2487168" y="437083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Pages with embedded video content</a:t>
            </a:r>
            <a:endParaRPr lang="en-US" sz="750" dirty="0"/>
          </a:p>
        </p:txBody>
      </p:sp>
      <p:sp>
        <p:nvSpPr>
          <p:cNvPr id="71" name="Text 58"/>
          <p:cNvSpPr/>
          <p:nvPr/>
        </p:nvSpPr>
        <p:spPr>
          <a:xfrm>
            <a:off x="2487168" y="457200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Video thumbnail + duration shown in SERPs, eligible for Video Carousel</a:t>
            </a:r>
            <a:endParaRPr lang="en-US" sz="750" dirty="0"/>
          </a:p>
        </p:txBody>
      </p:sp>
      <p:sp>
        <p:nvSpPr>
          <p:cNvPr id="72" name="Shape 59"/>
          <p:cNvSpPr/>
          <p:nvPr/>
        </p:nvSpPr>
        <p:spPr>
          <a:xfrm>
            <a:off x="4617720" y="4078224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Shape 60"/>
          <p:cNvSpPr/>
          <p:nvPr/>
        </p:nvSpPr>
        <p:spPr>
          <a:xfrm>
            <a:off x="4617720" y="4078224"/>
            <a:ext cx="2084832" cy="27432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7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3440" y="4114800"/>
            <a:ext cx="201168" cy="201168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4892040" y="40965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900" dirty="0"/>
          </a:p>
        </p:txBody>
      </p:sp>
      <p:sp>
        <p:nvSpPr>
          <p:cNvPr id="76" name="Text 62"/>
          <p:cNvSpPr/>
          <p:nvPr/>
        </p:nvSpPr>
        <p:spPr>
          <a:xfrm>
            <a:off x="4681728" y="437083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Food/cooking websites with recipe content</a:t>
            </a:r>
            <a:endParaRPr lang="en-US" sz="750" dirty="0"/>
          </a:p>
        </p:txBody>
      </p:sp>
      <p:sp>
        <p:nvSpPr>
          <p:cNvPr id="77" name="Text 63"/>
          <p:cNvSpPr/>
          <p:nvPr/>
        </p:nvSpPr>
        <p:spPr>
          <a:xfrm>
            <a:off x="4681728" y="457200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Recipe card with image, cook time, ratings in Google Search rich results</a:t>
            </a:r>
            <a:endParaRPr lang="en-US" sz="750" dirty="0"/>
          </a:p>
        </p:txBody>
      </p:sp>
      <p:sp>
        <p:nvSpPr>
          <p:cNvPr id="78" name="Shape 64"/>
          <p:cNvSpPr/>
          <p:nvPr/>
        </p:nvSpPr>
        <p:spPr>
          <a:xfrm>
            <a:off x="6812280" y="4078224"/>
            <a:ext cx="2084832" cy="96926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9" name="Shape 65"/>
          <p:cNvSpPr/>
          <p:nvPr/>
        </p:nvSpPr>
        <p:spPr>
          <a:xfrm>
            <a:off x="6812280" y="4078224"/>
            <a:ext cx="2084832" cy="274320"/>
          </a:xfrm>
          <a:prstGeom prst="rect">
            <a:avLst/>
          </a:prstGeom>
          <a:solidFill>
            <a:srgbClr val="060E1E"/>
          </a:solidFill>
          <a:ln/>
        </p:spPr>
      </p:sp>
      <p:pic>
        <p:nvPicPr>
          <p:cNvPr id="8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0" y="4114800"/>
            <a:ext cx="201168" cy="201168"/>
          </a:xfrm>
          <a:prstGeom prst="rect">
            <a:avLst/>
          </a:prstGeom>
        </p:spPr>
      </p:pic>
      <p:sp>
        <p:nvSpPr>
          <p:cNvPr id="81" name="Text 66"/>
          <p:cNvSpPr/>
          <p:nvPr/>
        </p:nvSpPr>
        <p:spPr>
          <a:xfrm>
            <a:off x="7086600" y="40965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/ Website</a:t>
            </a:r>
            <a:endParaRPr lang="en-US" sz="900" dirty="0"/>
          </a:p>
        </p:txBody>
      </p:sp>
      <p:sp>
        <p:nvSpPr>
          <p:cNvPr id="82" name="Text 67"/>
          <p:cNvSpPr/>
          <p:nvPr/>
        </p:nvSpPr>
        <p:spPr>
          <a:xfrm>
            <a:off x="6876288" y="437083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Company homepage / root website</a:t>
            </a:r>
            <a:endParaRPr lang="en-US" sz="750" dirty="0"/>
          </a:p>
        </p:txBody>
      </p:sp>
      <p:sp>
        <p:nvSpPr>
          <p:cNvPr id="83" name="Text 68"/>
          <p:cNvSpPr/>
          <p:nvPr/>
        </p:nvSpPr>
        <p:spPr>
          <a:xfrm>
            <a:off x="6876288" y="457200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Company Knowledge Panel, logo in SERPs, sitelinks search box eligibility</a:t>
            </a:r>
            <a:endParaRPr lang="en-US" sz="750" dirty="0"/>
          </a:p>
        </p:txBody>
      </p:sp>
      <p:sp>
        <p:nvSpPr>
          <p:cNvPr id="84" name="Shape 69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85" name="Text 70"/>
          <p:cNvSpPr/>
          <p:nvPr/>
        </p:nvSpPr>
        <p:spPr>
          <a:xfrm>
            <a:off x="365760" y="4974336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Validate all schema: search.google.com/test/rich-results  |  Full vocabulary: Schema.org  |  Generate: technicalseo.com/tools/schema-markup-generator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Black Hat SEO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32688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that violate Google's guidelines — can cause permanent penalties or deindexing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1133856"/>
            <a:ext cx="8686800" cy="384048"/>
          </a:xfrm>
          <a:prstGeom prst="rect">
            <a:avLst/>
          </a:prstGeom>
          <a:solidFill>
            <a:srgbClr val="5C0000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1704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WARNING: These techniques may work short-term but result in Google Manual Actions (penalties), algorithmic deindexing, and permanent loss of all organic traffic. NEVER use these techniques.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8600" y="1600200"/>
            <a:ext cx="2788920" cy="1572768"/>
          </a:xfrm>
          <a:prstGeom prst="rect">
            <a:avLst/>
          </a:prstGeom>
          <a:solidFill>
            <a:srgbClr val="1C0A0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1600200"/>
            <a:ext cx="278892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Stuffing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313432" y="1655064"/>
            <a:ext cx="658368" cy="219456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313432" y="16733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PENALIZED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20040" y="200253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Unnaturally cramming keywords into content, meta tags, or hidden text. Example: 'Buy shoes. Cheap shoes. Best shoes online. Shoes for sale cheap shoes.'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20040" y="28072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Panda algorithm targets thin/stuffed content. Manual action possible.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172968" y="1600200"/>
            <a:ext cx="2788920" cy="1572768"/>
          </a:xfrm>
          <a:prstGeom prst="rect">
            <a:avLst/>
          </a:prstGeom>
          <a:solidFill>
            <a:srgbClr val="1C0A0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172968" y="1600200"/>
            <a:ext cx="278892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326440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Cloaking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57800" y="1655064"/>
            <a:ext cx="658368" cy="219456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5257800" y="16733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DEINDEXED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264408" y="200253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different content to Googlebot vs. actual users. Crawler sees keyword-rich text; users see something different (e.g., casino pages behind a news site).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264408" y="28072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Immediate deindexing if detected. Violates Google's core policies.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117336" y="1600200"/>
            <a:ext cx="2788920" cy="1572768"/>
          </a:xfrm>
          <a:prstGeom prst="rect">
            <a:avLst/>
          </a:prstGeom>
          <a:solidFill>
            <a:srgbClr val="1C0A0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17336" y="1600200"/>
            <a:ext cx="278892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2"/>
          <p:cNvSpPr/>
          <p:nvPr/>
        </p:nvSpPr>
        <p:spPr>
          <a:xfrm>
            <a:off x="6208776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Blog Networks (PBN)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02168" y="1655064"/>
            <a:ext cx="658368" cy="219456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8202168" y="16733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DEINDEXED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6208776" y="200253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network of fake 'authority' websites solely to link back to your money site. Very expensive and high risk.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208776" y="28072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Penguin/Link algorithm detects unnatural patterns. Full network deindexed.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28600" y="3291840"/>
            <a:ext cx="2788920" cy="1572768"/>
          </a:xfrm>
          <a:prstGeom prst="rect">
            <a:avLst/>
          </a:prstGeom>
          <a:solidFill>
            <a:srgbClr val="1C0A0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28600" y="3291840"/>
            <a:ext cx="278892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320040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Spammy Link Schemes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313432" y="3346704"/>
            <a:ext cx="658368" cy="219456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2313432" y="33649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PENALIZED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320040" y="369417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links, link farms, automated link building software, hidden links, excessive reciprocal linking. Thousands of overnight links raise red flags.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20040" y="44988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Google Penguin targets manipulative link patterns. Manual link penalties.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172968" y="3291840"/>
            <a:ext cx="2788920" cy="1572768"/>
          </a:xfrm>
          <a:prstGeom prst="rect">
            <a:avLst/>
          </a:prstGeom>
          <a:solidFill>
            <a:srgbClr val="1C0A0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172968" y="3291840"/>
            <a:ext cx="278892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9" name="Text 36"/>
          <p:cNvSpPr/>
          <p:nvPr/>
        </p:nvSpPr>
        <p:spPr>
          <a:xfrm>
            <a:off x="3264408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Scraping &amp; Spinning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257800" y="3346704"/>
            <a:ext cx="658368" cy="219456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41" name="Text 38"/>
          <p:cNvSpPr/>
          <p:nvPr/>
        </p:nvSpPr>
        <p:spPr>
          <a:xfrm>
            <a:off x="5257800" y="33649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DEINDEXED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264408" y="369417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content or using AI/software to 'spin' articles (replace words with synonyms). Creates duplicate/thin content with no value.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3264408" y="44988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Panda devalues thin content. Duplicate content filters reduce rankings to zero.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117336" y="3291840"/>
            <a:ext cx="2788920" cy="1572768"/>
          </a:xfrm>
          <a:prstGeom prst="rect">
            <a:avLst/>
          </a:prstGeom>
          <a:solidFill>
            <a:srgbClr val="1C0A0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117336" y="3291840"/>
            <a:ext cx="278892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6" name="Text 43"/>
          <p:cNvSpPr/>
          <p:nvPr/>
        </p:nvSpPr>
        <p:spPr>
          <a:xfrm>
            <a:off x="6208776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Text &amp; Links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202168" y="3346704"/>
            <a:ext cx="658368" cy="219456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48" name="Text 45"/>
          <p:cNvSpPr/>
          <p:nvPr/>
        </p:nvSpPr>
        <p:spPr>
          <a:xfrm>
            <a:off x="8202168" y="33649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PENALIZED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6208776" y="369417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text same color as background, setting font-size to 0px, or hiding links in images/CSS to inject keywords without user visibility.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6208776" y="44988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Easily detected by Google's algorithms. Immediate ranking penalty applied.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80808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C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Grey Hat SEO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5760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 in the gray zone — not explicitly banned but risky, depending on scale and context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1078992"/>
            <a:ext cx="8686800" cy="384048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11556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Hat = tactics that exist in a gray area. Google doesn't explicitly penalize them, but may in the future. Risk depends on scale, frequency, and how obviously manipulative they are.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8600" y="1572768"/>
            <a:ext cx="4251960" cy="1078992"/>
          </a:xfrm>
          <a:prstGeom prst="rect">
            <a:avLst/>
          </a:prstGeom>
          <a:solidFill>
            <a:srgbClr val="2525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1572768"/>
            <a:ext cx="4251960" cy="27432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16002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Expired Domains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83864" y="1609344"/>
            <a:ext cx="914400" cy="20116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3" name="Text 10"/>
          <p:cNvSpPr/>
          <p:nvPr/>
        </p:nvSpPr>
        <p:spPr>
          <a:xfrm>
            <a:off x="3483864" y="16276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20040" y="188366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expired domains with existing authority and backlinks, then 301-redirect to your site. Technically allowed but risky if done obviously.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20040" y="23957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Grey because: Scale and intent determines risk. 1–2 = fine. A network = Black Hat PBN.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90872" y="1572768"/>
            <a:ext cx="4251960" cy="1078992"/>
          </a:xfrm>
          <a:prstGeom prst="rect">
            <a:avLst/>
          </a:prstGeom>
          <a:solidFill>
            <a:srgbClr val="2525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90872" y="1572768"/>
            <a:ext cx="4251960" cy="27432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18" name="Text 15"/>
          <p:cNvSpPr/>
          <p:nvPr/>
        </p:nvSpPr>
        <p:spPr>
          <a:xfrm>
            <a:off x="4782312" y="16002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Guest Posting at Scale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46136" y="1609344"/>
            <a:ext cx="914400" cy="2011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7"/>
          <p:cNvSpPr/>
          <p:nvPr/>
        </p:nvSpPr>
        <p:spPr>
          <a:xfrm>
            <a:off x="7946136" y="16276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82312" y="188366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posting for links (not traffic/brand) violates Google's guidelines — but is widely practiced. Risk increases with low-quality posts on irrelevant sites.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82312" y="23957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Grey because: Quality guest posts on relevant sites = White Hat. Spammy posts = Black Hat.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28600" y="2761488"/>
            <a:ext cx="4251960" cy="1078992"/>
          </a:xfrm>
          <a:prstGeom prst="rect">
            <a:avLst/>
          </a:prstGeom>
          <a:solidFill>
            <a:srgbClr val="2525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28600" y="2761488"/>
            <a:ext cx="4251960" cy="27432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25" name="Text 22"/>
          <p:cNvSpPr/>
          <p:nvPr/>
        </p:nvSpPr>
        <p:spPr>
          <a:xfrm>
            <a:off x="320040" y="2788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Reviews / Sponsored Posts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483864" y="2798064"/>
            <a:ext cx="914400" cy="2011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4"/>
          <p:cNvSpPr/>
          <p:nvPr/>
        </p:nvSpPr>
        <p:spPr>
          <a:xfrm>
            <a:off x="3483864" y="28163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MEDIUM-HIGH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20040" y="307238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reviews with dofollow links without disclosure. FTC also requires disclosure. Google considers it link manipulation if not marked 'sponsored' or 'nofollow'.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20040" y="358444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Fix: Use rel='sponsored' or rel='nofollow' on paid links — makes it White Hat.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690872" y="2761488"/>
            <a:ext cx="4251960" cy="1078992"/>
          </a:xfrm>
          <a:prstGeom prst="rect">
            <a:avLst/>
          </a:prstGeom>
          <a:solidFill>
            <a:srgbClr val="2525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90872" y="2761488"/>
            <a:ext cx="4251960" cy="27432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2" name="Text 29"/>
          <p:cNvSpPr/>
          <p:nvPr/>
        </p:nvSpPr>
        <p:spPr>
          <a:xfrm>
            <a:off x="4782312" y="2788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Manipulation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946136" y="2798064"/>
            <a:ext cx="914400" cy="2011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4" name="Text 31"/>
          <p:cNvSpPr/>
          <p:nvPr/>
        </p:nvSpPr>
        <p:spPr>
          <a:xfrm>
            <a:off x="7946136" y="28163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4782312" y="307238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bots, click farms, or incentivizing users to click your result to artificially inflate CTR. Hard to detect but risky if patterns look unnatural.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782312" y="358444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Grey because: Not 100% confirmed as ranking factor but widely believed to impact rankings.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228600" y="3950208"/>
            <a:ext cx="4251960" cy="1078992"/>
          </a:xfrm>
          <a:prstGeom prst="rect">
            <a:avLst/>
          </a:prstGeom>
          <a:solidFill>
            <a:srgbClr val="2525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28600" y="3950208"/>
            <a:ext cx="4251960" cy="27432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39" name="Text 36"/>
          <p:cNvSpPr/>
          <p:nvPr/>
        </p:nvSpPr>
        <p:spPr>
          <a:xfrm>
            <a:off x="320040" y="3977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Signals Manipulation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3483864" y="3986784"/>
            <a:ext cx="914400" cy="20116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1" name="Text 38"/>
          <p:cNvSpPr/>
          <p:nvPr/>
        </p:nvSpPr>
        <p:spPr>
          <a:xfrm>
            <a:off x="3483864" y="4005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LOW-MEDIUM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20040" y="426110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social shares, likes, or followers to appear more popular. Direct impact on Google rankings is debated.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320040" y="477316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Grey because: Social signals are a weak indirect factor. Scale = more risk.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690872" y="3950208"/>
            <a:ext cx="4251960" cy="1078992"/>
          </a:xfrm>
          <a:prstGeom prst="rect">
            <a:avLst/>
          </a:prstGeom>
          <a:solidFill>
            <a:srgbClr val="2525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690872" y="3950208"/>
            <a:ext cx="4251960" cy="274320"/>
          </a:xfrm>
          <a:prstGeom prst="rect">
            <a:avLst/>
          </a:prstGeom>
          <a:solidFill>
            <a:srgbClr val="1A1A35"/>
          </a:solidFill>
          <a:ln/>
        </p:spPr>
      </p:sp>
      <p:sp>
        <p:nvSpPr>
          <p:cNvPr id="46" name="Text 43"/>
          <p:cNvSpPr/>
          <p:nvPr/>
        </p:nvSpPr>
        <p:spPr>
          <a:xfrm>
            <a:off x="4782312" y="3977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Linking (Excessive)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7946136" y="3986784"/>
            <a:ext cx="914400" cy="2011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8" name="Text 45"/>
          <p:cNvSpPr/>
          <p:nvPr/>
        </p:nvSpPr>
        <p:spPr>
          <a:xfrm>
            <a:off x="7946136" y="4005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4782312" y="426110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Exchanging links with other sites ('I link to you, you link to me'). A few contextual reciprocal links are natural. A large coordinated exchange scheme is penalized.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782312" y="477316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Grey because: Natural occasional exchanges are fine. Organized schemes are penalized.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228600" y="4818888"/>
            <a:ext cx="8686800" cy="246888"/>
          </a:xfrm>
          <a:prstGeom prst="rect">
            <a:avLst/>
          </a:prstGeom>
          <a:solidFill>
            <a:srgbClr val="0F0F23"/>
          </a:solidFill>
          <a:ln/>
        </p:spPr>
      </p:sp>
      <p:sp>
        <p:nvSpPr>
          <p:cNvPr id="52" name="Text 49"/>
          <p:cNvSpPr/>
          <p:nvPr/>
        </p:nvSpPr>
        <p:spPr>
          <a:xfrm>
            <a:off x="320040" y="484632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WHITE HAT: </a:t>
            </a:r>
            <a:r>
              <a:rPr lang="en-US" sz="9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Sustainable, ethical, long-term  </a:t>
            </a: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⬛ BLACK HAT: </a:t>
            </a:r>
            <a:r>
              <a:rPr lang="en-US" sz="950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Risky, short-term, penalties  </a:t>
            </a:r>
            <a:r>
              <a:rPr lang="en-US" sz="95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◑ GREY HAT: </a:t>
            </a:r>
            <a:r>
              <a:rPr lang="en-US" sz="95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scale &amp; execution — approach with caution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AC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6968" y="1188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Google Ranks Websites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86968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Crawling → Indexing → Processing → Ranking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658368" cy="658368"/>
          </a:xfrm>
          <a:prstGeom prst="ellipse">
            <a:avLst/>
          </a:prstGeom>
          <a:solidFill>
            <a:srgbClr val="1E88E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23444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Crawling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932688" y="1435608"/>
            <a:ext cx="1060704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1993392" y="1097280"/>
            <a:ext cx="658368" cy="658368"/>
          </a:xfrm>
          <a:prstGeom prst="ellipse">
            <a:avLst/>
          </a:prstGeom>
          <a:solidFill>
            <a:srgbClr val="00897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1234440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64792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2651760" y="1435608"/>
            <a:ext cx="1060704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3712464" y="1097280"/>
            <a:ext cx="658368" cy="658368"/>
          </a:xfrm>
          <a:prstGeom prst="ellipse">
            <a:avLst/>
          </a:prstGeom>
          <a:solidFill>
            <a:srgbClr val="F57F1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234440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83864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370832" y="1435608"/>
            <a:ext cx="1060704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19" name="Shape 13"/>
          <p:cNvSpPr/>
          <p:nvPr/>
        </p:nvSpPr>
        <p:spPr>
          <a:xfrm>
            <a:off x="5431536" y="1097280"/>
            <a:ext cx="658368" cy="658368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1234440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02936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089904" y="1435608"/>
            <a:ext cx="1060704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23" name="Shape 16"/>
          <p:cNvSpPr/>
          <p:nvPr/>
        </p:nvSpPr>
        <p:spPr>
          <a:xfrm>
            <a:off x="7150608" y="10972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624" y="1234440"/>
            <a:ext cx="402336" cy="40233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22008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274320" y="2212848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74320" y="2212848"/>
            <a:ext cx="2697480" cy="38404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8" name="Text 20"/>
          <p:cNvSpPr/>
          <p:nvPr/>
        </p:nvSpPr>
        <p:spPr>
          <a:xfrm>
            <a:off x="365760" y="2276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CRAWLING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365760" y="26700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365760" y="289864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Googlebot (Google's web crawler) automatically discovers and visits web pages by following links from page to page across the internet.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365760" y="37490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365760" y="397764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known URLs → follows every hyperlink → revisits pages periodically. Crawl frequency depends on PageRank, update frequency, and server load.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365760" y="4663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robots.txt to control crawls. Submit XML sitemaps to help Google discover new pages faster.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3154680" y="2212848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154680" y="2212848"/>
            <a:ext cx="2697480" cy="38404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6" name="Text 28"/>
          <p:cNvSpPr/>
          <p:nvPr/>
        </p:nvSpPr>
        <p:spPr>
          <a:xfrm>
            <a:off x="3246120" y="2276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INDEXING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3246120" y="26700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3246120" y="289864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crawling, Google analyzes page content (text, images, videos) and stores it in its massive database called the Google Index — like a library catalogue.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3246120" y="37490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3246120" y="397764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parses HTML → extracts keywords, entities, and structured data → evaluates quality signals → decides whether to index the page.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3246120" y="4663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Google Search Console → URL Inspection to check if a page is indexed. Unindexed pages never appear in search results.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6035040" y="2212848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035040" y="2212848"/>
            <a:ext cx="2697480" cy="38404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4" name="Text 36"/>
          <p:cNvSpPr/>
          <p:nvPr/>
        </p:nvSpPr>
        <p:spPr>
          <a:xfrm>
            <a:off x="6126480" y="2276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RANKING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126480" y="26700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6126480" y="289864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searches, Google retrieves relevant pages from the index and orders them using 200+ ranking signals to show the most helpful results.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6126480" y="37490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Ranking Signals: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6126480" y="397764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(keyword match) • Content quality (E-E-A-T) • Backlink authority (PageRank) • User experience (Core Web Vitals) • Context (location, device)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6126480" y="4663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Google's algorithms (Panda, Penguin, BERT, MUM, RankBrain) continuously refine results using AI and machine learning.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DD8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6968" y="1188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E-E-A-T: Google's Quality Framework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86968" y="5669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· Expertise · Authoritativeness · Trustworthiness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69848"/>
            <a:ext cx="8595360" cy="438912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" y="1115568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 is from Google's Search Quality Rater Guidelines — used by human quality raters AND Google's algorithms. Critical for YMYL topics: health, finance, legal, safety.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4320" y="1618488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618488"/>
            <a:ext cx="2011680" cy="658368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645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41248" y="1709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1248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Quality Signal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65760" y="23500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First-hand, real-world experience with the topic. Has the author actually used the product or lived through the situation?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Signals: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3374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Personal stories &amp; case studies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65760" y="3602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Photos/videos from real use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65760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Specific details only an expert would know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6576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Author bio showing lived experience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74320" y="4343400"/>
            <a:ext cx="2011680" cy="61264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1" name="Text 18"/>
          <p:cNvSpPr/>
          <p:nvPr/>
        </p:nvSpPr>
        <p:spPr>
          <a:xfrm>
            <a:off x="347472" y="43799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 travel blogger who visited Hunza Valley writes about trail difficulty and local food they personally tried.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47472" y="46542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AI-generated travel guide listing 'Top 10 Places' with no personal insight.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450592" y="1618488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50592" y="1618488"/>
            <a:ext cx="2011680" cy="658368"/>
          </a:xfrm>
          <a:prstGeom prst="rect">
            <a:avLst/>
          </a:prstGeom>
          <a:solidFill>
            <a:srgbClr val="004D40"/>
          </a:solidFill>
          <a:ln/>
        </p:spPr>
      </p:sp>
      <p:sp>
        <p:nvSpPr>
          <p:cNvPr id="25" name="Text 22"/>
          <p:cNvSpPr/>
          <p:nvPr/>
        </p:nvSpPr>
        <p:spPr>
          <a:xfrm>
            <a:off x="2450592" y="1645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3017520" y="1709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01752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Quality Signal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542032" y="23500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or demonstrated knowledge in the field. Does the content show deep understanding?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542032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Signals: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542032" y="3374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Author credentials (degrees, certifications)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542032" y="3602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In-depth, accurate information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2542032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Citing authoritative sources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542032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Correct technical terminology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450592" y="4343400"/>
            <a:ext cx="2011680" cy="61264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5" name="Text 32"/>
          <p:cNvSpPr/>
          <p:nvPr/>
        </p:nvSpPr>
        <p:spPr>
          <a:xfrm>
            <a:off x="2523744" y="43799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 cardiologist writing about heart disease treatment, citing clinical studies.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2523744" y="46542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 general blogger writing about medication dosage without medical qualifications.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4626864" y="1618488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626864" y="1618488"/>
            <a:ext cx="2011680" cy="658368"/>
          </a:xfrm>
          <a:prstGeom prst="rect">
            <a:avLst/>
          </a:prstGeom>
          <a:solidFill>
            <a:srgbClr val="BF6000"/>
          </a:solidFill>
          <a:ln/>
        </p:spPr>
      </p:sp>
      <p:sp>
        <p:nvSpPr>
          <p:cNvPr id="39" name="Text 36"/>
          <p:cNvSpPr/>
          <p:nvPr/>
        </p:nvSpPr>
        <p:spPr>
          <a:xfrm>
            <a:off x="4626864" y="1645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7F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600" dirty="0"/>
          </a:p>
        </p:txBody>
      </p:sp>
      <p:sp>
        <p:nvSpPr>
          <p:cNvPr id="40" name="Text 37"/>
          <p:cNvSpPr/>
          <p:nvPr/>
        </p:nvSpPr>
        <p:spPr>
          <a:xfrm>
            <a:off x="5193792" y="1709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AUTHORITATIVENESS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193792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Quality Signal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718304" y="23500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by others as a go-to source. Is the website/author cited and trusted by other authoritative sources?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718304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Signals: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718304" y="3374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High-quality backlinks from authority sites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718304" y="3602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Brand mentions in major publications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718304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Wikipedia citations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718304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Industry awards &amp; recognition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626864" y="4343400"/>
            <a:ext cx="2011680" cy="61264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9" name="Text 46"/>
          <p:cNvSpPr/>
          <p:nvPr/>
        </p:nvSpPr>
        <p:spPr>
          <a:xfrm>
            <a:off x="4700016" y="43799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WebMD referenced by hospitals, NHS, and medical journals.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700016" y="46542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Unknown health blog with no external links or recognition.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6803136" y="1618488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803136" y="1618488"/>
            <a:ext cx="2011680" cy="65836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53" name="Text 50"/>
          <p:cNvSpPr/>
          <p:nvPr/>
        </p:nvSpPr>
        <p:spPr>
          <a:xfrm>
            <a:off x="6803136" y="1645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3600" dirty="0"/>
          </a:p>
        </p:txBody>
      </p:sp>
      <p:sp>
        <p:nvSpPr>
          <p:cNvPr id="54" name="Text 51"/>
          <p:cNvSpPr/>
          <p:nvPr/>
        </p:nvSpPr>
        <p:spPr>
          <a:xfrm>
            <a:off x="7370064" y="1709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TRUSTWORTHINESS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7370064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Quality Signal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894576" y="23500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E-E-A-T factor. Is the site honest, transparent, and safe?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894576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Signals: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894576" y="3374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HTTPS security certificate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6894576" y="3602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Clear About Us &amp; author pages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6894576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Transparent privacy policy &amp; T&amp;Cs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6894576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Accurate, fact-checked content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6803136" y="4343400"/>
            <a:ext cx="2011680" cy="61264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63" name="Text 60"/>
          <p:cNvSpPr/>
          <p:nvPr/>
        </p:nvSpPr>
        <p:spPr>
          <a:xfrm>
            <a:off x="6876288" y="43799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 e-commerce site with SSL, clear return policy, real customer reviews.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6876288" y="46542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Site with no author info, hidden ownership, and conflicting health claims.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DD8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(SEM Platform)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8595360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61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is an online advertising platform where businesses bid on keywords to display ads in Google Search results. Pay-Per-Click (PPC) model.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 Auction Process: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2121408"/>
            <a:ext cx="594360" cy="59436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21671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Searches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68680" y="2414016"/>
            <a:ext cx="112471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993392" y="2121408"/>
            <a:ext cx="594360" cy="5943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4" name="Text 11"/>
          <p:cNvSpPr/>
          <p:nvPr/>
        </p:nvSpPr>
        <p:spPr>
          <a:xfrm>
            <a:off x="1993392" y="21671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719072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Triggered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87752" y="2414016"/>
            <a:ext cx="112471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3712464" y="2121408"/>
            <a:ext cx="594360" cy="594360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18" name="Text 15"/>
          <p:cNvSpPr/>
          <p:nvPr/>
        </p:nvSpPr>
        <p:spPr>
          <a:xfrm>
            <a:off x="3712464" y="21671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438144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Rank Calculated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06824" y="2414016"/>
            <a:ext cx="112471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5431536" y="2121408"/>
            <a:ext cx="594360" cy="5943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2" name="Text 19"/>
          <p:cNvSpPr/>
          <p:nvPr/>
        </p:nvSpPr>
        <p:spPr>
          <a:xfrm>
            <a:off x="5431536" y="21671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157216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Displayed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25896" y="2414016"/>
            <a:ext cx="1124712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7150608" y="2121408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/>
          <p:nvPr/>
        </p:nvSpPr>
        <p:spPr>
          <a:xfrm>
            <a:off x="7150608" y="21671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76288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32918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6576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Rank Formula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6576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 Rank = Bid × Quality Score × Expected Impact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65760" y="41148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 Bid: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you're willing to pay per click
</a:t>
            </a: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Score (1-10):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CTR, ad relevance, landing page
</a:t>
            </a: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Ad Rank = </a:t>
            </a: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position &amp; lower actual CPC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389120" y="3291840"/>
            <a:ext cx="44805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480560" y="3337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Structure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480560" y="3749040"/>
            <a:ext cx="4206240" cy="25603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0" y="37673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Budget, bidding strategy, campaign type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754880" y="4041648"/>
            <a:ext cx="3931920" cy="256032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7" name="Text 34"/>
          <p:cNvSpPr/>
          <p:nvPr/>
        </p:nvSpPr>
        <p:spPr>
          <a:xfrm>
            <a:off x="4846320" y="40599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Group: Thematically grouped keywords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029200" y="4334256"/>
            <a:ext cx="3657600" cy="2560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Text 36"/>
          <p:cNvSpPr/>
          <p:nvPr/>
        </p:nvSpPr>
        <p:spPr>
          <a:xfrm>
            <a:off x="5120640" y="43525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Exact/phrase/broad match terms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303520" y="4626864"/>
            <a:ext cx="3383280" cy="25603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1" name="Text 38"/>
          <p:cNvSpPr/>
          <p:nvPr/>
        </p:nvSpPr>
        <p:spPr>
          <a:xfrm>
            <a:off x="5394960" y="46451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Ads: Headlines, descriptions, URLs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AdSense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AdSense is a FREE program allowing website owners to earn money by displaying Google Ads. Publishers earn revenue when visitors click or view ads.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1792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vs Google AdSense: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2176272"/>
            <a:ext cx="4160520" cy="13716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2128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(Advertiser)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606040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PAY Google to show your ads
• Target: customers searching your keywords
• Goal: Drive traffic, leads, and sales
• You are the ADVERTISER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2176272"/>
            <a:ext cx="4160520" cy="1371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Text 10"/>
          <p:cNvSpPr/>
          <p:nvPr/>
        </p:nvSpPr>
        <p:spPr>
          <a:xfrm>
            <a:off x="4800600" y="22128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AdSense (Publisher)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00600" y="2606040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PAYS YOU to show ads
• Your site displays ads to visitors
• Goal: Monetize website traffic
• You are the PUBLISHER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432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Monetize with AdSense: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" y="4096512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4096512"/>
            <a:ext cx="2011680" cy="2926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" y="4114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Apply for AdSense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47472" y="44165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needs quality content, privacy policy, custom domain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450592" y="4096512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450592" y="4096512"/>
            <a:ext cx="2011680" cy="2926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19"/>
          <p:cNvSpPr/>
          <p:nvPr/>
        </p:nvSpPr>
        <p:spPr>
          <a:xfrm>
            <a:off x="2523744" y="4114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Paste Ad Code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523744" y="44165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Google's JavaScript snippet to your website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626864" y="4096512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26864" y="4096512"/>
            <a:ext cx="2011680" cy="2926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3"/>
          <p:cNvSpPr/>
          <p:nvPr/>
        </p:nvSpPr>
        <p:spPr>
          <a:xfrm>
            <a:off x="4700016" y="4114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Ads Display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700016" y="44165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shows relevant ads to visitors automatically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803136" y="4096512"/>
            <a:ext cx="20116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803136" y="4096512"/>
            <a:ext cx="2011680" cy="2926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7"/>
          <p:cNvSpPr/>
          <p:nvPr/>
        </p:nvSpPr>
        <p:spPr>
          <a:xfrm>
            <a:off x="6876288" y="4114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Earn Revenue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876288" y="44165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 per click (CPC) and per 1000 views (CPM)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SEO Tools &amp; KPIs to Track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SEO Tools: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502920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640080" cy="52120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27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Console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search performance, fix crawl errors, submit sitemaps, track rankings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5029200" cy="521208"/>
          </a:xfrm>
          <a:prstGeom prst="rect">
            <a:avLst/>
          </a:prstGeom>
          <a:solidFill>
            <a:srgbClr val="E8EDF2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84832"/>
            <a:ext cx="640080" cy="52120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2037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05840" y="2130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3774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website traffic, user behavior, conversions, and ROI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660904"/>
            <a:ext cx="502920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60904"/>
            <a:ext cx="640080" cy="5212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779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05840" y="2706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Keyword Planner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95351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keyword ideas, search volumes, and CPC data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236976"/>
            <a:ext cx="5029200" cy="521208"/>
          </a:xfrm>
          <a:prstGeom prst="rect">
            <a:avLst/>
          </a:prstGeom>
          <a:solidFill>
            <a:srgbClr val="E8EDF2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36976"/>
            <a:ext cx="640080" cy="52120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355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05840" y="3282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Ahrefs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352958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 analysis, keyword research, competitor research, rank tracking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813048"/>
            <a:ext cx="502920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13048"/>
            <a:ext cx="64008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005840" y="3858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410565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All-in-one: keywords, audits, backlinks, competitor analysis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389120"/>
            <a:ext cx="5029200" cy="521208"/>
          </a:xfrm>
          <a:prstGeom prst="rect">
            <a:avLst/>
          </a:prstGeom>
          <a:solidFill>
            <a:srgbClr val="E8EDF2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389120"/>
            <a:ext cx="640080" cy="5212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507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FREE/PAID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05840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Yoast SEO / RankMath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" y="468172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plugin for on-page optimization, sitemaps, schema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32120" y="11155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(KPIs):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532120" y="1508760"/>
            <a:ext cx="164592" cy="16459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38" name="Text 36"/>
          <p:cNvSpPr/>
          <p:nvPr/>
        </p:nvSpPr>
        <p:spPr>
          <a:xfrm>
            <a:off x="5779008" y="1490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Traffic: 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24928" y="1490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visits from unpaid search results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32120" y="1892808"/>
            <a:ext cx="164592" cy="16459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1" name="Text 39"/>
          <p:cNvSpPr/>
          <p:nvPr/>
        </p:nvSpPr>
        <p:spPr>
          <a:xfrm>
            <a:off x="5779008" y="1874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Rankings: 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24928" y="1874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of target keywords in SERPs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32120" y="2276856"/>
            <a:ext cx="164592" cy="16459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4" name="Text 42"/>
          <p:cNvSpPr/>
          <p:nvPr/>
        </p:nvSpPr>
        <p:spPr>
          <a:xfrm>
            <a:off x="5779008" y="2258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 (CTR): 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24928" y="2258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÷ Impressions from search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32120" y="2660904"/>
            <a:ext cx="164592" cy="16459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7" name="Text 45"/>
          <p:cNvSpPr/>
          <p:nvPr/>
        </p:nvSpPr>
        <p:spPr>
          <a:xfrm>
            <a:off x="5779008" y="2642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Rate: 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24928" y="2642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visitors leaving without interacting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32120" y="3044952"/>
            <a:ext cx="164592" cy="16459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0" name="Text 48"/>
          <p:cNvSpPr/>
          <p:nvPr/>
        </p:nvSpPr>
        <p:spPr>
          <a:xfrm>
            <a:off x="5779008" y="30266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Authority (DA): 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24928" y="3026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Moz's 1–100 score for ranking potential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32120" y="3429000"/>
            <a:ext cx="164592" cy="16459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3" name="Text 51"/>
          <p:cNvSpPr/>
          <p:nvPr/>
        </p:nvSpPr>
        <p:spPr>
          <a:xfrm>
            <a:off x="5779008" y="3410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 Count: 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24928" y="34107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quality external links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32120" y="3813048"/>
            <a:ext cx="164592" cy="16459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6" name="Text 54"/>
          <p:cNvSpPr/>
          <p:nvPr/>
        </p:nvSpPr>
        <p:spPr>
          <a:xfrm>
            <a:off x="5779008" y="3794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Speed: 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24928" y="3794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scores (LCP, CLS, INP)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532120" y="4197096"/>
            <a:ext cx="164592" cy="16459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9" name="Text 57"/>
          <p:cNvSpPr/>
          <p:nvPr/>
        </p:nvSpPr>
        <p:spPr>
          <a:xfrm>
            <a:off x="5779008" y="4178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Rate: 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424928" y="4178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visitors completing desired action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532120" y="4581144"/>
            <a:ext cx="164592" cy="16459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2" name="Text 60"/>
          <p:cNvSpPr/>
          <p:nvPr/>
        </p:nvSpPr>
        <p:spPr>
          <a:xfrm>
            <a:off x="5779008" y="45628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(GSC): 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424928" y="4562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site appears in search results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0D2B4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 &amp; Best Practices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572000" cy="457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4160520" cy="914400"/>
          </a:xfrm>
          <a:prstGeom prst="rect">
            <a:avLst/>
          </a:prstGeom>
          <a:solidFill>
            <a:srgbClr val="0D2B4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109728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is a long-term investment — consistently create high-quality, user-focused content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60520" cy="914400"/>
          </a:xfrm>
          <a:prstGeom prst="rect">
            <a:avLst/>
          </a:prstGeom>
          <a:solidFill>
            <a:srgbClr val="0D2B4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05840"/>
            <a:ext cx="54864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22392" y="109728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SEARCH INTENT — match your content type to what the user is looking for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4160520" cy="914400"/>
          </a:xfrm>
          <a:prstGeom prst="rect">
            <a:avLst/>
          </a:prstGeom>
          <a:solidFill>
            <a:srgbClr val="0D2B4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011680"/>
            <a:ext cx="54864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7552" y="210312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 is essential — add JSON-LD for FAQ, Product, Article, HowTo to unlock rich results and boost CTR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011680"/>
            <a:ext cx="4160520" cy="914400"/>
          </a:xfrm>
          <a:prstGeom prst="rect">
            <a:avLst/>
          </a:prstGeom>
          <a:solidFill>
            <a:srgbClr val="0D2B4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011680"/>
            <a:ext cx="54864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22392" y="210312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 backlinks — use skyscraper, HARO, original research, and resource pages for white-hat links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4160520" cy="914400"/>
          </a:xfrm>
          <a:prstGeom prst="rect">
            <a:avLst/>
          </a:prstGeom>
          <a:solidFill>
            <a:srgbClr val="0D2B4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17520"/>
            <a:ext cx="54864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7552" y="310896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foundations matter — fast, mobile-friendly, secure sites are prerequisites for ranking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017520"/>
            <a:ext cx="4160520" cy="914400"/>
          </a:xfrm>
          <a:prstGeom prst="rect">
            <a:avLst/>
          </a:prstGeom>
          <a:solidFill>
            <a:srgbClr val="0D2B4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017520"/>
            <a:ext cx="54864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22392" y="310896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everything — use Google Analytics + Search Console to track performance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023360"/>
            <a:ext cx="4160520" cy="914400"/>
          </a:xfrm>
          <a:prstGeom prst="rect">
            <a:avLst/>
          </a:prstGeom>
          <a:solidFill>
            <a:srgbClr val="0D2B4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023360"/>
            <a:ext cx="54864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87552" y="411480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Black Hat SEO — short-term gains lead to permanent penalties and loss of all traffic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4023360"/>
            <a:ext cx="4160520" cy="914400"/>
          </a:xfrm>
          <a:prstGeom prst="rect">
            <a:avLst/>
          </a:prstGeom>
          <a:solidFill>
            <a:srgbClr val="0D2B4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4023360"/>
            <a:ext cx="54864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22392" y="411480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 is non-negotiable — demonstrate Experience, Expertise, Authority, and Trust in every piece of content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SEO + SEM is a continuous process. White Hat always wins in the long run.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6748</Words>
  <Application>Microsoft Office PowerPoint</Application>
  <PresentationFormat>On-screen Show (16:9)</PresentationFormat>
  <Paragraphs>882</Paragraphs>
  <Slides>46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&amp; SEM — Complete Lecture Guide</dc:title>
  <dc:subject>PptxGenJS Presentation</dc:subject>
  <dc:creator>PptxGenJS</dc:creator>
  <cp:lastModifiedBy>maaz cheema</cp:lastModifiedBy>
  <cp:revision>2</cp:revision>
  <dcterms:created xsi:type="dcterms:W3CDTF">2026-04-22T08:59:45Z</dcterms:created>
  <dcterms:modified xsi:type="dcterms:W3CDTF">2026-04-23T07:02:04Z</dcterms:modified>
</cp:coreProperties>
</file>