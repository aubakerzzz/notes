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156" y="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36" d="100"/>
          <a:sy n="136" d="100"/>
        </p:scale>
        <p:origin x="462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96616-7A0E-4784-AD5D-1FCBF518BC75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94DDC-AC0C-476A-8A93-05641C1DB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6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D4990-B909-405E-BC30-87975E7CF02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439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94FE7D23-85F8-413D-B46D-512FD92B9291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04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14DA5-BFFF-4DC5-BEE9-DD34C7110F8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96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E78B6-ABDF-4539-8F47-24F84DDE7D1E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071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A75E-CA88-4560-BD5F-B972F3E64BFA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5090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93A9-ED7B-49FD-A2E1-F12A58DAE390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48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C0BE-2230-4F23-BA3C-46DD2BA19BC8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47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25C2-9B51-4BF8-BDC1-C43D0A3045EF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31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33633A1-F159-480B-BE99-07D359E27AED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78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014F-517F-47DD-95A6-6CED2B2D3BF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951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C81C-19F3-4810-A7D3-DF68AACEE70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6481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2260-65B5-441D-9F24-A30B34DF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10015525" cy="10492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A9147-AA5D-488C-96F0-B4D7384E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10015525" cy="329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933B5-96F3-4B42-934C-426EF9E6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8FD5-418A-4897-A8C0-5BAAA6487076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E9A7-12F3-430A-8E41-5C4C1002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9E7A-9D9B-400F-ADFB-383BB3E1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3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9371C-452C-4B8F-8338-B5CDBCC0EB96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C662BD4-A6AB-4D71-A9C8-BD63166C7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5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CAA7-1506-4696-B73A-4C699756A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9584903" cy="2618554"/>
          </a:xfrm>
        </p:spPr>
        <p:txBody>
          <a:bodyPr>
            <a:normAutofit/>
          </a:bodyPr>
          <a:lstStyle/>
          <a:p>
            <a:r>
              <a:rPr lang="en-US" sz="6000" b="1" dirty="0"/>
              <a:t>Organizing for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5E401-D98B-4549-8017-7EDE93321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9584904" cy="1071095"/>
          </a:xfrm>
        </p:spPr>
        <p:txBody>
          <a:bodyPr>
            <a:normAutofit/>
          </a:bodyPr>
          <a:lstStyle/>
          <a:p>
            <a:r>
              <a:rPr lang="en-US" sz="2000" b="1" dirty="0"/>
              <a:t>Based on Schilling. (2022). Chapters 6, 7, and 10</a:t>
            </a:r>
          </a:p>
          <a:p>
            <a:r>
              <a:rPr lang="en-US" sz="2000" b="1" dirty="0"/>
              <a:t>Focus: Structures, Innovation Culture, and Ambidexterity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807E6-A81B-4EB3-B5C3-E7A773CD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068" y="3722016"/>
            <a:ext cx="4082932" cy="278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EA02-FC1B-4913-8591-4B47E762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Learning Objectives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6B072-9F0C-4CF5-95E5-FBFB00255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By the end of this lecture, students will be able to: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Compare functional, matrix, and agile structures for innovation.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Explain the role of ambidextrous organizations in balancing exploitation and exploration.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Analyze how culture supports or undermines innovation.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Apply concepts to real-world firms (Netflix, Google).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Design an innovation-friendly team structure for a modern tech company.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863B4-30CA-4230-9FFE-9776EB84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3CB62-8399-494B-A42F-8F231C08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17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B0E7-8CEE-4AEA-A75B-4EC0563B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Organizing for Innovation Matters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4FA60-65CD-48A2-9651-E8E0110C0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is not just about ideas → it’s about execution.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Organizational design influences: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Speed: How quickly new ideas reach market.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Flexibility: Ability to pivot when markets change.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Creativity: Encouraging new ideas, risk-taking.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with poor organization waste resources, duplicate work, or lose innovators.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8ADE3-92DE-40D2-B0FA-8A228F30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581C-BDB2-4522-B331-BE462F66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072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C049-D026-4A2A-92D2-95EDA29A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Link Between Strategy &amp; Organization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0A95F-AAB5-43EB-B980-FA99E3D2F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= what we want to achieve (e.g., become leader in AI-driven services).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Organization = how we achieve it (e.g., team structures, resource allocation).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Misalignment leads to failure: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says </a:t>
            </a:r>
            <a:r>
              <a:rPr lang="en-US" sz="20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“be innovative”</a:t>
            </a:r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but structure blocks collaboration.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Nokia → great strategy for mobile, but bureaucratic structure delayed responses to iPhone.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2D98-9002-40CA-AD6A-DA1E5E0D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77D4F-88AC-4DB9-8E7C-5CEF883A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8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rganizational Chart Google Slides Template">
            <a:extLst>
              <a:ext uri="{FF2B5EF4-FFF2-40B4-BE49-F238E27FC236}">
                <a16:creationId xmlns:a16="http://schemas.microsoft.com/office/drawing/2014/main" id="{53B1DE39-A71F-4D43-805A-4C9FB45B2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369" y="1329871"/>
            <a:ext cx="4399631" cy="329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FE5D04-ADBE-4B8C-B3E0-15B1E91B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Functional Structure</a:t>
            </a:r>
            <a:endParaRPr lang="en-US" b="0" i="0" u="none" strike="noStrike" kern="100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A4237-C922-4A49-9FE2-EB28276AB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1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Organizes employees by specialized function (R&amp;D, marketing, production).</a:t>
            </a:r>
          </a:p>
          <a:p>
            <a:pPr marR="0" lvl="0" rtl="0"/>
            <a:r>
              <a:rPr lang="en-US" sz="1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Advantages:</a:t>
            </a:r>
          </a:p>
          <a:p>
            <a:pPr marR="0" lvl="1" rtl="0"/>
            <a:r>
              <a:rPr lang="en-US" sz="1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Deep expertise and specialization.</a:t>
            </a:r>
          </a:p>
          <a:p>
            <a:pPr marR="0" lvl="1" rtl="0"/>
            <a:r>
              <a:rPr lang="en-US" sz="1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Efficiency through economies of scale.</a:t>
            </a:r>
          </a:p>
          <a:p>
            <a:pPr marR="0" lvl="0" rtl="0"/>
            <a:r>
              <a:rPr lang="en-US" sz="1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Disadvantages:</a:t>
            </a:r>
          </a:p>
          <a:p>
            <a:pPr marR="0" lvl="1" rtl="0"/>
            <a:r>
              <a:rPr lang="en-US" sz="1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Silos → poor communication across departments.</a:t>
            </a:r>
          </a:p>
          <a:p>
            <a:pPr marR="0" lvl="1" rtl="0"/>
            <a:r>
              <a:rPr lang="en-US" sz="1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projects may get stuck moving between functions.</a:t>
            </a:r>
          </a:p>
          <a:p>
            <a:pPr marR="0" lvl="0" rtl="0"/>
            <a:r>
              <a:rPr lang="en-US" sz="1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Traditional car manufacturers before EV disruption.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6517F-E2A3-4DBC-B58A-E5BDE707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5F167-BEF8-4508-8C54-E2A0DF6D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0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trix Organisational Chart PowerPoint Template | Org chart ...">
            <a:extLst>
              <a:ext uri="{FF2B5EF4-FFF2-40B4-BE49-F238E27FC236}">
                <a16:creationId xmlns:a16="http://schemas.microsoft.com/office/drawing/2014/main" id="{75F5098C-AB01-43EE-AE66-096279C9E6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5"/>
          <a:stretch/>
        </p:blipFill>
        <p:spPr bwMode="auto">
          <a:xfrm>
            <a:off x="7778578" y="3876462"/>
            <a:ext cx="4413421" cy="298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557A5B-FA30-408D-8719-55CAEE44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Matrix Structure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B131B-045F-4B6C-8AD1-1EBF37BF2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Employees report to two managers: functional head + project manager.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Balances specialization with flexibility.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Cross-functional collaboration for innovation projects.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Disadvantages: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Confusion in reporting lines.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Power struggles between managers.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Aerospace and defense industries (Boeing, NASA).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4B151-A141-4EFF-9A6D-CE86FEA0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49606-E89D-4B96-AF6F-3A3F0CB6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1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alistic 3d Detailed Kanban Board with Color Sticky Notes. Vector ...">
            <a:extLst>
              <a:ext uri="{FF2B5EF4-FFF2-40B4-BE49-F238E27FC236}">
                <a16:creationId xmlns:a16="http://schemas.microsoft.com/office/drawing/2014/main" id="{1CD7B6CE-8DD4-4F61-B0C4-4B2565A0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488" y="2314897"/>
            <a:ext cx="4836512" cy="454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0AA55C-8A5C-42FC-9AA8-9D112FD7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Agile/Project-Based Teams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D66C4-53E1-45E5-A183-C8E8A3DF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Teams formed around specific projects → highly cross-functional.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Rapid response to market changes.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Strong ownership and accountability.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Disadvantages: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Duplication of resources across teams.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Potential inefficiency if scaled poorly.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Spotify’s “squads and tribes” agile model.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DB615-FCE7-4EB9-922A-BE3A8261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5C3FC-9829-4C8B-B249-C3E29F08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5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404A-9FF9-44BF-B015-EF38380B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Comparing Structures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CE871-56DE-4195-8285-52AB919BD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E65A1-F622-495F-A839-388D1E96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D8989-BC64-4E76-AAC8-B116D44C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B96075-D6C9-434A-B644-BD71EBED9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204670"/>
              </p:ext>
            </p:extLst>
          </p:nvPr>
        </p:nvGraphicFramePr>
        <p:xfrm>
          <a:off x="1130299" y="2171769"/>
          <a:ext cx="10015496" cy="32945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3874">
                  <a:extLst>
                    <a:ext uri="{9D8B030D-6E8A-4147-A177-3AD203B41FA5}">
                      <a16:colId xmlns:a16="http://schemas.microsoft.com/office/drawing/2014/main" val="1315707409"/>
                    </a:ext>
                  </a:extLst>
                </a:gridCol>
                <a:gridCol w="2503874">
                  <a:extLst>
                    <a:ext uri="{9D8B030D-6E8A-4147-A177-3AD203B41FA5}">
                      <a16:colId xmlns:a16="http://schemas.microsoft.com/office/drawing/2014/main" val="283806503"/>
                    </a:ext>
                  </a:extLst>
                </a:gridCol>
                <a:gridCol w="2503874">
                  <a:extLst>
                    <a:ext uri="{9D8B030D-6E8A-4147-A177-3AD203B41FA5}">
                      <a16:colId xmlns:a16="http://schemas.microsoft.com/office/drawing/2014/main" val="1949055425"/>
                    </a:ext>
                  </a:extLst>
                </a:gridCol>
                <a:gridCol w="2503874">
                  <a:extLst>
                    <a:ext uri="{9D8B030D-6E8A-4147-A177-3AD203B41FA5}">
                      <a16:colId xmlns:a16="http://schemas.microsoft.com/office/drawing/2014/main" val="4184304533"/>
                    </a:ext>
                  </a:extLst>
                </a:gridCol>
              </a:tblGrid>
              <a:tr h="8234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Structure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Strengths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Weaknesses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Best Context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9342183"/>
                  </a:ext>
                </a:extLst>
              </a:tr>
              <a:tr h="8237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Functional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Specialization, cost efficiency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Silos, slow to innovate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Stable markets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0935232"/>
                  </a:ext>
                </a:extLst>
              </a:tr>
              <a:tr h="8237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Matrix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Balances expertise &amp; projects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Confusion, conflict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Complex projects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6471583"/>
                  </a:ext>
                </a:extLst>
              </a:tr>
              <a:tr h="8237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Agile/Project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Fast, innovative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Costly, duplicative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Dynamic tech environments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187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93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E7C7-EA98-4F15-8C8D-B365AF1A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Theoretical Lens – Ambidextrous Organizations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912D0-3391-49B9-9503-89D9174FD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Challenge: Firms must both exploit existing capabilities </a:t>
            </a:r>
            <a:r>
              <a:rPr lang="en-US" sz="24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and</a:t>
            </a:r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explore new opportunities.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Exploit = refine, improve, scale.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Explore = experiment, risk, discover.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Ambidexterity = separate structures or units that allow both.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IBM (hardware/software exploitation + new AI/quantum exploration).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34F52-E927-4E3E-BCB9-EAB3C041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944DD-F1EE-4B11-8E61-28A9609B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34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61D0-8A00-4B01-9418-08F90D5F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Google’s 20% Time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F5676-254B-44BE-8BAF-10ED7E075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Employees could use 20% of their time for side projects.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Created products like Gmail, Google Maps.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Lessons: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Slack time → creativity.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Not all projects succeed, but foster a culture of innovation.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Limitation: Needs psychological safety and tolerance for failure.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1205D-582D-4E6E-95DA-FAF8B86A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6F473-7142-4AE1-819D-4032776F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2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051F7-7922-4058-8BE3-F9416A1C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Culture is as Important as Structure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91A49-7CAE-4B19-AB6E-731C64B39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Structure creates roles &amp; responsibilities.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Culture creates behavior &amp; mindset.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Innovative culture: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Encourages experimentation.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Rewards learning from failure.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Promotes collaboration across silos.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Pixar’s Braintrust feedback 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sessions → candor + creativity.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DAB0F-0C13-4FB6-918A-BD3C8639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B1EC1-BB0D-4142-A7D9-5994B8FB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11</a:t>
            </a:fld>
            <a:endParaRPr lang="en-US"/>
          </a:p>
        </p:txBody>
      </p:sp>
      <p:pic>
        <p:nvPicPr>
          <p:cNvPr id="6146" name="Picture 2" descr="Airbnb Culture Design Canvas: How Build a Strong Culture of Belonging ...">
            <a:extLst>
              <a:ext uri="{FF2B5EF4-FFF2-40B4-BE49-F238E27FC236}">
                <a16:creationId xmlns:a16="http://schemas.microsoft.com/office/drawing/2014/main" id="{38C1D3E7-39AB-4453-9D9D-11012A65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574" y="2742831"/>
            <a:ext cx="6199426" cy="4115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690067-C9A3-4214-AC1F-4F9F540F1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962" y="728820"/>
            <a:ext cx="2980038" cy="214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6A87-054C-4154-AFBC-DAC76AF7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Netflix Culture Memo (Overview)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06F81-F491-4AD4-9A3B-3CF00DB29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Famous “Freedom and Responsibility” culture.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Key points: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Radical transparency and candor.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Few formal policies (e.g., no vacation policy).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Performance-based freedom → employees trusted to act responsibly.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Idea: High talent density + freedom =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99693-582D-42BB-ADCD-FE0188C9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978B4-E591-42B6-AD7C-B345EA36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FC02-126C-4528-BA19-939C694BA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Netflix Culture in Practice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35AA6-D954-4948-8E60-15135E961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1" y="2171769"/>
            <a:ext cx="6506206" cy="3294576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Employees encouraged to take risks without fear.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Decision-making is decentralized.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Emphasis on accountability over micromanagement.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Controversial but effective: high turnover, but high innovation velocity.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805BC-E823-4898-8F3A-060985D7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34559-443B-4116-9328-32A325C9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87F8B-D8CE-4596-802E-74FA3687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758" y="810196"/>
            <a:ext cx="5084242" cy="36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4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6BF2-9D4E-47D9-A700-DE088825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HBR Insight – Agile Needs Psychological Safety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CC2C-3B40-48F5-9B02-3EF021B78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Agile fails if teams fear blame or punishment.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Psychological safety = environment where: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Questions are encouraged.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Failures are seen as learning.</a:t>
            </a:r>
          </a:p>
          <a:p>
            <a:pPr marR="0" lvl="1" rtl="0"/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Ideas can be challenged respectfully.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Google’s “Project Aristotle”: Psychological safety = #1 factor in team effectiveness.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4ACDC-02DB-4279-8F7E-1E759740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1605E-302D-4943-9563-1A61F05E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4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06F2-469A-48BB-91E4-DB159FCD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Organizing for Incremental vs Breakthrough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D53C8-1FD8-439C-AEBB-14C1A0551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Incremental innovation: often fits within existing functional/matrix structures.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Breakthrough innovation: needs separate, flexible, or agile units.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Lockheed Martin’s “Skunkworks” → breakthrough aerospace projects.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81B97-BA34-4123-8021-C9BCFA9B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5F086-5314-4DBB-9929-43DC5356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6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849D-8B5C-47F6-BF41-5AEA4F62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Structures for Exploration vs Exploitation</a:t>
            </a:r>
            <a:endParaRPr lang="fr-FR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4118B-BF69-4832-9FAF-05D54ED17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Exploitation → core business, efficiency, reliability.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Exploration → separate labs, R&amp;D centers, or innovation hubs.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Alphabet’s “X” moonshot factory (self-driving cars, balloons).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2BB61-F0FB-43AB-BE36-926907E2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CDC88-F110-4D12-90D4-5ED1883B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5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9365-42C7-4E29-BC63-AD5B2F3C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Organizing Innovation Networks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26E89-245E-46D9-97B7-09A869F28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1" y="2171769"/>
            <a:ext cx="5938836" cy="3294576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Beyond internal organization → innovation with partners.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Open innovation → external collaborations, ecosystems.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Tesla open patents accelerated EV ecosystem.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861EA-B1A9-4223-B1C3-91EA0193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4804C-9690-43B1-B03B-843A61CB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59766-7379-44A3-9559-D8605EA8B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941" y="1902941"/>
            <a:ext cx="4955059" cy="49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21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CE23-61E2-41D2-9DB4-0CB57E91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Leadership’s Role in Organizing Innovation</a:t>
            </a:r>
            <a:endParaRPr lang="en-US" b="0" i="0" u="none" strike="noStrike" kern="100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CC1F8-6A59-46D2-8A1A-FA7439589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Leaders design both structure and culture.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Must protect innovators from bureaucracy.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Satya Nadella at Microsoft shifted culture from “know-it-all” to “learn-it-all.”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02064-642D-4D08-AD60-AB216172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27B19-884A-4B47-B68C-1A3A4158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DAAE-35C1-40E4-AF96-5CED6C0D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Trade-Offs in Organizing for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DD2E-CBCF-4374-AAA5-8ED7929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Centralization vs Decentralization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Control vs Freedom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Short-term profit vs Long-term exploration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No single best answer → depends on industry dynamics.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8AC00-D887-4749-B5A1-CFFA1FC2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B6ECD-97C1-4EAD-A0F8-CCF08231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B78A-9CFF-40EF-A973-5A5B3984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Example – Netflix’s Innovation Organization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22EB9-F954-4424-9EF8-703A9C37F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How does Netflix combine freedom + responsibility in practice?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Talent density ensures quality.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Candor promotes fast feedback.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Few controls allow creativity but rely on accountability.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9E3AF-D725-4D13-A999-A5BC36FC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8399C-C384-4B9C-8D34-87A24E0D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5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F469-C91A-4868-9C14-7525A887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Case-Based Activity Setup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D4B80-DC05-4F9D-8C58-D08156ADB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Case Material: Netflix Culture Deck.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Group Task: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Design a team structure for Netflix’s R&amp;D.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Should reflect freedom + accountability.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Balance creative autonomy with coordination.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A2A64-993D-42DE-A851-6DC0F76E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3E36F-BDB9-40CC-825E-109FDD66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80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9E10-7C1E-46CB-AC25-1ACBC121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Activity Instructions</a:t>
            </a:r>
            <a:endParaRPr lang="en-US" b="0" i="0" u="none" strike="noStrike" kern="100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93860-92C7-4044-B026-24DD458D4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Form groups of 4–5.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Choose structure (functional, matrix, agile, or hybrid).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Justify design with Netflix’s culture principles.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Present in 2–3 mins.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C0E4C-94E4-4AE2-9378-25A38338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7ABD3-0692-4842-8366-9430B72F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26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3911-D94B-4589-A45D-EFC24199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Example Student Outcomes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D3EEC-3522-4570-A978-3975FC0D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Hybrid structure: Agile for creative teams, functional for infrastructure.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Emphasis on accountability metrics instead of strict supervision.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Alignment with culture: High freedom, but high responsibility.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7FE6E-F9FD-4058-827E-F7849A4C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BE189-BEEF-48BE-94DC-37CE4044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80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9A01-1DBC-4C35-9A69-8966D7EB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Discussion Questions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C65DC-147F-4F93-81DE-75116D3C5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Can a culture of freedom replace formal structure?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risks come with Netflix’s model?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How do psychological safety and candor coexist?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Is Netflix’s approach replicable in all industries?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AE221-F71B-40CD-B1EC-A1252634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75398-FFE9-4BAB-BC6C-43649B5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25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1C68-2FD0-473C-A815-0AD57863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Linking Back to Schilling Ch. 6 – Strategy Direction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6B130-4AB3-48C7-8F6D-90FA08801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direction informs organizational choices.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must ask: Do we need efficiency or radical innovation?</a:t>
            </a:r>
          </a:p>
          <a:p>
            <a:pPr marR="0" lvl="0" rtl="0"/>
            <a:r>
              <a:rPr lang="fr-FR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Toyota vs Tesla → </a:t>
            </a:r>
            <a:r>
              <a:rPr lang="fr-FR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incremental</a:t>
            </a:r>
            <a:r>
              <a:rPr lang="fr-FR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vs disruptive orientation.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810F2-2F4F-466B-9937-E9FF71A2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07948-3E43-4FA7-9A66-62ABDF31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28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36F1A-80E4-42E3-A7A9-DDA532D0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Schilling Ch. 7 – Choosing Innovation Projects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19859-A953-4478-B862-B0F348322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Project selection shapes structure.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Radical projects may need separate structures.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Portfolio management ensures balance between short-term and long-term bets.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2001A-0EA4-4EBF-A9F7-D895145D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1D548-7472-4931-906F-59F8F09D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93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D001-8A21-4F7A-9BF3-0C888C57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Schilling Ch. 10 – Organizing for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19521-7DBB-4E7A-9175-1C14F596A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Key lessons: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No single “best” structure.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Balance between specialization and flexibility.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Culture is critical to sustain innovative outcomes.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F616C-8243-44EA-9C87-8F85DF3B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B1C23-87E6-43A1-8543-B8B96354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24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1F2A-C94A-4EE7-BA2F-506D2F50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Metrics for Innovation Organizations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40B01-0C17-4BFE-A5F9-31644084F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Output metrics: new product revenue, patents, prototypes.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Process metrics: time-to-market, cycle time.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Culture metrics: employee engagement, tolerance for risk.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C8A7F-1D24-44CC-9FD6-8EC6E2F5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A1BC7-5F7D-4461-A32A-5E72D893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90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8C77-FED7-4BE9-951F-F7DEB19A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Challenges in Organizing for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72F16-23AA-4AFE-90A5-FE9808F95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Resistance to change.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Difficulty scaling agile beyond small teams.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Risk of chaos if freedom is not balanced with accountability.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A479F-351C-41F6-AD14-C5A656FD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89BE3-B7C2-4E81-BA63-9D569D96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74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0D05-FBE9-4836-A076-698CF3DD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Future Trends in Organizing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291BC-2571-453B-88B7-5E7261021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Hybrid/remote collaboration with digital tools (Slack, Miro, GitHub).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AI-augmented decision-making and ideation.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Web3 &amp; </a:t>
            </a:r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DAOs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: decentralized autonomous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C3581-CF93-49C4-B444-A1AFF051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76529-F871-48FD-A761-46B047D4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08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7771-72E1-4BE3-A17E-4FA6086F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Summary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62AC6-7070-434D-AED4-6E103E196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Structures: Functional, matrix, agile – each has strengths and limits.</a:t>
            </a:r>
          </a:p>
          <a:p>
            <a:pPr marR="0" lvl="0" rtl="0"/>
            <a:r>
              <a:rPr lang="fr-FR" sz="24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Ambidextrous</a:t>
            </a:r>
            <a:r>
              <a:rPr lang="fr-FR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fr-FR" sz="24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organizations</a:t>
            </a:r>
            <a:r>
              <a:rPr lang="fr-FR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balance exploration &amp; exploitation.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Culture = the hidden structure enabling risk-taking and creativity.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Netflix and Google show contrasting but effective models.</a:t>
            </a:r>
          </a:p>
          <a:p>
            <a:pPr marR="0" lvl="0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Organizing for innovation is about alignment, balance, and adaptability.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C5F56-938D-4DB1-B26D-235B6697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28C3A-BCF2-41AD-BD3D-FCBF01A4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31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31FE-9F25-45AB-A719-683C1C46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Closing Thought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DE2E7-1E6B-4E58-8B3A-59D282C0A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6246713" cy="3294576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“Innovation thrives when structure enables freedom, and culture nurtures responsibility.”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A129A-E3A6-4958-AF10-2E71BE0F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CD3D-71B8-4EA4-9A3C-5CD7DFE3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9D50-AAC8-4299-B50F-9C2EABDED4B3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6298F9-F377-4905-92B0-28CF8183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963" y="621473"/>
            <a:ext cx="4123038" cy="623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2411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</TotalTime>
  <Words>1480</Words>
  <Application>Microsoft Office PowerPoint</Application>
  <PresentationFormat>Widescreen</PresentationFormat>
  <Paragraphs>249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Century Gothic</vt:lpstr>
      <vt:lpstr>Times New Roman</vt:lpstr>
      <vt:lpstr>Gallery</vt:lpstr>
      <vt:lpstr>Organizing for Innovation</vt:lpstr>
      <vt:lpstr>Learning Objectives</vt:lpstr>
      <vt:lpstr>Why Organizing for Innovation Matters</vt:lpstr>
      <vt:lpstr>Link Between Strategy &amp; Organization</vt:lpstr>
      <vt:lpstr>Functional Structure</vt:lpstr>
      <vt:lpstr>Matrix Structure</vt:lpstr>
      <vt:lpstr>Agile/Project-Based Teams</vt:lpstr>
      <vt:lpstr>Comparing Structures</vt:lpstr>
      <vt:lpstr>Theoretical Lens – Ambidextrous Organizations</vt:lpstr>
      <vt:lpstr>Google’s 20% Time</vt:lpstr>
      <vt:lpstr>Why Culture is as Important as Structure</vt:lpstr>
      <vt:lpstr>Netflix Culture Memo (Overview)</vt:lpstr>
      <vt:lpstr>Netflix Culture in Practice</vt:lpstr>
      <vt:lpstr>HBR Insight – Agile Needs Psychological Safety</vt:lpstr>
      <vt:lpstr>Organizing for Incremental vs Breakthrough Innovation</vt:lpstr>
      <vt:lpstr>Structures for Exploration vs Exploitation</vt:lpstr>
      <vt:lpstr>Organizing Innovation Networks</vt:lpstr>
      <vt:lpstr>Leadership’s Role in Organizing Innovation</vt:lpstr>
      <vt:lpstr>Trade-Offs in Organizing for Innovation</vt:lpstr>
      <vt:lpstr>Case Example – Netflix’s Innovation Organization</vt:lpstr>
      <vt:lpstr>Case-Based Activity Setup</vt:lpstr>
      <vt:lpstr>Activity Instructions</vt:lpstr>
      <vt:lpstr>Example Student Outcomes</vt:lpstr>
      <vt:lpstr>Discussion Questions</vt:lpstr>
      <vt:lpstr>Linking Back to Schilling Ch. 6 – Strategy Direction</vt:lpstr>
      <vt:lpstr>Schilling Ch. 7 – Choosing Innovation Projects</vt:lpstr>
      <vt:lpstr>Schilling Ch. 10 – Organizing for Innovation</vt:lpstr>
      <vt:lpstr>Metrics for Innovation Organizations</vt:lpstr>
      <vt:lpstr>Challenges in Organizing for Innovation</vt:lpstr>
      <vt:lpstr>Future Trends in Organizing Innovation</vt:lpstr>
      <vt:lpstr>Summary</vt:lpstr>
      <vt:lpstr>Closing Thought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Organizing for Innovation</dc:title>
  <dc:creator>Hammad</dc:creator>
  <cp:lastModifiedBy>Hammad</cp:lastModifiedBy>
  <cp:revision>16</cp:revision>
  <dcterms:created xsi:type="dcterms:W3CDTF">2025-09-30T09:48:19Z</dcterms:created>
  <dcterms:modified xsi:type="dcterms:W3CDTF">2025-09-30T10:36:08Z</dcterms:modified>
</cp:coreProperties>
</file>