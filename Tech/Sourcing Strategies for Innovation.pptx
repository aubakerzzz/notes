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73044" autoAdjust="0"/>
  </p:normalViewPr>
  <p:slideViewPr>
    <p:cSldViewPr snapToGrid="0" showGuides="1">
      <p:cViewPr varScale="1">
        <p:scale>
          <a:sx n="144" d="100"/>
          <a:sy n="144" d="100"/>
        </p:scale>
        <p:origin x="2011" y="1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61D3C-884F-4DC4-BBF2-97EEE42C8955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5C474-101D-43B2-9158-960AB5D97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9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Highlight that sourcing decisions are at the heart of corporate innovation strategy.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59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Clarify that this topic integrates strategic theory with modern digital platform realities.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2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Provide real-world context—discuss how Big Tech (Meta, Google, Amazon) faces the “build or buy” dilemma regularly.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Briefly mention Ronald Coase and Oliver Williamson for TCE, and Pfeffer &amp; </a:t>
            </a:r>
            <a:r>
              <a:rPr lang="en-US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Salancik</a:t>
            </a: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for </a:t>
            </a:r>
            <a:r>
              <a:rPr lang="en-US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RDT</a:t>
            </a: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62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Use example: When Intel vertically integrated semiconductor design and production to avoid supplier opportunism.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09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b="0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b="0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Discuss Apple’s chip production shift (from suppliers to internal M-series chips) as a dependency-reduction move.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55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b="0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b="0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Reference Schilling’s emphasis on learning curves and cumulative knowledge creation.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85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Pose the question: “Why doesn’t every firm simply ‘make’ everything internally?”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13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Highlight examples like Toyota–Panasonic EV battery alliance or IBM–Apple collaboration on enterprise apps.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99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Relate to Schilling’s concept of learning races — alliances as opportunities to absorb external knowledge before partners do.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00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Engage students: “How might Google protect itself in an alliance with a smaller AI startup?”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06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Use Meta’s acquisition timeline as an entry point.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12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Discuss AOL–Time Warner and Microsoft–Nokia as cautionary examples.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77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Provide context: Meta spent over $20 billion on acquisitions during 2010–2020 to secure market dominance.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16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Ask: “Which internal projects succeeded and which failed? What patterns emerge?”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40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Discuss synergy between Instagram’s mobile </a:t>
            </a:r>
            <a:r>
              <a:rPr lang="en-US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UX</a:t>
            </a: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and Meta’s network effects.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30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Apply </a:t>
            </a:r>
            <a:r>
              <a:rPr lang="en-US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RDT</a:t>
            </a: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— Meta reduced dependency on third-party messaging networks.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90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Tie to Schilling’s theme: firms buy radical innovation when internal paths are too uncertain.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408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Encourage students to see that financial motives and resource motives overlap.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661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Contrast with Google’s approach (open-source Android ecosystem).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594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Reference Schilling’s argument: capabilities matter more than contracts.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527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Introduce ethical reflection: when does acquisition become anti-innovation?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233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Emphasize situational strategy design.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870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Allow 10 minutes prep, 10 minutes debate, 5 minutes faculty debrief.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12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Encourage evidence-based reasoning, citing both Schilling and HBR.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802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Recap using Meta case and TCE/</a:t>
            </a:r>
            <a:r>
              <a:rPr lang="en-US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RDT</a:t>
            </a: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as analytic anchors.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775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Show how classical theory still applies in digital platform era.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559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Teaching Note:</a:t>
            </a:r>
            <a:b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Encourage students to apply analytical, not emotional, reasoning.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5C474-101D-43B2-9158-960AB5D97AD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29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F450-8453-4F26-87F8-3E613639F20C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677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89BCB71B-2A70-4B2C-903C-BFE887E5E03F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3401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1425-0C62-47BE-820D-748D9A32409F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1052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0E58-742A-4881-AEFD-D2646AD87D66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725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543A-B0EB-49F8-8F05-A9D6DC20BFFD}" type="datetime1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796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38C00-1E79-4D60-9F9D-708C69737122}" type="datetime1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068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18C4-409F-4BDC-BF8C-401EB72CBA94}" type="datetime1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23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0445-F91B-417D-A268-B4CDBBE312C0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309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A9FA9F27-C1AD-4D8E-B30F-43D45106A94D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8929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ED4A-64E6-4FD2-BC4E-FB90B515FAEC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1984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B43A-B10B-4309-8DA9-7141843D2670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455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8C27-5F91-4853-836C-B854B8576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5"/>
            <a:ext cx="10144930" cy="7530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C7194-3B91-433D-A31F-4DCA5E299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0" y="2018740"/>
            <a:ext cx="10144930" cy="40220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77420-E726-4244-9D1D-90299A34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F5DA9-19C4-4234-9912-0EA9EB1D8099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DBA82-0892-4BDB-A50B-0664D0826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0590B-F6B2-4519-87DB-D88CDEF2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5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0C278-734C-4601-A8C0-5D331CBE4365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96654DF-6052-46B8-8387-2CCF06DD9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5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2F110-B47F-4337-AD76-552E20F15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9868251" cy="2618554"/>
          </a:xfrm>
        </p:spPr>
        <p:txBody>
          <a:bodyPr>
            <a:normAutofit/>
          </a:bodyPr>
          <a:lstStyle/>
          <a:p>
            <a:r>
              <a:rPr lang="en-US" sz="4400" b="1" dirty="0"/>
              <a:t>Sourcing Strategies for Innovation:</a:t>
            </a:r>
            <a:br>
              <a:rPr lang="en-US" sz="4400" b="1" dirty="0"/>
            </a:br>
            <a:r>
              <a:rPr lang="en-US" sz="4400" b="1" dirty="0"/>
              <a:t>Make, Ally, or Buy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BC390-F910-42C5-ABBD-2150C27DA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403" y="4133267"/>
            <a:ext cx="9868250" cy="1071095"/>
          </a:xfrm>
          <a:solidFill>
            <a:schemeClr val="accent5">
              <a:lumMod val="20000"/>
              <a:lumOff val="80000"/>
            </a:schemeClr>
          </a:solidFill>
          <a:ln w="88900" cmpd="dbl">
            <a:solidFill>
              <a:srgbClr val="C00000"/>
            </a:solidFill>
          </a:ln>
        </p:spPr>
        <p:txBody>
          <a:bodyPr anchor="ctr" anchorCtr="0">
            <a:normAutofit/>
          </a:bodyPr>
          <a:lstStyle/>
          <a:p>
            <a:r>
              <a:rPr lang="en-US" sz="2400" b="1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“Should a firm develop innovation internally, collaborate with others, or acquire external innovators?”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68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E3C0-6EED-4158-8033-46B4C7637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03EBE-ED12-4759-B65E-947908D88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Explain the logic of Make, Ally, Buy sourcing strategies.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Apply Transaction Cost Economics (TCE) and Resource Dependency Theory (</a:t>
            </a:r>
            <a:r>
              <a:rPr lang="en-US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RDT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) to innovation sourcing.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Analyze Meta’s acquisitions as examples of “Buy” strategy.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Evaluate when alliances outperform internal R&amp;D or acquisitions.</a:t>
            </a:r>
            <a:b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US" i="0" u="none" strike="noStrike" baseline="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7D4B8-E535-4421-96C7-74232FA0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4B9C5-05DA-4AC6-9843-4996E74D0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72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8AFAC-0A83-44B0-A578-6F0EB100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Why Sourcing Strategy Matters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49C9A-CB2B-41EB-82D5-E86988AD6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Innovation doesn’t occur in isolation. Firms must balance: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Speed vs. control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Capability development vs. dependency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Risk vs. opportunity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Short-term gains vs. long-term learning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0949A-2379-4421-9704-BA3BAF6B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1BA66-535E-4E32-90A3-98CCE901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79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6DBD-8AF4-4B7E-969F-0DDA6CC2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The Make–Ally–Buy Spectrum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CB41D-3780-489A-AC9C-E0CB2CFC6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41ED38-9308-41C6-95F5-AD44E192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DFDFF-D640-458F-A4E4-D6DF3DA32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7E4865-063E-4326-9D3C-0DD49F59A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984882"/>
              </p:ext>
            </p:extLst>
          </p:nvPr>
        </p:nvGraphicFramePr>
        <p:xfrm>
          <a:off x="1130300" y="2123163"/>
          <a:ext cx="10155651" cy="33903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1168">
                  <a:extLst>
                    <a:ext uri="{9D8B030D-6E8A-4147-A177-3AD203B41FA5}">
                      <a16:colId xmlns:a16="http://schemas.microsoft.com/office/drawing/2014/main" val="2182312989"/>
                    </a:ext>
                  </a:extLst>
                </a:gridCol>
                <a:gridCol w="3939436">
                  <a:extLst>
                    <a:ext uri="{9D8B030D-6E8A-4147-A177-3AD203B41FA5}">
                      <a16:colId xmlns:a16="http://schemas.microsoft.com/office/drawing/2014/main" val="1939062833"/>
                    </a:ext>
                  </a:extLst>
                </a:gridCol>
                <a:gridCol w="4835047">
                  <a:extLst>
                    <a:ext uri="{9D8B030D-6E8A-4147-A177-3AD203B41FA5}">
                      <a16:colId xmlns:a16="http://schemas.microsoft.com/office/drawing/2014/main" val="183870808"/>
                    </a:ext>
                  </a:extLst>
                </a:gridCol>
              </a:tblGrid>
              <a:tr h="8473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Strategy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Description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Key Question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260859"/>
                  </a:ext>
                </a:extLst>
              </a:tr>
              <a:tr h="8476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Make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Internal R&amp;D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“Can we build it ourselves?”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96684701"/>
                  </a:ext>
                </a:extLst>
              </a:tr>
              <a:tr h="8476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Ally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Partnerships, joint ventures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“Can we co-develop or share?”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4938076"/>
                  </a:ext>
                </a:extLst>
              </a:tr>
              <a:tr h="8476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Buy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Mergers, acquisitions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“Should we acquire instead?”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55689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679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0EA79-F652-4BEA-BE78-71C2F069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Theoretical Foundations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46101-41CA-4501-AAD1-EFC6325A6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Transaction Cost Economics (TCE)</a:t>
            </a:r>
          </a:p>
          <a:p>
            <a:pPr lvl="1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Firms internalize when market coordination is costly.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Resource Dependency Theory (</a:t>
            </a:r>
            <a:r>
              <a:rPr lang="en-US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RDT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)</a:t>
            </a:r>
          </a:p>
          <a:p>
            <a:pPr lvl="1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Firms collaborate or acquire to reduce dependence on external actors.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Strategic Fit Perspective</a:t>
            </a:r>
          </a:p>
          <a:p>
            <a:pPr lvl="1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The right sourcing mode depends on the firm’s capabilities, uncertainty, and resource gaps.</a:t>
            </a:r>
            <a:b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US" i="0" u="none" strike="noStrike" baseline="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5AFCD-8088-4F88-AC4B-C22B96753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8A808-970F-4442-A303-01D0DCCD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30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52A5-AA89-4888-951E-A654F346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Transaction Cost Economics (TCE)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D743D-8548-4E1C-BDF3-D42F80A36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Core Principles: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Markets and hierarchies both have costs.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Internal R&amp;D avoids market opportunism but creates bureaucracy.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Outsourcing or alliances reduce overhead but increase coordination risk.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8BA1A-6364-4800-9CB7-080E52E1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44B03-B5D0-48B7-9A8D-C817C504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55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211E-9DA2-43F2-92B2-C3DA2BA20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Resource Dependency Theory (RDT)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56520-0CAD-49EC-9D95-AE6444C37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Key Assumptions: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Firms rely on others for critical resources (knowledge, technology, talent).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Alliances and acquisitions reduce dependency by internalizing or sharing control.</a:t>
            </a:r>
          </a:p>
          <a:p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Goal: </a:t>
            </a:r>
          </a:p>
          <a:p>
            <a:pPr lvl="1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Maintain strategic autonomy while accessing external expertise.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EFB75-E954-4AAD-A91A-8C2F1BD3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AEC86-44CC-405E-8C83-F9482C21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84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1202-FE1C-46BB-91D8-D07C9E29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“Make” Strategy: Internal R&amp;D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12FD7-5FA6-4C39-81A7-23C4B3C1D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Advantages: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Builds unique competencies.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Protects intellectual property.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Creates sustainable competitive advantage.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Challenges: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High cost and long lead time.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Risk of technological lock-in.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Requires strong absorptive capacity (Cohen &amp; Levinthal).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977AD-FEFB-4A7B-AA7B-436A2992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79347-584B-4524-BA07-4BC5605C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26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97A3-B4C6-4DC3-BD55-9B496B49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When “Make” Works Best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BE113-D5E0-457D-A2CE-422F9F7E9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When innovation is core to the firm’s identity (e.g., Tesla’s battery R&amp;D).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When knowledge is tacit and hard to transfer.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When speed is less important than proprietary control.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When the firm has R&amp;D infrastructure and expertise.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47F5F-B381-4905-B9FA-61D2E7FE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9B930-6042-477E-A6F1-0B758047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8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95421-DB3A-4060-A45C-592EBF54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“Ally” Strategy: Strategic Alliances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340ED-D243-4627-B6D5-E2424D64C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 formal or informal agreement to share resources, risks, and rewards in pursuit of innovation.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Types: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R&amp;D consortia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Technology licensing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Co-development partnerships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Joint ventures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B1A84-E916-41D0-8A29-689A50DC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AD2FE-2691-400C-833A-0308AEA8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50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47D6-591B-4F25-8A36-EE54F4777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Advantages of Alliances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236B3-D3AE-4BAF-9611-DFF271508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Shared risk and investment.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Access to complementary skills or technologies.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Faster time to market.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Opportunity for organizational learning.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393B5-67F6-47A3-A5AD-CCE5F16A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93EB-F39E-4433-824D-601ED059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33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8B9CD-4488-4132-A608-BAD7F8EE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Challenges of Alliances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5909A-F7F9-4527-86A8-1C41AD640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Knowledge leakage and imitation.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Conflict over intellectual property.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Cultural and governance mismatches.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Opportunistic behavior from partners.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09E34-32BB-499A-BED6-0891FCA12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1FA6B-7241-4188-B54D-05DCC53C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05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4D66-47CB-4B64-9C98-BA070C3F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“Buy” Strategy: Acquisitions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56C00-DDFB-47EE-A796-D6853313B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When a firm purchases another company to access technology, talent, or market share.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Benefits: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Speed of entry.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Instant access to new capabilities.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Control over critical technologies.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34AB7-FCDD-443E-9D06-7533668F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5EE33-DBE8-4D60-9CFF-C0DDAE4F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59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4EBD-365A-45FD-8165-6D698B292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Risks of Acquisitions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42A01-35C1-4DD7-9115-CD7758F86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Overvaluation of targets.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Integration and cultural clash.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Redundant R&amp;D or talent loss.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Innovation suffocation post-merger.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718BC-DED0-43DA-8A1A-CEE1503D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CC5FE-531D-4725-84C2-0352BABF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37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2E61-654A-4685-8BA5-BA4BC7429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Make–Ally–Buy Decision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3D39B-7EA6-4351-8577-226D9578D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B8F1EF-E8D9-4298-B27A-6B92300EB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F090A-28DD-45E9-8709-19E3D80C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ABC098-2672-4E3B-B607-B246FD570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32097"/>
              </p:ext>
            </p:extLst>
          </p:nvPr>
        </p:nvGraphicFramePr>
        <p:xfrm>
          <a:off x="1130300" y="2018741"/>
          <a:ext cx="9602788" cy="35987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0697">
                  <a:extLst>
                    <a:ext uri="{9D8B030D-6E8A-4147-A177-3AD203B41FA5}">
                      <a16:colId xmlns:a16="http://schemas.microsoft.com/office/drawing/2014/main" val="1501474715"/>
                    </a:ext>
                  </a:extLst>
                </a:gridCol>
                <a:gridCol w="2400697">
                  <a:extLst>
                    <a:ext uri="{9D8B030D-6E8A-4147-A177-3AD203B41FA5}">
                      <a16:colId xmlns:a16="http://schemas.microsoft.com/office/drawing/2014/main" val="1836049083"/>
                    </a:ext>
                  </a:extLst>
                </a:gridCol>
                <a:gridCol w="2400697">
                  <a:extLst>
                    <a:ext uri="{9D8B030D-6E8A-4147-A177-3AD203B41FA5}">
                      <a16:colId xmlns:a16="http://schemas.microsoft.com/office/drawing/2014/main" val="3262013644"/>
                    </a:ext>
                  </a:extLst>
                </a:gridCol>
                <a:gridCol w="2400697">
                  <a:extLst>
                    <a:ext uri="{9D8B030D-6E8A-4147-A177-3AD203B41FA5}">
                      <a16:colId xmlns:a16="http://schemas.microsoft.com/office/drawing/2014/main" val="988832183"/>
                    </a:ext>
                  </a:extLst>
                </a:gridCol>
              </a:tblGrid>
              <a:tr h="59963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Criteria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Make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Ally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Buy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6869457"/>
                  </a:ext>
                </a:extLst>
              </a:tr>
              <a:tr h="5998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Knowledge Tacitness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High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Medium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Low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07223862"/>
                  </a:ext>
                </a:extLst>
              </a:tr>
              <a:tr h="5998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Time Pressure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Low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Medium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High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15169556"/>
                  </a:ext>
                </a:extLst>
              </a:tr>
              <a:tr h="5998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Control Needed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High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Medium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High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04691766"/>
                  </a:ext>
                </a:extLst>
              </a:tr>
              <a:tr h="5998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Cost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Medium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Low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High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6986180"/>
                  </a:ext>
                </a:extLst>
              </a:tr>
              <a:tr h="5998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Learning Potential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High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High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Medium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5750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367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3496-3809-447B-980B-A4D3F3E7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Case Introduction: Meta Platforms Inc.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42898-A19E-4820-87E3-971C5EEF5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Meta’s strategic question: </a:t>
            </a:r>
            <a:r>
              <a:rPr lang="en-US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“Should we innovate internally or acquire innovators?”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Meta’s acquisitions: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Instagram (2012) – Social photo sharing.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WhatsApp (2014) – Messaging network.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Oculus (2014) – Virtual Reality entry point.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E56B2F-6757-4C18-97C5-0AB5F9FC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CE025E-5AE7-4204-8A4C-74BDCDE0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97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F48D-A7AB-4BEA-8E03-DFF0C6853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Meta’s Internal Innovation Track Record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BA06F-FE0A-41CA-A3EF-63EB6A7D2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Examples of internal initiatives: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Facebook Marketplace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Facebook Stories (copied from Snapchat)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Horizon Worlds (VR ecosystem)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4736A-11FC-4845-BBC3-733052A4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D059A-9E56-4364-8021-B4088ED7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8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F78F-3BA1-42EB-BB8E-C57A94EE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Case Analysis: Instagram Acquisition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672FE-0A86-42F6-A848-C6B360FCF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Rationale: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Rapid growth in mobile photo sharing threatened Facebook’s core.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Acquisition cost: $1 billion; less than 1% of current Meta value.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Brought design talent and younger users.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ABAEC-BA0C-4C78-8003-C6A890C4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82B00-13DD-43DB-8D7A-E93BA215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32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D682-8DCA-4F65-AEED-50E147B4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Case Analysis: WhatsApp Acquisition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AA0B0-E407-4D4D-926A-274CB1587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Strategic motives: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Expansion into private messaging ecosystems.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Preempt competition from Google Hangouts and WeChat.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Global user reach (India, Africa, Europe).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FC5F4-6BB7-4BD0-8584-DF486CC4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2A8BD-DD54-4F3F-B429-51FD7135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6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680-4C30-4DF7-A4C3-CC2A350B2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Case Analysis: Oculus VR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028D9-0B2E-4CC7-BDAE-2BB5574A3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Strategic motives: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Enter the immersive tech frontier early.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Diversify revenue beyond ads.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Leverage new ecosystem creation.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D6AF-D13B-4EC7-BE85-42408BCD4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07335-4EFF-4793-A105-B1AC8A9A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02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463F2-D09A-4734-AD0A-929FA1D44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Applying TCE and RDT to Meta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0C183-1998-48D9-9E1E-F973E40BB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TCE view: </a:t>
            </a:r>
          </a:p>
          <a:p>
            <a:pPr lvl="1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Acquisitions lowered transaction costs of knowledge transfer.</a:t>
            </a:r>
          </a:p>
          <a:p>
            <a:pPr marR="0" lvl="0" rtl="0"/>
            <a:r>
              <a:rPr lang="en-US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RDT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view: </a:t>
            </a:r>
          </a:p>
          <a:p>
            <a:pPr lvl="1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Meta internalized resources to reduce dependence on external innovators.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Strategic lens: </a:t>
            </a:r>
          </a:p>
          <a:p>
            <a:pPr lvl="1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Control over user data and platform ecosystems became the motive.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1B2BC-601E-4C37-9CF9-2369EE6C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9D563-A2E8-43E9-B014-425A20744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14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364F-DC57-4910-B285-32B7B04F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Alliance as an Alternative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82307-11D1-41B4-8C57-54F954677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What if Meta had formed alliances instead?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Could have co-developed AR/VR with startups instead of acquiring Oculus.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Might have reduced backlash over monopoly control.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Risk: slower learning and weaker integration.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BB3D2-4C9E-488A-88A1-823DAD36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F32BC7-DA56-4935-A20D-9B86B6A8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22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61AAA-5A31-4319-B523-99AAD36A1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Reading Summary: HBR “Strategic Alliances That Work”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36806-B91D-48E9-BAB7-27B800A42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Best practices for alliances: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Start with small, trust-based collaborations.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Build joint governance and shared </a:t>
            </a:r>
            <a:r>
              <a:rPr lang="en-US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KPIs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Maintain transparency and learning mechanisms.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Evaluate success on joint value creation, not individual gain.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C7228A-F875-4E05-9EA7-9F5BD99C0CEA}"/>
              </a:ext>
            </a:extLst>
          </p:cNvPr>
          <p:cNvSpPr txBox="1">
            <a:spLocks/>
          </p:cNvSpPr>
          <p:nvPr/>
        </p:nvSpPr>
        <p:spPr>
          <a:xfrm>
            <a:off x="1130270" y="5000740"/>
            <a:ext cx="10144930" cy="753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88900" cmpd="dbl">
            <a:solidFill>
              <a:srgbClr val="C00000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“Could Meta have applied this to emerging AI partnerships?”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B34B2-E975-495F-9AB1-443A4837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0E5CD-8B8F-414C-9C50-BB2646B1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31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4B17-BDFD-494C-9377-4E86E944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Organizational Capability in Sourcing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D2C93-7080-4D0C-A062-2642BE6AF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Firms must develop: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Absorptive capacity (learning from partners/acquisitions).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Integration capability (post-merger knowledge transfer).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Cultural agility (cross-team collaboration).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1F206-75D2-43D2-8E04-157000BB5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B0B70-A806-4219-8012-B17B4172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9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73B7-FE2A-42D6-883D-F9C02DD0D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Ethical Implications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CCF72-54E3-4BE6-A803-02FBEBA1D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Issues raised by Meta’s acquisition spree: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Antitrust concerns (buying competitors).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Innovation suppression (less diversity).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Data privacy and user trust.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67D22-CB9C-4C5A-A365-AC193105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F3C54-F3A5-4A47-9FFD-E13AFC9CB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89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15C3-796C-4F3E-8716-8CF2E9A72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Synthesis: Aligning Strategy to Context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FE831-BCB8-4F47-94D4-88F208AC8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22F1D-E8C3-4DBD-B4F7-F0C38F8F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7485D-B254-4577-A623-BA42D71B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A38959-4D14-4A2A-BC8D-BE844BF72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307830"/>
              </p:ext>
            </p:extLst>
          </p:nvPr>
        </p:nvGraphicFramePr>
        <p:xfrm>
          <a:off x="1130270" y="2279237"/>
          <a:ext cx="9602788" cy="22995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26242">
                  <a:extLst>
                    <a:ext uri="{9D8B030D-6E8A-4147-A177-3AD203B41FA5}">
                      <a16:colId xmlns:a16="http://schemas.microsoft.com/office/drawing/2014/main" val="1838566710"/>
                    </a:ext>
                  </a:extLst>
                </a:gridCol>
                <a:gridCol w="4576546">
                  <a:extLst>
                    <a:ext uri="{9D8B030D-6E8A-4147-A177-3AD203B41FA5}">
                      <a16:colId xmlns:a16="http://schemas.microsoft.com/office/drawing/2014/main" val="1774775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Business Context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Preferred Strategy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02883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Emerging technology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Buy or Ally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4347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Stable technology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Make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3070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Platform competition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Buy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21522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Complementary assets needed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Ally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9522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Proprietary core capability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Make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5664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76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7C25-AB37-4765-8BF3-0119682E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Class Activity: Structured Debate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A8494-45B6-4E0D-AD26-592D62829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Motion: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“Meta’s acquisition strategy strengthened innovation in the digital ecosystem.”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Team A: Support acquisition strategy (speed, synergy, dominance).</a:t>
            </a:r>
            <a:b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Team B: Argue for internal R&amp;D and alliances (sustainability, ethics, learning).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B41D9-10B7-4449-8EE4-47829C18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49C0BF-4FF6-4293-88D0-E567ECD8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611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C4F2A-4AAB-43F1-BAF1-E88027BB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Debrief Discussion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2CBB0-11AD-4099-B643-69A9A0E46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Prompt questions: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Did Meta’s acquisitions accelerate innovation or limit it?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What were the integration risks?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How could alliances have changed the outcome?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What do these lessons imply for future AI or metaverse sourcing?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517E0-A90B-420C-A30B-C567F60B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E0DF4-A089-46FA-9267-142FD778D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66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A9EF9-66DB-4235-BFC4-B9A5FF34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03866-E102-4A6E-A611-D9A4E0449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Make develops capability but is slow.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Ally balances control and learning.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Buy accelerates market entry but risks integration issues.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The best strategy depends on uncertainty, knowledge type, and firm capacity.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FDD5C-8F84-4A6F-A8B4-E3C5E778F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119A0-FB1E-47FA-865C-D800CE72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34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D578-8657-477E-AA9A-03C41892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Reflection Prompt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8BCDF-DD3E-46FA-8029-C1C6B6476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“If you were Meta’s Head of Strategy in 2025, would you continue acquiring AI startups or invest in internal innovation labs?”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4499F-9D73-44C2-9822-D501D2265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39A71-0FE2-4FFB-A709-748E2ACF1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68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7CD6-248F-4462-9256-1C6C1D5ED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3FD697-AB39-4C76-9409-8A3CDAD3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61632-76BF-425B-BFB7-7C217767A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31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04D732-25B5-4DFF-9096-EB31CEB47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Four key factors govern</a:t>
            </a:r>
          </a:p>
          <a:p>
            <a:pPr lvl="1"/>
            <a:r>
              <a:rPr lang="en-US" b="1" dirty="0"/>
              <a:t>Urgency</a:t>
            </a:r>
          </a:p>
          <a:p>
            <a:pPr lvl="1"/>
            <a:r>
              <a:rPr lang="en-US" b="1" dirty="0"/>
              <a:t>Uncertainty</a:t>
            </a:r>
          </a:p>
          <a:p>
            <a:pPr lvl="1"/>
            <a:r>
              <a:rPr lang="en-US" b="1" dirty="0"/>
              <a:t>Type of capabilities</a:t>
            </a:r>
          </a:p>
          <a:p>
            <a:pPr lvl="1"/>
            <a:r>
              <a:rPr lang="en-US" b="1" dirty="0"/>
              <a:t>Modularity of capabilities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064C8D-4B33-495E-BDE5-03A476C81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569" y="638508"/>
            <a:ext cx="6714532" cy="621949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290629-E8DB-41E1-8755-4469B607AE83}"/>
              </a:ext>
            </a:extLst>
          </p:cNvPr>
          <p:cNvSpPr/>
          <p:nvPr/>
        </p:nvSpPr>
        <p:spPr>
          <a:xfrm>
            <a:off x="402899" y="4725962"/>
            <a:ext cx="4515633" cy="15657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88900" cmpd="dbl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“Companies that use both acquisitions and alliances grow faster than rivals do – as companies like Cisco have amply demonstrated”</a:t>
            </a:r>
          </a:p>
          <a:p>
            <a:pPr algn="r"/>
            <a:r>
              <a:rPr lang="en-US" sz="1400" b="1" i="1" dirty="0">
                <a:solidFill>
                  <a:srgbClr val="C00000"/>
                </a:solidFill>
              </a:rPr>
              <a:t>HBR, Jan. 2006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51BAF9-A8B5-4CC6-83B1-60C559F9A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746" y="748051"/>
            <a:ext cx="6532340" cy="610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59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26CD-BF28-45B9-A330-85F0FDB9A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Case-to-Theory </a:t>
            </a:r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9ED5D-9FB3-472D-BDBB-4C709524C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0" y="2011540"/>
            <a:ext cx="10144930" cy="4022060"/>
          </a:xfrm>
        </p:spPr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Meta demonstrates: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TCE’s rationale (reduced coordination cost).</a:t>
            </a:r>
          </a:p>
          <a:p>
            <a:pPr marR="0" lvl="1" rtl="0"/>
            <a:r>
              <a:rPr lang="en-US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RDT’s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perspective (resource control).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Schilling’s insight: integration capability determines success of sourcing strategy.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D80FE-16F0-4CE9-8CB5-F1B650CF1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AEDF1-9EA8-433C-A099-5525B28A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04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922F-87F6-4BFD-B1C8-050111828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Ethical Extension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51D9A-C030-442A-A37A-66734A60F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Prompt: “Should regulators limit acquisitions of small startups by tech giants?”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Yes → protects innovation ecosystem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No → enables capital and scale for startup success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CB652-9FCC-4DBA-A7A3-8C3DFAAF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796AF-D958-410B-87FA-16FA084F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53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C431-28C0-4723-892D-CDBA6013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Practical Implications for Managers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69C29-9B9A-4BF9-A931-70EEAADE8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Managers must: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Evaluate sourcing through both economic and relational lenses.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Prioritize learning in any sourcing mode.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Use sourcing not only for access but for capability growth.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0B9FC-238A-40CD-BA6E-2D016D6F6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E3898-62A7-4E0A-9FA5-DE104DDA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63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8B11B-7E48-48CB-AEC9-B679FB97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Readings and Preparation for Next Session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1719B-B555-459E-AFED-AB11C6263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Schilling (2022), Chapter 8: </a:t>
            </a:r>
            <a:r>
              <a:rPr lang="en-US" b="1" i="1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Collaboration Strategies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HBR: </a:t>
            </a:r>
            <a:r>
              <a:rPr lang="en-US" b="1" i="1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Strategic Alliances That Work</a:t>
            </a:r>
            <a:endParaRPr lang="en-US" b="1" i="0" u="none" strike="noStrike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908E4-2F13-4824-80D4-EE514515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7A292-4946-4676-BD7F-6215349A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494C-4ED9-411B-89F3-761982727F8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1603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39</TotalTime>
  <Words>1960</Words>
  <Application>Microsoft Office PowerPoint</Application>
  <PresentationFormat>Widescreen</PresentationFormat>
  <Paragraphs>345</Paragraphs>
  <Slides>35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Century Gothic</vt:lpstr>
      <vt:lpstr>Times New Roman</vt:lpstr>
      <vt:lpstr>Gallery</vt:lpstr>
      <vt:lpstr>Sourcing Strategies for Innovation: Make, Ally, or Buy</vt:lpstr>
      <vt:lpstr>Learning Objectives</vt:lpstr>
      <vt:lpstr>Why Sourcing Strategy Matters</vt:lpstr>
      <vt:lpstr>The Make–Ally–Buy Spectrum</vt:lpstr>
      <vt:lpstr>Theoretical Foundations</vt:lpstr>
      <vt:lpstr>Transaction Cost Economics (TCE)</vt:lpstr>
      <vt:lpstr>Resource Dependency Theory (RDT)</vt:lpstr>
      <vt:lpstr>“Make” Strategy: Internal R&amp;D</vt:lpstr>
      <vt:lpstr>When “Make” Works Best</vt:lpstr>
      <vt:lpstr>“Ally” Strategy: Strategic Alliances</vt:lpstr>
      <vt:lpstr>Advantages of Alliances</vt:lpstr>
      <vt:lpstr>Challenges of Alliances</vt:lpstr>
      <vt:lpstr>“Buy” Strategy: Acquisitions</vt:lpstr>
      <vt:lpstr>Risks of Acquisitions</vt:lpstr>
      <vt:lpstr>Make–Ally–Buy Decision Framework</vt:lpstr>
      <vt:lpstr>Case Introduction: Meta Platforms Inc.</vt:lpstr>
      <vt:lpstr>Meta’s Internal Innovation Track Record</vt:lpstr>
      <vt:lpstr>Case Analysis: Instagram Acquisition</vt:lpstr>
      <vt:lpstr>Case Analysis: WhatsApp Acquisition</vt:lpstr>
      <vt:lpstr>Case Analysis: Oculus VR</vt:lpstr>
      <vt:lpstr>Applying TCE and RDT to Meta</vt:lpstr>
      <vt:lpstr>Alliance as an Alternative</vt:lpstr>
      <vt:lpstr>Reading Summary: HBR “Strategic Alliances That Work”</vt:lpstr>
      <vt:lpstr>Organizational Capability in Sourcing</vt:lpstr>
      <vt:lpstr>Ethical Implications</vt:lpstr>
      <vt:lpstr>Synthesis: Aligning Strategy to Context</vt:lpstr>
      <vt:lpstr>Class Activity: Structured Debate</vt:lpstr>
      <vt:lpstr>Debrief Discussion</vt:lpstr>
      <vt:lpstr>Key Takeaways</vt:lpstr>
      <vt:lpstr>Reflection Prompt</vt:lpstr>
      <vt:lpstr>Summary</vt:lpstr>
      <vt:lpstr>Case-to-Theory Integration</vt:lpstr>
      <vt:lpstr>Ethical Extension</vt:lpstr>
      <vt:lpstr>Practical Implications for Managers</vt:lpstr>
      <vt:lpstr>Readings and Preparation for Next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Sourcing Strategies for Innovation: Make, Ally, or Buy</dc:title>
  <dc:creator>Hammad</dc:creator>
  <cp:lastModifiedBy>Hammad</cp:lastModifiedBy>
  <cp:revision>19</cp:revision>
  <dcterms:created xsi:type="dcterms:W3CDTF">2025-10-19T13:52:08Z</dcterms:created>
  <dcterms:modified xsi:type="dcterms:W3CDTF">2025-10-25T08:16:15Z</dcterms:modified>
</cp:coreProperties>
</file>