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34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89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5" r:id="rId30"/>
    <p:sldId id="286" r:id="rId31"/>
    <p:sldId id="287" r:id="rId32"/>
    <p:sldId id="288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80" d="100"/>
          <a:sy n="80" d="100"/>
        </p:scale>
        <p:origin x="684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A62066-3F64-4A32-AC27-DEB8F522B6A5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6C30CC-53FC-4BDC-BD36-9DD546A08A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318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28403" y="945913"/>
            <a:ext cx="8637073" cy="2618554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8404" y="3564467"/>
            <a:ext cx="8637072" cy="1071095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FB608-6911-4C50-B73E-7510FA21AA0B}" type="datetime1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27124" y="329307"/>
            <a:ext cx="5943668" cy="309201"/>
          </a:xfrm>
        </p:spPr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24392" y="134930"/>
            <a:ext cx="811019" cy="503578"/>
          </a:xfrm>
        </p:spPr>
        <p:txBody>
          <a:bodyPr/>
          <a:lstStyle/>
          <a:p>
            <a:fld id="{52DA7973-18EE-4F8B-9E04-667F05D8C762}" type="slidenum">
              <a:rPr lang="en-US" smtClean="0"/>
              <a:t>‹#›</a:t>
            </a:fld>
            <a:endParaRPr 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38339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200"/>
            </a:lvl1pPr>
          </a:lstStyle>
          <a:p>
            <a:fld id="{2DC09B03-1F52-4B0E-9D43-C1202F294338}" type="datetime1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200"/>
            </a:lvl1pPr>
          </a:lstStyle>
          <a:p>
            <a:r>
              <a:rPr lang="en-US"/>
              <a:t>MG2007-Technology Management, Fall-2025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A7973-18EE-4F8B-9E04-667F05D8C762}" type="slidenum">
              <a:rPr lang="en-US" smtClean="0"/>
              <a:t>‹#›</a:t>
            </a:fld>
            <a:endParaRPr lang="en-US"/>
          </a:p>
        </p:txBody>
      </p:sp>
      <p:pic>
        <p:nvPicPr>
          <p:cNvPr id="24" name="Picture 23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52198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167" y="1756129"/>
            <a:ext cx="8619060" cy="2050065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9166" y="3806195"/>
            <a:ext cx="8619060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22338-E22E-4163-B14F-CA48B73FFB04}" type="datetime1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A7973-18EE-4F8B-9E04-667F05D8C762}" type="slidenum">
              <a:rPr lang="en-US" smtClean="0"/>
              <a:t>‹#›</a:t>
            </a:fld>
            <a:endParaRPr 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1448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1052" y="958037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9166" y="2165621"/>
            <a:ext cx="4645152" cy="32938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606" y="2171769"/>
            <a:ext cx="4645152" cy="32870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FA96A-258B-42DA-9273-F1F38FEB7B91}" type="datetime1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A7973-18EE-4F8B-9E04-667F05D8C762}" type="slidenum">
              <a:rPr lang="en-US" smtClean="0"/>
              <a:t>‹#›</a:t>
            </a:fld>
            <a:endParaRPr 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57481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166" y="953336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9166" y="2169727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0" cap="none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9166" y="2974448"/>
            <a:ext cx="4645152" cy="24938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4337" y="2173181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0" cap="none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94337" y="2971669"/>
            <a:ext cx="4645152" cy="2487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EDD09-3EEB-403B-946F-A8AB832970B9}" type="datetime1">
              <a:rPr lang="en-US" smtClean="0"/>
              <a:t>10/15/2025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A7973-18EE-4F8B-9E04-667F05D8C762}" type="slidenum">
              <a:rPr lang="en-US" smtClean="0"/>
              <a:t>‹#›</a:t>
            </a:fld>
            <a:endParaRPr lang="en-US"/>
          </a:p>
        </p:txBody>
      </p:sp>
      <p:pic>
        <p:nvPicPr>
          <p:cNvPr id="18" name="Picture 17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018493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26BD3-3F6B-4EA7-AC93-D39E534DEF50}" type="datetime1">
              <a:rPr lang="en-US" smtClean="0"/>
              <a:t>10/15/2025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A7973-18EE-4F8B-9E04-667F05D8C762}" type="slidenum">
              <a:rPr lang="en-US" smtClean="0"/>
              <a:t>‹#›</a:t>
            </a:fld>
            <a:endParaRPr lang="en-US"/>
          </a:p>
        </p:txBody>
      </p:sp>
      <p:pic>
        <p:nvPicPr>
          <p:cNvPr id="14" name="Picture 13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13616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27BEA-63A8-4396-A93E-05C519AD1B76}" type="datetime1">
              <a:rPr lang="en-US" smtClean="0"/>
              <a:t>10/15/2025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A7973-18EE-4F8B-9E04-667F05D8C7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617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4291" y="952578"/>
            <a:ext cx="3275013" cy="2322176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3334" y="952578"/>
            <a:ext cx="6012470" cy="4505221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4291" y="3274754"/>
            <a:ext cx="3275013" cy="2178918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43A46-8DD7-4C48-B60D-6B3780331701}" type="datetime1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A7973-18EE-4F8B-9E04-667F05D8C762}" type="slidenum">
              <a:rPr lang="en-US" smtClean="0"/>
              <a:t>‹#›</a:t>
            </a:fld>
            <a:endParaRPr 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18101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chemeClr val="tx1">
                    <a:lumMod val="85000"/>
                    <a:lumOff val="1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124" y="1129513"/>
            <a:ext cx="5854872" cy="192420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8247" y="3053721"/>
            <a:ext cx="5846486" cy="2096013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125300" y="5469856"/>
            <a:ext cx="5849605" cy="320123"/>
          </a:xfrm>
        </p:spPr>
        <p:txBody>
          <a:bodyPr/>
          <a:lstStyle>
            <a:lvl1pPr algn="l">
              <a:defRPr/>
            </a:lvl1pPr>
          </a:lstStyle>
          <a:p>
            <a:fld id="{24F4FD94-B12D-4BAB-B46F-5266FFCADF8F}" type="datetime1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25300" y="318640"/>
            <a:ext cx="4877818" cy="320931"/>
          </a:xfrm>
        </p:spPr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176794" y="137408"/>
            <a:ext cx="811019" cy="503578"/>
          </a:xfrm>
        </p:spPr>
        <p:txBody>
          <a:bodyPr/>
          <a:lstStyle/>
          <a:p>
            <a:fld id="{52DA7973-18EE-4F8B-9E04-667F05D8C762}" type="slidenum">
              <a:rPr lang="en-US" smtClean="0"/>
              <a:t>‹#›</a:t>
            </a:fld>
            <a:endParaRPr lang="en-US"/>
          </a:p>
        </p:txBody>
      </p:sp>
      <p:pic>
        <p:nvPicPr>
          <p:cNvPr id="22" name="Picture 21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t="474" r="48549" b="36564"/>
          <a:stretch/>
        </p:blipFill>
        <p:spPr>
          <a:xfrm>
            <a:off x="1125460" y="643464"/>
            <a:ext cx="5879592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12296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242D3-1D14-4F53-9519-B8F0C12C61FE}" type="datetime1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A7973-18EE-4F8B-9E04-667F05D8C762}" type="slidenum">
              <a:rPr lang="en-US" smtClean="0"/>
              <a:t>‹#›</a:t>
            </a:fld>
            <a:endParaRPr lang="en-US"/>
          </a:p>
        </p:txBody>
      </p:sp>
      <p:pic>
        <p:nvPicPr>
          <p:cNvPr id="15" name="Picture 14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24672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4709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30270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F7052-9A05-49F0-B7F3-16149AAD74DB}" type="datetime1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A7973-18EE-4F8B-9E04-667F05D8C762}" type="slidenum">
              <a:rPr lang="en-US" smtClean="0"/>
              <a:t>‹#›</a:t>
            </a:fld>
            <a:endParaRPr lang="en-US"/>
          </a:p>
        </p:txBody>
      </p:sp>
      <p:pic>
        <p:nvPicPr>
          <p:cNvPr id="17" name="Picture 16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59215" b="36435"/>
          <a:stretch/>
        </p:blipFill>
        <p:spPr>
          <a:xfrm rot="5400000">
            <a:off x="8642279" y="3046916"/>
            <a:ext cx="4663440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569678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DBD25-72A2-484B-81BE-4D4D4446E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0270" y="953325"/>
            <a:ext cx="9603275" cy="82272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B50D9-7509-4A5B-BBAB-286B9A2301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30270" y="1863969"/>
            <a:ext cx="9603275" cy="3602376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3DA12A-C044-4DA4-8887-819677350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5940C-4F65-488D-8EA3-87955D6B8CE5}" type="datetime1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A1D247-E953-49BD-B695-93CE50D4C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37A038-CB38-4315-9B4E-2069FB4F4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87800-3B7A-4C76-A08B-598082DB4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657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19336"/>
            <a:ext cx="12192000" cy="74295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468769"/>
            <a:ext cx="12192000" cy="56470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  <a:lumMod val="100000"/>
                </a:schemeClr>
              </a:gs>
              <a:gs pos="100000">
                <a:schemeClr val="bg2">
                  <a:lumMod val="95000"/>
                  <a:lumOff val="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/>
          <p:cNvCxnSpPr/>
          <p:nvPr/>
        </p:nvCxnSpPr>
        <p:spPr>
          <a:xfrm>
            <a:off x="0" y="6121269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30270" y="953324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0270" y="2171769"/>
            <a:ext cx="9603275" cy="32945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32830" y="330370"/>
            <a:ext cx="251539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238F0A-AE8E-4583-9B94-4D6933CF80C8}" type="datetime1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30270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MG2007-Technology Management, Fall-2025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18076" y="137408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52DA7973-18EE-4F8B-9E04-667F05D8C7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53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FEB7A-F54C-4230-A4B0-FC84C1F146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8403" y="945913"/>
            <a:ext cx="9853189" cy="2618554"/>
          </a:xfrm>
        </p:spPr>
        <p:txBody>
          <a:bodyPr>
            <a:normAutofit fontScale="90000"/>
          </a:bodyPr>
          <a:lstStyle/>
          <a:p>
            <a:r>
              <a:rPr lang="en-US" b="1" i="0" u="none" strike="noStrike" kern="100" baseline="0" dirty="0">
                <a:latin typeface="Arial" panose="020B0604020202020204" pitchFamily="34" charset="0"/>
                <a:ea typeface="Calibri" panose="020F0502020204030204" pitchFamily="34" charset="0"/>
              </a:rPr>
              <a:t>Development Processes I: Stage-Gate &amp; Waterfall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A0A027-8E4F-41F9-979D-7CA72E011F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8402" y="3564467"/>
            <a:ext cx="9853189" cy="1071095"/>
          </a:xfrm>
        </p:spPr>
        <p:txBody>
          <a:bodyPr>
            <a:normAutofit fontScale="92500"/>
          </a:bodyPr>
          <a:lstStyle/>
          <a:p>
            <a:r>
              <a:rPr lang="en-US" sz="2400" b="1" i="1" u="none" strike="noStrike" kern="100" baseline="0" dirty="0">
                <a:latin typeface="Arial" panose="020B0604020202020204" pitchFamily="34" charset="0"/>
                <a:ea typeface="Calibri" panose="020F0502020204030204" pitchFamily="34" charset="0"/>
              </a:rPr>
              <a:t>Readings</a:t>
            </a:r>
            <a:r>
              <a:rPr lang="en-US" sz="2400" b="1" i="0" u="none" strike="noStrike" kern="100" baseline="0" dirty="0">
                <a:latin typeface="Arial" panose="020B0604020202020204" pitchFamily="34" charset="0"/>
                <a:ea typeface="Calibri" panose="020F0502020204030204" pitchFamily="34" charset="0"/>
              </a:rPr>
              <a:t>: Schilling (2022) Ch02, </a:t>
            </a:r>
            <a:r>
              <a:rPr lang="en-US" sz="2400" b="1" i="0" u="none" strike="noStrike" kern="100" baseline="0" dirty="0" err="1">
                <a:latin typeface="Arial" panose="020B0604020202020204" pitchFamily="34" charset="0"/>
                <a:ea typeface="Calibri" panose="020F0502020204030204" pitchFamily="34" charset="0"/>
              </a:rPr>
              <a:t>Steiber</a:t>
            </a:r>
            <a:r>
              <a:rPr lang="en-US" sz="2400" b="1" i="0" u="none" strike="noStrike" kern="100" baseline="0" dirty="0">
                <a:latin typeface="Arial" panose="020B0604020202020204" pitchFamily="34" charset="0"/>
                <a:ea typeface="Calibri" panose="020F0502020204030204" pitchFamily="34" charset="0"/>
              </a:rPr>
              <a:t> (2022), Cooper (2021) Ch04</a:t>
            </a:r>
            <a:br>
              <a:rPr lang="en-US" sz="2400" b="1" i="0" u="none" strike="noStrike" kern="100" baseline="0" dirty="0"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en-US" sz="2400" b="1" i="1" u="none" strike="noStrike" kern="100" baseline="0" dirty="0">
                <a:latin typeface="Arial" panose="020B0604020202020204" pitchFamily="34" charset="0"/>
                <a:ea typeface="Calibri" panose="020F0502020204030204" pitchFamily="34" charset="0"/>
              </a:rPr>
              <a:t>Modern Case</a:t>
            </a:r>
            <a:r>
              <a:rPr lang="en-US" sz="2400" b="1" i="0" u="none" strike="noStrike" kern="100" baseline="0" dirty="0">
                <a:latin typeface="Arial" panose="020B0604020202020204" pitchFamily="34" charset="0"/>
                <a:ea typeface="Calibri" panose="020F0502020204030204" pitchFamily="34" charset="0"/>
              </a:rPr>
              <a:t>: Microsoft’s Responsible AI Principles (2022)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026588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31A26-86B9-4D61-B4D0-DB0DFB938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Lecture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6D3D80-F7AB-4280-89E1-938AE65E75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The role of development processes in innovation.</a:t>
            </a:r>
          </a:p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Traditional models: Waterfall &amp; Stage-Gate.</a:t>
            </a:r>
          </a:p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Managing risk and resource allocation.</a:t>
            </a:r>
          </a:p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Theoretical foundations: CPM and SDLC.</a:t>
            </a:r>
          </a:p>
          <a:p>
            <a:pPr marR="0" lvl="0" rtl="0"/>
            <a:r>
              <a:rPr lang="it-IT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Microsoft Azure &amp; Responsible AI case.</a:t>
            </a:r>
          </a:p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Class activity: Simulate a Stage-Gate review.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97A28D-6348-42C2-BFAD-911FF934D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BEF3F-08E7-495C-A9CD-6A8FAD680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87800-3B7A-4C76-A08B-598082DB43A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1731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AC32D-3AE5-4745-B175-A06D612AB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Learning Outcomes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AD273E-0C17-4222-AE1D-93D6A98517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b="1" i="0" u="none" strike="noStrike" baseline="0">
                <a:latin typeface="Arial" panose="020B0604020202020204" pitchFamily="34" charset="0"/>
                <a:ea typeface="Calibri" panose="020F0502020204030204" pitchFamily="34" charset="0"/>
              </a:rPr>
              <a:t>By the end of this session, students should be able to:</a:t>
            </a:r>
          </a:p>
          <a:p>
            <a:pPr marR="0" lvl="1" rtl="0"/>
            <a:r>
              <a:rPr lang="en-US" b="1" i="0" u="none" strike="noStrike" baseline="0">
                <a:latin typeface="Arial" panose="020B0604020202020204" pitchFamily="34" charset="0"/>
                <a:ea typeface="Calibri" panose="020F0502020204030204" pitchFamily="34" charset="0"/>
              </a:rPr>
              <a:t>Explain the Stage-Gate and Waterfall development models.</a:t>
            </a:r>
          </a:p>
          <a:p>
            <a:pPr marR="0" lvl="1" rtl="0"/>
            <a:r>
              <a:rPr lang="en-US" b="1" i="0" u="none" strike="noStrike" baseline="0">
                <a:latin typeface="Arial" panose="020B0604020202020204" pitchFamily="34" charset="0"/>
                <a:ea typeface="Calibri" panose="020F0502020204030204" pitchFamily="34" charset="0"/>
              </a:rPr>
              <a:t>Apply CPM and structured project management methods.</a:t>
            </a:r>
          </a:p>
          <a:p>
            <a:pPr marR="0" lvl="1" rtl="0"/>
            <a:r>
              <a:rPr lang="en-US" b="1" i="0" u="none" strike="noStrike" baseline="0">
                <a:latin typeface="Arial" panose="020B0604020202020204" pitchFamily="34" charset="0"/>
                <a:ea typeface="Calibri" panose="020F0502020204030204" pitchFamily="34" charset="0"/>
              </a:rPr>
              <a:t>Identify limitations of linear models in modern digital innovation.</a:t>
            </a:r>
          </a:p>
          <a:p>
            <a:pPr marR="0" lvl="1" rtl="0"/>
            <a:r>
              <a:rPr lang="en-US" b="1" i="0" u="none" strike="noStrike" baseline="0">
                <a:latin typeface="Arial" panose="020B0604020202020204" pitchFamily="34" charset="0"/>
                <a:ea typeface="Calibri" panose="020F0502020204030204" pitchFamily="34" charset="0"/>
              </a:rPr>
              <a:t>Conduct a Stage-Gate review using Microsoft’s Responsible AI framework.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298B3E-D4F2-4AB8-8A6E-0D2ADBD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7B76E3-A4D2-461C-BF30-91D753C39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87800-3B7A-4C76-A08B-598082DB43A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6760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roject Management Triangle | Pro presentation diagram by Slideck.co">
            <a:extLst>
              <a:ext uri="{FF2B5EF4-FFF2-40B4-BE49-F238E27FC236}">
                <a16:creationId xmlns:a16="http://schemas.microsoft.com/office/drawing/2014/main" id="{0FD9E1E8-FC79-4EC5-9BE9-96D87673CD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6815" y="3182815"/>
            <a:ext cx="3675185" cy="3675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26984E-F2C8-4297-8D67-5B1FE90A2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Why Development Processes Matter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AFC800-3D9F-4444-8EB3-F00442238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Innovation success ≠ Great idea only → requires disciplined execution.</a:t>
            </a:r>
          </a:p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40–50% of new products fail due to poor process management (Cooper).</a:t>
            </a:r>
          </a:p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Development processes:</a:t>
            </a:r>
          </a:p>
          <a:p>
            <a:pPr marR="0" lvl="1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Reduce uncertainty.</a:t>
            </a:r>
          </a:p>
          <a:p>
            <a:pPr marR="0" lvl="1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Manage time, cost, and quality trade-offs.</a:t>
            </a:r>
          </a:p>
          <a:p>
            <a:pPr marR="0" lvl="1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Enable organizational learning across projects.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28920B-1E09-4214-84B1-D0E3E15EC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4D10F6-E02D-48E1-A760-EFF799E68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87800-3B7A-4C76-A08B-598082DB43A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8158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BC806-8E51-40B3-8D64-D26532FA4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The Traditional View of Innovation Development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04E64E-FB9D-4BF2-89A9-24F59FBBD8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b="1" i="0" u="none" strike="noStrike" baseline="0">
                <a:latin typeface="Arial" panose="020B0604020202020204" pitchFamily="34" charset="0"/>
                <a:ea typeface="Calibri" panose="020F0502020204030204" pitchFamily="34" charset="0"/>
              </a:rPr>
              <a:t>Schilling (2022): Early innovation models viewed development as linear, sequential, and controllable.</a:t>
            </a:r>
          </a:p>
          <a:p>
            <a:pPr marR="0" lvl="0" rtl="0"/>
            <a:r>
              <a:rPr lang="en-US" b="1" i="0" u="none" strike="noStrike" baseline="0">
                <a:latin typeface="Arial" panose="020B0604020202020204" pitchFamily="34" charset="0"/>
                <a:ea typeface="Calibri" panose="020F0502020204030204" pitchFamily="34" charset="0"/>
              </a:rPr>
              <a:t>Emphasis on planning and documentation before coding/testing.</a:t>
            </a:r>
          </a:p>
          <a:p>
            <a:pPr marR="0" lvl="0" rtl="0"/>
            <a:r>
              <a:rPr lang="en-US" b="1" i="0" u="none" strike="noStrike" baseline="0">
                <a:latin typeface="Arial" panose="020B0604020202020204" pitchFamily="34" charset="0"/>
                <a:ea typeface="Calibri" panose="020F0502020204030204" pitchFamily="34" charset="0"/>
              </a:rPr>
              <a:t>Works well for hardware, regulated industries, and capital-intensive innovation.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67752A-43E6-44DB-A167-997A0151E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C77554-1D15-41DF-90E8-3DE46E9F5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87800-3B7A-4C76-A08B-598082DB43A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098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A56E5ED5-973D-4B9E-AA29-B4CCD17ECB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0308" y="1640437"/>
            <a:ext cx="4161692" cy="4161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3ECCA58-1109-47B1-99E9-F312A2DB7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Waterfall Model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AE47C0-7A64-480C-BE3F-3F79FB58BF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30270" y="1863969"/>
            <a:ext cx="7439299" cy="3602376"/>
          </a:xfrm>
        </p:spPr>
        <p:txBody>
          <a:bodyPr/>
          <a:lstStyle/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Origin: Winston Royce (1970).</a:t>
            </a:r>
          </a:p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Process: Sequential phases — Requirements → Design → Implementation → Testing → Deployment → Maintenance.</a:t>
            </a:r>
          </a:p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Principle: Each phase must be completed before the next begins.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FA9AF0-081B-4480-9367-326FC2928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82242A-7A37-458C-A646-689EC3026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87800-3B7A-4C76-A08B-598082DB43A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3906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D12B4-38D7-4C00-A108-F6B82E5A6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Advantages of Waterfall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59ED69-826E-4024-BEC7-AA2FA59415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b="1" i="0" u="none" strike="noStrike" baseline="0">
                <a:latin typeface="Arial" panose="020B0604020202020204" pitchFamily="34" charset="0"/>
                <a:ea typeface="Calibri" panose="020F0502020204030204" pitchFamily="34" charset="0"/>
              </a:rPr>
              <a:t>Clarity and simplicity of stages.</a:t>
            </a:r>
          </a:p>
          <a:p>
            <a:pPr marR="0" lvl="0" rtl="0"/>
            <a:r>
              <a:rPr lang="en-US" b="1" i="0" u="none" strike="noStrike" baseline="0">
                <a:latin typeface="Arial" panose="020B0604020202020204" pitchFamily="34" charset="0"/>
                <a:ea typeface="Calibri" panose="020F0502020204030204" pitchFamily="34" charset="0"/>
              </a:rPr>
              <a:t>Clear documentation and accountability.</a:t>
            </a:r>
          </a:p>
          <a:p>
            <a:pPr marR="0" lvl="0" rtl="0"/>
            <a:r>
              <a:rPr lang="en-US" b="1" i="0" u="none" strike="noStrike" baseline="0">
                <a:latin typeface="Arial" panose="020B0604020202020204" pitchFamily="34" charset="0"/>
                <a:ea typeface="Calibri" panose="020F0502020204030204" pitchFamily="34" charset="0"/>
              </a:rPr>
              <a:t>Easier project tracking and control.</a:t>
            </a:r>
          </a:p>
          <a:p>
            <a:pPr marR="0" lvl="0" rtl="0"/>
            <a:r>
              <a:rPr lang="en-US" b="1" i="0" u="none" strike="noStrike" baseline="0">
                <a:latin typeface="Arial" panose="020B0604020202020204" pitchFamily="34" charset="0"/>
                <a:ea typeface="Calibri" panose="020F0502020204030204" pitchFamily="34" charset="0"/>
              </a:rPr>
              <a:t>Works well for stable environments with fixed requirements.</a:t>
            </a:r>
          </a:p>
          <a:p>
            <a:pPr marR="0" lvl="0" rtl="0"/>
            <a:r>
              <a:rPr lang="en-US" b="1" i="0" u="none" strike="noStrike" baseline="0">
                <a:latin typeface="Arial" panose="020B0604020202020204" pitchFamily="34" charset="0"/>
                <a:ea typeface="Calibri" panose="020F0502020204030204" pitchFamily="34" charset="0"/>
              </a:rPr>
              <a:t>Example: Aerospace systems and large-scale ERP implementations.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8F1E2F-8183-4A70-AEED-7A5ACBA33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5DD580-9B81-469C-8489-C0D9BDE58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87800-3B7A-4C76-A08B-598082DB43A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2276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2E0FD-D3C0-4D85-82F6-4DB3806D8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Limitations of Waterfall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63CC51-9BDA-4F61-82DD-977AAB0FF1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b="1" i="0" u="none" strike="noStrike" baseline="0">
                <a:latin typeface="Arial" panose="020B0604020202020204" pitchFamily="34" charset="0"/>
                <a:ea typeface="Calibri" panose="020F0502020204030204" pitchFamily="34" charset="0"/>
              </a:rPr>
              <a:t>Assumes requirements remain stable.</a:t>
            </a:r>
          </a:p>
          <a:p>
            <a:pPr marR="0" lvl="0" rtl="0"/>
            <a:r>
              <a:rPr lang="en-US" b="1" i="0" u="none" strike="noStrike" baseline="0">
                <a:latin typeface="Arial" panose="020B0604020202020204" pitchFamily="34" charset="0"/>
                <a:ea typeface="Calibri" panose="020F0502020204030204" pitchFamily="34" charset="0"/>
              </a:rPr>
              <a:t>Delays user feedback until late in the cycle.</a:t>
            </a:r>
          </a:p>
          <a:p>
            <a:pPr marR="0" lvl="0" rtl="0"/>
            <a:r>
              <a:rPr lang="en-US" b="1" i="0" u="none" strike="noStrike" baseline="0">
                <a:latin typeface="Arial" panose="020B0604020202020204" pitchFamily="34" charset="0"/>
                <a:ea typeface="Calibri" panose="020F0502020204030204" pitchFamily="34" charset="0"/>
              </a:rPr>
              <a:t>Costly to make changes once design is locked.</a:t>
            </a:r>
          </a:p>
          <a:p>
            <a:pPr marR="0" lvl="0" rtl="0"/>
            <a:r>
              <a:rPr lang="en-US" b="1" i="0" u="none" strike="noStrike" baseline="0">
                <a:latin typeface="Arial" panose="020B0604020202020204" pitchFamily="34" charset="0"/>
                <a:ea typeface="Calibri" panose="020F0502020204030204" pitchFamily="34" charset="0"/>
              </a:rPr>
              <a:t>Unsuitable for fast-moving digital innovation (Steiber, 2022).</a:t>
            </a:r>
          </a:p>
          <a:p>
            <a:pPr marR="0" lvl="0" rtl="0"/>
            <a:r>
              <a:rPr lang="en-US" b="1" i="0" u="none" strike="noStrike" baseline="0">
                <a:latin typeface="Arial" panose="020B0604020202020204" pitchFamily="34" charset="0"/>
                <a:ea typeface="Calibri" panose="020F0502020204030204" pitchFamily="34" charset="0"/>
              </a:rPr>
              <a:t>Example: Software projects failing due to changing AI ethics regulations.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4C6E46-CECD-4D7D-82A5-FE0CE1356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9050D9-7A1F-40AB-9D2B-CC4065B20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87800-3B7A-4C76-A08B-598082DB43A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5243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 descr="Components of CPM">
            <a:extLst>
              <a:ext uri="{FF2B5EF4-FFF2-40B4-BE49-F238E27FC236}">
                <a16:creationId xmlns:a16="http://schemas.microsoft.com/office/drawing/2014/main" id="{F555597C-7FBD-4B4C-B70A-C71EDF6BDC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677508"/>
            <a:ext cx="1929639" cy="2180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final cpm">
            <a:extLst>
              <a:ext uri="{FF2B5EF4-FFF2-40B4-BE49-F238E27FC236}">
                <a16:creationId xmlns:a16="http://schemas.microsoft.com/office/drawing/2014/main" id="{BBF8BA6D-7690-479B-8E13-B81E397342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8453" y="2346337"/>
            <a:ext cx="4519246" cy="2512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CE15191-811D-45EF-8177-0A9D92F2B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The Critical Path Method (CPM)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EA2C2C-9CE0-413D-9A3F-D9481DC54E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30270" y="1863968"/>
            <a:ext cx="9603275" cy="4179277"/>
          </a:xfrm>
        </p:spPr>
        <p:txBody>
          <a:bodyPr>
            <a:normAutofit/>
          </a:bodyPr>
          <a:lstStyle/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Tool for identifying the longest path in a project schedule that determines minimum completion time.</a:t>
            </a:r>
          </a:p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Helps allocate resources efficiently.</a:t>
            </a:r>
          </a:p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Key terms:</a:t>
            </a:r>
          </a:p>
          <a:p>
            <a:pPr marR="0" lvl="1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Activity: Task requiring time/resources.</a:t>
            </a:r>
          </a:p>
          <a:p>
            <a:pPr marR="0" lvl="1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Path: Sequence of dependent activities.</a:t>
            </a:r>
          </a:p>
          <a:p>
            <a:pPr marR="0" lvl="1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Critical Path: Longest duration path → delays here delay entire project.</a:t>
            </a:r>
          </a:p>
          <a:p>
            <a:pPr marL="457200" marR="0" lvl="1" indent="0" algn="r" rtl="0">
              <a:buNone/>
            </a:pPr>
            <a:r>
              <a:rPr lang="en-US" sz="1600" i="1" u="sng" strike="noStrike" baseline="0" dirty="0">
                <a:solidFill>
                  <a:srgbClr val="00B05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E.g., https://www.simplilearn.com/tutorials/project-management-tutorial/critical-path-method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724B87-73F7-46C4-AA1E-64D593798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A8C7F6-83F2-443C-8911-C95481570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87800-3B7A-4C76-A08B-598082DB43A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4358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972AA-7FD4-4274-BDB8-0305F3760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CPM in Innovation Projects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1C2E90-5F6D-43E3-A45D-BBD1369AC9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b="1" i="0" u="none" strike="noStrike" baseline="0">
                <a:latin typeface="Arial" panose="020B0604020202020204" pitchFamily="34" charset="0"/>
                <a:ea typeface="Calibri" panose="020F0502020204030204" pitchFamily="34" charset="0"/>
              </a:rPr>
              <a:t>CPM enhances visibility of project dependencies.</a:t>
            </a:r>
          </a:p>
          <a:p>
            <a:pPr marR="0" lvl="0" rtl="0"/>
            <a:r>
              <a:rPr lang="en-US" b="1" i="0" u="none" strike="noStrike" baseline="0">
                <a:latin typeface="Arial" panose="020B0604020202020204" pitchFamily="34" charset="0"/>
                <a:ea typeface="Calibri" panose="020F0502020204030204" pitchFamily="34" charset="0"/>
              </a:rPr>
              <a:t>Used in Stage-Gate planning to define gate readiness.</a:t>
            </a:r>
          </a:p>
          <a:p>
            <a:pPr marR="0" lvl="0" rtl="0"/>
            <a:r>
              <a:rPr lang="en-US" b="1" i="0" u="none" strike="noStrike" baseline="0">
                <a:latin typeface="Arial" panose="020B0604020202020204" pitchFamily="34" charset="0"/>
                <a:ea typeface="Calibri" panose="020F0502020204030204" pitchFamily="34" charset="0"/>
              </a:rPr>
              <a:t>Useful for resource-heavy technology projects (data centers, hardware).</a:t>
            </a:r>
          </a:p>
          <a:p>
            <a:pPr marR="0" lvl="0" rtl="0"/>
            <a:r>
              <a:rPr lang="en-US" b="1" i="0" u="none" strike="noStrike" baseline="0">
                <a:latin typeface="Arial" panose="020B0604020202020204" pitchFamily="34" charset="0"/>
                <a:ea typeface="Calibri" panose="020F0502020204030204" pitchFamily="34" charset="0"/>
              </a:rPr>
              <a:t>Limitation: Ignores iterative learning cycles required in AI/ML systems.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6B3767-1845-4AF2-8EDC-79E29BB08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E5D504-B695-4188-AF84-BF92D1B92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87800-3B7A-4C76-A08B-598082DB43A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7918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891EC00-E087-453F-9762-58C9BF548C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6903" y="2391508"/>
            <a:ext cx="2835098" cy="446649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E6CE25F-F15A-43AF-AF7B-A88425CD8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Stage-Gate Process (Cooper, 2021)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1B5E25-74E0-4015-AF67-5DF41D5141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30271" y="1863969"/>
            <a:ext cx="8418176" cy="3602376"/>
          </a:xfrm>
        </p:spPr>
        <p:txBody>
          <a:bodyPr/>
          <a:lstStyle/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Definition: A structured, stepwise framework guiding a project from idea to launch.</a:t>
            </a:r>
          </a:p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Stages: Execution phases (idea, design, testing).</a:t>
            </a:r>
          </a:p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Gates: Review points where continuation decisions are made (“Go/Kill”).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66FC79-570F-428F-91C7-B42F97A69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E43031-9488-4246-A99B-4E5543FFF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87800-3B7A-4C76-A08B-598082DB43A5}" type="slidenum">
              <a:rPr lang="en-US" smtClean="0"/>
              <a:t>11</a:t>
            </a:fld>
            <a:endParaRPr lang="en-US"/>
          </a:p>
        </p:txBody>
      </p:sp>
      <p:sp>
        <p:nvSpPr>
          <p:cNvPr id="7" name="AutoShape 4" descr="Project Funnel">
            <a:extLst>
              <a:ext uri="{FF2B5EF4-FFF2-40B4-BE49-F238E27FC236}">
                <a16:creationId xmlns:a16="http://schemas.microsoft.com/office/drawing/2014/main" id="{F1E0C242-8D80-453F-A98A-14F0B9FD510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6682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D2267-C6E2-491C-BC77-A5683FD61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Typical Stage-Gate Stages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8C5538-49F2-46CB-B311-9B35785E2A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D82590-E916-4885-8E7A-B2EB7978A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D91E48-FAD2-46C3-8E2F-C1847EB3F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87800-3B7A-4C76-A08B-598082DB43A5}" type="slidenum">
              <a:rPr lang="en-US" smtClean="0"/>
              <a:t>12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D51A003-702D-4A45-AA06-141BC82188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2523151"/>
              </p:ext>
            </p:extLst>
          </p:nvPr>
        </p:nvGraphicFramePr>
        <p:xfrm>
          <a:off x="1130300" y="1570892"/>
          <a:ext cx="9931431" cy="485012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310477">
                  <a:extLst>
                    <a:ext uri="{9D8B030D-6E8A-4147-A177-3AD203B41FA5}">
                      <a16:colId xmlns:a16="http://schemas.microsoft.com/office/drawing/2014/main" val="4184392608"/>
                    </a:ext>
                  </a:extLst>
                </a:gridCol>
                <a:gridCol w="3310477">
                  <a:extLst>
                    <a:ext uri="{9D8B030D-6E8A-4147-A177-3AD203B41FA5}">
                      <a16:colId xmlns:a16="http://schemas.microsoft.com/office/drawing/2014/main" val="1872787455"/>
                    </a:ext>
                  </a:extLst>
                </a:gridCol>
                <a:gridCol w="3310477">
                  <a:extLst>
                    <a:ext uri="{9D8B030D-6E8A-4147-A177-3AD203B41FA5}">
                      <a16:colId xmlns:a16="http://schemas.microsoft.com/office/drawing/2014/main" val="3477765105"/>
                    </a:ext>
                  </a:extLst>
                </a:gridCol>
              </a:tblGrid>
              <a:tr h="59405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b="1" dirty="0">
                          <a:effectLst/>
                        </a:rPr>
                        <a:t>Stage</a:t>
                      </a:r>
                      <a:endParaRPr lang="en-US" sz="18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b="1">
                          <a:effectLst/>
                        </a:rPr>
                        <a:t>Focus</a:t>
                      </a:r>
                      <a:endParaRPr lang="en-US" sz="18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b="1">
                          <a:effectLst/>
                        </a:rPr>
                        <a:t>Deliverables</a:t>
                      </a:r>
                      <a:endParaRPr lang="en-US" sz="18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360529190"/>
                  </a:ext>
                </a:extLst>
              </a:tr>
              <a:tr h="59423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b="1" dirty="0">
                          <a:effectLst/>
                        </a:rPr>
                        <a:t>1. Discovery</a:t>
                      </a:r>
                      <a:endParaRPr lang="en-US" sz="18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b="1">
                          <a:effectLst/>
                        </a:rPr>
                        <a:t>Idea generation</a:t>
                      </a:r>
                      <a:endParaRPr lang="en-US" sz="18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b="1">
                          <a:effectLst/>
                        </a:rPr>
                        <a:t>Preliminary concept</a:t>
                      </a:r>
                      <a:endParaRPr lang="en-US" sz="18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819443061"/>
                  </a:ext>
                </a:extLst>
              </a:tr>
              <a:tr h="82445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b="1" dirty="0">
                          <a:effectLst/>
                        </a:rPr>
                        <a:t>2. Scoping</a:t>
                      </a:r>
                      <a:endParaRPr lang="en-US" sz="18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b="1">
                          <a:effectLst/>
                        </a:rPr>
                        <a:t>Market/tech assessment</a:t>
                      </a:r>
                      <a:endParaRPr lang="en-US" sz="18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b="1">
                          <a:effectLst/>
                        </a:rPr>
                        <a:t>Opportunity definition</a:t>
                      </a:r>
                      <a:endParaRPr lang="en-US" sz="18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473311990"/>
                  </a:ext>
                </a:extLst>
              </a:tr>
              <a:tr h="82445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b="1" dirty="0">
                          <a:effectLst/>
                        </a:rPr>
                        <a:t>3. Business Case</a:t>
                      </a:r>
                      <a:endParaRPr lang="en-US" sz="18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b="1">
                          <a:effectLst/>
                        </a:rPr>
                        <a:t>Feasibility, financial analysis</a:t>
                      </a:r>
                      <a:endParaRPr lang="en-US" sz="18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b="1">
                          <a:effectLst/>
                        </a:rPr>
                        <a:t>Business plan</a:t>
                      </a:r>
                      <a:endParaRPr lang="en-US" sz="18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169741322"/>
                  </a:ext>
                </a:extLst>
              </a:tr>
              <a:tr h="59423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b="1" dirty="0">
                          <a:effectLst/>
                        </a:rPr>
                        <a:t>4. Development</a:t>
                      </a:r>
                      <a:endParaRPr lang="en-US" sz="18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b="1">
                          <a:effectLst/>
                        </a:rPr>
                        <a:t>Prototyping</a:t>
                      </a:r>
                      <a:endParaRPr lang="en-US" sz="18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b="1">
                          <a:effectLst/>
                        </a:rPr>
                        <a:t>Product prototype</a:t>
                      </a:r>
                      <a:endParaRPr lang="en-US" sz="18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638365860"/>
                  </a:ext>
                </a:extLst>
              </a:tr>
              <a:tr h="82445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b="1" dirty="0">
                          <a:effectLst/>
                        </a:rPr>
                        <a:t>5. Testing &amp; Validation</a:t>
                      </a:r>
                      <a:endParaRPr lang="en-US" sz="18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b="1">
                          <a:effectLst/>
                        </a:rPr>
                        <a:t>Market &amp; technical tests</a:t>
                      </a:r>
                      <a:endParaRPr lang="en-US" sz="18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b="1">
                          <a:effectLst/>
                        </a:rPr>
                        <a:t>Refined design</a:t>
                      </a:r>
                      <a:endParaRPr lang="en-US" sz="18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847966090"/>
                  </a:ext>
                </a:extLst>
              </a:tr>
              <a:tr h="59423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b="1" dirty="0">
                          <a:effectLst/>
                        </a:rPr>
                        <a:t>6. Launch</a:t>
                      </a:r>
                      <a:endParaRPr lang="en-US" sz="18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b="1">
                          <a:effectLst/>
                        </a:rPr>
                        <a:t>Commercialization</a:t>
                      </a:r>
                      <a:endParaRPr lang="en-US" sz="18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b="1" dirty="0">
                          <a:effectLst/>
                        </a:rPr>
                        <a:t>Market introduction</a:t>
                      </a:r>
                      <a:endParaRPr lang="en-US" sz="18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1391799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9104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023BB-44CA-4D23-9744-0B47F24C2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Gate Review Criteria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E8B552-1133-468D-A3B4-FF37F5D8C5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b="1" i="0" u="none" strike="noStrike" baseline="0">
                <a:latin typeface="Arial" panose="020B0604020202020204" pitchFamily="34" charset="0"/>
                <a:ea typeface="Calibri" panose="020F0502020204030204" pitchFamily="34" charset="0"/>
              </a:rPr>
              <a:t>Each gate includes:</a:t>
            </a:r>
          </a:p>
          <a:p>
            <a:pPr marR="0" lvl="1" rtl="0"/>
            <a:r>
              <a:rPr lang="en-US" b="1" i="0" u="none" strike="noStrike" baseline="0">
                <a:latin typeface="Arial" panose="020B0604020202020204" pitchFamily="34" charset="0"/>
                <a:ea typeface="Calibri" panose="020F0502020204030204" pitchFamily="34" charset="0"/>
              </a:rPr>
              <a:t>Quality of execution (technical, financial, user requirements).</a:t>
            </a:r>
          </a:p>
          <a:p>
            <a:pPr marR="0" lvl="1" rtl="0"/>
            <a:r>
              <a:rPr lang="en-US" b="1" i="0" u="none" strike="noStrike" baseline="0">
                <a:latin typeface="Arial" panose="020B0604020202020204" pitchFamily="34" charset="0"/>
                <a:ea typeface="Calibri" panose="020F0502020204030204" pitchFamily="34" charset="0"/>
              </a:rPr>
              <a:t>Business rationale (market potential, ROI).</a:t>
            </a:r>
          </a:p>
          <a:p>
            <a:pPr marR="0" lvl="1" rtl="0"/>
            <a:r>
              <a:rPr lang="en-US" b="1" i="0" u="none" strike="noStrike" baseline="0">
                <a:latin typeface="Arial" panose="020B0604020202020204" pitchFamily="34" charset="0"/>
                <a:ea typeface="Calibri" panose="020F0502020204030204" pitchFamily="34" charset="0"/>
              </a:rPr>
              <a:t>Alignment with strategy.</a:t>
            </a:r>
          </a:p>
          <a:p>
            <a:pPr marR="0" lvl="1" rtl="0"/>
            <a:r>
              <a:rPr lang="en-US" b="1" i="0" u="none" strike="noStrike" baseline="0">
                <a:latin typeface="Arial" panose="020B0604020202020204" pitchFamily="34" charset="0"/>
                <a:ea typeface="Calibri" panose="020F0502020204030204" pitchFamily="34" charset="0"/>
              </a:rPr>
              <a:t>Gatekeepers: cross-functional senior team.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62DBA9-5676-4847-9106-DD55AA61D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D89F12-3D3D-4662-A67A-5CD2E55DB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87800-3B7A-4C76-A08B-598082DB43A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7451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9118A-6E02-4212-837C-7939932C6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Advantages of Stage-Gate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87C064-0EF2-41E4-9B41-FC7ADDE86A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b="1" i="0" u="none" strike="noStrike" baseline="0">
                <a:latin typeface="Arial" panose="020B0604020202020204" pitchFamily="34" charset="0"/>
                <a:ea typeface="Calibri" panose="020F0502020204030204" pitchFamily="34" charset="0"/>
              </a:rPr>
              <a:t>Risk management through early screening.</a:t>
            </a:r>
          </a:p>
          <a:p>
            <a:pPr marR="0" lvl="0" rtl="0"/>
            <a:r>
              <a:rPr lang="en-US" b="1" i="0" u="none" strike="noStrike" baseline="0">
                <a:latin typeface="Arial" panose="020B0604020202020204" pitchFamily="34" charset="0"/>
                <a:ea typeface="Calibri" panose="020F0502020204030204" pitchFamily="34" charset="0"/>
              </a:rPr>
              <a:t>Resource focus on high-value projects.</a:t>
            </a:r>
          </a:p>
          <a:p>
            <a:pPr marR="0" lvl="0" rtl="0"/>
            <a:r>
              <a:rPr lang="en-US" b="1" i="0" u="none" strike="noStrike" baseline="0">
                <a:latin typeface="Arial" panose="020B0604020202020204" pitchFamily="34" charset="0"/>
                <a:ea typeface="Calibri" panose="020F0502020204030204" pitchFamily="34" charset="0"/>
              </a:rPr>
              <a:t>Structured documentation → organizational learning.</a:t>
            </a:r>
          </a:p>
          <a:p>
            <a:pPr marR="0" lvl="0" rtl="0"/>
            <a:r>
              <a:rPr lang="en-US" b="1" i="0" u="none" strike="noStrike" baseline="0">
                <a:latin typeface="Arial" panose="020B0604020202020204" pitchFamily="34" charset="0"/>
                <a:ea typeface="Calibri" panose="020F0502020204030204" pitchFamily="34" charset="0"/>
              </a:rPr>
              <a:t>Balances creativity with discipline.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754AF9-A4B2-432E-A5E9-4CAA6EF72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C83AD4-0A09-4581-8C58-86C9DD04D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87800-3B7A-4C76-A08B-598082DB43A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5732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0ECF7-0058-4648-867D-1F7468A45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Limitations of Stage-Gate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21191E-8C0E-441B-8F4A-DD0B9A4DFE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b="1" i="0" u="none" strike="noStrike" baseline="0">
                <a:latin typeface="Arial" panose="020B0604020202020204" pitchFamily="34" charset="0"/>
                <a:ea typeface="Calibri" panose="020F0502020204030204" pitchFamily="34" charset="0"/>
              </a:rPr>
              <a:t>Can be bureaucratic if overformalized.</a:t>
            </a:r>
          </a:p>
          <a:p>
            <a:pPr marR="0" lvl="0" rtl="0"/>
            <a:r>
              <a:rPr lang="en-US" b="1" i="0" u="none" strike="noStrike" baseline="0">
                <a:latin typeface="Arial" panose="020B0604020202020204" pitchFamily="34" charset="0"/>
                <a:ea typeface="Calibri" panose="020F0502020204030204" pitchFamily="34" charset="0"/>
              </a:rPr>
              <a:t>Slows innovation in fast-moving tech sectors.</a:t>
            </a:r>
          </a:p>
          <a:p>
            <a:pPr marR="0" lvl="0" rtl="0"/>
            <a:r>
              <a:rPr lang="en-US" b="1" i="0" u="none" strike="noStrike" baseline="0">
                <a:latin typeface="Arial" panose="020B0604020202020204" pitchFamily="34" charset="0"/>
                <a:ea typeface="Calibri" panose="020F0502020204030204" pitchFamily="34" charset="0"/>
              </a:rPr>
              <a:t>Not ideal for exploratory AI or data-driven innovation.</a:t>
            </a:r>
          </a:p>
          <a:p>
            <a:pPr marR="0" lvl="0" rtl="0"/>
            <a:r>
              <a:rPr lang="en-US" b="1" i="0" u="none" strike="noStrike" baseline="0">
                <a:latin typeface="Arial" panose="020B0604020202020204" pitchFamily="34" charset="0"/>
                <a:ea typeface="Calibri" panose="020F0502020204030204" pitchFamily="34" charset="0"/>
              </a:rPr>
              <a:t>Cooper (2021): calls for “Next-Generation Stage-Gate” → adaptive &amp; agile integration.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ABAE0B-E5E8-4DB5-AFEA-AF6EEB945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0F30E7-1759-46BD-A774-A64F9A0EE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87800-3B7A-4C76-A08B-598082DB43A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9977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1A3F9-5E30-48C1-897B-10BFCF855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Schilling’s View on Development Processes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0BB039-E55E-4AD3-A546-D822D084B1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b="1" i="0" u="none" strike="noStrike" baseline="0">
                <a:latin typeface="Arial" panose="020B0604020202020204" pitchFamily="34" charset="0"/>
                <a:ea typeface="Calibri" panose="020F0502020204030204" pitchFamily="34" charset="0"/>
              </a:rPr>
              <a:t>Stage-Gate aligns with planned innovation management.</a:t>
            </a:r>
          </a:p>
          <a:p>
            <a:pPr marR="0" lvl="0" rtl="0"/>
            <a:r>
              <a:rPr lang="en-US" b="1" i="0" u="none" strike="noStrike" baseline="0">
                <a:latin typeface="Arial" panose="020B0604020202020204" pitchFamily="34" charset="0"/>
                <a:ea typeface="Calibri" panose="020F0502020204030204" pitchFamily="34" charset="0"/>
              </a:rPr>
              <a:t>Effective for complex, capital-intensive innovations.</a:t>
            </a:r>
          </a:p>
          <a:p>
            <a:pPr marR="0" lvl="0" rtl="0"/>
            <a:r>
              <a:rPr lang="en-US" b="1" i="0" u="none" strike="noStrike" baseline="0">
                <a:latin typeface="Arial" panose="020B0604020202020204" pitchFamily="34" charset="0"/>
                <a:ea typeface="Calibri" panose="020F0502020204030204" pitchFamily="34" charset="0"/>
              </a:rPr>
              <a:t>Schilling (Ch. 11): Integration across marketing, R&amp;D, and production crucial for success.</a:t>
            </a:r>
          </a:p>
          <a:p>
            <a:pPr marR="0" lvl="0" rtl="0"/>
            <a:r>
              <a:rPr lang="en-US" b="1" i="0" u="none" strike="noStrike" baseline="0">
                <a:latin typeface="Arial" panose="020B0604020202020204" pitchFamily="34" charset="0"/>
                <a:ea typeface="Calibri" panose="020F0502020204030204" pitchFamily="34" charset="0"/>
              </a:rPr>
              <a:t>Coordination barriers = key reason for project delays and cost overruns.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41FF1A-403D-4546-9ACB-CCC8008E9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56E023-B16F-4ADE-8DDC-BE85C46F6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87800-3B7A-4C76-A08B-598082DB43A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1818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E7B0C-4109-4710-817E-C76AD6870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Integrating Leadership for Innovation (Steiber, 2022)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6CA9A6-3A2A-447F-B700-C558ADC596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b="1" i="0" u="none" strike="noStrike" baseline="0">
                <a:latin typeface="Arial" panose="020B0604020202020204" pitchFamily="34" charset="0"/>
                <a:ea typeface="Calibri" panose="020F0502020204030204" pitchFamily="34" charset="0"/>
              </a:rPr>
              <a:t>Traditional processes require modern leadership adaptation:</a:t>
            </a:r>
          </a:p>
          <a:p>
            <a:pPr marR="0" lvl="1" rtl="0"/>
            <a:r>
              <a:rPr lang="en-US" b="1" i="0" u="none" strike="noStrike" baseline="0">
                <a:latin typeface="Arial" panose="020B0604020202020204" pitchFamily="34" charset="0"/>
                <a:ea typeface="Calibri" panose="020F0502020204030204" pitchFamily="34" charset="0"/>
              </a:rPr>
              <a:t>Visionary alignment: Leaders communicate “why” innovation matters.</a:t>
            </a:r>
          </a:p>
          <a:p>
            <a:pPr marR="0" lvl="1" rtl="0"/>
            <a:r>
              <a:rPr lang="en-US" b="1" i="0" u="none" strike="noStrike" baseline="0">
                <a:latin typeface="Arial" panose="020B0604020202020204" pitchFamily="34" charset="0"/>
                <a:ea typeface="Calibri" panose="020F0502020204030204" pitchFamily="34" charset="0"/>
              </a:rPr>
              <a:t>Empowerment: Teams must feel ownership of each gate stage.</a:t>
            </a:r>
          </a:p>
          <a:p>
            <a:pPr marR="0" lvl="1" rtl="0"/>
            <a:r>
              <a:rPr lang="en-US" b="1" i="0" u="none" strike="noStrike" baseline="0">
                <a:latin typeface="Arial" panose="020B0604020202020204" pitchFamily="34" charset="0"/>
                <a:ea typeface="Calibri" panose="020F0502020204030204" pitchFamily="34" charset="0"/>
              </a:rPr>
              <a:t>Psychological safety: Encourage openness about risks or failures.</a:t>
            </a:r>
          </a:p>
          <a:p>
            <a:pPr marR="0" lvl="0" rtl="0"/>
            <a:r>
              <a:rPr lang="en-US" b="1" i="0" u="none" strike="noStrike" baseline="0">
                <a:latin typeface="Arial" panose="020B0604020202020204" pitchFamily="34" charset="0"/>
                <a:ea typeface="Calibri" panose="020F0502020204030204" pitchFamily="34" charset="0"/>
              </a:rPr>
              <a:t>“Digital leadership” complements structured methods with agile thinking.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8BF23F-A93C-45F8-9BC6-BB8B2A0F8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077072-1517-464F-9752-808D68D01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87800-3B7A-4C76-A08B-598082DB43A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6040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C5720-57DC-4D45-9441-5F8A3F368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Hybrid Models in Digital Firms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CFF75B-00BA-4BFD-80F0-DC211D81DD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30271" y="1863968"/>
            <a:ext cx="5833237" cy="4232031"/>
          </a:xfrm>
        </p:spPr>
        <p:txBody>
          <a:bodyPr/>
          <a:lstStyle/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Modern firms (Microsoft, Google, Amazon) blend Stage-Gate rigor with agile flexibility.</a:t>
            </a:r>
          </a:p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Example: Mini “sprints” within each stage.</a:t>
            </a:r>
          </a:p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Gates become learning checkpoints, not rigid control points.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790B7E-2351-417E-85F6-13A1EDCB7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3FC058-1143-4412-B2C6-F045FD615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87800-3B7A-4C76-A08B-598082DB43A5}" type="slidenum">
              <a:rPr lang="en-US" smtClean="0"/>
              <a:t>18</a:t>
            </a:fld>
            <a:endParaRPr lang="en-US"/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35146B76-E3CB-4329-8792-2553E391B2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3143" y="2362199"/>
            <a:ext cx="5428857" cy="3014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F45961B-311C-4CF0-AB7E-4FA3B8A69C22}"/>
              </a:ext>
            </a:extLst>
          </p:cNvPr>
          <p:cNvSpPr/>
          <p:nvPr/>
        </p:nvSpPr>
        <p:spPr>
          <a:xfrm>
            <a:off x="6763143" y="5474677"/>
            <a:ext cx="5428857" cy="222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100" i="1" u="sng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https://innovationmanagement.se/2016/08/09/integrating-agile-with-stage-gate/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0679920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C6C95-AABF-487B-90E1-9F921AFA6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9166" y="953336"/>
            <a:ext cx="9607661" cy="687895"/>
          </a:xfrm>
        </p:spPr>
        <p:txBody>
          <a:bodyPr>
            <a:normAutofit/>
          </a:bodyPr>
          <a:lstStyle/>
          <a:p>
            <a:r>
              <a:rPr lang="en-US" b="1" dirty="0"/>
              <a:t>Agile/ Hybrid Stage-Gate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C8E49B-BD20-4E7D-8001-069FB879C0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29166" y="1501492"/>
            <a:ext cx="4645152" cy="452089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Merits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1D4319-3917-4146-85BA-AC6303403D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166" y="1953624"/>
            <a:ext cx="4645152" cy="4277192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Improved design flexibility</a:t>
            </a:r>
          </a:p>
          <a:p>
            <a:r>
              <a:rPr lang="en-US" b="1" dirty="0"/>
              <a:t>Increased ability to respond to real-time changes</a:t>
            </a:r>
          </a:p>
          <a:p>
            <a:r>
              <a:rPr lang="en-US" b="1" dirty="0"/>
              <a:t>Boost in productivity, communication, and coordination across entire project team</a:t>
            </a:r>
          </a:p>
          <a:p>
            <a:r>
              <a:rPr lang="en-US" b="1" dirty="0"/>
              <a:t>Higher overall team morale</a:t>
            </a:r>
          </a:p>
          <a:p>
            <a:r>
              <a:rPr lang="en-US" b="1" dirty="0"/>
              <a:t>Better prioritization of project tasks</a:t>
            </a:r>
          </a:p>
          <a:p>
            <a:r>
              <a:rPr lang="en-US" b="1" dirty="0"/>
              <a:t>Reduced time-to-market by 30% (vs. classic Stage-Gate processes)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42594C-7CA1-48DE-9464-A9E2A5A481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4337" y="1504946"/>
            <a:ext cx="4645152" cy="452255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Limitations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A804C9-5020-4806-8DF8-5D08EF011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4336" y="1953582"/>
            <a:ext cx="5441172" cy="4265730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Difficulty to secure dedicated team members focused on only one project</a:t>
            </a:r>
          </a:p>
          <a:p>
            <a:r>
              <a:rPr lang="en-US" b="1" dirty="0"/>
              <a:t>Difficulty linking project teams to the organization as a whole</a:t>
            </a:r>
          </a:p>
          <a:p>
            <a:r>
              <a:rPr lang="en-US" b="1" dirty="0"/>
              <a:t>Disconnect between Agile requirements and the company’s reward system</a:t>
            </a:r>
          </a:p>
          <a:p>
            <a:r>
              <a:rPr lang="en-US" b="1" dirty="0"/>
              <a:t>Perceived as still being too bureaucratic</a:t>
            </a:r>
          </a:p>
          <a:p>
            <a:r>
              <a:rPr lang="en-US" b="1" dirty="0"/>
              <a:t>Lack of scalability for large projects with many interconnected sub-projects</a:t>
            </a:r>
          </a:p>
          <a:p>
            <a:r>
              <a:rPr lang="en-US" b="1" dirty="0"/>
              <a:t>Hard to manage for distributed global teams</a:t>
            </a:r>
          </a:p>
          <a:p>
            <a:r>
              <a:rPr lang="en-US" b="1" dirty="0"/>
              <a:t>Too much time spent in meetings (vs. working)</a:t>
            </a:r>
          </a:p>
          <a:p>
            <a:r>
              <a:rPr lang="en-US" b="1" dirty="0"/>
              <a:t>Sometimes challenging to secure management buy-in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815A293-7611-4314-841A-D244EBFE2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D45DC5E-4280-42A5-8ADF-3B6923946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A7973-18EE-4F8B-9E04-667F05D8C76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6854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71F07-828D-4432-9A09-22C45109F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Microsoft’s Stage-Gate Approach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25BFF8-F1B7-4400-B65B-C5C374D16E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b="1" i="0" u="none" strike="noStrike" baseline="0">
                <a:latin typeface="Arial" panose="020B0604020202020204" pitchFamily="34" charset="0"/>
                <a:ea typeface="Calibri" panose="020F0502020204030204" pitchFamily="34" charset="0"/>
              </a:rPr>
              <a:t>Microsoft uses Stage-Gate in Azure and AI model development.</a:t>
            </a:r>
          </a:p>
          <a:p>
            <a:pPr marR="0" lvl="0" rtl="0"/>
            <a:r>
              <a:rPr lang="en-US" b="1" i="0" u="none" strike="noStrike" baseline="0">
                <a:latin typeface="Arial" panose="020B0604020202020204" pitchFamily="34" charset="0"/>
                <a:ea typeface="Calibri" panose="020F0502020204030204" pitchFamily="34" charset="0"/>
              </a:rPr>
              <a:t>Key adaptations:</a:t>
            </a:r>
          </a:p>
          <a:p>
            <a:pPr marR="0" lvl="1" rtl="0"/>
            <a:r>
              <a:rPr lang="en-US" b="1" i="0" u="none" strike="noStrike" baseline="0">
                <a:latin typeface="Arial" panose="020B0604020202020204" pitchFamily="34" charset="0"/>
                <a:ea typeface="Calibri" panose="020F0502020204030204" pitchFamily="34" charset="0"/>
              </a:rPr>
              <a:t>Ethical checkpoints integrated into gates.</a:t>
            </a:r>
          </a:p>
          <a:p>
            <a:pPr marR="0" lvl="1" rtl="0"/>
            <a:r>
              <a:rPr lang="en-US" b="1" i="0" u="none" strike="noStrike" baseline="0">
                <a:latin typeface="Arial" panose="020B0604020202020204" pitchFamily="34" charset="0"/>
                <a:ea typeface="Calibri" panose="020F0502020204030204" pitchFamily="34" charset="0"/>
              </a:rPr>
              <a:t>Multidisciplinary gatekeepers: engineers, ethicists, policy experts.</a:t>
            </a:r>
          </a:p>
          <a:p>
            <a:pPr marR="0" lvl="1" rtl="0"/>
            <a:r>
              <a:rPr lang="en-US" b="1" i="0" u="none" strike="noStrike" baseline="0">
                <a:latin typeface="Arial" panose="020B0604020202020204" pitchFamily="34" charset="0"/>
                <a:ea typeface="Calibri" panose="020F0502020204030204" pitchFamily="34" charset="0"/>
              </a:rPr>
              <a:t>Focus on risk prediction, bias reduction, and compliance.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D51B45-6EC5-4F66-AF7E-D2F4DEFDB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C1C795-86C7-4EAC-B992-E8A1F9A31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87800-3B7A-4C76-A08B-598082DB43A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1520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BA58D-E99B-41E2-BDD8-2EB8DD912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Microsoft’s Responsible AI Principles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61BCE8-C346-4A6B-98BC-1FAB85F099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30270" y="1863969"/>
            <a:ext cx="9603275" cy="4249616"/>
          </a:xfrm>
        </p:spPr>
        <p:txBody>
          <a:bodyPr>
            <a:normAutofit fontScale="92500"/>
          </a:bodyPr>
          <a:lstStyle/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Fairness</a:t>
            </a:r>
          </a:p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Reliability and Safety</a:t>
            </a:r>
          </a:p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Privacy and Security</a:t>
            </a:r>
          </a:p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Inclusiveness</a:t>
            </a:r>
          </a:p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Transparency</a:t>
            </a:r>
          </a:p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Accountability</a:t>
            </a:r>
          </a:p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→ Integrated into development process as evaluation gates.</a:t>
            </a:r>
          </a:p>
          <a:p>
            <a:pPr marL="0" marR="0" lvl="0" indent="0" algn="r" rtl="0">
              <a:buNone/>
            </a:pPr>
            <a:r>
              <a:rPr lang="en-US" sz="1700" i="1" u="sng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https://azurementor.wordpress.com/2024/03/08/the-6-microsoft-responsible-ai-principles-explained/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2447DD-92F0-4BCA-830B-BB543E7CD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8A6CF0-BEFA-4B42-B671-BE4FBA738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87800-3B7A-4C76-A08B-598082DB43A5}" type="slidenum">
              <a:rPr lang="en-US" smtClean="0"/>
              <a:t>21</a:t>
            </a:fld>
            <a:endParaRPr lang="en-US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DF917507-AEF9-4E5D-84EE-DD003799E7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2256" y="1647092"/>
            <a:ext cx="5719744" cy="3030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23439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6BBEE-02D6-4C31-8471-02D2001EA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 dirty="0">
                <a:latin typeface="Arial" panose="020B0604020202020204" pitchFamily="34" charset="0"/>
                <a:ea typeface="Calibri" panose="020F0502020204030204" pitchFamily="34" charset="0"/>
              </a:rPr>
              <a:t>Case Study: Responsible AI Gate Simulation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C61443-7B40-4866-B14D-8508DE2D65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Scenario:</a:t>
            </a:r>
            <a:b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</a:br>
            <a:endParaRPr lang="en-US" b="1" i="0" u="none" strike="noStrike" baseline="0" dirty="0"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R="0" lvl="1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You are part </a:t>
            </a:r>
            <a:r>
              <a:rPr lang="en-US" b="1" i="0" u="none" strike="noStrike" baseline="0">
                <a:latin typeface="Arial" panose="020B0604020202020204" pitchFamily="34" charset="0"/>
                <a:ea typeface="Calibri" panose="020F0502020204030204" pitchFamily="34" charset="0"/>
              </a:rPr>
              <a:t>of the AI </a:t>
            </a:r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ethics board in MENA Region, reviewing a new Azure cognitive service.</a:t>
            </a:r>
          </a:p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Your Task:</a:t>
            </a:r>
          </a:p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Evaluate the AI system across the 6 principles.</a:t>
            </a:r>
          </a:p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Identify which gate the project is at (e.g., development/testing).</a:t>
            </a:r>
          </a:p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Recommend: </a:t>
            </a:r>
            <a:r>
              <a:rPr lang="en-US" b="1" i="1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Go</a:t>
            </a:r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, </a:t>
            </a:r>
            <a:r>
              <a:rPr lang="en-US" b="1" i="1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Hold</a:t>
            </a:r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, or </a:t>
            </a:r>
            <a:r>
              <a:rPr lang="en-US" b="1" i="1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Rework</a:t>
            </a:r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, and justify.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D940DD-3051-4BDD-A232-A11D85C9A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24ADC9-FDE4-48F8-8254-EF5559308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87800-3B7A-4C76-A08B-598082DB43A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8803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A5DA3-5AC6-4288-9F41-A6DCFC814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Activity Setup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C122D1-DE55-4175-A503-2D89E0147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b="1" i="0" u="none" strike="noStrike" baseline="0">
                <a:latin typeface="Arial" panose="020B0604020202020204" pitchFamily="34" charset="0"/>
                <a:ea typeface="Calibri" panose="020F0502020204030204" pitchFamily="34" charset="0"/>
              </a:rPr>
              <a:t>Group size: 5–6 students.</a:t>
            </a:r>
          </a:p>
          <a:p>
            <a:pPr marR="0" lvl="0" rtl="0"/>
            <a:r>
              <a:rPr lang="en-US" b="1" i="0" u="none" strike="noStrike" baseline="0">
                <a:latin typeface="Arial" panose="020B0604020202020204" pitchFamily="34" charset="0"/>
                <a:ea typeface="Calibri" panose="020F0502020204030204" pitchFamily="34" charset="0"/>
              </a:rPr>
              <a:t>Duration: 15–20 minutes.</a:t>
            </a:r>
          </a:p>
          <a:p>
            <a:pPr marR="0" lvl="0" rtl="0"/>
            <a:r>
              <a:rPr lang="en-US" b="1" i="0" u="none" strike="noStrike" baseline="0">
                <a:latin typeface="Arial" panose="020B0604020202020204" pitchFamily="34" charset="0"/>
                <a:ea typeface="Calibri" panose="020F0502020204030204" pitchFamily="34" charset="0"/>
              </a:rPr>
              <a:t>Outputs:</a:t>
            </a:r>
          </a:p>
          <a:p>
            <a:pPr marR="0" lvl="1" rtl="0"/>
            <a:r>
              <a:rPr lang="en-US" b="1" i="0" u="none" strike="noStrike" baseline="0">
                <a:latin typeface="Arial" panose="020B0604020202020204" pitchFamily="34" charset="0"/>
                <a:ea typeface="Calibri" panose="020F0502020204030204" pitchFamily="34" charset="0"/>
              </a:rPr>
              <a:t>Identify 3 major ethical/technical risks.</a:t>
            </a:r>
          </a:p>
          <a:p>
            <a:pPr marR="0" lvl="1" rtl="0"/>
            <a:r>
              <a:rPr lang="en-US" b="1" i="0" u="none" strike="noStrike" baseline="0">
                <a:latin typeface="Arial" panose="020B0604020202020204" pitchFamily="34" charset="0"/>
                <a:ea typeface="Calibri" panose="020F0502020204030204" pitchFamily="34" charset="0"/>
              </a:rPr>
              <a:t>Prepare a 3-minute presentation simulating a gate review.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1293BD-EA79-4855-B25E-5A9F4F86D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08CB33-8A34-437C-8C74-FFB4E8920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87800-3B7A-4C76-A08B-598082DB43A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0461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9520A-74DB-45F3-8896-2365BB142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Debrief Discussion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A05224-3CA4-4BBA-A042-DE6E1F37DD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b="1" i="0" u="none" strike="noStrike" baseline="0">
                <a:latin typeface="Arial" panose="020B0604020202020204" pitchFamily="34" charset="0"/>
                <a:ea typeface="Calibri" panose="020F0502020204030204" pitchFamily="34" charset="0"/>
              </a:rPr>
              <a:t>What were your main criteria for the gate decision?</a:t>
            </a:r>
          </a:p>
          <a:p>
            <a:pPr marR="0" lvl="0" rtl="0"/>
            <a:r>
              <a:rPr lang="en-US" b="1" i="0" u="none" strike="noStrike" baseline="0">
                <a:latin typeface="Arial" panose="020B0604020202020204" pitchFamily="34" charset="0"/>
                <a:ea typeface="Calibri" panose="020F0502020204030204" pitchFamily="34" charset="0"/>
              </a:rPr>
              <a:t>How did you balance innovation speed vs responsibility?</a:t>
            </a:r>
          </a:p>
          <a:p>
            <a:pPr marR="0" lvl="0" rtl="0"/>
            <a:r>
              <a:rPr lang="en-US" b="1" i="0" u="none" strike="noStrike" baseline="0">
                <a:latin typeface="Arial" panose="020B0604020202020204" pitchFamily="34" charset="0"/>
                <a:ea typeface="Calibri" panose="020F0502020204030204" pitchFamily="34" charset="0"/>
              </a:rPr>
              <a:t>How might a hybrid Stage-Gate process improve oversight?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4FCD57-9F09-4E4C-AAC9-7F9462837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ECDA3-0D14-4662-8509-CA8983A20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87800-3B7A-4C76-A08B-598082DB43A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1007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1E215-DC2C-4119-BF36-6AA3F1EA7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 dirty="0">
                <a:latin typeface="Arial" panose="020B0604020202020204" pitchFamily="34" charset="0"/>
                <a:ea typeface="Calibri" panose="020F0502020204030204" pitchFamily="34" charset="0"/>
              </a:rPr>
              <a:t>Leadership Reflection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49DA1D-6865-47AA-A9D7-3C3FA5ED12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b="1" i="0" u="none" strike="noStrike" baseline="0" dirty="0" err="1">
                <a:latin typeface="Arial" panose="020B0604020202020204" pitchFamily="34" charset="0"/>
                <a:ea typeface="Calibri" panose="020F0502020204030204" pitchFamily="34" charset="0"/>
              </a:rPr>
              <a:t>Steiber</a:t>
            </a:r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 (2022): Leadership in digital innovation = balancing </a:t>
            </a:r>
            <a:r>
              <a:rPr lang="en-US" b="1" i="1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speed, ethics, and learning</a:t>
            </a:r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.</a:t>
            </a:r>
          </a:p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Microsoft example shows responsible leadership integrated into a technical process.</a:t>
            </a:r>
          </a:p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Key takeaway: Ethical review is not an add-on; it’s a design parameter.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F0E6D7-582A-438B-A0A4-400873E3A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93082F-3B56-43DC-8839-09FD6E9B0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87800-3B7A-4C76-A08B-598082DB43A5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8737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72AAE-394B-4F39-9CD3-1B223C735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Evolution of Stage-Gate in Digital Context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3AD447-50D4-4F99-AD4F-EFE74B54E3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b="1" i="0" u="none" strike="noStrike" baseline="0">
                <a:latin typeface="Arial" panose="020B0604020202020204" pitchFamily="34" charset="0"/>
                <a:ea typeface="Calibri" panose="020F0502020204030204" pitchFamily="34" charset="0"/>
              </a:rPr>
              <a:t>Cooper’s Next-Gen Stage-Gate:</a:t>
            </a:r>
          </a:p>
          <a:p>
            <a:pPr marR="0" lvl="1" rtl="0"/>
            <a:r>
              <a:rPr lang="en-US" b="1" i="0" u="none" strike="noStrike" baseline="0">
                <a:latin typeface="Arial" panose="020B0604020202020204" pitchFamily="34" charset="0"/>
                <a:ea typeface="Calibri" panose="020F0502020204030204" pitchFamily="34" charset="0"/>
              </a:rPr>
              <a:t>Lighter, more adaptive.</a:t>
            </a:r>
          </a:p>
          <a:p>
            <a:pPr marR="0" lvl="1" rtl="0"/>
            <a:r>
              <a:rPr lang="en-US" b="1" i="0" u="none" strike="noStrike" baseline="0">
                <a:latin typeface="Arial" panose="020B0604020202020204" pitchFamily="34" charset="0"/>
                <a:ea typeface="Calibri" panose="020F0502020204030204" pitchFamily="34" charset="0"/>
              </a:rPr>
              <a:t>Uses digital dashboards and analytics for gate decisions.</a:t>
            </a:r>
          </a:p>
          <a:p>
            <a:pPr marR="0" lvl="1" rtl="0"/>
            <a:r>
              <a:rPr lang="en-US" b="1" i="0" u="none" strike="noStrike" baseline="0">
                <a:latin typeface="Arial" panose="020B0604020202020204" pitchFamily="34" charset="0"/>
                <a:ea typeface="Calibri" panose="020F0502020204030204" pitchFamily="34" charset="0"/>
              </a:rPr>
              <a:t>Emphasizes real-time data and feedback loops.</a:t>
            </a:r>
          </a:p>
          <a:p>
            <a:pPr marR="0" lvl="0" rtl="0"/>
            <a:r>
              <a:rPr lang="en-US" b="1" i="0" u="none" strike="noStrike" baseline="0">
                <a:latin typeface="Arial" panose="020B0604020202020204" pitchFamily="34" charset="0"/>
                <a:ea typeface="Calibri" panose="020F0502020204030204" pitchFamily="34" charset="0"/>
              </a:rPr>
              <a:t>Blurs boundary between Stage-Gate and agile methods.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607DDF-91CC-4AF7-AEB8-A09BB8B1E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0C63C1-F139-41F7-B1BB-779260502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87800-3B7A-4C76-A08B-598082DB43A5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3021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0899F-6394-4FD2-B31D-526A0FE97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Comparison Summary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39701E-68BC-439E-BCE0-523E237314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3369B7-8585-48E5-A044-329D298B3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7220C3-DEDB-44E4-A389-B7B278E1B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87800-3B7A-4C76-A08B-598082DB43A5}" type="slidenum">
              <a:rPr lang="en-US" smtClean="0"/>
              <a:t>27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DC3FAB2-4C36-4F4D-A741-929B89B622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7026740"/>
              </p:ext>
            </p:extLst>
          </p:nvPr>
        </p:nvGraphicFramePr>
        <p:xfrm>
          <a:off x="1130299" y="1682262"/>
          <a:ext cx="9783884" cy="377974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45971">
                  <a:extLst>
                    <a:ext uri="{9D8B030D-6E8A-4147-A177-3AD203B41FA5}">
                      <a16:colId xmlns:a16="http://schemas.microsoft.com/office/drawing/2014/main" val="4120103102"/>
                    </a:ext>
                  </a:extLst>
                </a:gridCol>
                <a:gridCol w="2445971">
                  <a:extLst>
                    <a:ext uri="{9D8B030D-6E8A-4147-A177-3AD203B41FA5}">
                      <a16:colId xmlns:a16="http://schemas.microsoft.com/office/drawing/2014/main" val="3053230265"/>
                    </a:ext>
                  </a:extLst>
                </a:gridCol>
                <a:gridCol w="2445971">
                  <a:extLst>
                    <a:ext uri="{9D8B030D-6E8A-4147-A177-3AD203B41FA5}">
                      <a16:colId xmlns:a16="http://schemas.microsoft.com/office/drawing/2014/main" val="543592382"/>
                    </a:ext>
                  </a:extLst>
                </a:gridCol>
                <a:gridCol w="2445971">
                  <a:extLst>
                    <a:ext uri="{9D8B030D-6E8A-4147-A177-3AD203B41FA5}">
                      <a16:colId xmlns:a16="http://schemas.microsoft.com/office/drawing/2014/main" val="1556728076"/>
                    </a:ext>
                  </a:extLst>
                </a:gridCol>
              </a:tblGrid>
              <a:tr h="94471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b="1" dirty="0">
                          <a:effectLst/>
                        </a:rPr>
                        <a:t>Model</a:t>
                      </a:r>
                      <a:endParaRPr lang="en-US" sz="18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b="1">
                          <a:effectLst/>
                        </a:rPr>
                        <a:t>Best for</a:t>
                      </a:r>
                      <a:endParaRPr lang="en-US" sz="18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b="1">
                          <a:effectLst/>
                        </a:rPr>
                        <a:t>Strengths</a:t>
                      </a:r>
                      <a:endParaRPr lang="en-US" sz="18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b="1">
                          <a:effectLst/>
                        </a:rPr>
                        <a:t>Limitations</a:t>
                      </a:r>
                      <a:endParaRPr lang="en-US" sz="18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54118165"/>
                  </a:ext>
                </a:extLst>
              </a:tr>
              <a:tr h="94500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b="1" dirty="0">
                          <a:effectLst/>
                        </a:rPr>
                        <a:t>Waterfall</a:t>
                      </a:r>
                      <a:endParaRPr lang="en-US" sz="18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b="1">
                          <a:effectLst/>
                        </a:rPr>
                        <a:t>Stable projects</a:t>
                      </a:r>
                      <a:endParaRPr lang="en-US" sz="18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b="1">
                          <a:effectLst/>
                        </a:rPr>
                        <a:t>Clear control, structure</a:t>
                      </a:r>
                      <a:endParaRPr lang="en-US" sz="18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b="1">
                          <a:effectLst/>
                        </a:rPr>
                        <a:t>Rigid, late feedback</a:t>
                      </a:r>
                      <a:endParaRPr lang="en-US" sz="18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123732778"/>
                  </a:ext>
                </a:extLst>
              </a:tr>
              <a:tr h="94500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b="1" dirty="0">
                          <a:effectLst/>
                        </a:rPr>
                        <a:t>Stage-Gate</a:t>
                      </a:r>
                      <a:endParaRPr lang="en-US" sz="18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b="1">
                          <a:effectLst/>
                        </a:rPr>
                        <a:t>Complex innovation</a:t>
                      </a:r>
                      <a:endParaRPr lang="en-US" sz="18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b="1">
                          <a:effectLst/>
                        </a:rPr>
                        <a:t>Structured risk management</a:t>
                      </a:r>
                      <a:endParaRPr lang="en-US" sz="18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b="1">
                          <a:effectLst/>
                        </a:rPr>
                        <a:t>Bureaucratic if static</a:t>
                      </a:r>
                      <a:endParaRPr lang="en-US" sz="18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12270148"/>
                  </a:ext>
                </a:extLst>
              </a:tr>
              <a:tr h="94500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b="1" dirty="0">
                          <a:effectLst/>
                        </a:rPr>
                        <a:t>Agile/Hybrid</a:t>
                      </a:r>
                      <a:endParaRPr lang="en-US" sz="18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b="1">
                          <a:effectLst/>
                        </a:rPr>
                        <a:t>Dynamic AI/software</a:t>
                      </a:r>
                      <a:endParaRPr lang="en-US" sz="18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b="1">
                          <a:effectLst/>
                        </a:rPr>
                        <a:t>Fast learning, flexible</a:t>
                      </a:r>
                      <a:endParaRPr lang="en-US" sz="18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b="1" dirty="0">
                          <a:effectLst/>
                        </a:rPr>
                        <a:t>Less predictability</a:t>
                      </a:r>
                      <a:endParaRPr lang="en-US" sz="18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931547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65251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AA87E-1562-4DD3-80B0-DBE0CC6B3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CPM vs Agile Timeline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92D09B-ED04-493A-B26D-EE80A8CFC6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CPM: sequential, milestone-driven.</a:t>
            </a:r>
          </a:p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Agile: iterative, time-boxed.</a:t>
            </a:r>
          </a:p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Hybrid: CPM for high-level roadmap; agile for team execution.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0963B4-5607-451C-9A3F-E21EB4330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A19544-B807-4B65-89D1-5163BB5B4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87800-3B7A-4C76-A08B-598082DB43A5}" type="slidenum">
              <a:rPr lang="en-US" smtClean="0"/>
              <a:t>28</a:t>
            </a:fld>
            <a:endParaRPr lang="en-US"/>
          </a:p>
        </p:txBody>
      </p:sp>
      <p:pic>
        <p:nvPicPr>
          <p:cNvPr id="7170" name="Picture 2" descr="Management Tools: Agile Project Management vs Critical Path Method (CPM).">
            <a:extLst>
              <a:ext uri="{FF2B5EF4-FFF2-40B4-BE49-F238E27FC236}">
                <a16:creationId xmlns:a16="http://schemas.microsoft.com/office/drawing/2014/main" id="{635A8DD8-54EF-4DE2-8803-DBCFDE19F9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123" y="3460196"/>
            <a:ext cx="6025662" cy="3397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78344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13684-046D-4586-8F44-DA0EDF7CC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Challenges in Practice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AF5EEA-8279-4B99-922E-E16AB8FCCA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b="1" i="0" u="none" strike="noStrike" baseline="0">
                <a:latin typeface="Arial" panose="020B0604020202020204" pitchFamily="34" charset="0"/>
                <a:ea typeface="Calibri" panose="020F0502020204030204" pitchFamily="34" charset="0"/>
              </a:rPr>
              <a:t>Managing bureaucracy vs agility.</a:t>
            </a:r>
          </a:p>
          <a:p>
            <a:pPr marR="0" lvl="0" rtl="0"/>
            <a:r>
              <a:rPr lang="en-US" b="1" i="0" u="none" strike="noStrike" baseline="0">
                <a:latin typeface="Arial" panose="020B0604020202020204" pitchFamily="34" charset="0"/>
                <a:ea typeface="Calibri" panose="020F0502020204030204" pitchFamily="34" charset="0"/>
              </a:rPr>
              <a:t>Aligning diverse gatekeepers (technical, ethical, business).</a:t>
            </a:r>
          </a:p>
          <a:p>
            <a:pPr marR="0" lvl="0" rtl="0"/>
            <a:r>
              <a:rPr lang="en-US" b="1" i="0" u="none" strike="noStrike" baseline="0">
                <a:latin typeface="Arial" panose="020B0604020202020204" pitchFamily="34" charset="0"/>
                <a:ea typeface="Calibri" panose="020F0502020204030204" pitchFamily="34" charset="0"/>
              </a:rPr>
              <a:t>Maintaining data-driven transparency in decision-making.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56C65E-EA12-49CC-A69B-924718092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AF5F4B-5F1B-43CD-956A-E745D8752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87800-3B7A-4C76-A08B-598082DB43A5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7535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9660D-BDE3-4056-A111-212F1597C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Future of Development Processes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8750F6-6B11-47F7-BADB-788F2F6DC4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b="1" i="0" u="none" strike="noStrike" baseline="0">
                <a:latin typeface="Arial" panose="020B0604020202020204" pitchFamily="34" charset="0"/>
                <a:ea typeface="Calibri" panose="020F0502020204030204" pitchFamily="34" charset="0"/>
              </a:rPr>
              <a:t>AI-assisted project planning and CPM prediction.</a:t>
            </a:r>
          </a:p>
          <a:p>
            <a:pPr marR="0" lvl="0" rtl="0"/>
            <a:r>
              <a:rPr lang="en-US" b="1" i="0" u="none" strike="noStrike" baseline="0">
                <a:latin typeface="Arial" panose="020B0604020202020204" pitchFamily="34" charset="0"/>
                <a:ea typeface="Calibri" panose="020F0502020204030204" pitchFamily="34" charset="0"/>
              </a:rPr>
              <a:t>Cloud-based collaborative stage-gate systems.</a:t>
            </a:r>
          </a:p>
          <a:p>
            <a:pPr marR="0" lvl="0" rtl="0"/>
            <a:r>
              <a:rPr lang="en-US" b="1" i="0" u="none" strike="noStrike" baseline="0">
                <a:latin typeface="Arial" panose="020B0604020202020204" pitchFamily="34" charset="0"/>
                <a:ea typeface="Calibri" panose="020F0502020204030204" pitchFamily="34" charset="0"/>
              </a:rPr>
              <a:t>Integration of sustainability and ESG metrics as new gate criteria.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45AAE4-A8FA-4E0C-BEDC-A10E32B18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4056F0-EBE4-46F2-BCAA-7B5C9F8BC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87800-3B7A-4C76-A08B-598082DB43A5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8741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001B9-376B-45A2-9277-881D8B80F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Summary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B6A9E1-9526-4E54-A7D8-7B9DF70962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b="1" i="0" u="none" strike="noStrike" baseline="0">
                <a:latin typeface="Arial" panose="020B0604020202020204" pitchFamily="34" charset="0"/>
                <a:ea typeface="Calibri" panose="020F0502020204030204" pitchFamily="34" charset="0"/>
              </a:rPr>
              <a:t>Waterfall and Stage-Gate offer structure and discipline.</a:t>
            </a:r>
          </a:p>
          <a:p>
            <a:pPr marR="0" lvl="0" rtl="0"/>
            <a:r>
              <a:rPr lang="en-US" b="1" i="0" u="none" strike="noStrike" baseline="0">
                <a:latin typeface="Arial" panose="020B0604020202020204" pitchFamily="34" charset="0"/>
                <a:ea typeface="Calibri" panose="020F0502020204030204" pitchFamily="34" charset="0"/>
              </a:rPr>
              <a:t>Digital firms adapt these models to become more iterative and ethical.</a:t>
            </a:r>
          </a:p>
          <a:p>
            <a:pPr marR="0" lvl="0" rtl="0"/>
            <a:r>
              <a:rPr lang="en-US" b="1" i="0" u="none" strike="noStrike" baseline="0">
                <a:latin typeface="Arial" panose="020B0604020202020204" pitchFamily="34" charset="0"/>
                <a:ea typeface="Calibri" panose="020F0502020204030204" pitchFamily="34" charset="0"/>
              </a:rPr>
              <a:t>Microsoft’s Responsible AI illustrates a future-ready application of traditional methods.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196E6E-ED25-41E4-A40F-7EA060855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15F45A-FCB3-4D12-8C5B-FA6139B6A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87800-3B7A-4C76-A08B-598082DB43A5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8971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ED889-7C9F-4317-8D6D-73D2B11D9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Closing Reflection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FBE613-D197-463C-8F2F-6C1C6541F4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“Great innovation emerges not just from creativity, but from disciplined, ethical, and adaptive processes.”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E55AE9-8662-4B03-B720-3D5E72FAD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D2C0C1-1259-4E30-A836-0187CD959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87800-3B7A-4C76-A08B-598082DB43A5}" type="slidenum">
              <a:rPr lang="en-US" smtClean="0"/>
              <a:t>32</a:t>
            </a:fld>
            <a:endParaRPr lang="en-US"/>
          </a:p>
        </p:txBody>
      </p:sp>
      <p:pic>
        <p:nvPicPr>
          <p:cNvPr id="8194" name="Picture 2" descr="Illustration / diagram of the innovation funnel. From idea to launch. Innovation funnel diagram illustrations">
            <a:extLst>
              <a:ext uri="{FF2B5EF4-FFF2-40B4-BE49-F238E27FC236}">
                <a16:creationId xmlns:a16="http://schemas.microsoft.com/office/drawing/2014/main" id="{A264D7F2-CAEE-43DA-96A5-4F42756752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4756" y="3125306"/>
            <a:ext cx="4538230" cy="3732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4210382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CDCE0"/>
      </a:lt2>
      <a:accent1>
        <a:srgbClr val="415588"/>
      </a:accent1>
      <a:accent2>
        <a:srgbClr val="4294B6"/>
      </a:accent2>
      <a:accent3>
        <a:srgbClr val="087D7C"/>
      </a:accent3>
      <a:accent4>
        <a:srgbClr val="2CB663"/>
      </a:accent4>
      <a:accent5>
        <a:srgbClr val="DF8822"/>
      </a:accent5>
      <a:accent6>
        <a:srgbClr val="BC410A"/>
      </a:accent6>
      <a:hlink>
        <a:srgbClr val="5977C4"/>
      </a:hlink>
      <a:folHlink>
        <a:srgbClr val="A1A9BF"/>
      </a:folHlink>
    </a:clrScheme>
    <a:fontScheme name="Gallery">
      <a:majorFont>
        <a:latin typeface="Century Gothic" panose="020B0502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  <a:lumMod val="108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E050AC27-895F-4B90-991D-A6818FC89AB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296</TotalTime>
  <Words>1576</Words>
  <Application>Microsoft Office PowerPoint</Application>
  <PresentationFormat>Widescreen</PresentationFormat>
  <Paragraphs>269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Calibri</vt:lpstr>
      <vt:lpstr>Century Gothic</vt:lpstr>
      <vt:lpstr>Times New Roman</vt:lpstr>
      <vt:lpstr>Gallery</vt:lpstr>
      <vt:lpstr>Development Processes I: Stage-Gate &amp; Waterfall</vt:lpstr>
      <vt:lpstr>Lecture Overview</vt:lpstr>
      <vt:lpstr>Learning Outcomes</vt:lpstr>
      <vt:lpstr>Why Development Processes Matter</vt:lpstr>
      <vt:lpstr>The Traditional View of Innovation Development</vt:lpstr>
      <vt:lpstr>Waterfall Model Overview</vt:lpstr>
      <vt:lpstr>Advantages of Waterfall</vt:lpstr>
      <vt:lpstr>Limitations of Waterfall</vt:lpstr>
      <vt:lpstr>The Critical Path Method (CPM)</vt:lpstr>
      <vt:lpstr>CPM in Innovation Projects</vt:lpstr>
      <vt:lpstr>Stage-Gate Process (Cooper, 2021)</vt:lpstr>
      <vt:lpstr>Typical Stage-Gate Stages</vt:lpstr>
      <vt:lpstr>Gate Review Criteria</vt:lpstr>
      <vt:lpstr>Advantages of Stage-Gate</vt:lpstr>
      <vt:lpstr>Limitations of Stage-Gate</vt:lpstr>
      <vt:lpstr>Schilling’s View on Development Processes</vt:lpstr>
      <vt:lpstr>Integrating Leadership for Innovation (Steiber, 2022)</vt:lpstr>
      <vt:lpstr>Hybrid Models in Digital Firms</vt:lpstr>
      <vt:lpstr>Agile/ Hybrid Stage-Gate</vt:lpstr>
      <vt:lpstr>Microsoft’s Stage-Gate Approach</vt:lpstr>
      <vt:lpstr>Microsoft’s Responsible AI Principles</vt:lpstr>
      <vt:lpstr>Case Study: Responsible AI Gate Simulation</vt:lpstr>
      <vt:lpstr>Activity Setup</vt:lpstr>
      <vt:lpstr>Debrief Discussion</vt:lpstr>
      <vt:lpstr>Leadership Reflection</vt:lpstr>
      <vt:lpstr>Evolution of Stage-Gate in Digital Context</vt:lpstr>
      <vt:lpstr>Comparison Summary</vt:lpstr>
      <vt:lpstr>CPM vs Agile Timeline</vt:lpstr>
      <vt:lpstr>Challenges in Practice</vt:lpstr>
      <vt:lpstr>Future of Development Processes</vt:lpstr>
      <vt:lpstr>Summary</vt:lpstr>
      <vt:lpstr>Closing Reflection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Hammad</dc:creator>
  <cp:lastModifiedBy>Hammad</cp:lastModifiedBy>
  <cp:revision>23</cp:revision>
  <dcterms:created xsi:type="dcterms:W3CDTF">2025-10-07T10:56:32Z</dcterms:created>
  <dcterms:modified xsi:type="dcterms:W3CDTF">2025-10-15T03:42:54Z</dcterms:modified>
</cp:coreProperties>
</file>