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9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92" r:id="rId16"/>
    <p:sldId id="293" r:id="rId17"/>
    <p:sldId id="294" r:id="rId18"/>
    <p:sldId id="270" r:id="rId19"/>
    <p:sldId id="295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1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38D78-A00A-4B14-AD7B-599BE6BB863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45CB1-7F3E-4D88-8902-C6F53724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8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FF2C7-3ED5-46E9-9E9D-6DEE4B8A1257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33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28C35-CF59-46C0-B09E-C834771DB744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69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4D99-9346-427B-9D04-895C9311CDA8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45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04DE4-6B3E-4263-9F8A-865FD1DE6026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92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E5243-D5C8-4A96-B6B7-28BA080DAE38}" type="datetime1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6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2247B-FADB-461D-A0A6-28F5B0F3844D}" type="datetime1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82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B9061-DBE1-4512-AF52-9129E764A6FD}" type="datetime1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3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DA59-F103-4B3B-BACB-917CB7F8A982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60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C5D58-049B-48E9-A8E9-67248C160F3E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89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E2C8-290E-40A2-9BFB-6511F2F0C25D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0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C4866-10E2-4ADB-BEF8-21337A60DDE1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24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B2ECC-F1CC-4141-92F0-D89F09FF57DD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819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ED903-7CA3-4153-96E7-14273EB9DBAC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23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3A4AA-6C81-452E-BABE-024CD9C68035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44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25C1-37BC-4353-8F2C-1BFDEC7D1269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907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6029-1653-452A-BD68-E432D935B9CB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811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15823-D084-4A8F-BBA9-D46C1175F145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3087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04FAB-6118-4AD1-ACE6-44157005E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20717"/>
            <a:ext cx="10544780" cy="152137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8901B-47F8-4971-919E-4F566BB75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0" y="1844567"/>
            <a:ext cx="10544780" cy="394663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AAF53-C836-46EE-A080-6E6D10869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5A6EF-196B-47E4-81FC-CA1BAF86DBAF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4E87E-A437-4728-8F37-D60ECBA9D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7B24D-8808-4DBB-ABF8-D810A04CA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27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6277A5A-4CBE-4017-BC69-A3962A4D1C77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MG2007-Technology Management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7EC08D0-D2FE-40D6-BF12-302157A2D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6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  <p:sldLayoutId id="2147483901" r:id="rId12"/>
    <p:sldLayoutId id="2147483902" r:id="rId13"/>
    <p:sldLayoutId id="2147483903" r:id="rId14"/>
    <p:sldLayoutId id="2147483904" r:id="rId15"/>
    <p:sldLayoutId id="2147483905" r:id="rId16"/>
    <p:sldLayoutId id="2147483906" r:id="rId17"/>
    <p:sldLayoutId id="2147483907" r:id="rId18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1091-099D-4B2E-97C5-E153BC1C65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Technology &amp; Innovation Strategy Formulation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1E9ED-A01B-44B6-BB87-9798A47790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Case Focus: Google Inc. in the age of AI</a:t>
            </a:r>
          </a:p>
        </p:txBody>
      </p:sp>
    </p:spTree>
    <p:extLst>
      <p:ext uri="{BB962C8B-B14F-4D97-AF65-F5344CB8AC3E}">
        <p14:creationId xmlns:p14="http://schemas.microsoft.com/office/powerpoint/2010/main" val="3528769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60000" t="3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4A89B-20D8-43C8-91B8-8C6032AAC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US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Technology &amp; Innovation Strategy Formulation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A3264-5497-4198-80B1-9B2D697EB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Using frameworks: SWOT, PESTEL, Porter’s Five Forces.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Theories: Porter &amp; Resource-Based View (</a:t>
            </a:r>
            <a:r>
              <a:rPr lang="en-US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RBV</a:t>
            </a:r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).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Case: Google in the Age of AI.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294295-3558-4D14-95E7-BE868B3D5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7C4F1-9F97-46CF-A934-146B535E0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31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62F9-A825-4DD4-8D6F-87324951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Learning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352FC-ECCA-4197-81F9-A9966671F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By the end of this lecture, you should be able to: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Explain why strategy matters in tech industries.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Apply SWOT, PESTEL, Five Forces to a real firm.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Understand Porter’s and </a:t>
            </a:r>
            <a:r>
              <a:rPr lang="en-US" sz="24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RBV</a:t>
            </a:r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theories.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Critically analyze Google’s diversification into AI, hardware, and cloud.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Discuss ethical and societal issues in AI.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E2140-84EA-4075-BCD2-54CB647AA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CC21F-EC15-4DD6-9DBA-3E8B18641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77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BAD19F-12DD-4ABA-B413-C2DB60803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88" y="3677055"/>
            <a:ext cx="5655011" cy="31809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1CD9B9-ABEE-4C96-9994-FE10F2827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Why This Matters for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AD97B-D5D8-48B2-82CD-B34EA32E9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0" y="1839365"/>
            <a:ext cx="10544780" cy="3946634"/>
          </a:xfrm>
        </p:spPr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As CS/Data Science/Informatics students: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Strategy explains </a:t>
            </a:r>
            <a:r>
              <a:rPr lang="en-US" sz="2400" b="1" i="1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why</a:t>
            </a:r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firms invest in certain tech.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Helps you link technical work to business outcomes.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Builds skills for leadership roles, not just technical jobs.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F7881-FC72-45A8-AF3A-37990E262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0CA1D-ED2F-464F-BD1A-1601E270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9803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8EA11-1AE3-4A53-9A52-39460F031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Outline of Lecture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61D42-436A-4588-8EB3-3FFA122DE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Introduction to Strategy.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Frameworks (SWOT, PESTEL, Five Forces).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Theories (Porter &amp; </a:t>
            </a:r>
            <a:r>
              <a:rPr lang="en-US" sz="28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RBV</a:t>
            </a:r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).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Google Case Context.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Google SWOT/PESTEL Analysis.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Case Extension: </a:t>
            </a:r>
            <a:r>
              <a:rPr lang="en-US" sz="2800" b="1" i="1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Google in the Age of AI.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Ethical Issues &amp; Class Activity.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Lessons Learned &amp; Wrap-up.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14667-2867-4390-BC87-F953A05C0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52832-8C2E-47A6-AAD4-4FC055138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09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30C47-7DDA-42CA-B86B-0C0A7022A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What is Strategy?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95590-D265-44F5-B4CD-4E0E26765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480" y="1742090"/>
            <a:ext cx="6151903" cy="4186582"/>
          </a:xfrm>
        </p:spPr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Strategy = long-term plan for success.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For tech firms: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Which markets to serve?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Which technologies to develop?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How to beat competitors?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Google moving from search → ads → AI + cloud.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8A5853-119F-40DB-ACE1-CC4DF8A3F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6C1DE-ADFA-4052-B380-86137C65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BBA249-7EAE-4007-B4EF-F8E4CDB47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700" y="0"/>
            <a:ext cx="54171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34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5D44-C44F-4949-BA53-DDFB7627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Why Strategy Matters in Tech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29C6A-614B-4D93-AF98-9BFEC5B01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Tech changes faster than traditional industries.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Without strategy: </a:t>
            </a:r>
          </a:p>
          <a:p>
            <a:pPr lvl="1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Wasted R&amp;D and disruption risks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With strategy: </a:t>
            </a:r>
          </a:p>
          <a:p>
            <a:pPr lvl="1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Sustainable growth (e.g., Amazon from books → cloud).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3221B-8D22-466D-B751-93B6F4E52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68A28-4A0F-42AB-8427-6DC00F3BA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16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1B503-F316-4A73-B175-DDB527CC0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Strategy Frameworks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ABAC4-3732-4488-82F2-0E33BCAC4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0" y="1844567"/>
            <a:ext cx="6793928" cy="3946634"/>
          </a:xfrm>
        </p:spPr>
        <p:txBody>
          <a:bodyPr>
            <a:normAutofit lnSpcReduction="10000"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SWOT = strengths/weaknesses + opportunities/threats.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PESTEL = external environment forces.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Porter’s Five Forces = industry competition.</a:t>
            </a:r>
          </a:p>
          <a:p>
            <a:pPr marR="0" lvl="0" rtl="0"/>
            <a:r>
              <a:rPr lang="en-US" sz="28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RBV</a:t>
            </a:r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= internal resources/capabilities.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76E27-030E-4613-B339-B5E4A4ECA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68075A-ADB0-4656-9C28-FBAC6944C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0F5E43-829F-4053-B123-591466A78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902" y="1318739"/>
            <a:ext cx="4747098" cy="47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33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49933-E9A6-43D0-9CBD-7C34C4289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SWOT Analysis Explained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786BB5-2361-4143-BFB1-E69FE5CA9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08E026-A356-4E3E-BDB0-AB47E662B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A9173D-CFAC-49C2-B4CD-BE005D832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260" y="1342417"/>
            <a:ext cx="4902740" cy="551558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04A06-37F0-435F-B8CF-FC3C5DCC2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Strengths: </a:t>
            </a:r>
          </a:p>
          <a:p>
            <a:pPr lvl="1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What firm does well?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Weaknesses: </a:t>
            </a:r>
          </a:p>
          <a:p>
            <a:pPr lvl="1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Where does firm struggle?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Opportunities: </a:t>
            </a:r>
          </a:p>
          <a:p>
            <a:pPr lvl="1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Favorable external trends.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Threats: </a:t>
            </a:r>
          </a:p>
          <a:p>
            <a:pPr lvl="1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External risks/challenges.</a:t>
            </a:r>
          </a:p>
        </p:txBody>
      </p:sp>
    </p:spTree>
    <p:extLst>
      <p:ext uri="{BB962C8B-B14F-4D97-AF65-F5344CB8AC3E}">
        <p14:creationId xmlns:p14="http://schemas.microsoft.com/office/powerpoint/2010/main" val="2855183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5F65DD-6431-4571-A4CD-9F4B6A60A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908" y="2367733"/>
            <a:ext cx="4108092" cy="41080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0211F9-D7F4-430B-B4F7-13FA0399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PESTEL Analysis Explained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26018-4B96-4DC9-9B9E-1E6F4329B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Political: Government rules, taxes, trade wars.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Economic: Inflation, recession, growth opportunities.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Social: User behavior, cultural trends.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Technological: AI, blockchain, cloud, IoT.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Environmental: Carbon emissions, green IT.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Legal: Privacy laws, IP rights, antitrust.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D82EE-D76A-400D-9285-AF09C6A2D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08AF3-E0E6-4972-8B16-889EA237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67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1FBB8-9E3F-47B7-AD07-1485369D7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Porter’s Five Forces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4556F-0156-43B2-B5D4-6EE71896F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Rivalry among competitors.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Threat of new entrants.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Threat of substitutes.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Bargaining power of suppliers.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Bargaining power of buyers.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888D9-F2DF-4E6F-B7B2-17EE97EE6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D73EB-D648-4D88-A24A-F6B2D8F4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CDB358-6B7F-4ABE-952A-CA4DEAACA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050" y="1177046"/>
            <a:ext cx="4811949" cy="481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563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C2DB3-99B8-4E59-AD61-B0A30D36D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Porter’s Five Forces: Example – Smartphone Industry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374B7-F405-41C3-A264-77A6EACDB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Rivalry: Apple, Samsung, Xiaomi.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New entrants: Very hard (patents, cost).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Substitutes: Tablets, wearables.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Suppliers: </a:t>
            </a:r>
            <a:r>
              <a:rPr lang="en-US" sz="28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TSMC</a:t>
            </a:r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(chips), Foxconn.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Buyers: Consumers switch easily.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8758A-B2D3-438F-921B-7E163134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661F78-5A8D-4FC1-807E-69EFC324C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99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53C15B-E797-41FC-93F3-43A4FFE490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2" r="13671"/>
          <a:stretch/>
        </p:blipFill>
        <p:spPr>
          <a:xfrm>
            <a:off x="6272713" y="1560506"/>
            <a:ext cx="5919287" cy="43227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9FEE94-1F57-4615-AB5A-4578852D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Theory – Porter’s Competitive Strategy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E081B-1060-478E-9B21-092A1BB3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0" y="1844566"/>
            <a:ext cx="5266686" cy="4322769"/>
          </a:xfrm>
        </p:spPr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Firms compete by: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Cost leadership (cheapest).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Differentiation (unique features).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Focus (niche markets).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Strategy = choosing a position and sticking to it.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7519A3-374F-4042-9844-D633C168D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F630D-6461-48E9-BF82-E6037CC9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34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E009E1-CAF6-428C-895C-AFAA0570B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441" y="1370890"/>
            <a:ext cx="5794559" cy="53411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F905CD-DC29-4938-AB50-BB62E207B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Theory – Resource-Based View (RBV)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FB78C-B502-4F65-B879-997183C09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0" y="1844567"/>
            <a:ext cx="5033222" cy="3946634"/>
          </a:xfrm>
        </p:spPr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Advantage = internal resources &amp; capabilities.</a:t>
            </a:r>
          </a:p>
          <a:p>
            <a:pPr marR="0" lvl="0" rtl="0"/>
            <a:r>
              <a:rPr lang="en-US" sz="28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VRIO</a:t>
            </a:r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test: Valuable, Rare, Inimitable, Organized.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Google’s global data + AI talent = unique advantage.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250485-18BE-493B-A1D8-01227C1DF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3B384-ECF5-4954-AED7-5363B4E91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20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BB9603-A40F-46D2-AE62-2FB98A887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354" y="1525475"/>
            <a:ext cx="5911646" cy="49920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F905CD-DC29-4938-AB50-BB62E207B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Theory – Resource-Based View (RBV)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FB78C-B502-4F65-B879-997183C09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0" y="1844567"/>
            <a:ext cx="5033222" cy="3946634"/>
          </a:xfrm>
        </p:spPr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Advantage = internal resources &amp; capabilities.</a:t>
            </a:r>
          </a:p>
          <a:p>
            <a:pPr marR="0" lvl="0" rtl="0"/>
            <a:r>
              <a:rPr lang="en-US" sz="28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VRIO</a:t>
            </a:r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test: Valuable, Rare, Inimitable, Organized.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Google’s global data + AI talent = unique advantage.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250485-18BE-493B-A1D8-01227C1DF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3B384-ECF5-4954-AED7-5363B4E91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101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E33E20F-C88A-43A3-8E77-79008EBE7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340" y="53519"/>
            <a:ext cx="3631660" cy="68014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F905CD-DC29-4938-AB50-BB62E207B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Theory – Resource-Based 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FB78C-B502-4F65-B879-997183C09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0" y="1844567"/>
            <a:ext cx="7260856" cy="3946634"/>
          </a:xfrm>
        </p:spPr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Advantage = internal resources &amp; capabilities.</a:t>
            </a:r>
          </a:p>
          <a:p>
            <a:pPr marR="0" lvl="0" rtl="0"/>
            <a:r>
              <a:rPr lang="en-US" sz="28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VRIO</a:t>
            </a:r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test: Valuable, Rare, Inimitable, Organized.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Google’s global data + AI talent = unique advantage.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250485-18BE-493B-A1D8-01227C1DF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3B384-ECF5-4954-AED7-5363B4E91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16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63434B-F998-48CF-A1D5-639EDCE5E003}"/>
              </a:ext>
            </a:extLst>
          </p:cNvPr>
          <p:cNvSpPr/>
          <p:nvPr/>
        </p:nvSpPr>
        <p:spPr>
          <a:xfrm>
            <a:off x="4951377" y="6412047"/>
            <a:ext cx="4513636" cy="2364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https://strategicmanagementinsight.com/tools/resource-based-view/</a:t>
            </a:r>
          </a:p>
        </p:txBody>
      </p:sp>
    </p:spTree>
    <p:extLst>
      <p:ext uri="{BB962C8B-B14F-4D97-AF65-F5344CB8AC3E}">
        <p14:creationId xmlns:p14="http://schemas.microsoft.com/office/powerpoint/2010/main" val="2496704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800F54-2682-43AC-B681-C6874B57EF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3" r="28448" b="1844"/>
          <a:stretch/>
        </p:blipFill>
        <p:spPr>
          <a:xfrm>
            <a:off x="6264929" y="1066799"/>
            <a:ext cx="5927072" cy="57912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F905CD-DC29-4938-AB50-BB62E207B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Theory – Resource-Based View (RBV)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FB78C-B502-4F65-B879-997183C09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0" y="1844567"/>
            <a:ext cx="5033222" cy="3946634"/>
          </a:xfrm>
        </p:spPr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Advantage = internal resources &amp; capabilities.</a:t>
            </a:r>
          </a:p>
          <a:p>
            <a:pPr marR="0" lvl="0" rtl="0"/>
            <a:r>
              <a:rPr lang="en-US" sz="28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VRIO</a:t>
            </a:r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test: Valuable, Rare, Inimitable, Organized.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Google’s global data + AI talent = unique advantage.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250485-18BE-493B-A1D8-01227C1DF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3B384-ECF5-4954-AED7-5363B4E91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17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63434B-F998-48CF-A1D5-639EDCE5E003}"/>
              </a:ext>
            </a:extLst>
          </p:cNvPr>
          <p:cNvSpPr/>
          <p:nvPr/>
        </p:nvSpPr>
        <p:spPr>
          <a:xfrm>
            <a:off x="6410527" y="6400800"/>
            <a:ext cx="3346315" cy="2364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https://www.synrgix.com/posts/resource-based-view/</a:t>
            </a:r>
          </a:p>
        </p:txBody>
      </p:sp>
    </p:spTree>
    <p:extLst>
      <p:ext uri="{BB962C8B-B14F-4D97-AF65-F5344CB8AC3E}">
        <p14:creationId xmlns:p14="http://schemas.microsoft.com/office/powerpoint/2010/main" val="3227795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840CE-1ADB-42EA-940B-F66CCEE6F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Combining Frameworks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4F726-4F8A-4F0E-9B65-249FEE907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6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External view = PESTEL + Five Forces.</a:t>
            </a:r>
          </a:p>
          <a:p>
            <a:pPr marR="0" lvl="0" rtl="0"/>
            <a:r>
              <a:rPr lang="en-US" sz="36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Internal view = SWOT + </a:t>
            </a:r>
            <a:r>
              <a:rPr lang="en-US" sz="36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RBV</a:t>
            </a:r>
            <a:r>
              <a:rPr lang="en-US" sz="36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</a:p>
          <a:p>
            <a:pPr marR="0" lvl="0" rtl="0"/>
            <a:r>
              <a:rPr lang="en-US" sz="36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Strategy = combining inside &amp; outside perspectives.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036DE6-657D-48CF-99CC-C424FAF9C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8A75B3-1959-4ADE-B09C-71D6F409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72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840CE-1ADB-42EA-940B-F66CCEE6F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Combining Frameworks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4F726-4F8A-4F0E-9B65-249FEE907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endParaRPr lang="en-US" sz="3600" b="1" i="0" u="none" strike="noStrike" baseline="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036DE6-657D-48CF-99CC-C424FAF9C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8A75B3-1959-4ADE-B09C-71D6F409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52A7AA-0104-46C0-BBA1-398DBB7A1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0886"/>
            <a:ext cx="12192000" cy="35762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86A599F-CFC8-45B9-954C-9E5EC88932DD}"/>
              </a:ext>
            </a:extLst>
          </p:cNvPr>
          <p:cNvSpPr/>
          <p:nvPr/>
        </p:nvSpPr>
        <p:spPr>
          <a:xfrm>
            <a:off x="1371600" y="5369668"/>
            <a:ext cx="8365787" cy="2626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https://gradmode.com/using-a-strategy-toolkit-for-better-strategy-visualization/</a:t>
            </a:r>
          </a:p>
        </p:txBody>
      </p:sp>
    </p:spTree>
    <p:extLst>
      <p:ext uri="{BB962C8B-B14F-4D97-AF65-F5344CB8AC3E}">
        <p14:creationId xmlns:p14="http://schemas.microsoft.com/office/powerpoint/2010/main" val="2950455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24477-A9E3-4F1A-9924-30A087663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Case Study Focus – Google Inc. in the age of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8BABE-013C-4294-8169-FC7E17633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Founded 1998 (search engine).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Now in:</a:t>
            </a:r>
          </a:p>
          <a:p>
            <a:pPr marR="0" lvl="1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Ads (Google Ads, YouTube).</a:t>
            </a:r>
          </a:p>
          <a:p>
            <a:pPr marR="0" lvl="1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Cloud (</a:t>
            </a:r>
            <a:r>
              <a:rPr lang="en-US" sz="28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GCP</a:t>
            </a:r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).</a:t>
            </a:r>
          </a:p>
          <a:p>
            <a:pPr marR="0" lvl="1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Hardware (Pixel, Nest).</a:t>
            </a:r>
          </a:p>
          <a:p>
            <a:pPr marR="0" lvl="1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AI (DeepMind, Bard, Gemini).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C3D4C-4E21-4E30-ADF3-81D080707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B8E8D-ADE9-467E-A364-5F599582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88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B36DB-F734-4300-B95F-6E6974D7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Google’s Strategic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E730C-8144-424A-8354-9F024BB98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Reliance on ads for revenue.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Competition: Microsoft, Apple, Amazon.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Regulation: Antitrust, privacy rules.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Balancing innovation vs. stability.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29FAC5-B9C0-44CE-A269-AF54FF86A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743ADB-68BD-4AF0-9CEA-B3B9A404B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901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D7C19-C598-42A6-B2ED-D0F3138E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Google SWOT – Strengths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5B5D8-4D9E-4969-8748-E31680067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Strong brand, global reach.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Market leader in search.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AI expertise (DeepMind, Gemini).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Huge financial resources.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Ecosystem: Android, Chrome, YouTube.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6B434-AC18-4C6D-9258-9E8D6CAB4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84BEB-EB47-4A41-801C-C16BF3136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5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A6E7-A724-4094-94A4-4DD8DE44C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Google SWOT – Weaknesses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AE5A4-76C1-4BBD-8A33-6C241C6AB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Dependence on ad revenue.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Failed hardware launches (Glass, Stadia).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Bureaucratic culture.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Data privacy reputation issues.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85A6B-15DB-4C83-810B-D44B671FB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14EE6A-8B05-4908-B359-CC721A0C0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926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F2D1C-4B78-46B8-9BBF-35BC7BE13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Google SWOT – Opportunities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09E54-0D26-4D7A-BEB3-38139F279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Cloud market growth.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AI-driven products.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Smart homes &amp; IoT.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AR/VR and new markets.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8B7BE-4C76-407A-8602-4A1267073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291B17-6519-4096-8BEE-F918CFA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08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84B68-2668-4BCF-9809-CF644D79C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Google SWOT – Threats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9C754-91A5-48E4-8048-75FBE8A2F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Microsoft + </a:t>
            </a:r>
            <a:r>
              <a:rPr lang="en-US" sz="32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OpenAI</a:t>
            </a:r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in AI.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Global regulations.</a:t>
            </a:r>
          </a:p>
          <a:p>
            <a:pPr marR="0" lvl="0" rtl="0"/>
            <a:r>
              <a:rPr lang="en-US" sz="32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TikTok</a:t>
            </a:r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/</a:t>
            </a:r>
            <a:r>
              <a:rPr lang="en-US" sz="32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ChatGPT</a:t>
            </a:r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changing search habits.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Cybersecurity risks.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3E5608-258C-4B87-90A9-3EAB2EEAD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53FEF-3C7B-4402-A096-8D35C2B3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9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14D2B-5D12-4AD8-A525-1D1967D1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Google PESTEL – Political &amp; Economic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6D962-5332-4739-AC58-259CF2239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Political: Antitrust lawsuits, geopolitics.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Economic: Global inflation, currency risk.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E3E18-9109-4452-B39D-0432B7929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DB0F7-830B-432A-830D-DB90F135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60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B9D51-BF70-4A00-8C4A-C9B651C2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Google PESTEL – Social &amp; Technological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20BA8-D269-4CF3-A35A-ABBB1507F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Social: </a:t>
            </a:r>
          </a:p>
          <a:p>
            <a:pPr lvl="1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Gen Z using </a:t>
            </a:r>
            <a:r>
              <a:rPr lang="en-US" sz="28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TikTok</a:t>
            </a:r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for search.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Technological: </a:t>
            </a:r>
          </a:p>
          <a:p>
            <a:pPr lvl="1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Generative AI race, cloud innovation.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940B7-A12D-458B-BF05-0D347DCCF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18CE06-0BBF-4E17-9F70-ED3EEF456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71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101373-BC3C-409E-89C4-594D1E0D7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494" y="982494"/>
            <a:ext cx="5875506" cy="58755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65D0FF-E4AA-4528-8FBE-129D4EBD1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US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Google PESTEL – Environmental &amp; Legal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5DF8C-8532-4E0B-A23D-AE32A5C4C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0" y="1844567"/>
            <a:ext cx="4955401" cy="3946634"/>
          </a:xfrm>
        </p:spPr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Environmental: </a:t>
            </a:r>
          </a:p>
          <a:p>
            <a:pPr lvl="1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Data center energy use.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Legal: </a:t>
            </a:r>
          </a:p>
          <a:p>
            <a:pPr lvl="1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GDPR, monopoly lawsuits.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ED0DD-C4D4-4D0A-8147-C53ADBE4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B0C9C-B4C6-4A6D-A09D-A3D7D2D25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46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AA59E-4EB8-4180-B7B2-04679622C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Google – Porter’s Five Forces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0A29B-746C-4BF2-BD87-4C78AE2CF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Rivalry: Intense (Amazon, Microsoft, Apple).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New entrants: AI startups.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Substitutes: </a:t>
            </a:r>
            <a:r>
              <a:rPr lang="en-US" sz="32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ChatGPT</a:t>
            </a:r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, </a:t>
            </a:r>
            <a:r>
              <a:rPr lang="en-US" sz="32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TikTok</a:t>
            </a:r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Suppliers: Chipmakers.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Buyers: Advertisers &amp; cloud clients.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A5E57-F5BE-4CD1-9226-82B788A4A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407B6-1C3B-46C6-98C4-071EE5C5F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060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39289-ABBE-4D08-B492-5822617B9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Google’s RBV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B8A71-2D61-4C98-8CE7-148D0E168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it-IT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Valuable: Proprietary data &amp; AI models.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Rare: YouTube + search dominance.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Inimitable: Infrastructure scale.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Organized: Alphabet structure.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009E2-5518-466C-8D63-AA3F3FC77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02322-B866-47CF-8005-ADA0D0AD4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716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4F58E-F21A-4006-9CC9-206F8CE76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Synthesis of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247AE-40DB-41D8-A3F5-8B8BB9B3A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Strengths + Opportunities: Grow cloud &amp; AI.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Weaknesses + Threats: Reduce ad dependence.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Strategy = balance sustaining ads with disruptive AI bets.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37F5D-B5D8-4D8B-9607-C716D16AC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B4CEF-66D3-422E-8C27-72F3C221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6900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1DF9-C037-4E69-BAAF-7DD7E730C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US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Case Study Extension – Google Inc. in the Age of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62495-471C-41F6-8B7C-171C110CD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Core dilemma: Protect profitable search while adapting to disruptive AI.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Competitors: Microsoft + </a:t>
            </a:r>
            <a:r>
              <a:rPr lang="en-US" sz="28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OpenAI</a:t>
            </a:r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Google response: Bard (Gemini), more AI investment, internal restructuring.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Tension: Disruption vs. sustaining innovation.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79F48-B550-45E6-AB82-7BE2E02E8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3DF44-A3A5-4C03-99A8-57B6FAE75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1718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FE61B-8D50-418F-992E-E6FAFD916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Disruptive vs. Sustaining Innovation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37D83-DB48-4DDB-BD1C-43C7D0202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ChatGPT</a:t>
            </a:r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= disruptive (new way to search).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Bard = sustaining (protects search/ads).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Lesson: Even tech giants can face disruption.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EC3F21-8D6B-4DFB-8529-B64CC363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7204D1-C02B-4088-8033-FF6C390F5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69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670F-2C17-42E5-A948-0C2BD6BA8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Technology Sourcing Strategies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696AB-C2D9-4BC1-84EE-85D7136DE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Google = Make (internal R&amp;D: Brain, DeepMind).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Microsoft = Ally (</a:t>
            </a:r>
            <a:r>
              <a:rPr lang="en-US" sz="32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OpenAI</a:t>
            </a:r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partnership).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Key Q: Should Google open up to alliances?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AF1B0-7392-4130-82CA-75102F3FD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333909-9A9A-4294-86A7-75C42E51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073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09C33-B905-4A15-A1E4-CE7B4D70E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Ethical &amp; Societal Issues in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553F8-B1F0-4BEF-A80B-10CDFAFC6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Ethical: </a:t>
            </a:r>
          </a:p>
          <a:p>
            <a:pPr lvl="1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Misinformation, bias, privacy concerns.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Societal: </a:t>
            </a:r>
          </a:p>
          <a:p>
            <a:pPr lvl="1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Job shifts, education disruption, unequal access.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Responsibility: </a:t>
            </a:r>
          </a:p>
          <a:p>
            <a:pPr lvl="1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Innovate without breaking trust.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6CFB0-BBD9-42D7-A9FC-68477D83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AEFED-12C9-4ABD-BE32-7A1C627BE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939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74928-3766-4738-8F69-B20FAF66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Theoretical Lens on the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242B1-66F4-4864-A162-8AFB7402C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fr-FR" sz="32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Christensen’s</a:t>
            </a:r>
            <a:r>
              <a:rPr lang="fr-FR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Disruptive Innovation: </a:t>
            </a:r>
            <a:r>
              <a:rPr lang="fr-FR" sz="32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ChatGPT</a:t>
            </a:r>
            <a:r>
              <a:rPr lang="fr-FR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as </a:t>
            </a:r>
            <a:r>
              <a:rPr lang="fr-FR" sz="32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classic</a:t>
            </a:r>
            <a:r>
              <a:rPr lang="fr-FR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disruption.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Porter’s Five Forces: AI increases rivalry &amp; substitutes.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Open Innovation: Microsoft’s alliance model vs. Google’s internal-first.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CB1F4-B8A2-4B41-BB33-AD35E2EAB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6AC55-68BD-4067-9656-EE973C91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765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B6FD-597B-4B38-AC6F-E3E36766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Class Activity – Group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86F24-DA88-48BE-BFED-E1D6B6975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Divide into groups: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Group A: SWOT on Google AI strategy.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Group B: PESTEL (focus on AI).</a:t>
            </a:r>
          </a:p>
          <a:p>
            <a:pPr marR="0" lvl="1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Group C: Role-play debate – Google vs. Microsoft vs. Regulators.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Present back </a:t>
            </a:r>
            <a:r>
              <a:rPr lang="en-US" b="1" i="0" u="none" strike="noStrike" baseline="0">
                <a:latin typeface="Arial" panose="020B0604020202020204" pitchFamily="34" charset="0"/>
                <a:ea typeface="Calibri" panose="020F0502020204030204" pitchFamily="34" charset="0"/>
              </a:rPr>
              <a:t>in 4–5 </a:t>
            </a:r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minutes.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03642-A098-49FB-9B3B-1EA09E9E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5435B-7332-40CF-9ED2-F3D5A462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153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5AC2C-8FA3-428D-ADCA-62EFDAF9A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Google Inc. in the age of AI – Discussion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2B496-CA18-46ED-91CD-F45E544D4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Should Google prioritize protecting ads or pushing AI innovation?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How could alliances have helped Google?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What ethical guardrails should Google enforce?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Is Google’s bureaucracy a strength or weakness?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Could open-source AI disrupt both Google and Microsoft?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FF299-F628-43E9-97C2-459D88E6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B93E6-6C16-4F41-96DE-1381C3805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30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CD316-D5A0-4C41-A140-F14ECACD1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Lessons Learned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71C38-457D-4E0F-9DE2-0FB0C3A26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Frameworks help analyze strategy.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Google shows both strengths and vulnerabilities.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Disruption is real, even for tech leaders.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Ethics &amp; responsibility are central in AI strategy.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071E5B-4269-4E67-9130-01C832C41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50415-264B-4E63-823F-2E8C478B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809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1F558-C98E-4A3B-A132-CCA1E7D1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 dirty="0">
                <a:latin typeface="Arial" panose="020B0604020202020204" pitchFamily="34" charset="0"/>
                <a:ea typeface="Calibri" panose="020F0502020204030204" pitchFamily="34" charset="0"/>
              </a:rPr>
              <a:t>Readings &amp; 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CD5C7-3B80-4C30-94D6-C5475F894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Kohli &amp; </a:t>
            </a:r>
            <a:r>
              <a:rPr lang="en-US" sz="32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Krstovski</a:t>
            </a:r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(2025): </a:t>
            </a:r>
            <a:r>
              <a:rPr lang="en-US" sz="3200" b="1" i="1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Google in the Age of AI</a:t>
            </a:r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. </a:t>
            </a:r>
            <a:r>
              <a:rPr lang="en-US" sz="3200" b="1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Columbia Business School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HBR (2020): “Competing in the Age of AI.”</a:t>
            </a:r>
          </a:p>
          <a:p>
            <a:pPr marR="0" lvl="0" rtl="0"/>
            <a:r>
              <a:rPr lang="en-US" sz="3200" b="1" dirty="0" err="1">
                <a:latin typeface="Arial" panose="020B0604020202020204" pitchFamily="34" charset="0"/>
                <a:ea typeface="Calibri" panose="020F0502020204030204" pitchFamily="34" charset="0"/>
              </a:rPr>
              <a:t>Ateljevic</a:t>
            </a:r>
            <a:r>
              <a:rPr lang="en-US" sz="3200" b="1" dirty="0">
                <a:latin typeface="Arial" panose="020B0604020202020204" pitchFamily="34" charset="0"/>
                <a:ea typeface="Calibri" panose="020F0502020204030204" pitchFamily="34" charset="0"/>
              </a:rPr>
              <a:t> et al. (2023): </a:t>
            </a:r>
            <a:r>
              <a:rPr lang="en-US" sz="3200" b="1" i="1" dirty="0">
                <a:latin typeface="Arial" panose="020B0604020202020204" pitchFamily="34" charset="0"/>
                <a:ea typeface="Calibri" panose="020F0502020204030204" pitchFamily="34" charset="0"/>
              </a:rPr>
              <a:t>Business Strategy and Competitive Advantage. </a:t>
            </a:r>
            <a:r>
              <a:rPr lang="en-US" sz="3200" b="1" dirty="0">
                <a:latin typeface="Arial" panose="020B0604020202020204" pitchFamily="34" charset="0"/>
                <a:ea typeface="Calibri" panose="020F0502020204030204" pitchFamily="34" charset="0"/>
              </a:rPr>
              <a:t>Routledge. Ch. 3.</a:t>
            </a:r>
            <a:endParaRPr lang="en-US" sz="3200" b="1" i="0" u="none" strike="noStrike" baseline="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049E9-1B7C-4075-998A-E3C5767B2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MG2007-Technology Management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8CF5C-DCE1-4935-B733-0167F757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26EF-14C9-4D74-AA77-A69691BC5F0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512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1580</Words>
  <Application>Microsoft Office PowerPoint</Application>
  <PresentationFormat>Widescreen</PresentationFormat>
  <Paragraphs>287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Corbel</vt:lpstr>
      <vt:lpstr>Parallax</vt:lpstr>
      <vt:lpstr>Technology &amp; Innovation Strategy Formulation</vt:lpstr>
      <vt:lpstr>Technology &amp; Innovation Strategy Formulation</vt:lpstr>
      <vt:lpstr>Learning Objectives</vt:lpstr>
      <vt:lpstr>Why This Matters for You</vt:lpstr>
      <vt:lpstr>Outline of Lecture</vt:lpstr>
      <vt:lpstr>What is Strategy?</vt:lpstr>
      <vt:lpstr>Why Strategy Matters in Tech</vt:lpstr>
      <vt:lpstr>Strategy Frameworks Overview</vt:lpstr>
      <vt:lpstr>SWOT Analysis Explained</vt:lpstr>
      <vt:lpstr>PESTEL Analysis Explained</vt:lpstr>
      <vt:lpstr>Porter’s Five Forces</vt:lpstr>
      <vt:lpstr>Porter’s Five Forces: Example – Smartphone Industry</vt:lpstr>
      <vt:lpstr>Theory – Porter’s Competitive Strategy</vt:lpstr>
      <vt:lpstr>Theory – Resource-Based View (RBV)</vt:lpstr>
      <vt:lpstr>Theory – Resource-Based View (RBV)</vt:lpstr>
      <vt:lpstr>Theory – Resource-Based View</vt:lpstr>
      <vt:lpstr>Theory – Resource-Based View (RBV)</vt:lpstr>
      <vt:lpstr>Combining Frameworks</vt:lpstr>
      <vt:lpstr>Combining Frameworks</vt:lpstr>
      <vt:lpstr>Case Study Focus – Google Inc. in the age of AI</vt:lpstr>
      <vt:lpstr>Google’s Strategic Challenges</vt:lpstr>
      <vt:lpstr>Google SWOT – Strengths</vt:lpstr>
      <vt:lpstr>Google SWOT – Weaknesses</vt:lpstr>
      <vt:lpstr>Google SWOT – Opportunities</vt:lpstr>
      <vt:lpstr>Google SWOT – Threats</vt:lpstr>
      <vt:lpstr>Google PESTEL – Political &amp; Economic</vt:lpstr>
      <vt:lpstr>Google PESTEL – Social &amp; Technological</vt:lpstr>
      <vt:lpstr>Google PESTEL – Environmental &amp; Legal</vt:lpstr>
      <vt:lpstr>Google – Porter’s Five Forces</vt:lpstr>
      <vt:lpstr>Google’s RBV</vt:lpstr>
      <vt:lpstr>Synthesis of Analysis</vt:lpstr>
      <vt:lpstr>Case Study Extension – Google Inc. in the Age of AI</vt:lpstr>
      <vt:lpstr>Disruptive vs. Sustaining Innovation</vt:lpstr>
      <vt:lpstr>Technology Sourcing Strategies</vt:lpstr>
      <vt:lpstr>Ethical &amp; Societal Issues in AI</vt:lpstr>
      <vt:lpstr>Theoretical Lens on the Case</vt:lpstr>
      <vt:lpstr>Class Activity – Group Work</vt:lpstr>
      <vt:lpstr>Google Inc. in the age of AI – Discussion Questions</vt:lpstr>
      <vt:lpstr>Lessons Learned</vt:lpstr>
      <vt:lpstr>Readings &amp;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&amp; Innovation Strategy Formulation</dc:title>
  <dc:creator>Hammad</dc:creator>
  <cp:lastModifiedBy>Hammad</cp:lastModifiedBy>
  <cp:revision>24</cp:revision>
  <dcterms:created xsi:type="dcterms:W3CDTF">2025-09-14T15:03:18Z</dcterms:created>
  <dcterms:modified xsi:type="dcterms:W3CDTF">2025-09-17T03:40:34Z</dcterms:modified>
</cp:coreProperties>
</file>