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88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01" y="18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989D3-4B62-43DB-88D3-9FE6B802C120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CCAD8-5DF4-47DD-8ED4-40FA4D341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76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403C-E18C-4844-8633-F2AE7AE90166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2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D0667-9D1A-4199-BE8B-3FBA28932EAC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0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FA3BA-92CF-434E-A0C2-79DB8BF51904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27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E821F-F684-4739-B750-EE71FEE8DA67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5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7CD80-51CB-43A3-AE92-29064662EACF}" type="datetime1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1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EAB7C-8935-4E9B-BFB7-7D8886DFDE64}" type="datetime1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9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B5CD5-1A5E-4B35-8723-1DF134C7800C}" type="datetime1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65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9C772-42D6-410B-B24D-D0DF7EE6723D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6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453E8-C7DF-4E29-9E46-E57AE624FF38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2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D820-245B-48A9-A7BA-30B28B1477D9}" type="datetime1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2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C8E8F-322B-4F4A-AEE4-54B1AA244697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023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A32F-F8F9-4646-8696-29A34F6C9F4E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28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91EBD-5F36-4452-8D0E-2AC29A6F41C5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58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F1CFC-54F0-4F19-B5B4-7793FA6E152A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6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A886F-4613-40C9-BF19-4192850D58B6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06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85B5C-412B-4984-BA8D-FAF2E9474D7A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22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1CDE-C6F1-4231-99DF-4C32C41C4C7F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27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AEB9-9298-40BF-B1C5-18AC27D6B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402890" cy="1291046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75366-4357-41E5-BCDE-9D511993D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2081349"/>
            <a:ext cx="10402890" cy="3709851"/>
          </a:xfrm>
        </p:spPr>
        <p:txBody>
          <a:bodyPr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8385E-69DC-40C8-8E13-F0D222D6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D27DF-419D-4AFA-B85F-E9F07D4C7287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3D763-F172-4031-9B94-9586CC6C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1A792-7C18-4970-A0FA-35B0809E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0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F35B95-71B0-4794-937B-364D1C903173}" type="datetime1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MG-2007-Technology Management, Fall-2025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95EFED-2197-4A1C-930E-924EEC364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2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2A21-CD7C-4A89-9116-35941A4ACD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Technology &amp; Patterns of Innovation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052D9-FE1C-40D5-A1EE-C0D6AD7B7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3691" y="3996267"/>
            <a:ext cx="7549331" cy="1388534"/>
          </a:xfrm>
        </p:spPr>
        <p:txBody>
          <a:bodyPr>
            <a:noAutofit/>
          </a:bodyPr>
          <a:lstStyle/>
          <a:p>
            <a:pPr marR="0" lvl="0" algn="l" rtl="0">
              <a:lnSpc>
                <a:spcPct val="80000"/>
              </a:lnSpc>
            </a:pPr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Theoretical Base: Schilling (Chapter 3)</a:t>
            </a:r>
          </a:p>
          <a:p>
            <a:pPr marR="0" lvl="0" algn="l" rtl="0">
              <a:lnSpc>
                <a:spcPct val="80000"/>
              </a:lnSpc>
            </a:pPr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Case Study: Tesla Inc. (Rothaermel, 2023)</a:t>
            </a:r>
          </a:p>
          <a:p>
            <a:pPr marR="0" lvl="0" algn="l" rtl="0">
              <a:lnSpc>
                <a:spcPct val="80000"/>
              </a:lnSpc>
            </a:pPr>
            <a:r>
              <a:rPr lang="en-US" sz="20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Focus: Innovation Taxonomies, Technology Patterns, Industry Dynamics</a:t>
            </a:r>
          </a:p>
          <a:p>
            <a:pPr algn="l">
              <a:lnSpc>
                <a:spcPct val="8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362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7264-C1E6-4E81-8B7B-23A4C8DED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Learning Objectives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C0216-77F4-416E-9B6D-791D9CB78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By the end of this lecture, you should be able to: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Explain different types of innovation (product, process, radical, incremental, etc.).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Understand patterns of technological change (S-curves, adoption curves, dominant designs).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Apply these to real-world cases (Tesla vs. Apple).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Analyze how innovation types shape industry dynamics.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Critically evaluate open vs. closed innovation in radical contexts.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BA6B5-1016-41B2-812D-DD018FB6A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5D4EE-0D70-49B4-BBD8-86016751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7E15-6558-4524-A6B6-5C3E0FB2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Outline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8F410-7701-453C-86C9-808350689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is innovation?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Taxonomies: Types of Innovation (Schilling Ch. 3).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Patterns of Technological Change.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Adoption &amp; Diffusion of Innovations.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Tesla Case: Radical + Open Innovation.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Debate &amp; Class Discussion.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Lessons Learned.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EAFD3-1DB1-43E1-A77F-A1280B11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C9256-1445-4899-BE2A-E0E609D3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1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4BFE1-6016-4E8A-87A9-3FC36A426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What is Innovation?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E5CE3-F375-4CB0-90C0-BF5041A42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≠ invention.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Invention = new idea/technology.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= </a:t>
            </a:r>
            <a:r>
              <a:rPr lang="en-US" sz="24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commercialization &amp; adoption</a:t>
            </a:r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Central to: competitive advantage, industry change, societal transformation.</a:t>
            </a:r>
          </a:p>
          <a:p>
            <a:pPr marR="0" lvl="0" rtl="0"/>
            <a:r>
              <a:rPr lang="en-US" sz="28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Types &amp; patterns</a:t>
            </a:r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help firms strategize: how radical, how fast, how open.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9C478-E7CA-4AF3-A18A-0C1A75D0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7A142-B94F-4CA6-ABE4-A4030890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74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CBA09D-D08A-4FA0-8C32-EB0782700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844" y="5185155"/>
            <a:ext cx="7294154" cy="16706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72B462-71B6-4E05-A95B-1819E162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Product vs Process Innovation (Schilling)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49A1C-8630-4779-BE9B-006FD28AE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1750423"/>
            <a:ext cx="10402890" cy="4040777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Product Innovation: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New/improved goods or services.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Tesla Roadster (product breakthrough).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Process Innovation: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Improvements in production/delivery.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Tesla Gigafactory “machine that builds the machine.”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Often interlinked: better processes enable better products.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08F3B-E0AF-4EC8-A396-8CC2DCFB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3A524-8A63-42D4-88B4-0A49D9D4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7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8953-238B-4D8B-A11A-B695D0C3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Radical vs Incremental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CF6FC-01B7-4780-93A2-1B93A9F7D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Radical Innovation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Fundamentally different; may create new industries.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Ex: First iPhone (2007), Tesla EVs.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Incremental Innovation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Minor improvements/refinements.</a:t>
            </a:r>
          </a:p>
          <a:p>
            <a:pPr marR="0" lvl="1" rtl="0"/>
            <a:r>
              <a:rPr lang="it-IT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Ex: iPhone 15 camera; Tesla Model 3 performance tweaks.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Relative concept: Radical for one firm may be incremental for another.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86A5D-1237-441A-84D3-E94BA082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048F7-8242-4E69-B0D3-00E18680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3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5000-79D8-4AE3-9DA3-B65E57D0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Competence-Enhancing vs Competence-Destroying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35E16-26DA-47A7-91B6-40B3D1F1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Competence-Enhancing: builds on existing skills.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Apple’s chip design (leverages existing strengths).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Competence-Destroying: makes old skills obsolete.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Example: EV drivetrains vs. ICE engines → destroys traditional automaker competences.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implication: who thrives vs. who fails in disruption.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66B7C-B941-4941-BF00-D89F4ACE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A3628-2A51-4DAD-9A33-06B2466DE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83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DEFF-1BE8-43CC-A196-A28DA9E3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Architectural vs Component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61ED8-E48F-4FBC-BD01-FF10DE9D5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Component (Modular): changes in part of a system.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Ex: Tesla’s battery chemistry (component improvement).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Architectural: reconfiguration of whole system.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Ex: Tesla’s EV platform architecture (integrating software + hardware).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Architectural often more disruptive than component.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8A9F8-A558-4137-A141-C10B7738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2DEFD-59F0-471D-BD8A-F206BF5D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69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B1AA-63E7-47E7-A37F-BD0AD37B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Framework Summary: Types of Innovation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4DDF1-8B99-4CDA-9406-A72EB6C92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25C51-066F-4603-A369-CF9D11B5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14659-295C-4D20-A204-00B25AFD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F440E3-2577-4599-B54E-A76866A36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630414"/>
              </p:ext>
            </p:extLst>
          </p:nvPr>
        </p:nvGraphicFramePr>
        <p:xfrm>
          <a:off x="1484313" y="2081350"/>
          <a:ext cx="10402887" cy="3709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7629">
                  <a:extLst>
                    <a:ext uri="{9D8B030D-6E8A-4147-A177-3AD203B41FA5}">
                      <a16:colId xmlns:a16="http://schemas.microsoft.com/office/drawing/2014/main" val="3518484710"/>
                    </a:ext>
                  </a:extLst>
                </a:gridCol>
                <a:gridCol w="3467629">
                  <a:extLst>
                    <a:ext uri="{9D8B030D-6E8A-4147-A177-3AD203B41FA5}">
                      <a16:colId xmlns:a16="http://schemas.microsoft.com/office/drawing/2014/main" val="205294828"/>
                    </a:ext>
                  </a:extLst>
                </a:gridCol>
                <a:gridCol w="3467629">
                  <a:extLst>
                    <a:ext uri="{9D8B030D-6E8A-4147-A177-3AD203B41FA5}">
                      <a16:colId xmlns:a16="http://schemas.microsoft.com/office/drawing/2014/main" val="479534113"/>
                    </a:ext>
                  </a:extLst>
                </a:gridCol>
              </a:tblGrid>
              <a:tr h="623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Dimension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Example: Tesla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Example: Apple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22815915"/>
                  </a:ext>
                </a:extLst>
              </a:tr>
              <a:tr h="623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Product vs Process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EV models vs Gigafactory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iPhone vs App Store operations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89086264"/>
                  </a:ext>
                </a:extLst>
              </a:tr>
              <a:tr h="623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Radical vs Incremental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Roadster vs Model 3 updates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iPhone launch vs annual upgrades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0514657"/>
                  </a:ext>
                </a:extLst>
              </a:tr>
              <a:tr h="12174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Competence Enhancing vs Destroying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Enhancing: battery mgmt; Destroying: ICE tech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Enhancing: chip design; Destroying: PC OEM reliance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8751797"/>
                  </a:ext>
                </a:extLst>
              </a:tr>
              <a:tr h="623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Architectural vs Component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EV platform vs battery cells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iOS ecosystem vs camera module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88479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19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2927-C76A-483E-89E9-5AC61063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Why These Distinctions Matter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5AA67-5D2F-4AF9-9561-3FBDC2E67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Different investment needs (radical = high risk, high reward).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Different capability requirements (destroying vs enhancing).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Different industry effects (incremental sustains incumbents, radical favors entrants).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C248A-D005-404F-8316-371DAAEED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31223F-6FFB-4CB5-9A79-3AF70305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5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9E0770-55D4-4128-B4A3-E549296C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407" y="2081349"/>
            <a:ext cx="5895593" cy="44001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969E8-BC32-4A31-9822-CFF677D2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Patterns of Technological Change (Schilling)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4A201-61DB-4E76-A04E-4E9E425E4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2081349"/>
            <a:ext cx="5341792" cy="3709851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Tech evolves in recognizable patterns: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Performance improves in S-curve shape.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Adoption follows S-curve diffusion.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Industries go through cycles (fluid → dominant design → incremental).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B3A5D-4A6B-41C7-A86B-602FD611B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FF594-B8F2-432A-9343-6DBFD2D9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6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BF58D3-A55B-4FC4-A018-4CD636045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541" y="1347305"/>
            <a:ext cx="5707459" cy="49010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969E8-BC32-4A31-9822-CFF677D2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Patterns of Technological Change (Schilling)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4A201-61DB-4E76-A04E-4E9E425E4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2081349"/>
            <a:ext cx="5490648" cy="3709851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Software industry evolves in recognizable patterns: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Performance improves in S-curve shape.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Adoption follows S-curve diffusion.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Industries go through cycles (fluid → dominant design → incremental).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B3A5D-4A6B-41C7-A86B-602FD611B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FF594-B8F2-432A-9343-6DBFD2D9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0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4DED940-0949-452B-B3DB-99E77D5B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08" y="1874808"/>
            <a:ext cx="5677392" cy="40084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A36330-CE4B-4CB0-A0CB-92ECA7288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Technology S-Curves (Performance)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2EDB7-06FE-4D24-BDF2-69928BCC0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0" y="2081349"/>
            <a:ext cx="5710388" cy="3709851"/>
          </a:xfrm>
        </p:spPr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Early: slow progress.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Growth: rapid improvements.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Mature: diminishing returns.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Implication: Firms must know when to jump curves.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D6A1F-4396-4ED0-8531-083F254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79851-4496-4456-88B1-5E2DDED4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39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5DFCE-509C-4E75-8B10-2582159E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Technology Diffusion S-Curve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89132-C60C-4784-A8DC-1E9EDBD32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Adoption stages: Innovators → Early Adopters → Early Majority → Late Majority → Laggards.</a:t>
            </a:r>
          </a:p>
          <a:p>
            <a:pPr marR="0" lvl="0" rtl="0"/>
            <a:r>
              <a:rPr lang="en-US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Many technologies fail to “cross the chasm” between early adopters &amp; early majority.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596CB-C522-4255-BE90-3074C58E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A34BC-A166-411D-B7E3-9D9D9947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11C4FD-3721-4751-947E-E7C369DC2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270" y="3376922"/>
            <a:ext cx="7357730" cy="348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9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6583-FF1E-4FEF-A025-0F0A1A86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Technology Cycles &amp; Dominant Designs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C7D7-52FF-4924-9B76-881C6FA00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Cycle: Fluid Phase → Emergence of Dominant Design → Era of Incremental Change.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Tesla example: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Fluid: 2008 Roadster (proof of concept).</a:t>
            </a:r>
          </a:p>
          <a:p>
            <a:pPr marR="0" lvl="1" rtl="0"/>
            <a:r>
              <a:rPr lang="en-U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Dominant design emerging: affordable EV sedan (Model 3).</a:t>
            </a:r>
          </a:p>
          <a:p>
            <a:pPr marR="0" lvl="1" rtl="0"/>
            <a:r>
              <a:rPr lang="es-E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Incremental: </a:t>
            </a:r>
            <a:r>
              <a:rPr lang="es-ES" sz="24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Model</a:t>
            </a:r>
            <a:r>
              <a:rPr lang="es-E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Y, </a:t>
            </a:r>
            <a:r>
              <a:rPr lang="es-ES" sz="24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Cybertruck</a:t>
            </a:r>
            <a:r>
              <a:rPr lang="es-E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sz="2400" b="1" i="0" u="none" strike="noStrike" baseline="0" dirty="0" err="1">
                <a:latin typeface="Arial" panose="020B0604020202020204" pitchFamily="34" charset="0"/>
                <a:ea typeface="Calibri" panose="020F0502020204030204" pitchFamily="34" charset="0"/>
              </a:rPr>
              <a:t>tweaks</a:t>
            </a:r>
            <a:r>
              <a:rPr lang="es-ES" sz="24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1DB916-C2D1-4FDA-83AB-20B736D2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57548-DE6A-4F9D-822E-FE489D50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4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E083-808E-4AF0-A628-2A6BBDDB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Limitations of S-Curve Models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1808C-6E51-4DB9-9A50-FE628EAA3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Descriptive, not predictive.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Hard to locate the exact inflection point.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External shocks (e.g., regulation, geopolitics) alter trajectories.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97A3-9C90-440A-88E8-223745DCE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164D9-7A39-4427-83B7-E7BE5489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05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B9C1C-8F55-43E4-91AB-144A6A69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Case Integration: Tesla Inc. (Rothaermel 2023)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F9122-6169-4808-9C98-FA628133C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Radical product + process innovation.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Vertical integration: batteries, software, manufacturing.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Open patents: accelerate EV ecosystem.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Master Plans: sequential roadmap for innovation and scaling.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A4F65-7B74-4DA1-92F2-6C09B20D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D97C4-1EA3-467B-94FC-6E80C5C4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49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3A59-84A3-47D5-8DEA-D1D6FA6A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nn-NO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Tesla Master Plan I (2006)</a:t>
            </a:r>
            <a:endParaRPr lang="nn-NO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DDEEA-E359-4E68-8913-2542AD1C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Roadster → Model S → Model 3.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Profits reinvested to scale down price points.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Vision: mass adoption of sustainable transport.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C7023-0741-4CCA-B45D-F5CC60FD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D5E23-FA3E-43E5-A0DE-BBE1A8E4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9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85AE-88BA-4675-8523-40BE18577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nn-NO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Tesla Master Plan II (2016)</a:t>
            </a:r>
            <a:endParaRPr lang="nn-NO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102C1-CA76-4920-B125-B73F46A88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Expand to trucks &amp; SUVs.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Integrate solar &amp; storage.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Autonomy &amp; shared mobility.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Radical + architectural innovation.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9482F-9E46-4F8B-91F3-438744574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530B6-D855-46A1-B682-1F0F1C6E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76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F208-3A4E-4A57-9FE6-FB55B40C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nn-NO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Tesla Master Plan III (2023)</a:t>
            </a:r>
            <a:endParaRPr lang="nn-NO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BD809-3CB7-4988-84F8-45D083635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Goal: global sustainable energy transition.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EV + renewables + heat pumps + industrial electrification.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Industry-shaping, system-level innovation.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06F5A-1646-4136-8A22-DF737C24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5C1B1-A0E3-4B48-8EB9-7A82ABC8C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50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FF0A9-2B30-4046-B9A6-9D2E0A33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Tesla’s Vertical Integration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C8920-A1D2-46A8-82FB-725708651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Controls: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Batteries, AI chips, OTA software, manufacturing, sales.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Benefits: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Speed, quality control, resilience (e.g., chip shortage).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Drawback: </a:t>
            </a:r>
          </a:p>
          <a:p>
            <a:pPr lvl="1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Huge capital intensity.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8EC65-72C4-426B-9AD5-7CA50D23F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BF81F-680E-4729-BB3E-08EB173A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81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196E-78B0-42C2-B985-F64155C49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Tesla’s Open Patent Strategy (2014)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0A836-6A0F-4A46-B934-4ED23B768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Musk: “Open patents for good faith use.”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Logic: grow the entire EV pie.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Competence-destroying for ICE incumbents, competence-enhancing for EV ecosystem.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Risk: rivals gain knowledge.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34168-CAEE-41D2-9988-4C537B1BF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646F6-4A96-4EC4-824A-537B01B9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18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097-8510-4AC3-94A8-C2918CF5C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Tesla Through Schilling’s Taxonomy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CA33-649F-4845-A2D6-4FEC64FA9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Product + Process innovation combined.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Radical early, incremental later.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Competence destroying for ICE rivals.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Architectural redesign of automobile.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D1C63-E84C-468D-BEFC-07AF12CE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C83AA1-BCB5-45B3-948E-990ABD20E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80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4D21-7BCC-4968-8320-90C72755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Apple’s Contrast: Closed Ecosystem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2887C-ABD9-48B9-A633-019508206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Closed, competence-enhancing innovations.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Incremental product upgrades.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Architectural lock-in (iOS + App Store).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Strong profitability, slower diffusion vs. Tesla’s openness.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9445FE-F143-417F-9E2B-5A84E746A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D387C-A704-470B-893F-380C9530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51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B4D8-C885-4171-9358-D4A3A9AF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Ethical &amp; Societal Issues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55C08-F026-4968-9FD2-410495FF5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Tesla: sustainability vs. labor exploitation, data privacy in autonomy.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Apple: walled gardens, repair restrictions, supply chain ethics.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Open vs closed has moral and societal consequences.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4A484-E287-4A73-8D03-5793FE8B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32BD6-F726-474B-ACB7-DF7FBFDD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36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BD07D-832F-47CF-9FF0-BB99171B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Class Activity: Debate Setup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058D3-79AB-410E-8A23-1A88E7518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Debate: </a:t>
            </a:r>
            <a:r>
              <a:rPr lang="en-US" sz="3200" b="1" i="1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“Does open innovation weaken competitive advantage?”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Pro side: Weakens IP control, helps competitors.</a:t>
            </a:r>
          </a:p>
          <a:p>
            <a:pPr marR="0" lvl="1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Con side: Grows ecosystem, accelerates adoption, strengthens leadership.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419D9-2B5A-45F3-9551-324B8F03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582E1-F117-4D4E-9BEF-A8714E2D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51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2F-682E-4658-8480-4EA447A3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Debate Instructions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3F4D0-94B5-44DD-8891-79509E4F4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Form 2 groups.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Prep 10 mins, Present 2 mins each.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Rebuttals + open class voting.</a:t>
            </a:r>
          </a:p>
          <a:p>
            <a:pPr marR="0" lvl="0" rtl="0"/>
            <a:r>
              <a:rPr lang="en-US" sz="32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Instructor links back to Schilling’s frameworks.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048FC-149D-4625-9C2E-456C1055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8A640-5DCC-4DAF-B175-F7DB949C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0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561C7-A32C-4452-8441-DCBF8A045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Discussion Questions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E7DF5-41D1-4BD8-B176-1547EF9C5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How do Tesla’s innovations fit Schilling’s taxonomy?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What risks do radical + open strategies pose for incumbents?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Could Apple succeed in EVs with a closed model?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Do industry dynamics favor open or closed innovation in sustainability?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BDFF1-E40E-4BAD-8209-83C15D71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BAE7F-FA99-4A12-9AF4-A1D6CE01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371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61FB-706C-4269-8C45-E77BA5CF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Lessons Learned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A596D-3E36-4E97-9DBE-1D73849E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Innovation dimensions shape industry outcomes.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Technology follows recognizable patterns (S-curves, cycles).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Tesla illustrates radical, open, architectural innovation.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Apple illustrates closed, incremental, competence-enhancing innovation.</a:t>
            </a:r>
          </a:p>
          <a:p>
            <a:pPr marR="0" lvl="0" rtl="0"/>
            <a:r>
              <a:rPr lang="en-US" sz="2800" b="1" i="0" u="none" strike="noStrike" baseline="0" dirty="0">
                <a:latin typeface="Arial" panose="020B0604020202020204" pitchFamily="34" charset="0"/>
                <a:ea typeface="Calibri" panose="020F0502020204030204" pitchFamily="34" charset="0"/>
              </a:rPr>
              <a:t>Strategic alignment matters: no one “best” model.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42920-4964-464D-A145-4FCEB69C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6FAE4-DEBB-4F0E-BC14-1F24AB75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75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2EDA-CEE8-465D-A017-3B6193B54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Wrap-Up &amp; Next Steps (continued)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A73B5-8A55-488F-B35B-BB5DD4D28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Firms must understand what type of innovation they are pursuing, and where they are on the technology trajectory</a:t>
            </a:r>
          </a:p>
          <a:p>
            <a:r>
              <a:rPr lang="en-US" sz="2800" b="1" dirty="0"/>
              <a:t>Innovation dimensions:</a:t>
            </a:r>
          </a:p>
          <a:p>
            <a:pPr lvl="1"/>
            <a:r>
              <a:rPr lang="en-US" sz="2400" b="1" dirty="0"/>
              <a:t>Product vs. Process</a:t>
            </a:r>
          </a:p>
          <a:p>
            <a:pPr lvl="1"/>
            <a:r>
              <a:rPr lang="en-US" sz="2400" b="1" dirty="0"/>
              <a:t>Radical vs. Incremental</a:t>
            </a:r>
          </a:p>
          <a:p>
            <a:pPr lvl="1"/>
            <a:r>
              <a:rPr lang="en-US" sz="2400" b="1" dirty="0"/>
              <a:t>Competence-Enhancing vs. Destroying</a:t>
            </a:r>
          </a:p>
          <a:p>
            <a:pPr lvl="1"/>
            <a:r>
              <a:rPr lang="en-US" sz="2400" b="1" dirty="0"/>
              <a:t>Architectural vs. Component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39D38-D9C6-4D55-821C-FE36F343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13A53-E9C3-4E0F-9F89-3A0ACC9D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11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BA50-53A8-41D2-8CBA-540936F6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Wrap-Up &amp; Next Steps 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16D0D-7BCC-445F-9186-5A825EF31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Technology Patterns:</a:t>
            </a:r>
          </a:p>
          <a:p>
            <a:pPr lvl="1"/>
            <a:r>
              <a:rPr lang="en-US" sz="2800" b="1" dirty="0"/>
              <a:t>S-Curve Performance: EV range and cost improvements</a:t>
            </a:r>
          </a:p>
          <a:p>
            <a:pPr lvl="1"/>
            <a:r>
              <a:rPr lang="en-US" sz="2800" b="1" dirty="0"/>
              <a:t>Diffusion S-Curve: Adoption shift from innovators to the early majority</a:t>
            </a:r>
          </a:p>
          <a:p>
            <a:pPr lvl="1"/>
            <a:r>
              <a:rPr lang="en-US" sz="2800" b="1" dirty="0"/>
              <a:t>Technology Cycles: Industry converging toward dominant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D6D98-F400-4614-ABA3-1102EE16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00944-BDE8-4F5B-82C1-A39F41BE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05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6CDA-9340-405E-BAD3-A4427EAB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latin typeface="Arial" panose="020B0604020202020204" pitchFamily="34" charset="0"/>
                <a:ea typeface="Calibri" panose="020F0502020204030204" pitchFamily="34" charset="0"/>
              </a:rPr>
              <a:t>Readings</a:t>
            </a:r>
            <a:endParaRPr lang="en-US" b="0" i="0" u="none" strike="noStrike" kern="100" baseline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76124-ACF4-4B1A-B564-14708FD2F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Malissa A. Schilling. (2022). Strategic Management of Technological Innovation. Chapter 3</a:t>
            </a:r>
          </a:p>
          <a:p>
            <a:r>
              <a:rPr lang="en-US" sz="3200" b="1" dirty="0"/>
              <a:t>Rothaermel. (2023). Tesla, Inc. case study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69859-56F0-4B37-A63E-E9EF4E97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MG-2007-Technology Management, Fall-2025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24F19-FFA8-4A25-AF08-7A318F34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0C0B3-BCB1-4CD6-9BEC-92D7267F7CE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4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282</TotalTime>
  <Words>1467</Words>
  <Application>Microsoft Office PowerPoint</Application>
  <PresentationFormat>Widescreen</PresentationFormat>
  <Paragraphs>242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Corbel</vt:lpstr>
      <vt:lpstr>Times New Roman</vt:lpstr>
      <vt:lpstr>Parallax</vt:lpstr>
      <vt:lpstr>Technology &amp; Patterns of Innovation</vt:lpstr>
      <vt:lpstr>Learning Objectives</vt:lpstr>
      <vt:lpstr>Outline</vt:lpstr>
      <vt:lpstr>What is Innovation?</vt:lpstr>
      <vt:lpstr>Product vs Process Innovation (Schilling)</vt:lpstr>
      <vt:lpstr>Radical vs Incremental Innovation</vt:lpstr>
      <vt:lpstr>Competence-Enhancing vs Competence-Destroying</vt:lpstr>
      <vt:lpstr>Architectural vs Component Innovation</vt:lpstr>
      <vt:lpstr>Framework Summary: Types of Innovation</vt:lpstr>
      <vt:lpstr>Why These Distinctions Matter</vt:lpstr>
      <vt:lpstr>Patterns of Technological Change (Schilling)</vt:lpstr>
      <vt:lpstr>Patterns of Technological Change (Schilling)</vt:lpstr>
      <vt:lpstr>Technology S-Curves (Performance)</vt:lpstr>
      <vt:lpstr>Technology Diffusion S-Curve</vt:lpstr>
      <vt:lpstr>Technology Cycles &amp; Dominant Designs</vt:lpstr>
      <vt:lpstr>Limitations of S-Curve Models</vt:lpstr>
      <vt:lpstr>Case Integration: Tesla Inc. (Rothaermel 2023)</vt:lpstr>
      <vt:lpstr>Tesla Master Plan I (2006)</vt:lpstr>
      <vt:lpstr>Tesla Master Plan II (2016)</vt:lpstr>
      <vt:lpstr>Tesla Master Plan III (2023)</vt:lpstr>
      <vt:lpstr>Tesla’s Vertical Integration</vt:lpstr>
      <vt:lpstr>Tesla’s Open Patent Strategy (2014)</vt:lpstr>
      <vt:lpstr>Tesla Through Schilling’s Taxonomy</vt:lpstr>
      <vt:lpstr>Apple’s Contrast: Closed Ecosystem</vt:lpstr>
      <vt:lpstr>Ethical &amp; Societal Issues</vt:lpstr>
      <vt:lpstr>Class Activity: Debate Setup</vt:lpstr>
      <vt:lpstr>Debate Instructions</vt:lpstr>
      <vt:lpstr>Discussion Questions</vt:lpstr>
      <vt:lpstr>Lessons Learned</vt:lpstr>
      <vt:lpstr>Wrap-Up &amp; Next Steps (continued)</vt:lpstr>
      <vt:lpstr>Wrap-Up &amp; Next Steps </vt:lpstr>
      <vt:lpstr>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Hammad</dc:creator>
  <cp:lastModifiedBy>Hammad</cp:lastModifiedBy>
  <cp:revision>16</cp:revision>
  <dcterms:created xsi:type="dcterms:W3CDTF">2025-09-28T12:01:33Z</dcterms:created>
  <dcterms:modified xsi:type="dcterms:W3CDTF">2025-09-28T16:47:39Z</dcterms:modified>
</cp:coreProperties>
</file>