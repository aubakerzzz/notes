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6"/>
  </p:notesMasterIdLst>
  <p:sldIdLst>
    <p:sldId id="333" r:id="rId2"/>
    <p:sldId id="644" r:id="rId3"/>
    <p:sldId id="465" r:id="rId4"/>
    <p:sldId id="547" r:id="rId5"/>
    <p:sldId id="548" r:id="rId6"/>
    <p:sldId id="549" r:id="rId7"/>
    <p:sldId id="550" r:id="rId8"/>
    <p:sldId id="551" r:id="rId9"/>
    <p:sldId id="552" r:id="rId10"/>
    <p:sldId id="544" r:id="rId11"/>
    <p:sldId id="645" r:id="rId12"/>
    <p:sldId id="553" r:id="rId13"/>
    <p:sldId id="646" r:id="rId14"/>
    <p:sldId id="647" r:id="rId15"/>
    <p:sldId id="648" r:id="rId16"/>
    <p:sldId id="649" r:id="rId17"/>
    <p:sldId id="651" r:id="rId18"/>
    <p:sldId id="650" r:id="rId19"/>
    <p:sldId id="467" r:id="rId20"/>
    <p:sldId id="469" r:id="rId21"/>
    <p:sldId id="532" r:id="rId22"/>
    <p:sldId id="471" r:id="rId23"/>
    <p:sldId id="642" r:id="rId24"/>
    <p:sldId id="643" r:id="rId25"/>
    <p:sldId id="534" r:id="rId26"/>
    <p:sldId id="535" r:id="rId27"/>
    <p:sldId id="536" r:id="rId28"/>
    <p:sldId id="554" r:id="rId29"/>
    <p:sldId id="555" r:id="rId30"/>
    <p:sldId id="539" r:id="rId31"/>
    <p:sldId id="540" r:id="rId32"/>
    <p:sldId id="541" r:id="rId33"/>
    <p:sldId id="473" r:id="rId34"/>
    <p:sldId id="277"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868" autoAdjust="0"/>
  </p:normalViewPr>
  <p:slideViewPr>
    <p:cSldViewPr snapToGrid="0">
      <p:cViewPr varScale="1">
        <p:scale>
          <a:sx n="57" d="100"/>
          <a:sy n="57" d="100"/>
        </p:scale>
        <p:origin x="78" y="10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0F9D5-BE6F-473E-9D77-BBF2A8FDE88D}" type="datetimeFigureOut">
              <a:rPr lang="en-US" smtClean="0"/>
              <a:t>3/18/2026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E3D971-058C-4BE7-B6FF-E3D6874677B0}" type="slidenum">
              <a:rPr lang="en-US" smtClean="0"/>
              <a:t>‹#›</a:t>
            </a:fld>
            <a:endParaRPr lang="en-US"/>
          </a:p>
        </p:txBody>
      </p:sp>
    </p:spTree>
    <p:extLst>
      <p:ext uri="{BB962C8B-B14F-4D97-AF65-F5344CB8AC3E}">
        <p14:creationId xmlns:p14="http://schemas.microsoft.com/office/powerpoint/2010/main" val="534164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E3D971-058C-4BE7-B6FF-E3D6874677B0}" type="slidenum">
              <a:rPr lang="en-US" smtClean="0"/>
              <a:t>2</a:t>
            </a:fld>
            <a:endParaRPr lang="en-US"/>
          </a:p>
        </p:txBody>
      </p:sp>
    </p:spTree>
    <p:extLst>
      <p:ext uri="{BB962C8B-B14F-4D97-AF65-F5344CB8AC3E}">
        <p14:creationId xmlns:p14="http://schemas.microsoft.com/office/powerpoint/2010/main" val="245410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ftr" sz="quarter" idx="4"/>
          </p:nvPr>
        </p:nvSpPr>
        <p:spPr>
          <a:noFill/>
        </p:spPr>
        <p:txBody>
          <a:bodyPr/>
          <a:lstStyle/>
          <a:p>
            <a:r>
              <a:rPr lang="nl-NL"/>
              <a:t>© SE, Architecture, Hans van Vliet</a:t>
            </a:r>
          </a:p>
        </p:txBody>
      </p:sp>
      <p:sp>
        <p:nvSpPr>
          <p:cNvPr id="18435" name="Rectangle 7"/>
          <p:cNvSpPr>
            <a:spLocks noGrp="1" noChangeArrowheads="1"/>
          </p:cNvSpPr>
          <p:nvPr>
            <p:ph type="sldNum" sz="quarter" idx="5"/>
          </p:nvPr>
        </p:nvSpPr>
        <p:spPr>
          <a:noFill/>
        </p:spPr>
        <p:txBody>
          <a:bodyPr/>
          <a:lstStyle/>
          <a:p>
            <a:fld id="{2E015ACB-A4F2-3F45-BF22-0C458CEC3046}" type="slidenum">
              <a:rPr lang="nl-NL"/>
              <a:pPr/>
              <a:t>3</a:t>
            </a:fld>
            <a:endParaRPr lang="nl-NL"/>
          </a:p>
        </p:txBody>
      </p:sp>
      <p:sp>
        <p:nvSpPr>
          <p:cNvPr id="18436" name="Rectangle 2"/>
          <p:cNvSpPr>
            <a:spLocks noGrp="1" noRot="1" noChangeAspect="1" noChangeArrowheads="1" noTextEdit="1"/>
          </p:cNvSpPr>
          <p:nvPr>
            <p:ph type="sldImg"/>
          </p:nvPr>
        </p:nvSpPr>
        <p:spPr>
          <a:ln/>
        </p:spPr>
      </p:sp>
      <p:sp>
        <p:nvSpPr>
          <p:cNvPr id="18437"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2288691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charset="0"/>
                <a:ea typeface="ＭＳ Ｐゴシック" charset="-128"/>
                <a:cs typeface="ＭＳ Ｐゴシック" charset="-128"/>
              </a:rPr>
              <a:t>It took the European Space Agency 10 years and $7 billion to produce </a:t>
            </a:r>
            <a:r>
              <a:rPr lang="en-US" sz="1200" b="1" i="0" kern="1200" dirty="0" err="1">
                <a:solidFill>
                  <a:schemeClr val="tx1"/>
                </a:solidFill>
                <a:effectLst/>
                <a:latin typeface="Times New Roman" charset="0"/>
                <a:ea typeface="ＭＳ Ｐゴシック" charset="-128"/>
                <a:cs typeface="ＭＳ Ｐゴシック" charset="-128"/>
              </a:rPr>
              <a:t>Ariane</a:t>
            </a:r>
            <a:r>
              <a:rPr lang="en-US" sz="1200" b="1" i="0" kern="1200" dirty="0">
                <a:solidFill>
                  <a:schemeClr val="tx1"/>
                </a:solidFill>
                <a:effectLst/>
                <a:latin typeface="Times New Roman" charset="0"/>
                <a:ea typeface="ＭＳ Ｐゴシック" charset="-128"/>
                <a:cs typeface="ＭＳ Ｐゴシック" charset="-128"/>
              </a:rPr>
              <a:t> 5</a:t>
            </a:r>
            <a:r>
              <a:rPr lang="en-US" sz="1200" b="0" i="0" kern="1200" dirty="0">
                <a:solidFill>
                  <a:schemeClr val="tx1"/>
                </a:solidFill>
                <a:effectLst/>
                <a:latin typeface="Times New Roman" charset="0"/>
                <a:ea typeface="ＭＳ Ｐゴシック" charset="-128"/>
                <a:cs typeface="ＭＳ Ｐゴシック" charset="-128"/>
              </a:rPr>
              <a:t>, a giant rocket capable of hurling a pair of three-ton satellites into orbit with each launch and intended to give Europe overwhelming supremacy in the commercial space business. All it took to </a:t>
            </a:r>
            <a:r>
              <a:rPr lang="en-US" sz="1200" b="1" i="0" kern="1200" dirty="0">
                <a:solidFill>
                  <a:schemeClr val="tx1"/>
                </a:solidFill>
                <a:effectLst/>
                <a:latin typeface="Times New Roman" charset="0"/>
                <a:ea typeface="ＭＳ Ｐゴシック" charset="-128"/>
                <a:cs typeface="ＭＳ Ｐゴシック" charset="-128"/>
              </a:rPr>
              <a:t>explode</a:t>
            </a:r>
            <a:r>
              <a:rPr lang="en-US" sz="1200" b="0" i="0" kern="1200" dirty="0">
                <a:solidFill>
                  <a:schemeClr val="tx1"/>
                </a:solidFill>
                <a:effectLst/>
                <a:latin typeface="Times New Roman" charset="0"/>
                <a:ea typeface="ＭＳ Ｐゴシック" charset="-128"/>
                <a:cs typeface="ＭＳ Ｐゴシック" charset="-128"/>
              </a:rPr>
              <a:t> that rocket less than a minute into its maiden ...</a:t>
            </a:r>
            <a:endParaRPr lang="en-US" dirty="0"/>
          </a:p>
        </p:txBody>
      </p:sp>
      <p:sp>
        <p:nvSpPr>
          <p:cNvPr id="4" name="Footer Placeholder 3"/>
          <p:cNvSpPr>
            <a:spLocks noGrp="1"/>
          </p:cNvSpPr>
          <p:nvPr>
            <p:ph type="ftr" sz="quarter" idx="10"/>
          </p:nvPr>
        </p:nvSpPr>
        <p:spPr/>
        <p:txBody>
          <a:bodyPr/>
          <a:lstStyle/>
          <a:p>
            <a:r>
              <a:rPr lang="nl-NL"/>
              <a:t>© SE, Architecture, Hans van Vliet</a:t>
            </a:r>
          </a:p>
        </p:txBody>
      </p:sp>
      <p:sp>
        <p:nvSpPr>
          <p:cNvPr id="5" name="Slide Number Placeholder 4"/>
          <p:cNvSpPr>
            <a:spLocks noGrp="1"/>
          </p:cNvSpPr>
          <p:nvPr>
            <p:ph type="sldNum" sz="quarter" idx="11"/>
          </p:nvPr>
        </p:nvSpPr>
        <p:spPr/>
        <p:txBody>
          <a:bodyPr/>
          <a:lstStyle/>
          <a:p>
            <a:pPr>
              <a:defRPr/>
            </a:pPr>
            <a:fld id="{7D99DB54-7A8A-D242-ABE6-414D02D567EB}" type="slidenum">
              <a:rPr lang="nl-NL" smtClean="0"/>
              <a:pPr>
                <a:defRPr/>
              </a:pPr>
              <a:t>4</a:t>
            </a:fld>
            <a:endParaRPr lang="nl-NL"/>
          </a:p>
        </p:txBody>
      </p:sp>
    </p:spTree>
    <p:extLst>
      <p:ext uri="{BB962C8B-B14F-4D97-AF65-F5344CB8AC3E}">
        <p14:creationId xmlns:p14="http://schemas.microsoft.com/office/powerpoint/2010/main" val="422651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Error: </a:t>
            </a:r>
            <a:r>
              <a:rPr lang="en-US" sz="1200" dirty="0">
                <a:latin typeface="Garamond" charset="0"/>
                <a:ea typeface="ＭＳ Ｐゴシック" charset="-128"/>
              </a:rPr>
              <a:t>total loss of “attitude” &gt; Altitude </a:t>
            </a:r>
            <a:endParaRPr lang="en-US" dirty="0"/>
          </a:p>
        </p:txBody>
      </p:sp>
      <p:sp>
        <p:nvSpPr>
          <p:cNvPr id="4" name="Footer Placeholder 3"/>
          <p:cNvSpPr>
            <a:spLocks noGrp="1"/>
          </p:cNvSpPr>
          <p:nvPr>
            <p:ph type="ftr" sz="quarter" idx="10"/>
          </p:nvPr>
        </p:nvSpPr>
        <p:spPr/>
        <p:txBody>
          <a:bodyPr/>
          <a:lstStyle/>
          <a:p>
            <a:r>
              <a:rPr lang="nl-NL"/>
              <a:t>© SE, Architecture, Hans van Vliet</a:t>
            </a:r>
          </a:p>
        </p:txBody>
      </p:sp>
      <p:sp>
        <p:nvSpPr>
          <p:cNvPr id="5" name="Slide Number Placeholder 4"/>
          <p:cNvSpPr>
            <a:spLocks noGrp="1"/>
          </p:cNvSpPr>
          <p:nvPr>
            <p:ph type="sldNum" sz="quarter" idx="11"/>
          </p:nvPr>
        </p:nvSpPr>
        <p:spPr/>
        <p:txBody>
          <a:bodyPr/>
          <a:lstStyle/>
          <a:p>
            <a:pPr>
              <a:defRPr/>
            </a:pPr>
            <a:fld id="{7D99DB54-7A8A-D242-ABE6-414D02D567EB}" type="slidenum">
              <a:rPr lang="nl-NL" smtClean="0"/>
              <a:pPr>
                <a:defRPr/>
              </a:pPr>
              <a:t>5</a:t>
            </a:fld>
            <a:endParaRPr lang="nl-NL"/>
          </a:p>
        </p:txBody>
      </p:sp>
    </p:spTree>
    <p:extLst>
      <p:ext uri="{BB962C8B-B14F-4D97-AF65-F5344CB8AC3E}">
        <p14:creationId xmlns:p14="http://schemas.microsoft.com/office/powerpoint/2010/main" val="3268776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latin typeface="Garamond" charset="0"/>
                <a:ea typeface="ＭＳ Ｐゴシック" charset="-128"/>
              </a:rPr>
              <a:t>flip over</a:t>
            </a:r>
            <a:r>
              <a:rPr lang="en-US" dirty="0">
                <a:latin typeface="Garamond" charset="0"/>
                <a:ea typeface="ＭＳ Ｐゴシック" charset="-128"/>
              </a:rPr>
              <a:t> &gt;&gt; </a:t>
            </a:r>
            <a:r>
              <a:rPr lang="en-US" u="sng" dirty="0">
                <a:latin typeface="Garamond" charset="0"/>
                <a:ea typeface="ＭＳ Ｐゴシック" charset="-128"/>
              </a:rPr>
              <a:t>capsize</a:t>
            </a:r>
            <a:endParaRPr lang="en-US" dirty="0"/>
          </a:p>
        </p:txBody>
      </p:sp>
      <p:sp>
        <p:nvSpPr>
          <p:cNvPr id="4" name="Footer Placeholder 3"/>
          <p:cNvSpPr>
            <a:spLocks noGrp="1"/>
          </p:cNvSpPr>
          <p:nvPr>
            <p:ph type="ftr" sz="quarter" idx="10"/>
          </p:nvPr>
        </p:nvSpPr>
        <p:spPr/>
        <p:txBody>
          <a:bodyPr/>
          <a:lstStyle/>
          <a:p>
            <a:r>
              <a:rPr lang="nl-NL"/>
              <a:t>© SE, Architecture, Hans van Vliet</a:t>
            </a:r>
          </a:p>
        </p:txBody>
      </p:sp>
      <p:sp>
        <p:nvSpPr>
          <p:cNvPr id="5" name="Slide Number Placeholder 4"/>
          <p:cNvSpPr>
            <a:spLocks noGrp="1"/>
          </p:cNvSpPr>
          <p:nvPr>
            <p:ph type="sldNum" sz="quarter" idx="11"/>
          </p:nvPr>
        </p:nvSpPr>
        <p:spPr/>
        <p:txBody>
          <a:bodyPr/>
          <a:lstStyle/>
          <a:p>
            <a:pPr>
              <a:defRPr/>
            </a:pPr>
            <a:fld id="{7D99DB54-7A8A-D242-ABE6-414D02D567EB}" type="slidenum">
              <a:rPr lang="nl-NL" smtClean="0"/>
              <a:pPr>
                <a:defRPr/>
              </a:pPr>
              <a:t>7</a:t>
            </a:fld>
            <a:endParaRPr lang="nl-NL"/>
          </a:p>
        </p:txBody>
      </p:sp>
    </p:spTree>
    <p:extLst>
      <p:ext uri="{BB962C8B-B14F-4D97-AF65-F5344CB8AC3E}">
        <p14:creationId xmlns:p14="http://schemas.microsoft.com/office/powerpoint/2010/main" val="3015722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nl-NL"/>
              <a:t>© SE, Architecture, Hans van Vliet</a:t>
            </a:r>
          </a:p>
        </p:txBody>
      </p:sp>
      <p:sp>
        <p:nvSpPr>
          <p:cNvPr id="5" name="Slide Number Placeholder 4"/>
          <p:cNvSpPr>
            <a:spLocks noGrp="1"/>
          </p:cNvSpPr>
          <p:nvPr>
            <p:ph type="sldNum" sz="quarter" idx="11"/>
          </p:nvPr>
        </p:nvSpPr>
        <p:spPr/>
        <p:txBody>
          <a:bodyPr/>
          <a:lstStyle/>
          <a:p>
            <a:pPr>
              <a:defRPr/>
            </a:pPr>
            <a:fld id="{7D99DB54-7A8A-D242-ABE6-414D02D567EB}" type="slidenum">
              <a:rPr lang="nl-NL" smtClean="0"/>
              <a:pPr>
                <a:defRPr/>
              </a:pPr>
              <a:t>12</a:t>
            </a:fld>
            <a:endParaRPr lang="nl-NL"/>
          </a:p>
        </p:txBody>
      </p:sp>
    </p:spTree>
    <p:extLst>
      <p:ext uri="{BB962C8B-B14F-4D97-AF65-F5344CB8AC3E}">
        <p14:creationId xmlns:p14="http://schemas.microsoft.com/office/powerpoint/2010/main" val="3880023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ftr" sz="quarter" idx="4"/>
          </p:nvPr>
        </p:nvSpPr>
        <p:spPr>
          <a:noFill/>
        </p:spPr>
        <p:txBody>
          <a:bodyPr/>
          <a:lstStyle/>
          <a:p>
            <a:r>
              <a:rPr lang="nl-NL"/>
              <a:t>© SE, Architecture, Hans van Vliet</a:t>
            </a:r>
          </a:p>
        </p:txBody>
      </p:sp>
      <p:sp>
        <p:nvSpPr>
          <p:cNvPr id="22531" name="Rectangle 7"/>
          <p:cNvSpPr>
            <a:spLocks noGrp="1" noChangeArrowheads="1"/>
          </p:cNvSpPr>
          <p:nvPr>
            <p:ph type="sldNum" sz="quarter" idx="5"/>
          </p:nvPr>
        </p:nvSpPr>
        <p:spPr>
          <a:noFill/>
        </p:spPr>
        <p:txBody>
          <a:bodyPr/>
          <a:lstStyle/>
          <a:p>
            <a:fld id="{03B168CE-B26A-7144-8528-F8D58730D025}" type="slidenum">
              <a:rPr lang="nl-NL"/>
              <a:pPr/>
              <a:t>19</a:t>
            </a:fld>
            <a:endParaRPr lang="nl-NL"/>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xfrm>
            <a:off x="731838" y="4560888"/>
            <a:ext cx="5851525" cy="4319587"/>
          </a:xfrm>
          <a:noFill/>
          <a:ln/>
        </p:spPr>
        <p:txBody>
          <a:bodyPr/>
          <a:lstStyle/>
          <a:p>
            <a:pPr eaLnBrk="1" hangingPunct="1"/>
            <a:r>
              <a:rPr lang="en-US" dirty="0" err="1"/>
              <a:t>Lec</a:t>
            </a:r>
            <a:r>
              <a:rPr lang="en-US"/>
              <a:t> 34 [2018]</a:t>
            </a:r>
            <a:endParaRPr lang="en-US" dirty="0"/>
          </a:p>
        </p:txBody>
      </p:sp>
    </p:spTree>
    <p:extLst>
      <p:ext uri="{BB962C8B-B14F-4D97-AF65-F5344CB8AC3E}">
        <p14:creationId xmlns:p14="http://schemas.microsoft.com/office/powerpoint/2010/main" val="2326928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Grp="1" noChangeArrowheads="1"/>
          </p:cNvSpPr>
          <p:nvPr>
            <p:ph type="ftr" sz="quarter" idx="4"/>
          </p:nvPr>
        </p:nvSpPr>
        <p:spPr>
          <a:noFill/>
        </p:spPr>
        <p:txBody>
          <a:bodyPr/>
          <a:lstStyle/>
          <a:p>
            <a:r>
              <a:rPr lang="nl-NL"/>
              <a:t>© SE, Architecture, Hans van Vliet</a:t>
            </a:r>
          </a:p>
        </p:txBody>
      </p:sp>
      <p:sp>
        <p:nvSpPr>
          <p:cNvPr id="24579" name="Rectangle 7"/>
          <p:cNvSpPr>
            <a:spLocks noGrp="1" noChangeArrowheads="1"/>
          </p:cNvSpPr>
          <p:nvPr>
            <p:ph type="sldNum" sz="quarter" idx="5"/>
          </p:nvPr>
        </p:nvSpPr>
        <p:spPr>
          <a:noFill/>
        </p:spPr>
        <p:txBody>
          <a:bodyPr/>
          <a:lstStyle/>
          <a:p>
            <a:fld id="{0252419A-E160-D040-BDA2-AF44AF4F655E}" type="slidenum">
              <a:rPr lang="nl-NL"/>
              <a:pPr/>
              <a:t>20</a:t>
            </a:fld>
            <a:endParaRPr lang="nl-NL"/>
          </a:p>
        </p:txBody>
      </p:sp>
      <p:sp>
        <p:nvSpPr>
          <p:cNvPr id="24580" name="Rectangle 2"/>
          <p:cNvSpPr>
            <a:spLocks noGrp="1" noRot="1" noChangeAspect="1" noChangeArrowheads="1" noTextEdit="1"/>
          </p:cNvSpPr>
          <p:nvPr>
            <p:ph type="sldImg"/>
          </p:nvPr>
        </p:nvSpPr>
        <p:spPr>
          <a:ln/>
        </p:spPr>
      </p:sp>
      <p:sp>
        <p:nvSpPr>
          <p:cNvPr id="24581"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3439369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ftr" sz="quarter" idx="4"/>
          </p:nvPr>
        </p:nvSpPr>
        <p:spPr>
          <a:noFill/>
        </p:spPr>
        <p:txBody>
          <a:bodyPr/>
          <a:lstStyle/>
          <a:p>
            <a:r>
              <a:rPr lang="nl-NL"/>
              <a:t>© SE, Architecture, Hans van Vliet</a:t>
            </a:r>
          </a:p>
        </p:txBody>
      </p:sp>
      <p:sp>
        <p:nvSpPr>
          <p:cNvPr id="28675" name="Rectangle 7"/>
          <p:cNvSpPr>
            <a:spLocks noGrp="1" noChangeArrowheads="1"/>
          </p:cNvSpPr>
          <p:nvPr>
            <p:ph type="sldNum" sz="quarter" idx="5"/>
          </p:nvPr>
        </p:nvSpPr>
        <p:spPr>
          <a:noFill/>
        </p:spPr>
        <p:txBody>
          <a:bodyPr/>
          <a:lstStyle/>
          <a:p>
            <a:fld id="{F002C7B8-145B-1342-A5BF-075B5EB17060}" type="slidenum">
              <a:rPr lang="nl-NL"/>
              <a:pPr/>
              <a:t>21</a:t>
            </a:fld>
            <a:endParaRPr lang="nl-NL"/>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244123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ftr" sz="quarter" idx="4"/>
          </p:nvPr>
        </p:nvSpPr>
        <p:spPr>
          <a:noFill/>
        </p:spPr>
        <p:txBody>
          <a:bodyPr/>
          <a:lstStyle/>
          <a:p>
            <a:r>
              <a:rPr lang="nl-NL"/>
              <a:t>© SE, Architecture, Hans van Vliet</a:t>
            </a:r>
          </a:p>
        </p:txBody>
      </p:sp>
      <p:sp>
        <p:nvSpPr>
          <p:cNvPr id="30723" name="Rectangle 7"/>
          <p:cNvSpPr>
            <a:spLocks noGrp="1" noChangeArrowheads="1"/>
          </p:cNvSpPr>
          <p:nvPr>
            <p:ph type="sldNum" sz="quarter" idx="5"/>
          </p:nvPr>
        </p:nvSpPr>
        <p:spPr>
          <a:noFill/>
        </p:spPr>
        <p:txBody>
          <a:bodyPr/>
          <a:lstStyle/>
          <a:p>
            <a:fld id="{C0EC86AF-E725-774F-9A5F-F0068A50CD41}" type="slidenum">
              <a:rPr lang="nl-NL"/>
              <a:pPr/>
              <a:t>22</a:t>
            </a:fld>
            <a:endParaRPr lang="nl-NL"/>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3403435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ftr" sz="quarter" idx="4"/>
          </p:nvPr>
        </p:nvSpPr>
        <p:spPr>
          <a:noFill/>
        </p:spPr>
        <p:txBody>
          <a:bodyPr/>
          <a:lstStyle/>
          <a:p>
            <a:r>
              <a:rPr lang="nl-NL"/>
              <a:t>© SE, Architecture, Hans van Vliet</a:t>
            </a:r>
          </a:p>
        </p:txBody>
      </p:sp>
      <p:sp>
        <p:nvSpPr>
          <p:cNvPr id="30723" name="Rectangle 7"/>
          <p:cNvSpPr>
            <a:spLocks noGrp="1" noChangeArrowheads="1"/>
          </p:cNvSpPr>
          <p:nvPr>
            <p:ph type="sldNum" sz="quarter" idx="5"/>
          </p:nvPr>
        </p:nvSpPr>
        <p:spPr>
          <a:noFill/>
        </p:spPr>
        <p:txBody>
          <a:bodyPr/>
          <a:lstStyle/>
          <a:p>
            <a:fld id="{C0EC86AF-E725-774F-9A5F-F0068A50CD41}" type="slidenum">
              <a:rPr lang="nl-NL"/>
              <a:pPr/>
              <a:t>23</a:t>
            </a:fld>
            <a:endParaRPr lang="nl-NL"/>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1748655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ftr" sz="quarter" idx="4"/>
          </p:nvPr>
        </p:nvSpPr>
        <p:spPr>
          <a:noFill/>
        </p:spPr>
        <p:txBody>
          <a:bodyPr/>
          <a:lstStyle/>
          <a:p>
            <a:r>
              <a:rPr lang="nl-NL"/>
              <a:t>© SE, Architecture, Hans van Vliet</a:t>
            </a:r>
          </a:p>
        </p:txBody>
      </p:sp>
      <p:sp>
        <p:nvSpPr>
          <p:cNvPr id="30723" name="Rectangle 7"/>
          <p:cNvSpPr>
            <a:spLocks noGrp="1" noChangeArrowheads="1"/>
          </p:cNvSpPr>
          <p:nvPr>
            <p:ph type="sldNum" sz="quarter" idx="5"/>
          </p:nvPr>
        </p:nvSpPr>
        <p:spPr>
          <a:noFill/>
        </p:spPr>
        <p:txBody>
          <a:bodyPr/>
          <a:lstStyle/>
          <a:p>
            <a:fld id="{C0EC86AF-E725-774F-9A5F-F0068A50CD41}" type="slidenum">
              <a:rPr lang="nl-NL"/>
              <a:pPr/>
              <a:t>24</a:t>
            </a:fld>
            <a:endParaRPr lang="nl-NL"/>
          </a:p>
        </p:txBody>
      </p:sp>
      <p:sp>
        <p:nvSpPr>
          <p:cNvPr id="30724" name="Rectangle 2"/>
          <p:cNvSpPr>
            <a:spLocks noGrp="1" noRot="1" noChangeAspect="1" noChangeArrowheads="1" noTextEdit="1"/>
          </p:cNvSpPr>
          <p:nvPr>
            <p:ph type="sldImg"/>
          </p:nvPr>
        </p:nvSpPr>
        <p:spPr>
          <a:ln/>
        </p:spPr>
      </p:sp>
      <p:sp>
        <p:nvSpPr>
          <p:cNvPr id="30725" name="Rectangle 3"/>
          <p:cNvSpPr>
            <a:spLocks noGrp="1" noChangeArrowheads="1"/>
          </p:cNvSpPr>
          <p:nvPr>
            <p:ph type="body" idx="1"/>
          </p:nvPr>
        </p:nvSpPr>
        <p:spPr>
          <a:xfrm>
            <a:off x="731838" y="4560888"/>
            <a:ext cx="5851525" cy="4319587"/>
          </a:xfrm>
          <a:noFill/>
          <a:ln/>
        </p:spPr>
        <p:txBody>
          <a:bodyPr/>
          <a:lstStyle/>
          <a:p>
            <a:pPr eaLnBrk="1" hangingPunct="1"/>
            <a:endParaRPr lang="en-US"/>
          </a:p>
        </p:txBody>
      </p:sp>
    </p:spTree>
    <p:extLst>
      <p:ext uri="{BB962C8B-B14F-4D97-AF65-F5344CB8AC3E}">
        <p14:creationId xmlns:p14="http://schemas.microsoft.com/office/powerpoint/2010/main" val="3496567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p:cNvSpPr>
            <a:spLocks noGrp="1" noChangeArrowheads="1"/>
          </p:cNvSpPr>
          <p:nvPr>
            <p:ph type="ftr" sz="quarter" idx="4"/>
          </p:nvPr>
        </p:nvSpPr>
        <p:spPr>
          <a:noFill/>
        </p:spPr>
        <p:txBody>
          <a:bodyPr/>
          <a:lstStyle/>
          <a:p>
            <a:r>
              <a:rPr lang="nl-NL"/>
              <a:t>© SE, Architecture, Hans van Vliet</a:t>
            </a:r>
          </a:p>
        </p:txBody>
      </p:sp>
      <p:sp>
        <p:nvSpPr>
          <p:cNvPr id="36867" name="Rectangle 7"/>
          <p:cNvSpPr>
            <a:spLocks noGrp="1" noChangeArrowheads="1"/>
          </p:cNvSpPr>
          <p:nvPr>
            <p:ph type="sldNum" sz="quarter" idx="5"/>
          </p:nvPr>
        </p:nvSpPr>
        <p:spPr>
          <a:noFill/>
        </p:spPr>
        <p:txBody>
          <a:bodyPr/>
          <a:lstStyle/>
          <a:p>
            <a:fld id="{BC29D434-3CAE-1A40-8D84-597B669CEA12}" type="slidenum">
              <a:rPr lang="nl-NL"/>
              <a:pPr/>
              <a:t>33</a:t>
            </a:fld>
            <a:endParaRPr lang="nl-NL"/>
          </a:p>
        </p:txBody>
      </p:sp>
      <p:sp>
        <p:nvSpPr>
          <p:cNvPr id="36868" name="Rectangle 2"/>
          <p:cNvSpPr>
            <a:spLocks noGrp="1" noRot="1" noChangeAspect="1" noChangeArrowheads="1" noTextEdit="1"/>
          </p:cNvSpPr>
          <p:nvPr>
            <p:ph type="sldImg"/>
          </p:nvPr>
        </p:nvSpPr>
        <p:spPr>
          <a:ln/>
        </p:spPr>
      </p:sp>
      <p:sp>
        <p:nvSpPr>
          <p:cNvPr id="1112067" name="Rectangle 3"/>
          <p:cNvSpPr>
            <a:spLocks noGrp="1" noChangeArrowheads="1"/>
          </p:cNvSpPr>
          <p:nvPr>
            <p:ph type="body" idx="1"/>
          </p:nvPr>
        </p:nvSpPr>
        <p:spPr>
          <a:xfrm>
            <a:off x="731838" y="4560888"/>
            <a:ext cx="5851525" cy="4319587"/>
          </a:xfrm>
        </p:spPr>
        <p:txBody>
          <a:bodyPr/>
          <a:lstStyle/>
          <a:p>
            <a:pPr eaLnBrk="1" hangingPunct="1">
              <a:defRPr/>
            </a:pPr>
            <a:endParaRPr lang="en-US" dirty="0">
              <a:ea typeface="+mn-ea"/>
              <a:cs typeface="+mn-cs"/>
            </a:endParaRPr>
          </a:p>
        </p:txBody>
      </p:sp>
    </p:spTree>
    <p:extLst>
      <p:ext uri="{BB962C8B-B14F-4D97-AF65-F5344CB8AC3E}">
        <p14:creationId xmlns:p14="http://schemas.microsoft.com/office/powerpoint/2010/main" val="3716916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EB35808-BC81-4424-B0F4-70D82941508D}" type="datetime1">
              <a:rPr lang="en-US" smtClean="0"/>
              <a:t>3/18/2026</a:t>
            </a:fld>
            <a:endParaRPr lang="en-US"/>
          </a:p>
        </p:txBody>
      </p:sp>
      <p:sp>
        <p:nvSpPr>
          <p:cNvPr id="5" name="Footer Placeholder 4"/>
          <p:cNvSpPr>
            <a:spLocks noGrp="1"/>
          </p:cNvSpPr>
          <p:nvPr>
            <p:ph type="ftr" sz="quarter" idx="11"/>
          </p:nvPr>
        </p:nvSpPr>
        <p:spPr/>
        <p:txBody>
          <a:bodyPr/>
          <a:lstStyle/>
          <a:p>
            <a:r>
              <a:rPr lang="en-US"/>
              <a:t>Chapter 5 System Modeling</a:t>
            </a:r>
          </a:p>
        </p:txBody>
      </p:sp>
      <p:sp>
        <p:nvSpPr>
          <p:cNvPr id="6" name="Slide Number Placeholder 5"/>
          <p:cNvSpPr>
            <a:spLocks noGrp="1"/>
          </p:cNvSpPr>
          <p:nvPr>
            <p:ph type="sldNum" sz="quarter" idx="12"/>
          </p:nvPr>
        </p:nvSpPr>
        <p:spPr/>
        <p:txBody>
          <a:bodyPr/>
          <a:lstStyle/>
          <a:p>
            <a:fld id="{72925E92-DD69-4B30-91D7-BC3CA83398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0056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B0D4DC-3E4C-4B0B-B1AF-F4479C5A5571}" type="datetime1">
              <a:rPr lang="en-US" smtClean="0"/>
              <a:t>3/18/2026</a:t>
            </a:fld>
            <a:endParaRPr lang="en-US"/>
          </a:p>
        </p:txBody>
      </p:sp>
      <p:sp>
        <p:nvSpPr>
          <p:cNvPr id="5" name="Footer Placeholder 4"/>
          <p:cNvSpPr>
            <a:spLocks noGrp="1"/>
          </p:cNvSpPr>
          <p:nvPr>
            <p:ph type="ftr" sz="quarter" idx="11"/>
          </p:nvPr>
        </p:nvSpPr>
        <p:spPr/>
        <p:txBody>
          <a:bodyPr/>
          <a:lstStyle/>
          <a:p>
            <a:r>
              <a:rPr lang="en-US"/>
              <a:t>Chapter 5 System Modeling</a:t>
            </a:r>
          </a:p>
        </p:txBody>
      </p:sp>
      <p:sp>
        <p:nvSpPr>
          <p:cNvPr id="6" name="Slide Number Placeholder 5"/>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3547379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87052F-69D4-44BA-89FC-4F02E22A9CE4}" type="datetime1">
              <a:rPr lang="en-US" smtClean="0"/>
              <a:t>3/18/2026</a:t>
            </a:fld>
            <a:endParaRPr lang="en-US"/>
          </a:p>
        </p:txBody>
      </p:sp>
      <p:sp>
        <p:nvSpPr>
          <p:cNvPr id="5" name="Footer Placeholder 4"/>
          <p:cNvSpPr>
            <a:spLocks noGrp="1"/>
          </p:cNvSpPr>
          <p:nvPr>
            <p:ph type="ftr" sz="quarter" idx="11"/>
          </p:nvPr>
        </p:nvSpPr>
        <p:spPr/>
        <p:txBody>
          <a:bodyPr/>
          <a:lstStyle/>
          <a:p>
            <a:r>
              <a:rPr lang="en-US"/>
              <a:t>Chapter 5 System Modeling</a:t>
            </a:r>
          </a:p>
        </p:txBody>
      </p:sp>
      <p:sp>
        <p:nvSpPr>
          <p:cNvPr id="6" name="Slide Number Placeholder 5"/>
          <p:cNvSpPr>
            <a:spLocks noGrp="1"/>
          </p:cNvSpPr>
          <p:nvPr>
            <p:ph type="sldNum" sz="quarter" idx="12"/>
          </p:nvPr>
        </p:nvSpPr>
        <p:spPr/>
        <p:txBody>
          <a:bodyPr/>
          <a:lstStyle/>
          <a:p>
            <a:fld id="{72925E92-DD69-4B30-91D7-BC3CA83398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117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FA657F-EAB9-468B-94E8-9EA8E1DE3F47}" type="datetime1">
              <a:rPr lang="en-US" smtClean="0"/>
              <a:t>3/18/2026</a:t>
            </a:fld>
            <a:endParaRPr lang="en-US"/>
          </a:p>
        </p:txBody>
      </p:sp>
      <p:sp>
        <p:nvSpPr>
          <p:cNvPr id="6" name="Footer Placeholder 5"/>
          <p:cNvSpPr>
            <a:spLocks noGrp="1"/>
          </p:cNvSpPr>
          <p:nvPr>
            <p:ph type="ftr" sz="quarter" idx="11"/>
          </p:nvPr>
        </p:nvSpPr>
        <p:spPr/>
        <p:txBody>
          <a:bodyPr/>
          <a:lstStyle/>
          <a:p>
            <a:r>
              <a:rPr lang="en-US"/>
              <a:t>Chapter 5 System Modeling</a:t>
            </a:r>
          </a:p>
        </p:txBody>
      </p:sp>
      <p:sp>
        <p:nvSpPr>
          <p:cNvPr id="7" name="Slide Number Placeholder 6"/>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1908415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4FB3F5-D255-4C56-87F1-00ECEBFCFD2E}" type="datetime1">
              <a:rPr lang="en-US" smtClean="0"/>
              <a:t>3/18/2026</a:t>
            </a:fld>
            <a:endParaRPr lang="en-US"/>
          </a:p>
        </p:txBody>
      </p:sp>
      <p:sp>
        <p:nvSpPr>
          <p:cNvPr id="8" name="Footer Placeholder 7"/>
          <p:cNvSpPr>
            <a:spLocks noGrp="1"/>
          </p:cNvSpPr>
          <p:nvPr>
            <p:ph type="ftr" sz="quarter" idx="11"/>
          </p:nvPr>
        </p:nvSpPr>
        <p:spPr/>
        <p:txBody>
          <a:bodyPr/>
          <a:lstStyle/>
          <a:p>
            <a:r>
              <a:rPr lang="en-US"/>
              <a:t>Chapter 5 System Modeling</a:t>
            </a:r>
          </a:p>
        </p:txBody>
      </p:sp>
      <p:sp>
        <p:nvSpPr>
          <p:cNvPr id="9" name="Slide Number Placeholder 8"/>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216014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0F8769-43B5-4507-B896-E7AEEF349778}" type="datetime1">
              <a:rPr lang="en-US" smtClean="0"/>
              <a:t>3/18/2026</a:t>
            </a:fld>
            <a:endParaRPr lang="en-US"/>
          </a:p>
        </p:txBody>
      </p:sp>
      <p:sp>
        <p:nvSpPr>
          <p:cNvPr id="4" name="Footer Placeholder 3"/>
          <p:cNvSpPr>
            <a:spLocks noGrp="1"/>
          </p:cNvSpPr>
          <p:nvPr>
            <p:ph type="ftr" sz="quarter" idx="11"/>
          </p:nvPr>
        </p:nvSpPr>
        <p:spPr/>
        <p:txBody>
          <a:bodyPr/>
          <a:lstStyle/>
          <a:p>
            <a:r>
              <a:rPr lang="en-US"/>
              <a:t>Chapter 5 System Modeling</a:t>
            </a:r>
          </a:p>
        </p:txBody>
      </p:sp>
      <p:sp>
        <p:nvSpPr>
          <p:cNvPr id="5" name="Slide Number Placeholder 4"/>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1564544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6C0214F-F5BA-4C6F-BD91-564133BC61F2}" type="datetime1">
              <a:rPr lang="en-US" smtClean="0"/>
              <a:t>3/18/2026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Chapter 5 System Modeling</a:t>
            </a:r>
          </a:p>
        </p:txBody>
      </p:sp>
      <p:sp>
        <p:nvSpPr>
          <p:cNvPr id="9" name="Slide Number Placeholder 8"/>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3345819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4CC8A4-728C-458F-B794-CF31A267E6F5}" type="datetime1">
              <a:rPr lang="en-US" smtClean="0"/>
              <a:t>3/18/2026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Chapter 5 System Modeling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2925E92-DD69-4B30-91D7-BC3CA833981C}" type="slidenum">
              <a:rPr lang="en-US" smtClean="0"/>
              <a:t>‹#›</a:t>
            </a:fld>
            <a:endParaRPr lang="en-US"/>
          </a:p>
        </p:txBody>
      </p:sp>
    </p:spTree>
    <p:extLst>
      <p:ext uri="{BB962C8B-B14F-4D97-AF65-F5344CB8AC3E}">
        <p14:creationId xmlns:p14="http://schemas.microsoft.com/office/powerpoint/2010/main" val="767754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844D960-5363-4586-A74D-4F1E1BA9DE51}" type="datetime1">
              <a:rPr lang="en-US" smtClean="0"/>
              <a:t>3/18/2026</a:t>
            </a:fld>
            <a:endParaRPr lang="en-US"/>
          </a:p>
        </p:txBody>
      </p:sp>
      <p:sp>
        <p:nvSpPr>
          <p:cNvPr id="6" name="Footer Placeholder 5"/>
          <p:cNvSpPr>
            <a:spLocks noGrp="1"/>
          </p:cNvSpPr>
          <p:nvPr>
            <p:ph type="ftr" sz="quarter" idx="11"/>
          </p:nvPr>
        </p:nvSpPr>
        <p:spPr/>
        <p:txBody>
          <a:bodyPr/>
          <a:lstStyle/>
          <a:p>
            <a:r>
              <a:rPr lang="en-US"/>
              <a:t>Chapter 5 System Modeling</a:t>
            </a:r>
          </a:p>
        </p:txBody>
      </p:sp>
      <p:sp>
        <p:nvSpPr>
          <p:cNvPr id="7" name="Slide Number Placeholder 6"/>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3619201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B2D12C-02E8-4180-A389-123AB965730A}" type="datetime1">
              <a:rPr lang="en-US" smtClean="0"/>
              <a:t>3/18/2026</a:t>
            </a:fld>
            <a:endParaRPr lang="en-US"/>
          </a:p>
        </p:txBody>
      </p:sp>
      <p:sp>
        <p:nvSpPr>
          <p:cNvPr id="5" name="Footer Placeholder 4"/>
          <p:cNvSpPr>
            <a:spLocks noGrp="1"/>
          </p:cNvSpPr>
          <p:nvPr>
            <p:ph type="ftr" sz="quarter" idx="11"/>
          </p:nvPr>
        </p:nvSpPr>
        <p:spPr/>
        <p:txBody>
          <a:bodyPr/>
          <a:lstStyle/>
          <a:p>
            <a:r>
              <a:rPr lang="en-US"/>
              <a:t>Chapter 5 System Modeling</a:t>
            </a:r>
          </a:p>
        </p:txBody>
      </p:sp>
      <p:sp>
        <p:nvSpPr>
          <p:cNvPr id="6" name="Slide Number Placeholder 5"/>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2490756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40A9A2-FC78-4921-BD3F-C64DBE517692}" type="datetime1">
              <a:rPr lang="en-US" smtClean="0"/>
              <a:t>3/18/2026</a:t>
            </a:fld>
            <a:endParaRPr lang="en-US"/>
          </a:p>
        </p:txBody>
      </p:sp>
      <p:sp>
        <p:nvSpPr>
          <p:cNvPr id="5" name="Footer Placeholder 4"/>
          <p:cNvSpPr>
            <a:spLocks noGrp="1"/>
          </p:cNvSpPr>
          <p:nvPr>
            <p:ph type="ftr" sz="quarter" idx="11"/>
          </p:nvPr>
        </p:nvSpPr>
        <p:spPr/>
        <p:txBody>
          <a:bodyPr/>
          <a:lstStyle/>
          <a:p>
            <a:r>
              <a:rPr lang="en-US"/>
              <a:t>Chapter 5 System Modeling</a:t>
            </a:r>
          </a:p>
        </p:txBody>
      </p:sp>
      <p:sp>
        <p:nvSpPr>
          <p:cNvPr id="6" name="Slide Number Placeholder 5"/>
          <p:cNvSpPr>
            <a:spLocks noGrp="1"/>
          </p:cNvSpPr>
          <p:nvPr>
            <p:ph type="sldNum" sz="quarter" idx="12"/>
          </p:nvPr>
        </p:nvSpPr>
        <p:spPr/>
        <p:txBody>
          <a:bodyPr/>
          <a:lstStyle/>
          <a:p>
            <a:fld id="{72925E92-DD69-4B30-91D7-BC3CA833981C}" type="slidenum">
              <a:rPr lang="en-US" smtClean="0"/>
              <a:t>‹#›</a:t>
            </a:fld>
            <a:endParaRPr lang="en-US"/>
          </a:p>
        </p:txBody>
      </p:sp>
    </p:spTree>
    <p:extLst>
      <p:ext uri="{BB962C8B-B14F-4D97-AF65-F5344CB8AC3E}">
        <p14:creationId xmlns:p14="http://schemas.microsoft.com/office/powerpoint/2010/main" val="3083183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71AF68C-A24D-46B1-9E1D-A5F25B3E014C}" type="datetime1">
              <a:rPr lang="en-US" smtClean="0"/>
              <a:t>3/18/2026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Chapter 5 System Modeling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2925E92-DD69-4B30-91D7-BC3CA833981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05155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
            </a:r>
            <a:br>
              <a:rPr lang="en-US" dirty="0"/>
            </a:br>
            <a:r>
              <a:rPr lang="en-US" dirty="0"/>
              <a:t>Software Engineering </a:t>
            </a:r>
            <a:endParaRPr lang="en-GB" dirty="0"/>
          </a:p>
        </p:txBody>
      </p:sp>
      <p:sp>
        <p:nvSpPr>
          <p:cNvPr id="3" name="Subtitle 2"/>
          <p:cNvSpPr>
            <a:spLocks noGrp="1"/>
          </p:cNvSpPr>
          <p:nvPr>
            <p:ph type="subTitle" idx="1"/>
          </p:nvPr>
        </p:nvSpPr>
        <p:spPr/>
        <p:txBody>
          <a:bodyPr/>
          <a:lstStyle/>
          <a:p>
            <a:r>
              <a:rPr lang="en-US"/>
              <a:t>Lecture </a:t>
            </a:r>
            <a:r>
              <a:rPr lang="en-US"/>
              <a:t>9</a:t>
            </a:r>
            <a:r>
              <a:rPr lang="en-US" smtClean="0"/>
              <a:t>: </a:t>
            </a:r>
            <a:r>
              <a:rPr lang="en-US" dirty="0"/>
              <a:t>Software Testing</a:t>
            </a:r>
            <a:endParaRPr lang="en-GB" dirty="0"/>
          </a:p>
        </p:txBody>
      </p:sp>
      <p:sp>
        <p:nvSpPr>
          <p:cNvPr id="5" name="Slide Number Placeholder 4">
            <a:extLst>
              <a:ext uri="{FF2B5EF4-FFF2-40B4-BE49-F238E27FC236}">
                <a16:creationId xmlns:a16="http://schemas.microsoft.com/office/drawing/2014/main" id="{85B48BE4-3F2B-4D9A-97E6-499505F16EA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1A81361-66D7-4C6D-A462-B780D05B41E3}"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81400" y="628444"/>
            <a:ext cx="5029200" cy="1807369"/>
          </a:xfrm>
          <a:prstGeom prst="rect">
            <a:avLst/>
          </a:prstGeom>
        </p:spPr>
      </p:pic>
    </p:spTree>
    <p:extLst>
      <p:ext uri="{BB962C8B-B14F-4D97-AF65-F5344CB8AC3E}">
        <p14:creationId xmlns:p14="http://schemas.microsoft.com/office/powerpoint/2010/main" val="2418113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49043-ABD2-4E6E-A2CE-9F67B9D7314F}"/>
              </a:ext>
            </a:extLst>
          </p:cNvPr>
          <p:cNvSpPr>
            <a:spLocks noGrp="1"/>
          </p:cNvSpPr>
          <p:nvPr>
            <p:ph type="title"/>
          </p:nvPr>
        </p:nvSpPr>
        <p:spPr/>
        <p:txBody>
          <a:bodyPr/>
          <a:lstStyle/>
          <a:p>
            <a:r>
              <a:rPr lang="en-US" dirty="0"/>
              <a:t>What is Software Testing?</a:t>
            </a:r>
          </a:p>
        </p:txBody>
      </p:sp>
      <p:sp>
        <p:nvSpPr>
          <p:cNvPr id="3" name="Content Placeholder 2">
            <a:extLst>
              <a:ext uri="{FF2B5EF4-FFF2-40B4-BE49-F238E27FC236}">
                <a16:creationId xmlns:a16="http://schemas.microsoft.com/office/drawing/2014/main" id="{3301FED8-F225-4175-B6CD-9C1047026FAA}"/>
              </a:ext>
            </a:extLst>
          </p:cNvPr>
          <p:cNvSpPr>
            <a:spLocks noGrp="1"/>
          </p:cNvSpPr>
          <p:nvPr>
            <p:ph idx="1"/>
          </p:nvPr>
        </p:nvSpPr>
        <p:spPr/>
        <p:txBody>
          <a:bodyPr>
            <a:normAutofit lnSpcReduction="10000"/>
          </a:bodyPr>
          <a:lstStyle/>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Testing is intended to show that a program does what it is intended to do</a:t>
            </a:r>
          </a:p>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Discover program defects before it is put into use.</a:t>
            </a:r>
          </a:p>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To achieve this, you execute the program with artificial data</a:t>
            </a:r>
          </a:p>
          <a:p>
            <a:pPr marL="0" indent="0" algn="just">
              <a:buNone/>
            </a:pPr>
            <a:r>
              <a:rPr lang="en-US" sz="3200" b="0" i="0" u="none" strike="noStrike" baseline="0" dirty="0">
                <a:solidFill>
                  <a:srgbClr val="000000"/>
                </a:solidFill>
                <a:latin typeface="Wingdings" panose="05000000000000000000" pitchFamily="2" charset="2"/>
              </a:rPr>
              <a:t></a:t>
            </a:r>
            <a:r>
              <a:rPr lang="en-US" sz="3200" b="0" i="0" u="none" strike="noStrike" baseline="0" dirty="0">
                <a:solidFill>
                  <a:srgbClr val="000000"/>
                </a:solidFill>
                <a:latin typeface="Arial" panose="020B0604020202020204" pitchFamily="34" charset="0"/>
              </a:rPr>
              <a:t>You check the results of the test run for errors, anomalies or information about program's non-functional attributes.</a:t>
            </a:r>
          </a:p>
        </p:txBody>
      </p:sp>
      <p:sp>
        <p:nvSpPr>
          <p:cNvPr id="4" name="Slide Number Placeholder 3">
            <a:extLst>
              <a:ext uri="{FF2B5EF4-FFF2-40B4-BE49-F238E27FC236}">
                <a16:creationId xmlns:a16="http://schemas.microsoft.com/office/drawing/2014/main" id="{FBA46457-33A7-4194-9743-523245431768}"/>
              </a:ext>
            </a:extLst>
          </p:cNvPr>
          <p:cNvSpPr>
            <a:spLocks noGrp="1"/>
          </p:cNvSpPr>
          <p:nvPr>
            <p:ph type="sldNum" sz="quarter" idx="12"/>
          </p:nvPr>
        </p:nvSpPr>
        <p:spPr/>
        <p:txBody>
          <a:bodyPr/>
          <a:lstStyle/>
          <a:p>
            <a:fld id="{72925E92-DD69-4B30-91D7-BC3CA833981C}" type="slidenum">
              <a:rPr lang="en-US" smtClean="0"/>
              <a:t>2</a:t>
            </a:fld>
            <a:endParaRPr lang="en-US"/>
          </a:p>
        </p:txBody>
      </p:sp>
    </p:spTree>
    <p:extLst>
      <p:ext uri="{BB962C8B-B14F-4D97-AF65-F5344CB8AC3E}">
        <p14:creationId xmlns:p14="http://schemas.microsoft.com/office/powerpoint/2010/main" val="1177897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2387600" y="471488"/>
            <a:ext cx="7543800" cy="762000"/>
          </a:xfrm>
        </p:spPr>
        <p:txBody>
          <a:bodyPr/>
          <a:lstStyle/>
          <a:p>
            <a:pPr eaLnBrk="1" hangingPunct="1"/>
            <a:r>
              <a:rPr lang="en-US" sz="4400" dirty="0">
                <a:solidFill>
                  <a:srgbClr val="FF0000"/>
                </a:solidFill>
              </a:rPr>
              <a:t>Why Testing and Analysis?</a:t>
            </a:r>
          </a:p>
        </p:txBody>
      </p:sp>
      <p:sp>
        <p:nvSpPr>
          <p:cNvPr id="1094659" name="Rectangle 3"/>
          <p:cNvSpPr>
            <a:spLocks noGrp="1" noChangeArrowheads="1"/>
          </p:cNvSpPr>
          <p:nvPr>
            <p:ph type="body" idx="1"/>
          </p:nvPr>
        </p:nvSpPr>
        <p:spPr>
          <a:xfrm>
            <a:off x="1143000" y="1844676"/>
            <a:ext cx="10118558" cy="4284663"/>
          </a:xfrm>
        </p:spPr>
        <p:txBody>
          <a:bodyPr/>
          <a:lstStyle/>
          <a:p>
            <a:pPr marL="457200" indent="-457200"/>
            <a:r>
              <a:rPr lang="en-US" sz="3200" dirty="0"/>
              <a:t>Software is </a:t>
            </a:r>
            <a:r>
              <a:rPr lang="en-US" sz="3200" dirty="0">
                <a:solidFill>
                  <a:srgbClr val="0000FF"/>
                </a:solidFill>
              </a:rPr>
              <a:t>never correct</a:t>
            </a:r>
            <a:r>
              <a:rPr lang="en-US" sz="3200" dirty="0"/>
              <a:t> no matter which developing technique is used</a:t>
            </a:r>
          </a:p>
          <a:p>
            <a:pPr marL="457200" indent="-457200"/>
            <a:r>
              <a:rPr lang="en-US" sz="3200" dirty="0"/>
              <a:t>Any software </a:t>
            </a:r>
            <a:r>
              <a:rPr lang="en-US" sz="3200" dirty="0">
                <a:solidFill>
                  <a:srgbClr val="0000FF"/>
                </a:solidFill>
              </a:rPr>
              <a:t>must be verified</a:t>
            </a:r>
            <a:r>
              <a:rPr lang="en-US" sz="3200" dirty="0"/>
              <a:t>.</a:t>
            </a:r>
          </a:p>
          <a:p>
            <a:pPr marL="457200" indent="-457200"/>
            <a:r>
              <a:rPr lang="en-US" sz="3200" dirty="0"/>
              <a:t>Software testing and analysis are:</a:t>
            </a:r>
          </a:p>
          <a:p>
            <a:pPr marL="757238" lvl="1" indent="-381000"/>
            <a:r>
              <a:rPr lang="en-US" sz="2800" dirty="0"/>
              <a:t>important to </a:t>
            </a:r>
            <a:r>
              <a:rPr lang="en-US" sz="2800" dirty="0">
                <a:solidFill>
                  <a:srgbClr val="0000FF"/>
                </a:solidFill>
              </a:rPr>
              <a:t>control the quality</a:t>
            </a:r>
            <a:r>
              <a:rPr lang="en-US" sz="2800" dirty="0"/>
              <a:t> of the </a:t>
            </a:r>
            <a:r>
              <a:rPr lang="en-US" sz="2800" dirty="0">
                <a:solidFill>
                  <a:srgbClr val="FF0000"/>
                </a:solidFill>
              </a:rPr>
              <a:t>product</a:t>
            </a:r>
            <a:r>
              <a:rPr lang="en-US" sz="2800" dirty="0"/>
              <a:t> (and of the </a:t>
            </a:r>
            <a:r>
              <a:rPr lang="en-US" sz="2800" dirty="0">
                <a:solidFill>
                  <a:srgbClr val="FF0000"/>
                </a:solidFill>
              </a:rPr>
              <a:t>process</a:t>
            </a:r>
            <a:r>
              <a:rPr lang="en-US" sz="2800" dirty="0"/>
              <a:t>)</a:t>
            </a:r>
          </a:p>
          <a:p>
            <a:pPr marL="757238" lvl="1" indent="-381000"/>
            <a:r>
              <a:rPr lang="en-US" sz="2800" dirty="0"/>
              <a:t>very (often too) </a:t>
            </a:r>
            <a:r>
              <a:rPr lang="en-US" sz="2800" dirty="0">
                <a:solidFill>
                  <a:srgbClr val="FF0000"/>
                </a:solidFill>
              </a:rPr>
              <a:t>expensive</a:t>
            </a:r>
          </a:p>
          <a:p>
            <a:pPr marL="757238" lvl="1" indent="-381000"/>
            <a:r>
              <a:rPr lang="en-US" sz="2800" dirty="0"/>
              <a:t>difficult and stimulating</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3</a:t>
            </a:fld>
            <a:endParaRPr lang="nl-NL"/>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4659">
                                            <p:txEl>
                                              <p:pRg st="0" end="0"/>
                                            </p:txEl>
                                          </p:spTgt>
                                        </p:tgtEl>
                                        <p:attrNameLst>
                                          <p:attrName>style.visibility</p:attrName>
                                        </p:attrNameLst>
                                      </p:cBhvr>
                                      <p:to>
                                        <p:strVal val="visible"/>
                                      </p:to>
                                    </p:set>
                                    <p:animEffect transition="in" filter="blinds(horizontal)">
                                      <p:cBhvr>
                                        <p:cTn id="7" dur="500"/>
                                        <p:tgtEl>
                                          <p:spTgt spid="1094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4659">
                                            <p:txEl>
                                              <p:pRg st="1" end="1"/>
                                            </p:txEl>
                                          </p:spTgt>
                                        </p:tgtEl>
                                        <p:attrNameLst>
                                          <p:attrName>style.visibility</p:attrName>
                                        </p:attrNameLst>
                                      </p:cBhvr>
                                      <p:to>
                                        <p:strVal val="visible"/>
                                      </p:to>
                                    </p:set>
                                    <p:animEffect transition="in" filter="blinds(horizontal)">
                                      <p:cBhvr>
                                        <p:cTn id="12" dur="500"/>
                                        <p:tgtEl>
                                          <p:spTgt spid="1094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4659">
                                            <p:txEl>
                                              <p:pRg st="2" end="2"/>
                                            </p:txEl>
                                          </p:spTgt>
                                        </p:tgtEl>
                                        <p:attrNameLst>
                                          <p:attrName>style.visibility</p:attrName>
                                        </p:attrNameLst>
                                      </p:cBhvr>
                                      <p:to>
                                        <p:strVal val="visible"/>
                                      </p:to>
                                    </p:set>
                                    <p:animEffect transition="in" filter="blinds(horizontal)">
                                      <p:cBhvr>
                                        <p:cTn id="17" dur="500"/>
                                        <p:tgtEl>
                                          <p:spTgt spid="10946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4659">
                                            <p:txEl>
                                              <p:pRg st="3" end="3"/>
                                            </p:txEl>
                                          </p:spTgt>
                                        </p:tgtEl>
                                        <p:attrNameLst>
                                          <p:attrName>style.visibility</p:attrName>
                                        </p:attrNameLst>
                                      </p:cBhvr>
                                      <p:to>
                                        <p:strVal val="visible"/>
                                      </p:to>
                                    </p:set>
                                    <p:animEffect transition="in" filter="blinds(horizontal)">
                                      <p:cBhvr>
                                        <p:cTn id="22" dur="500"/>
                                        <p:tgtEl>
                                          <p:spTgt spid="10946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94659">
                                            <p:txEl>
                                              <p:pRg st="4" end="4"/>
                                            </p:txEl>
                                          </p:spTgt>
                                        </p:tgtEl>
                                        <p:attrNameLst>
                                          <p:attrName>style.visibility</p:attrName>
                                        </p:attrNameLst>
                                      </p:cBhvr>
                                      <p:to>
                                        <p:strVal val="visible"/>
                                      </p:to>
                                    </p:set>
                                    <p:animEffect transition="in" filter="blinds(horizontal)">
                                      <p:cBhvr>
                                        <p:cTn id="27" dur="500"/>
                                        <p:tgtEl>
                                          <p:spTgt spid="10946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94659">
                                            <p:txEl>
                                              <p:pRg st="5" end="5"/>
                                            </p:txEl>
                                          </p:spTgt>
                                        </p:tgtEl>
                                        <p:attrNameLst>
                                          <p:attrName>style.visibility</p:attrName>
                                        </p:attrNameLst>
                                      </p:cBhvr>
                                      <p:to>
                                        <p:strVal val="visible"/>
                                      </p:to>
                                    </p:set>
                                    <p:animEffect transition="in" filter="blinds(horizontal)">
                                      <p:cBhvr>
                                        <p:cTn id="32" dur="500"/>
                                        <p:tgtEl>
                                          <p:spTgt spid="1094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4659"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52938" y="263527"/>
            <a:ext cx="6405063" cy="1450757"/>
          </a:xfrm>
        </p:spPr>
        <p:txBody>
          <a:bodyPr>
            <a:normAutofit/>
            <a:scene3d>
              <a:camera prst="orthographicFront"/>
              <a:lightRig rig="soft" dir="t"/>
            </a:scene3d>
            <a:sp3d prstMaterial="softEdge">
              <a:bevelT w="25400" h="25400"/>
            </a:sp3d>
          </a:bodyPr>
          <a:lstStyle/>
          <a:p>
            <a:pPr>
              <a:defRPr/>
            </a:pPr>
            <a:r>
              <a:rPr lang="en-US" dirty="0" err="1"/>
              <a:t>Ariane</a:t>
            </a:r>
            <a:r>
              <a:rPr lang="en-US" dirty="0"/>
              <a:t> 5</a:t>
            </a:r>
          </a:p>
        </p:txBody>
      </p:sp>
      <p:pic>
        <p:nvPicPr>
          <p:cNvPr id="38918" name="Picture 6"/>
          <p:cNvPicPr>
            <a:picLocks noChangeAspect="1"/>
          </p:cNvPicPr>
          <p:nvPr/>
        </p:nvPicPr>
        <p:blipFill rotWithShape="1">
          <a:blip r:embed="rId3"/>
          <a:srcRect t="19992" b="11359"/>
          <a:stretch/>
        </p:blipFill>
        <p:spPr bwMode="auto">
          <a:xfrm>
            <a:off x="633999" y="581098"/>
            <a:ext cx="4020297" cy="2476136"/>
          </a:xfrm>
          <a:prstGeom prst="rect">
            <a:avLst/>
          </a:prstGeom>
          <a:noFill/>
        </p:spPr>
      </p:pic>
      <p:pic>
        <p:nvPicPr>
          <p:cNvPr id="38917" name="Picture 4"/>
          <p:cNvPicPr>
            <a:picLocks noChangeAspect="1"/>
          </p:cNvPicPr>
          <p:nvPr/>
        </p:nvPicPr>
        <p:blipFill rotWithShape="1">
          <a:blip r:embed="rId4"/>
          <a:srcRect t="45519" r="-1" b="988"/>
          <a:stretch/>
        </p:blipFill>
        <p:spPr bwMode="auto">
          <a:xfrm>
            <a:off x="633999" y="3218101"/>
            <a:ext cx="4020296" cy="2476136"/>
          </a:xfrm>
          <a:prstGeom prst="rect">
            <a:avLst/>
          </a:prstGeom>
          <a:noFill/>
        </p:spPr>
      </p:pic>
      <p:sp>
        <p:nvSpPr>
          <p:cNvPr id="38914" name="Content Placeholder 1"/>
          <p:cNvSpPr>
            <a:spLocks noGrp="1"/>
          </p:cNvSpPr>
          <p:nvPr>
            <p:ph idx="1"/>
          </p:nvPr>
        </p:nvSpPr>
        <p:spPr>
          <a:xfrm>
            <a:off x="5144679" y="2198914"/>
            <a:ext cx="6405063" cy="3670180"/>
          </a:xfrm>
        </p:spPr>
        <p:txBody>
          <a:bodyPr>
            <a:normAutofit/>
          </a:bodyPr>
          <a:lstStyle/>
          <a:p>
            <a:r>
              <a:rPr lang="en-US" dirty="0">
                <a:latin typeface="Garamond" charset="0"/>
                <a:ea typeface="ＭＳ Ｐゴシック" charset="-128"/>
              </a:rPr>
              <a:t>Development took 10 years &amp; $7 billion</a:t>
            </a:r>
          </a:p>
          <a:p>
            <a:r>
              <a:rPr lang="en-US" dirty="0">
                <a:latin typeface="Garamond" charset="0"/>
                <a:ea typeface="ＭＳ Ｐゴシック" charset="-128"/>
              </a:rPr>
              <a:t>On June 4, 1996, the flight of the </a:t>
            </a:r>
            <a:r>
              <a:rPr lang="en-US" dirty="0" err="1">
                <a:latin typeface="Garamond" charset="0"/>
                <a:ea typeface="ＭＳ Ｐゴシック" charset="-128"/>
              </a:rPr>
              <a:t>Ariane</a:t>
            </a:r>
            <a:r>
              <a:rPr lang="en-US" dirty="0">
                <a:latin typeface="Garamond" charset="0"/>
                <a:ea typeface="ＭＳ Ｐゴシック" charset="-128"/>
              </a:rPr>
              <a:t> 5 launcher ended in a failure</a:t>
            </a:r>
          </a:p>
          <a:p>
            <a:r>
              <a:rPr lang="en-US" dirty="0">
                <a:latin typeface="Garamond" charset="0"/>
                <a:ea typeface="ＭＳ Ｐゴシック" charset="-128"/>
              </a:rPr>
              <a:t>Only about 37 seconds after initiation of the flight sequence, at an altitude of about 3,700 m, the launcher veered off its flight path, broke up and exploded</a:t>
            </a:r>
          </a:p>
          <a:p>
            <a:r>
              <a:rPr lang="en-US" dirty="0">
                <a:latin typeface="Garamond" charset="0"/>
                <a:ea typeface="ＭＳ Ｐゴシック" charset="-128"/>
              </a:rPr>
              <a:t>“Fixed” </a:t>
            </a:r>
            <a:r>
              <a:rPr lang="en-US" dirty="0" err="1">
                <a:latin typeface="Garamond" charset="0"/>
                <a:ea typeface="ＭＳ Ｐゴシック" charset="-128"/>
              </a:rPr>
              <a:t>Ariane</a:t>
            </a:r>
            <a:r>
              <a:rPr lang="en-US" dirty="0">
                <a:latin typeface="Garamond" charset="0"/>
                <a:ea typeface="ＭＳ Ｐゴシック" charset="-128"/>
              </a:rPr>
              <a:t> 5 – currently being used</a:t>
            </a:r>
          </a:p>
        </p:txBody>
      </p:sp>
      <p:sp>
        <p:nvSpPr>
          <p:cNvPr id="8" name="Slide Number Placeholder 7"/>
          <p:cNvSpPr>
            <a:spLocks noGrp="1"/>
          </p:cNvSpPr>
          <p:nvPr>
            <p:ph type="sldNum" sz="quarter" idx="11"/>
          </p:nvPr>
        </p:nvSpPr>
        <p:spPr>
          <a:xfrm>
            <a:off x="9900458" y="6459785"/>
            <a:ext cx="1312025" cy="365125"/>
          </a:xfrm>
        </p:spPr>
        <p:txBody>
          <a:bodyPr>
            <a:normAutofit/>
          </a:bodyPr>
          <a:lstStyle/>
          <a:p>
            <a:pPr>
              <a:spcAft>
                <a:spcPts val="600"/>
              </a:spcAft>
              <a:defRPr/>
            </a:pPr>
            <a:fld id="{B9E8CCA2-10A5-DA4C-9CE3-A876A95C45C4}" type="slidenum">
              <a:rPr lang="nl-NL" smtClean="0"/>
              <a:pPr>
                <a:spcAft>
                  <a:spcPts val="600"/>
                </a:spcAft>
                <a:defRPr/>
              </a:pPr>
              <a:t>4</a:t>
            </a:fld>
            <a:endParaRPr lang="nl-NL"/>
          </a:p>
        </p:txBody>
      </p:sp>
    </p:spTree>
    <p:extLst>
      <p:ext uri="{BB962C8B-B14F-4D97-AF65-F5344CB8AC3E}">
        <p14:creationId xmlns:p14="http://schemas.microsoft.com/office/powerpoint/2010/main" val="1065821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741B58E-3B65-4A01-A276-975AB2CF8A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AAC67C3-831B-4AB1-A259-DFB839CAFA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92370" y="605896"/>
            <a:ext cx="3084844" cy="5646208"/>
          </a:xfrm>
        </p:spPr>
        <p:txBody>
          <a:bodyPr anchor="ctr">
            <a:normAutofit/>
            <a:scene3d>
              <a:camera prst="orthographicFront"/>
              <a:lightRig rig="soft" dir="t"/>
            </a:scene3d>
            <a:sp3d prstMaterial="softEdge">
              <a:bevelT w="25400" h="25400"/>
            </a:sp3d>
          </a:bodyPr>
          <a:lstStyle/>
          <a:p>
            <a:pPr>
              <a:defRPr/>
            </a:pPr>
            <a:r>
              <a:rPr lang="en-US" sz="3600">
                <a:solidFill>
                  <a:srgbClr val="FFFFFF"/>
                </a:solidFill>
              </a:rPr>
              <a:t>Ariane 5 – Root Cause</a:t>
            </a:r>
          </a:p>
        </p:txBody>
      </p:sp>
      <p:sp>
        <p:nvSpPr>
          <p:cNvPr id="75" name="Rectangle 74">
            <a:extLst>
              <a:ext uri="{FF2B5EF4-FFF2-40B4-BE49-F238E27FC236}">
                <a16:creationId xmlns:a16="http://schemas.microsoft.com/office/drawing/2014/main" id="{054B3F04-9EAC-45C0-B3CE-0387EEA10A0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9938" name="Content Placeholder 1"/>
          <p:cNvSpPr>
            <a:spLocks noGrp="1"/>
          </p:cNvSpPr>
          <p:nvPr>
            <p:ph idx="1"/>
          </p:nvPr>
        </p:nvSpPr>
        <p:spPr>
          <a:xfrm>
            <a:off x="4742016" y="605896"/>
            <a:ext cx="6413663" cy="5646208"/>
          </a:xfrm>
        </p:spPr>
        <p:txBody>
          <a:bodyPr anchor="ctr">
            <a:normAutofit/>
          </a:bodyPr>
          <a:lstStyle/>
          <a:p>
            <a:r>
              <a:rPr lang="en-US" sz="1900" b="1">
                <a:latin typeface="Garamond" charset="0"/>
                <a:ea typeface="ＭＳ Ｐゴシック" charset="-128"/>
              </a:rPr>
              <a:t>Source: ARIANE 5 Flight 501 Failure, Report by the Inquiry Board</a:t>
            </a:r>
          </a:p>
          <a:p>
            <a:r>
              <a:rPr lang="en-US" sz="1900">
                <a:latin typeface="Garamond" charset="0"/>
                <a:ea typeface="ＭＳ Ｐゴシック" charset="-128"/>
              </a:rPr>
              <a:t>A program segment for </a:t>
            </a:r>
            <a:r>
              <a:rPr lang="en-US" sz="1900" u="sng">
                <a:latin typeface="Garamond" charset="0"/>
                <a:ea typeface="ＭＳ Ｐゴシック" charset="-128"/>
              </a:rPr>
              <a:t>converting a floating point number to a signed 16 </a:t>
            </a:r>
            <a:r>
              <a:rPr lang="en-US" sz="1900">
                <a:latin typeface="Garamond" charset="0"/>
                <a:ea typeface="ＭＳ Ｐゴシック" charset="-128"/>
              </a:rPr>
              <a:t>bit integer was executed with an </a:t>
            </a:r>
            <a:r>
              <a:rPr lang="en-US" sz="1900" u="sng">
                <a:latin typeface="Garamond" charset="0"/>
                <a:ea typeface="ＭＳ Ｐゴシック" charset="-128"/>
              </a:rPr>
              <a:t>input data value of a 64-bit number</a:t>
            </a:r>
            <a:r>
              <a:rPr lang="en-US" sz="1900">
                <a:latin typeface="Garamond" charset="0"/>
                <a:ea typeface="ＭＳ Ｐゴシック" charset="-128"/>
              </a:rPr>
              <a:t>.</a:t>
            </a:r>
          </a:p>
          <a:p>
            <a:r>
              <a:rPr lang="en-US" sz="1900">
                <a:latin typeface="Garamond" charset="0"/>
                <a:ea typeface="ＭＳ Ｐゴシック" charset="-128"/>
              </a:rPr>
              <a:t>The segment was written for </a:t>
            </a:r>
            <a:r>
              <a:rPr lang="en-US" sz="1900" u="sng" err="1">
                <a:latin typeface="Garamond" charset="0"/>
                <a:ea typeface="ＭＳ Ｐゴシック" charset="-128"/>
              </a:rPr>
              <a:t>Ariane</a:t>
            </a:r>
            <a:r>
              <a:rPr lang="en-US" sz="1900" u="sng">
                <a:latin typeface="Garamond" charset="0"/>
                <a:ea typeface="ＭＳ Ｐゴシック" charset="-128"/>
              </a:rPr>
              <a:t> 4</a:t>
            </a:r>
            <a:r>
              <a:rPr lang="en-US" sz="1900">
                <a:latin typeface="Garamond" charset="0"/>
                <a:ea typeface="ＭＳ Ｐゴシック" charset="-128"/>
              </a:rPr>
              <a:t> and the conversion was left unprotected, </a:t>
            </a:r>
            <a:r>
              <a:rPr lang="en-US" sz="1900" u="sng">
                <a:latin typeface="Garamond" charset="0"/>
                <a:ea typeface="ＭＳ Ｐゴシック" charset="-128"/>
              </a:rPr>
              <a:t>because it was thought </a:t>
            </a:r>
            <a:r>
              <a:rPr lang="en-US" sz="1900">
                <a:latin typeface="Garamond" charset="0"/>
                <a:ea typeface="ＭＳ Ｐゴシック" charset="-128"/>
              </a:rPr>
              <a:t>that </a:t>
            </a:r>
            <a:r>
              <a:rPr lang="en-US" sz="1900" err="1">
                <a:latin typeface="Garamond" charset="0"/>
                <a:ea typeface="ＭＳ Ｐゴシック" charset="-128"/>
              </a:rPr>
              <a:t>Ariane</a:t>
            </a:r>
            <a:r>
              <a:rPr lang="en-US" sz="1900">
                <a:latin typeface="Garamond" charset="0"/>
                <a:ea typeface="ＭＳ Ｐゴシック" charset="-128"/>
              </a:rPr>
              <a:t> 4 will never attain such a value.</a:t>
            </a:r>
          </a:p>
          <a:p>
            <a:r>
              <a:rPr lang="en-US" sz="1900">
                <a:latin typeface="Garamond" charset="0"/>
                <a:ea typeface="ＭＳ Ｐゴシック" charset="-128"/>
              </a:rPr>
              <a:t>The subsystem containing this segment was reused for </a:t>
            </a:r>
            <a:r>
              <a:rPr lang="en-US" sz="1900" err="1">
                <a:latin typeface="Garamond" charset="0"/>
                <a:ea typeface="ＭＳ Ｐゴシック" charset="-128"/>
              </a:rPr>
              <a:t>Ariane</a:t>
            </a:r>
            <a:r>
              <a:rPr lang="en-US" sz="1900">
                <a:latin typeface="Garamond" charset="0"/>
                <a:ea typeface="ＭＳ Ｐゴシック" charset="-128"/>
              </a:rPr>
              <a:t> 5 as it had been successfully used over years for </a:t>
            </a:r>
            <a:r>
              <a:rPr lang="en-US" sz="1900" err="1">
                <a:latin typeface="Garamond" charset="0"/>
                <a:ea typeface="ＭＳ Ｐゴシック" charset="-128"/>
              </a:rPr>
              <a:t>Ariane</a:t>
            </a:r>
            <a:r>
              <a:rPr lang="en-US" sz="1900">
                <a:latin typeface="Garamond" charset="0"/>
                <a:ea typeface="ＭＳ Ｐゴシック" charset="-128"/>
              </a:rPr>
              <a:t> 4</a:t>
            </a:r>
          </a:p>
          <a:p>
            <a:r>
              <a:rPr lang="en-US" sz="1900">
                <a:latin typeface="Garamond" charset="0"/>
                <a:ea typeface="ＭＳ Ｐゴシック" charset="-128"/>
              </a:rPr>
              <a:t>This run time error (out of range, overflow), which arose in both the active and the backup computers at about the same time, was detected and </a:t>
            </a:r>
            <a:r>
              <a:rPr lang="en-US" sz="1900" u="sng">
                <a:latin typeface="Garamond" charset="0"/>
                <a:ea typeface="ＭＳ Ｐゴシック" charset="-128"/>
              </a:rPr>
              <a:t>both computers shut themselves down</a:t>
            </a:r>
            <a:r>
              <a:rPr lang="en-US" sz="1900">
                <a:latin typeface="Garamond" charset="0"/>
                <a:ea typeface="ＭＳ Ｐゴシック" charset="-128"/>
              </a:rPr>
              <a:t>. </a:t>
            </a:r>
          </a:p>
          <a:p>
            <a:r>
              <a:rPr lang="en-US" sz="1900">
                <a:latin typeface="Garamond" charset="0"/>
                <a:ea typeface="ＭＳ Ｐゴシック" charset="-128"/>
              </a:rPr>
              <a:t>This resulted in the </a:t>
            </a:r>
            <a:r>
              <a:rPr lang="en-US" sz="1900" u="sng">
                <a:latin typeface="Garamond" charset="0"/>
              </a:rPr>
              <a:t>total loss of altitude control</a:t>
            </a:r>
            <a:r>
              <a:rPr lang="en-US" sz="1900">
                <a:latin typeface="Garamond" charset="0"/>
                <a:ea typeface="ＭＳ Ｐゴシック" charset="-128"/>
              </a:rPr>
              <a:t>. This breakup was </a:t>
            </a:r>
            <a:r>
              <a:rPr lang="en-US" sz="1900" u="sng">
                <a:latin typeface="Garamond" charset="0"/>
                <a:ea typeface="ＭＳ Ｐゴシック" charset="-128"/>
              </a:rPr>
              <a:t>detected by an on-board monitor </a:t>
            </a:r>
            <a:r>
              <a:rPr lang="en-US" sz="1900">
                <a:latin typeface="Garamond" charset="0"/>
                <a:ea typeface="ＭＳ Ｐゴシック" charset="-128"/>
              </a:rPr>
              <a:t>which </a:t>
            </a:r>
            <a:r>
              <a:rPr lang="en-US" sz="1900" u="sng">
                <a:latin typeface="Garamond" charset="0"/>
                <a:ea typeface="ＭＳ Ｐゴシック" charset="-128"/>
              </a:rPr>
              <a:t>ignited the explosive charges </a:t>
            </a:r>
            <a:r>
              <a:rPr lang="en-US" sz="1900">
                <a:latin typeface="Garamond" charset="0"/>
                <a:ea typeface="ＭＳ Ｐゴシック" charset="-128"/>
              </a:rPr>
              <a:t>to destroy the vehicle in the air. </a:t>
            </a:r>
          </a:p>
          <a:p>
            <a:r>
              <a:rPr lang="en-US" sz="1900">
                <a:latin typeface="Garamond" charset="0"/>
                <a:ea typeface="ＭＳ Ｐゴシック" charset="-128"/>
              </a:rPr>
              <a:t>Ironically, this program segment </a:t>
            </a:r>
            <a:r>
              <a:rPr lang="en-US" sz="1900" u="sng">
                <a:latin typeface="Garamond" charset="0"/>
                <a:ea typeface="ＭＳ Ｐゴシック" charset="-128"/>
              </a:rPr>
              <a:t>was not required by </a:t>
            </a:r>
            <a:r>
              <a:rPr lang="en-US" sz="1900" u="sng" err="1">
                <a:latin typeface="Garamond" charset="0"/>
                <a:ea typeface="ＭＳ Ｐゴシック" charset="-128"/>
              </a:rPr>
              <a:t>Ariane</a:t>
            </a:r>
            <a:r>
              <a:rPr lang="en-US" sz="1900" u="sng">
                <a:latin typeface="Garamond" charset="0"/>
                <a:ea typeface="ＭＳ Ｐゴシック" charset="-128"/>
              </a:rPr>
              <a:t> 5 </a:t>
            </a:r>
          </a:p>
        </p:txBody>
      </p:sp>
      <p:sp>
        <p:nvSpPr>
          <p:cNvPr id="6" name="Slide Number Placeholder 5"/>
          <p:cNvSpPr>
            <a:spLocks noGrp="1"/>
          </p:cNvSpPr>
          <p:nvPr>
            <p:ph type="sldNum" sz="quarter" idx="11"/>
          </p:nvPr>
        </p:nvSpPr>
        <p:spPr>
          <a:xfrm>
            <a:off x="10123055" y="6459785"/>
            <a:ext cx="1089428" cy="365125"/>
          </a:xfrm>
        </p:spPr>
        <p:txBody>
          <a:bodyPr>
            <a:normAutofit/>
          </a:bodyPr>
          <a:lstStyle/>
          <a:p>
            <a:pPr>
              <a:spcAft>
                <a:spcPts val="600"/>
              </a:spcAft>
              <a:defRPr/>
            </a:pPr>
            <a:fld id="{B9E8CCA2-10A5-DA4C-9CE3-A876A95C45C4}" type="slidenum">
              <a:rPr lang="nl-NL">
                <a:solidFill>
                  <a:schemeClr val="tx2"/>
                </a:solidFill>
              </a:rPr>
              <a:pPr>
                <a:spcAft>
                  <a:spcPts val="600"/>
                </a:spcAft>
                <a:defRPr/>
              </a:pPr>
              <a:t>5</a:t>
            </a:fld>
            <a:endParaRPr lang="nl-NL">
              <a:solidFill>
                <a:schemeClr val="tx2"/>
              </a:solidFill>
            </a:endParaRPr>
          </a:p>
        </p:txBody>
      </p:sp>
    </p:spTree>
    <p:extLst>
      <p:ext uri="{BB962C8B-B14F-4D97-AF65-F5344CB8AC3E}">
        <p14:creationId xmlns:p14="http://schemas.microsoft.com/office/powerpoint/2010/main" val="4012486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741B58E-3B65-4A01-A276-975AB2CF8A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AAC67C3-831B-4AB1-A259-DFB839CAFA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92370" y="605896"/>
            <a:ext cx="3084844" cy="5646208"/>
          </a:xfrm>
        </p:spPr>
        <p:txBody>
          <a:bodyPr anchor="ctr">
            <a:normAutofit/>
            <a:scene3d>
              <a:camera prst="orthographicFront"/>
              <a:lightRig rig="soft" dir="t"/>
            </a:scene3d>
            <a:sp3d prstMaterial="softEdge">
              <a:bevelT w="25400" h="25400"/>
            </a:sp3d>
          </a:bodyPr>
          <a:lstStyle/>
          <a:p>
            <a:pPr>
              <a:defRPr/>
            </a:pPr>
            <a:r>
              <a:rPr lang="en-US" sz="3600" dirty="0">
                <a:solidFill>
                  <a:srgbClr val="FFFFFF"/>
                </a:solidFill>
              </a:rPr>
              <a:t>Ariane 5 – Lessons Learned</a:t>
            </a:r>
          </a:p>
        </p:txBody>
      </p:sp>
      <p:sp>
        <p:nvSpPr>
          <p:cNvPr id="75" name="Rectangle 74">
            <a:extLst>
              <a:ext uri="{FF2B5EF4-FFF2-40B4-BE49-F238E27FC236}">
                <a16:creationId xmlns:a16="http://schemas.microsoft.com/office/drawing/2014/main" id="{054B3F04-9EAC-45C0-B3CE-0387EEA10A0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962" name="Content Placeholder 1"/>
          <p:cNvSpPr>
            <a:spLocks noGrp="1"/>
          </p:cNvSpPr>
          <p:nvPr>
            <p:ph idx="1"/>
          </p:nvPr>
        </p:nvSpPr>
        <p:spPr>
          <a:xfrm>
            <a:off x="4742016" y="605896"/>
            <a:ext cx="6413663" cy="5646208"/>
          </a:xfrm>
        </p:spPr>
        <p:txBody>
          <a:bodyPr anchor="ctr">
            <a:normAutofit/>
          </a:bodyPr>
          <a:lstStyle/>
          <a:p>
            <a:r>
              <a:rPr lang="en-US" dirty="0">
                <a:latin typeface="Garamond" charset="0"/>
                <a:ea typeface="ＭＳ Ｐゴシック" charset="-128"/>
              </a:rPr>
              <a:t>Adequate exception handling and redundancy strategies (real function of a backup system, degraded modes?)</a:t>
            </a:r>
          </a:p>
          <a:p>
            <a:r>
              <a:rPr lang="en-US" dirty="0">
                <a:latin typeface="Garamond" charset="0"/>
                <a:ea typeface="ＭＳ Ｐゴシック" charset="-128"/>
              </a:rPr>
              <a:t>Clear, complete, documented specifications (e.g., preconditions, post-conditions)</a:t>
            </a:r>
          </a:p>
          <a:p>
            <a:r>
              <a:rPr lang="en-US" dirty="0">
                <a:latin typeface="Garamond" charset="0"/>
                <a:ea typeface="ＭＳ Ｐゴシック" charset="-128"/>
              </a:rPr>
              <a:t>But perhaps more importantly: usage-based testing (based on operational profiles), in this case actual Ariane 5 trajectories</a:t>
            </a:r>
          </a:p>
          <a:p>
            <a:r>
              <a:rPr lang="en-US" dirty="0">
                <a:latin typeface="Garamond" charset="0"/>
                <a:ea typeface="ＭＳ Ｐゴシック" charset="-128"/>
              </a:rPr>
              <a:t>Note this was not a complex, computing problem, but a deficiency of the software engineering practices in place …</a:t>
            </a:r>
          </a:p>
        </p:txBody>
      </p:sp>
      <p:sp>
        <p:nvSpPr>
          <p:cNvPr id="6" name="Slide Number Placeholder 5"/>
          <p:cNvSpPr>
            <a:spLocks noGrp="1"/>
          </p:cNvSpPr>
          <p:nvPr>
            <p:ph type="sldNum" sz="quarter" idx="11"/>
          </p:nvPr>
        </p:nvSpPr>
        <p:spPr>
          <a:xfrm>
            <a:off x="10123055" y="6459785"/>
            <a:ext cx="1089428" cy="365125"/>
          </a:xfrm>
        </p:spPr>
        <p:txBody>
          <a:bodyPr>
            <a:normAutofit/>
          </a:bodyPr>
          <a:lstStyle/>
          <a:p>
            <a:pPr>
              <a:spcAft>
                <a:spcPts val="600"/>
              </a:spcAft>
              <a:defRPr/>
            </a:pPr>
            <a:fld id="{B9E8CCA2-10A5-DA4C-9CE3-A876A95C45C4}" type="slidenum">
              <a:rPr lang="nl-NL">
                <a:solidFill>
                  <a:schemeClr val="tx2"/>
                </a:solidFill>
              </a:rPr>
              <a:pPr>
                <a:spcAft>
                  <a:spcPts val="600"/>
                </a:spcAft>
                <a:defRPr/>
              </a:pPr>
              <a:t>6</a:t>
            </a:fld>
            <a:endParaRPr lang="nl-NL">
              <a:solidFill>
                <a:schemeClr val="tx2"/>
              </a:solidFill>
            </a:endParaRPr>
          </a:p>
        </p:txBody>
      </p:sp>
    </p:spTree>
    <p:extLst>
      <p:ext uri="{BB962C8B-B14F-4D97-AF65-F5344CB8AC3E}">
        <p14:creationId xmlns:p14="http://schemas.microsoft.com/office/powerpoint/2010/main" val="373913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181601" y="157466"/>
            <a:ext cx="6368142" cy="1450757"/>
          </a:xfrm>
        </p:spPr>
        <p:txBody>
          <a:bodyPr>
            <a:normAutofit/>
            <a:scene3d>
              <a:camera prst="orthographicFront"/>
              <a:lightRig rig="soft" dir="t"/>
            </a:scene3d>
            <a:sp3d prstMaterial="softEdge">
              <a:bevelT w="25400" h="25400"/>
            </a:sp3d>
          </a:bodyPr>
          <a:lstStyle/>
          <a:p>
            <a:pPr>
              <a:defRPr/>
            </a:pPr>
            <a:r>
              <a:rPr lang="en-US" dirty="0"/>
              <a:t>F-18 crash</a:t>
            </a:r>
          </a:p>
        </p:txBody>
      </p:sp>
      <p:pic>
        <p:nvPicPr>
          <p:cNvPr id="41989" name="Picture 4" descr="f-18"/>
          <p:cNvPicPr>
            <a:picLocks noChangeAspect="1" noChangeArrowheads="1"/>
          </p:cNvPicPr>
          <p:nvPr/>
        </p:nvPicPr>
        <p:blipFill rotWithShape="1">
          <a:blip r:embed="rId3"/>
          <a:srcRect l="29947" r="20260" b="1"/>
          <a:stretch/>
        </p:blipFill>
        <p:spPr bwMode="auto">
          <a:xfrm>
            <a:off x="20" y="-12128"/>
            <a:ext cx="4654276" cy="6870127"/>
          </a:xfrm>
          <a:prstGeom prst="rect">
            <a:avLst/>
          </a:prstGeom>
          <a:noFill/>
        </p:spPr>
      </p:pic>
      <p:sp>
        <p:nvSpPr>
          <p:cNvPr id="41986" name="Content Placeholder 1"/>
          <p:cNvSpPr>
            <a:spLocks noGrp="1"/>
          </p:cNvSpPr>
          <p:nvPr>
            <p:ph idx="1"/>
          </p:nvPr>
        </p:nvSpPr>
        <p:spPr>
          <a:xfrm>
            <a:off x="5181601" y="2198914"/>
            <a:ext cx="6368142" cy="3670180"/>
          </a:xfrm>
        </p:spPr>
        <p:txBody>
          <a:bodyPr>
            <a:normAutofit/>
          </a:bodyPr>
          <a:lstStyle/>
          <a:p>
            <a:r>
              <a:rPr lang="en-US" dirty="0">
                <a:latin typeface="Garamond" charset="0"/>
                <a:ea typeface="ＭＳ Ｐゴシック" charset="-128"/>
              </a:rPr>
              <a:t>An F-18 crashed because of a missing exception condition:</a:t>
            </a:r>
          </a:p>
          <a:p>
            <a:pPr lvl="1"/>
            <a:r>
              <a:rPr lang="en-US" dirty="0">
                <a:latin typeface="Garamond" charset="0"/>
                <a:ea typeface="ＭＳ Ｐゴシック" charset="-128"/>
              </a:rPr>
              <a:t>An if ... then ... block without the else clause that was thought could not possibly arise.</a:t>
            </a:r>
          </a:p>
          <a:p>
            <a:r>
              <a:rPr lang="en-US" dirty="0">
                <a:latin typeface="Garamond" charset="0"/>
                <a:ea typeface="ＭＳ Ｐゴシック" charset="-128"/>
              </a:rPr>
              <a:t>In simulation, an F-16 program bug caused the </a:t>
            </a:r>
            <a:r>
              <a:rPr lang="en-US" u="sng" dirty="0">
                <a:latin typeface="Garamond" charset="0"/>
                <a:ea typeface="ＭＳ Ｐゴシック" charset="-128"/>
              </a:rPr>
              <a:t>virtual plane to flip over</a:t>
            </a:r>
            <a:r>
              <a:rPr lang="en-US" dirty="0">
                <a:latin typeface="Garamond" charset="0"/>
                <a:ea typeface="ＭＳ Ｐゴシック" charset="-128"/>
              </a:rPr>
              <a:t> </a:t>
            </a:r>
            <a:r>
              <a:rPr lang="en-US">
                <a:latin typeface="Garamond" charset="0"/>
                <a:ea typeface="ＭＳ Ｐゴシック" charset="-128"/>
              </a:rPr>
              <a:t>whenever</a:t>
            </a:r>
            <a:r>
              <a:rPr lang="en-US" dirty="0">
                <a:latin typeface="Garamond" charset="0"/>
                <a:ea typeface="ＭＳ Ｐゴシック" charset="-128"/>
              </a:rPr>
              <a:t> it </a:t>
            </a:r>
            <a:r>
              <a:rPr lang="en-US" u="sng" dirty="0">
                <a:latin typeface="Garamond" charset="0"/>
                <a:ea typeface="ＭＳ Ｐゴシック" charset="-128"/>
              </a:rPr>
              <a:t>crossed the equator</a:t>
            </a:r>
            <a:r>
              <a:rPr lang="en-US" dirty="0">
                <a:latin typeface="Garamond" charset="0"/>
                <a:ea typeface="ＭＳ Ｐゴシック" charset="-128"/>
              </a:rPr>
              <a:t>, as a result of a missing </a:t>
            </a:r>
            <a:r>
              <a:rPr lang="en-US" u="sng" dirty="0">
                <a:latin typeface="Garamond" charset="0"/>
                <a:ea typeface="ＭＳ Ｐゴシック" charset="-128"/>
              </a:rPr>
              <a:t>minus sign to indicate south latitude</a:t>
            </a:r>
            <a:r>
              <a:rPr lang="en-US" dirty="0">
                <a:latin typeface="Garamond" charset="0"/>
                <a:ea typeface="ＭＳ Ｐゴシック" charset="-128"/>
              </a:rPr>
              <a:t>.</a:t>
            </a:r>
          </a:p>
        </p:txBody>
      </p:sp>
      <p:sp>
        <p:nvSpPr>
          <p:cNvPr id="7" name="Slide Number Placeholder 6"/>
          <p:cNvSpPr>
            <a:spLocks noGrp="1"/>
          </p:cNvSpPr>
          <p:nvPr>
            <p:ph type="sldNum" sz="quarter" idx="11"/>
          </p:nvPr>
        </p:nvSpPr>
        <p:spPr>
          <a:xfrm>
            <a:off x="9900458" y="6459785"/>
            <a:ext cx="1312025" cy="365125"/>
          </a:xfrm>
        </p:spPr>
        <p:txBody>
          <a:bodyPr>
            <a:normAutofit/>
          </a:bodyPr>
          <a:lstStyle/>
          <a:p>
            <a:pPr>
              <a:spcAft>
                <a:spcPts val="600"/>
              </a:spcAft>
              <a:defRPr/>
            </a:pPr>
            <a:fld id="{B9E8CCA2-10A5-DA4C-9CE3-A876A95C45C4}" type="slidenum">
              <a:rPr lang="nl-NL">
                <a:solidFill>
                  <a:schemeClr val="tx1">
                    <a:lumMod val="75000"/>
                    <a:lumOff val="25000"/>
                  </a:schemeClr>
                </a:solidFill>
              </a:rPr>
              <a:pPr>
                <a:spcAft>
                  <a:spcPts val="600"/>
                </a:spcAft>
                <a:defRPr/>
              </a:pPr>
              <a:t>7</a:t>
            </a:fld>
            <a:endParaRPr lang="nl-NL">
              <a:solidFill>
                <a:schemeClr val="tx1">
                  <a:lumMod val="75000"/>
                  <a:lumOff val="25000"/>
                </a:schemeClr>
              </a:solidFill>
            </a:endParaRPr>
          </a:p>
        </p:txBody>
      </p:sp>
    </p:spTree>
    <p:extLst>
      <p:ext uri="{BB962C8B-B14F-4D97-AF65-F5344CB8AC3E}">
        <p14:creationId xmlns:p14="http://schemas.microsoft.com/office/powerpoint/2010/main" val="2236639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867744" y="360416"/>
            <a:ext cx="3690257" cy="1450757"/>
          </a:xfrm>
        </p:spPr>
        <p:txBody>
          <a:bodyPr>
            <a:normAutofit/>
            <a:scene3d>
              <a:camera prst="orthographicFront"/>
              <a:lightRig rig="soft" dir="t"/>
            </a:scene3d>
            <a:sp3d prstMaterial="softEdge">
              <a:bevelT w="25400" h="25400"/>
            </a:sp3d>
          </a:bodyPr>
          <a:lstStyle/>
          <a:p>
            <a:pPr>
              <a:defRPr/>
            </a:pPr>
            <a:r>
              <a:rPr lang="en-US" dirty="0"/>
              <a:t>Fatal Therac-25 Radiation</a:t>
            </a:r>
          </a:p>
        </p:txBody>
      </p:sp>
      <p:pic>
        <p:nvPicPr>
          <p:cNvPr id="43013" name="Picture 4"/>
          <p:cNvPicPr>
            <a:picLocks noChangeAspect="1"/>
          </p:cNvPicPr>
          <p:nvPr/>
        </p:nvPicPr>
        <p:blipFill rotWithShape="1">
          <a:blip r:embed="rId2"/>
          <a:srcRect r="4476" b="1"/>
          <a:stretch/>
        </p:blipFill>
        <p:spPr bwMode="auto">
          <a:xfrm>
            <a:off x="633999" y="640081"/>
            <a:ext cx="6909801" cy="5314406"/>
          </a:xfrm>
          <a:prstGeom prst="rect">
            <a:avLst/>
          </a:prstGeom>
          <a:noFill/>
        </p:spPr>
      </p:pic>
      <p:sp>
        <p:nvSpPr>
          <p:cNvPr id="43010" name="Content Placeholder 1"/>
          <p:cNvSpPr>
            <a:spLocks noGrp="1"/>
          </p:cNvSpPr>
          <p:nvPr>
            <p:ph idx="1"/>
          </p:nvPr>
        </p:nvSpPr>
        <p:spPr>
          <a:xfrm>
            <a:off x="7859485" y="2198913"/>
            <a:ext cx="3690257" cy="3755565"/>
          </a:xfrm>
        </p:spPr>
        <p:txBody>
          <a:bodyPr>
            <a:normAutofit/>
          </a:bodyPr>
          <a:lstStyle/>
          <a:p>
            <a:r>
              <a:rPr lang="en-US">
                <a:latin typeface="Garamond" charset="0"/>
                <a:ea typeface="ＭＳ Ｐゴシック" charset="-128"/>
              </a:rPr>
              <a:t>In 1986, a man in Texas received between 16,500-25,000 radiations in less than 10 sec, over an area of about 1 cm.</a:t>
            </a:r>
          </a:p>
          <a:p>
            <a:r>
              <a:rPr lang="en-US">
                <a:latin typeface="Garamond" charset="0"/>
                <a:ea typeface="ＭＳ Ｐゴシック" charset="-128"/>
              </a:rPr>
              <a:t>He lost his left arm, and died of complications 5 months later.</a:t>
            </a:r>
          </a:p>
        </p:txBody>
      </p:sp>
      <p:sp>
        <p:nvSpPr>
          <p:cNvPr id="7" name="Slide Number Placeholder 6"/>
          <p:cNvSpPr>
            <a:spLocks noGrp="1"/>
          </p:cNvSpPr>
          <p:nvPr>
            <p:ph type="sldNum" sz="quarter" idx="11"/>
          </p:nvPr>
        </p:nvSpPr>
        <p:spPr>
          <a:xfrm>
            <a:off x="9900458" y="6459785"/>
            <a:ext cx="1312025" cy="365125"/>
          </a:xfrm>
        </p:spPr>
        <p:txBody>
          <a:bodyPr>
            <a:normAutofit/>
          </a:bodyPr>
          <a:lstStyle/>
          <a:p>
            <a:pPr>
              <a:spcAft>
                <a:spcPts val="600"/>
              </a:spcAft>
              <a:defRPr/>
            </a:pPr>
            <a:fld id="{B9E8CCA2-10A5-DA4C-9CE3-A876A95C45C4}" type="slidenum">
              <a:rPr lang="nl-NL" smtClean="0"/>
              <a:pPr>
                <a:spcAft>
                  <a:spcPts val="600"/>
                </a:spcAft>
                <a:defRPr/>
              </a:pPr>
              <a:t>8</a:t>
            </a:fld>
            <a:endParaRPr lang="nl-NL"/>
          </a:p>
        </p:txBody>
      </p:sp>
    </p:spTree>
    <p:extLst>
      <p:ext uri="{BB962C8B-B14F-4D97-AF65-F5344CB8AC3E}">
        <p14:creationId xmlns:p14="http://schemas.microsoft.com/office/powerpoint/2010/main" val="2954995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741B58E-3B65-4A01-A276-975AB2CF8A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AAC67C3-831B-4AB1-A259-DFB839CAFAF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itle 2"/>
          <p:cNvSpPr>
            <a:spLocks noGrp="1"/>
          </p:cNvSpPr>
          <p:nvPr>
            <p:ph type="title"/>
          </p:nvPr>
        </p:nvSpPr>
        <p:spPr>
          <a:xfrm>
            <a:off x="492370" y="605896"/>
            <a:ext cx="3084844" cy="5646208"/>
          </a:xfrm>
        </p:spPr>
        <p:txBody>
          <a:bodyPr anchor="ctr">
            <a:normAutofit/>
            <a:scene3d>
              <a:camera prst="orthographicFront"/>
              <a:lightRig rig="soft" dir="t"/>
            </a:scene3d>
            <a:sp3d prstMaterial="softEdge">
              <a:bevelT w="25400" h="25400"/>
            </a:sp3d>
          </a:bodyPr>
          <a:lstStyle/>
          <a:p>
            <a:pPr>
              <a:defRPr/>
            </a:pPr>
            <a:r>
              <a:rPr lang="en-US" sz="3600">
                <a:solidFill>
                  <a:srgbClr val="FFFFFF"/>
                </a:solidFill>
              </a:rPr>
              <a:t>Therac 25</a:t>
            </a:r>
          </a:p>
        </p:txBody>
      </p:sp>
      <p:sp>
        <p:nvSpPr>
          <p:cNvPr id="75" name="Rectangle 74">
            <a:extLst>
              <a:ext uri="{FF2B5EF4-FFF2-40B4-BE49-F238E27FC236}">
                <a16:creationId xmlns:a16="http://schemas.microsoft.com/office/drawing/2014/main" id="{054B3F04-9EAC-45C0-B3CE-0387EEA10A0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034" name="Content Placeholder 1"/>
          <p:cNvSpPr>
            <a:spLocks noGrp="1"/>
          </p:cNvSpPr>
          <p:nvPr>
            <p:ph idx="1"/>
          </p:nvPr>
        </p:nvSpPr>
        <p:spPr>
          <a:xfrm>
            <a:off x="4742016" y="605896"/>
            <a:ext cx="6413663" cy="5646208"/>
          </a:xfrm>
        </p:spPr>
        <p:txBody>
          <a:bodyPr anchor="ctr">
            <a:normAutofit/>
          </a:bodyPr>
          <a:lstStyle/>
          <a:p>
            <a:r>
              <a:rPr lang="en-US">
                <a:latin typeface="Garamond" charset="0"/>
                <a:ea typeface="ＭＳ Ｐゴシック" charset="-128"/>
              </a:rPr>
              <a:t>Incident: A patient passed away</a:t>
            </a:r>
          </a:p>
          <a:p>
            <a:r>
              <a:rPr lang="en-US">
                <a:latin typeface="Garamond" charset="0"/>
                <a:ea typeface="ＭＳ Ｐゴシック" charset="-128"/>
              </a:rPr>
              <a:t>Failure: The device </a:t>
            </a:r>
            <a:r>
              <a:rPr lang="en-US" u="sng">
                <a:latin typeface="Garamond" charset="0"/>
                <a:ea typeface="ＭＳ Ｐゴシック" charset="-128"/>
              </a:rPr>
              <a:t>applied higher frequency of radiations </a:t>
            </a:r>
            <a:r>
              <a:rPr lang="en-US">
                <a:latin typeface="Garamond" charset="0"/>
                <a:ea typeface="ＭＳ Ｐゴシック" charset="-128"/>
              </a:rPr>
              <a:t>than what was safe. Safety range: [1…10,000 Hz]</a:t>
            </a:r>
          </a:p>
          <a:p>
            <a:r>
              <a:rPr lang="en-US">
                <a:latin typeface="Garamond" charset="0"/>
                <a:ea typeface="ＭＳ Ｐゴシック" charset="-128"/>
              </a:rPr>
              <a:t>Fault: The software controller of the </a:t>
            </a:r>
            <a:r>
              <a:rPr lang="en-US" u="sng">
                <a:latin typeface="Garamond" charset="0"/>
                <a:ea typeface="ＭＳ Ｐゴシック" charset="-128"/>
              </a:rPr>
              <a:t>device did not have </a:t>
            </a:r>
            <a:r>
              <a:rPr lang="en-US">
                <a:latin typeface="Garamond" charset="0"/>
                <a:ea typeface="ＭＳ Ｐゴシック" charset="-128"/>
              </a:rPr>
              <a:t>a </a:t>
            </a:r>
            <a:r>
              <a:rPr lang="en-US" u="sng">
                <a:latin typeface="Garamond" charset="0"/>
                <a:ea typeface="ＭＳ Ｐゴシック" charset="-128"/>
              </a:rPr>
              <a:t>conditional block </a:t>
            </a:r>
            <a:r>
              <a:rPr lang="en-US">
                <a:latin typeface="Garamond" charset="0"/>
                <a:ea typeface="ＭＳ Ｐゴシック" charset="-128"/>
              </a:rPr>
              <a:t>(if …. else statements) to perform </a:t>
            </a:r>
            <a:r>
              <a:rPr lang="en-US" u="sng">
                <a:latin typeface="Garamond" charset="0"/>
                <a:ea typeface="ＭＳ Ｐゴシック" charset="-128"/>
              </a:rPr>
              <a:t>range checking</a:t>
            </a:r>
            <a:r>
              <a:rPr lang="en-US">
                <a:latin typeface="Garamond" charset="0"/>
                <a:ea typeface="ＭＳ Ｐゴシック" charset="-128"/>
              </a:rPr>
              <a:t> on the frequency of the radiation to be applied.</a:t>
            </a:r>
          </a:p>
          <a:p>
            <a:r>
              <a:rPr lang="en-US">
                <a:latin typeface="Garamond" charset="0"/>
                <a:ea typeface="ＭＳ Ｐゴシック" charset="-128"/>
              </a:rPr>
              <a:t>Errors:</a:t>
            </a:r>
          </a:p>
          <a:p>
            <a:pPr lvl="1"/>
            <a:r>
              <a:rPr lang="en-US" dirty="0">
                <a:latin typeface="Garamond" charset="0"/>
                <a:ea typeface="ＭＳ Ｐゴシック" charset="-128"/>
              </a:rPr>
              <a:t>1. The SW developer of the device controller system had forgotten to include a range checking conditional block on the frequency of the radiation to be applied.</a:t>
            </a:r>
          </a:p>
          <a:p>
            <a:pPr lvl="1"/>
            <a:r>
              <a:rPr lang="en-US" dirty="0">
                <a:latin typeface="Garamond" charset="0"/>
                <a:ea typeface="ＭＳ Ｐゴシック" charset="-128"/>
              </a:rPr>
              <a:t>2. The device operator was NOT supposed to enter anything outside [1…10,000 Hz] range.</a:t>
            </a:r>
          </a:p>
        </p:txBody>
      </p:sp>
      <p:sp>
        <p:nvSpPr>
          <p:cNvPr id="7" name="Slide Number Placeholder 6"/>
          <p:cNvSpPr>
            <a:spLocks noGrp="1"/>
          </p:cNvSpPr>
          <p:nvPr>
            <p:ph type="sldNum" sz="quarter" idx="11"/>
          </p:nvPr>
        </p:nvSpPr>
        <p:spPr>
          <a:xfrm>
            <a:off x="10123055" y="6459785"/>
            <a:ext cx="1089428" cy="365125"/>
          </a:xfrm>
        </p:spPr>
        <p:txBody>
          <a:bodyPr>
            <a:normAutofit/>
          </a:bodyPr>
          <a:lstStyle/>
          <a:p>
            <a:pPr>
              <a:spcAft>
                <a:spcPts val="600"/>
              </a:spcAft>
              <a:defRPr/>
            </a:pPr>
            <a:fld id="{B9E8CCA2-10A5-DA4C-9CE3-A876A95C45C4}" type="slidenum">
              <a:rPr lang="nl-NL">
                <a:solidFill>
                  <a:schemeClr val="tx2"/>
                </a:solidFill>
              </a:rPr>
              <a:pPr>
                <a:spcAft>
                  <a:spcPts val="600"/>
                </a:spcAft>
                <a:defRPr/>
              </a:pPr>
              <a:t>9</a:t>
            </a:fld>
            <a:endParaRPr lang="nl-NL">
              <a:solidFill>
                <a:schemeClr val="tx2"/>
              </a:solidFill>
            </a:endParaRPr>
          </a:p>
        </p:txBody>
      </p:sp>
    </p:spTree>
    <p:extLst>
      <p:ext uri="{BB962C8B-B14F-4D97-AF65-F5344CB8AC3E}">
        <p14:creationId xmlns:p14="http://schemas.microsoft.com/office/powerpoint/2010/main" val="1487822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p:cNvSpPr>
            <a:spLocks noGrp="1"/>
          </p:cNvSpPr>
          <p:nvPr>
            <p:ph idx="1"/>
          </p:nvPr>
        </p:nvSpPr>
        <p:spPr/>
        <p:txBody>
          <a:bodyPr>
            <a:normAutofit/>
          </a:bodyPr>
          <a:lstStyle/>
          <a:p>
            <a:r>
              <a:rPr lang="en-US" sz="3200" dirty="0">
                <a:latin typeface="Garamond" charset="0"/>
                <a:ea typeface="ＭＳ Ｐゴシック" charset="-128"/>
              </a:rPr>
              <a:t>Errors are part of our daily life</a:t>
            </a:r>
          </a:p>
          <a:p>
            <a:r>
              <a:rPr lang="en-US" sz="3200" dirty="0">
                <a:latin typeface="Garamond" charset="0"/>
                <a:ea typeface="ＭＳ Ｐゴシック" charset="-128"/>
              </a:rPr>
              <a:t>Humans make errors in their thoughts, actions, and in the products that might result from their actions</a:t>
            </a:r>
          </a:p>
          <a:p>
            <a:r>
              <a:rPr lang="en-US" sz="3200" dirty="0">
                <a:latin typeface="Garamond" charset="0"/>
                <a:ea typeface="ＭＳ Ｐゴシック" charset="-128"/>
              </a:rPr>
              <a:t>Errors occur wherever humans are involved in taking actions and making decisions</a:t>
            </a:r>
          </a:p>
          <a:p>
            <a:r>
              <a:rPr lang="en-US" sz="3200" i="1" dirty="0">
                <a:latin typeface="Garamond" charset="0"/>
                <a:ea typeface="ＭＳ Ｐゴシック" charset="-128"/>
              </a:rPr>
              <a:t>These fundamental facts of human existence make testing an essential activity</a:t>
            </a:r>
            <a:endParaRPr lang="en-US" sz="3200" dirty="0">
              <a:latin typeface="Garamond" charset="0"/>
              <a:ea typeface="ＭＳ Ｐゴシック" charset="-128"/>
            </a:endParaRPr>
          </a:p>
        </p:txBody>
      </p:sp>
      <p:sp>
        <p:nvSpPr>
          <p:cNvPr id="3" name="Title 2"/>
          <p:cNvSpPr>
            <a:spLocks noGrp="1"/>
          </p:cNvSpPr>
          <p:nvPr>
            <p:ph type="title"/>
          </p:nvPr>
        </p:nvSpPr>
        <p:spPr/>
        <p:txBody>
          <a:bodyPr>
            <a:scene3d>
              <a:camera prst="orthographicFront"/>
              <a:lightRig rig="soft" dir="t"/>
            </a:scene3d>
            <a:sp3d prstMaterial="softEdge">
              <a:bevelT w="25400" h="25400"/>
            </a:sp3d>
          </a:bodyPr>
          <a:lstStyle/>
          <a:p>
            <a:pPr>
              <a:defRPr/>
            </a:pPr>
            <a:r>
              <a:rPr lang="en-US" dirty="0"/>
              <a:t>Errors</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10</a:t>
            </a:fld>
            <a:endParaRPr lang="nl-N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0676D-8743-423A-B814-44538AEE72BE}"/>
              </a:ext>
            </a:extLst>
          </p:cNvPr>
          <p:cNvSpPr>
            <a:spLocks noGrp="1"/>
          </p:cNvSpPr>
          <p:nvPr>
            <p:ph type="title"/>
          </p:nvPr>
        </p:nvSpPr>
        <p:spPr/>
        <p:txBody>
          <a:bodyPr/>
          <a:lstStyle/>
          <a:p>
            <a:r>
              <a:rPr lang="en-US" dirty="0"/>
              <a:t>Faults and Failures</a:t>
            </a:r>
          </a:p>
        </p:txBody>
      </p:sp>
      <p:sp>
        <p:nvSpPr>
          <p:cNvPr id="3" name="Content Placeholder 2">
            <a:extLst>
              <a:ext uri="{FF2B5EF4-FFF2-40B4-BE49-F238E27FC236}">
                <a16:creationId xmlns:a16="http://schemas.microsoft.com/office/drawing/2014/main" id="{1823C9FF-878D-4369-B317-EB46B57A9719}"/>
              </a:ext>
            </a:extLst>
          </p:cNvPr>
          <p:cNvSpPr>
            <a:spLocks noGrp="1"/>
          </p:cNvSpPr>
          <p:nvPr>
            <p:ph idx="1"/>
          </p:nvPr>
        </p:nvSpPr>
        <p:spPr/>
        <p:txBody>
          <a:bodyPr>
            <a:normAutofit/>
          </a:bodyPr>
          <a:lstStyle/>
          <a:p>
            <a:r>
              <a:rPr lang="en-US" sz="2800" b="1" i="0" u="sng" strike="noStrike" baseline="0" dirty="0">
                <a:solidFill>
                  <a:srgbClr val="000000"/>
                </a:solidFill>
                <a:latin typeface="Arial" panose="020B0604020202020204" pitchFamily="34" charset="0"/>
              </a:rPr>
              <a:t>Fault (bug):</a:t>
            </a:r>
          </a:p>
          <a:p>
            <a:r>
              <a:rPr lang="en-US" sz="2800" b="0" i="0" u="none" strike="noStrike" baseline="0" dirty="0">
                <a:solidFill>
                  <a:srgbClr val="000000"/>
                </a:solidFill>
                <a:latin typeface="Arial" panose="020B0604020202020204" pitchFamily="34" charset="0"/>
              </a:rPr>
              <a:t>Programming or design error whereby the delivered system does not conform to specification (e.g., coding error, protocol error)</a:t>
            </a:r>
          </a:p>
          <a:p>
            <a:r>
              <a:rPr lang="en-US" sz="2800" b="1" i="0" u="sng" strike="noStrike" baseline="0" dirty="0">
                <a:solidFill>
                  <a:srgbClr val="000000"/>
                </a:solidFill>
                <a:latin typeface="Arial" panose="020B0604020202020204" pitchFamily="34" charset="0"/>
              </a:rPr>
              <a:t>Failure:</a:t>
            </a:r>
          </a:p>
          <a:p>
            <a:r>
              <a:rPr lang="en-US" sz="2800" b="0" i="0" u="none" strike="noStrike" baseline="0" dirty="0">
                <a:solidFill>
                  <a:srgbClr val="000000"/>
                </a:solidFill>
                <a:latin typeface="Arial" panose="020B0604020202020204" pitchFamily="34" charset="0"/>
              </a:rPr>
              <a:t>Software does not deliver the service expected by the user (e.g., mistake in requirements, confusing user interface)</a:t>
            </a:r>
          </a:p>
          <a:p>
            <a:endParaRPr lang="en-US" sz="3200" dirty="0"/>
          </a:p>
        </p:txBody>
      </p:sp>
      <p:sp>
        <p:nvSpPr>
          <p:cNvPr id="4" name="Slide Number Placeholder 3">
            <a:extLst>
              <a:ext uri="{FF2B5EF4-FFF2-40B4-BE49-F238E27FC236}">
                <a16:creationId xmlns:a16="http://schemas.microsoft.com/office/drawing/2014/main" id="{67D99929-A0C5-4BD1-A14F-5B4D44C269E6}"/>
              </a:ext>
            </a:extLst>
          </p:cNvPr>
          <p:cNvSpPr>
            <a:spLocks noGrp="1"/>
          </p:cNvSpPr>
          <p:nvPr>
            <p:ph type="sldNum" sz="quarter" idx="12"/>
          </p:nvPr>
        </p:nvSpPr>
        <p:spPr/>
        <p:txBody>
          <a:bodyPr/>
          <a:lstStyle/>
          <a:p>
            <a:fld id="{72925E92-DD69-4B30-91D7-BC3CA833981C}" type="slidenum">
              <a:rPr lang="en-US" smtClean="0"/>
              <a:t>11</a:t>
            </a:fld>
            <a:endParaRPr lang="en-US"/>
          </a:p>
        </p:txBody>
      </p:sp>
    </p:spTree>
    <p:extLst>
      <p:ext uri="{BB962C8B-B14F-4D97-AF65-F5344CB8AC3E}">
        <p14:creationId xmlns:p14="http://schemas.microsoft.com/office/powerpoint/2010/main" val="449487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036356" y="1"/>
            <a:ext cx="5631644" cy="6273801"/>
          </a:xfrm>
          <a:prstGeom prst="rect">
            <a:avLst/>
          </a:prstGeom>
        </p:spPr>
      </p:pic>
      <p:pic>
        <p:nvPicPr>
          <p:cNvPr id="8" name="Content Placeholder 7" descr="Screen shot 2013-04-18 at 9.10.34 PM.png"/>
          <p:cNvPicPr>
            <a:picLocks noGrp="1" noChangeAspect="1"/>
          </p:cNvPicPr>
          <p:nvPr>
            <p:ph idx="1"/>
          </p:nvPr>
        </p:nvPicPr>
        <p:blipFill>
          <a:blip r:embed="rId4"/>
          <a:stretch>
            <a:fillRect/>
          </a:stretch>
        </p:blipFill>
        <p:spPr>
          <a:xfrm>
            <a:off x="1828800" y="5218000"/>
            <a:ext cx="4699248" cy="865301"/>
          </a:xfrm>
        </p:spPr>
      </p:pic>
      <p:sp>
        <p:nvSpPr>
          <p:cNvPr id="5" name="Slide Number Placeholder 4"/>
          <p:cNvSpPr>
            <a:spLocks noGrp="1"/>
          </p:cNvSpPr>
          <p:nvPr>
            <p:ph type="sldNum" sz="quarter" idx="11"/>
          </p:nvPr>
        </p:nvSpPr>
        <p:spPr/>
        <p:txBody>
          <a:bodyPr/>
          <a:lstStyle/>
          <a:p>
            <a:pPr>
              <a:defRPr/>
            </a:pPr>
            <a:fld id="{B9E8CCA2-10A5-DA4C-9CE3-A876A95C45C4}" type="slidenum">
              <a:rPr lang="nl-NL" smtClean="0"/>
              <a:pPr>
                <a:defRPr/>
              </a:pPr>
              <a:t>12</a:t>
            </a:fld>
            <a:endParaRPr lang="nl-NL" dirty="0"/>
          </a:p>
        </p:txBody>
      </p:sp>
      <p:sp>
        <p:nvSpPr>
          <p:cNvPr id="10" name="Rectangle 9"/>
          <p:cNvSpPr/>
          <p:nvPr/>
        </p:nvSpPr>
        <p:spPr bwMode="auto">
          <a:xfrm>
            <a:off x="1524000" y="0"/>
            <a:ext cx="3733800" cy="1752600"/>
          </a:xfrm>
          <a:prstGeom prst="rect">
            <a:avLst/>
          </a:prstGeom>
          <a:solidFill>
            <a:schemeClr val="bg1"/>
          </a:solidFill>
          <a:ln w="19050" cap="flat" cmpd="sng" algn="ctr">
            <a:solidFill>
              <a:schemeClr val="bg1"/>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bodyPr>
          <a:lstStyle/>
          <a:p>
            <a:pPr marL="185738" indent="-185738" defTabSz="914400" fontAlgn="base">
              <a:spcBef>
                <a:spcPct val="20000"/>
              </a:spcBef>
              <a:spcAft>
                <a:spcPct val="0"/>
              </a:spcAft>
              <a:buClr>
                <a:schemeClr val="accent1"/>
              </a:buClr>
            </a:pPr>
            <a:r>
              <a:rPr lang="en-GB" sz="2400" dirty="0">
                <a:latin typeface="Arial" charset="0"/>
              </a:rPr>
              <a:t>Software Error, Fault, Failure</a:t>
            </a:r>
          </a:p>
        </p:txBody>
      </p:sp>
      <p:sp>
        <p:nvSpPr>
          <p:cNvPr id="9" name="Flowchart: Decision 8"/>
          <p:cNvSpPr/>
          <p:nvPr/>
        </p:nvSpPr>
        <p:spPr bwMode="auto">
          <a:xfrm>
            <a:off x="2387588" y="4149080"/>
            <a:ext cx="1224136" cy="864676"/>
          </a:xfrm>
          <a:prstGeom prst="flowChartDecision">
            <a:avLst/>
          </a:prstGeom>
          <a:noFill/>
          <a:ln w="19050" cap="flat" cmpd="sng" algn="ctr">
            <a:solidFill>
              <a:schemeClr val="tx1"/>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bodyPr>
          <a:lstStyle/>
          <a:p>
            <a:pPr marL="185738" indent="-185738" defTabSz="914400" fontAlgn="base">
              <a:spcBef>
                <a:spcPct val="20000"/>
              </a:spcBef>
              <a:spcAft>
                <a:spcPct val="0"/>
              </a:spcAft>
              <a:buClr>
                <a:schemeClr val="accent1"/>
              </a:buClr>
            </a:pPr>
            <a:r>
              <a:rPr lang="en-US" sz="1400" dirty="0">
                <a:latin typeface="Arial" charset="0"/>
              </a:rPr>
              <a:t>If not </a:t>
            </a:r>
          </a:p>
          <a:p>
            <a:pPr marL="185738" indent="-185738" defTabSz="914400" fontAlgn="base">
              <a:spcBef>
                <a:spcPct val="20000"/>
              </a:spcBef>
              <a:spcAft>
                <a:spcPct val="0"/>
              </a:spcAft>
              <a:buClr>
                <a:schemeClr val="accent1"/>
              </a:buClr>
            </a:pPr>
            <a:r>
              <a:rPr lang="en-US" sz="1400" dirty="0">
                <a:latin typeface="Arial" charset="0"/>
              </a:rPr>
              <a:t>removed</a:t>
            </a:r>
          </a:p>
        </p:txBody>
      </p:sp>
      <p:cxnSp>
        <p:nvCxnSpPr>
          <p:cNvPr id="12" name="Straight Arrow Connector 11"/>
          <p:cNvCxnSpPr>
            <a:endCxn id="9" idx="2"/>
          </p:cNvCxnSpPr>
          <p:nvPr/>
        </p:nvCxnSpPr>
        <p:spPr bwMode="auto">
          <a:xfrm flipH="1" flipV="1">
            <a:off x="2999656" y="5013756"/>
            <a:ext cx="180020" cy="53948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13" name="TextBox 12"/>
          <p:cNvSpPr txBox="1"/>
          <p:nvPr/>
        </p:nvSpPr>
        <p:spPr>
          <a:xfrm>
            <a:off x="3971764" y="4465914"/>
            <a:ext cx="659476" cy="307777"/>
          </a:xfrm>
          <a:prstGeom prst="rect">
            <a:avLst/>
          </a:prstGeom>
          <a:noFill/>
          <a:ln>
            <a:solidFill>
              <a:schemeClr val="tx1"/>
            </a:solidFill>
          </a:ln>
        </p:spPr>
        <p:txBody>
          <a:bodyPr wrap="none" rtlCol="0">
            <a:spAutoFit/>
          </a:bodyPr>
          <a:lstStyle/>
          <a:p>
            <a:r>
              <a:rPr lang="en-US" sz="1400" dirty="0"/>
              <a:t>Defect</a:t>
            </a:r>
          </a:p>
        </p:txBody>
      </p:sp>
      <p:cxnSp>
        <p:nvCxnSpPr>
          <p:cNvPr id="15" name="Straight Arrow Connector 14"/>
          <p:cNvCxnSpPr>
            <a:stCxn id="9" idx="3"/>
            <a:endCxn id="13" idx="1"/>
          </p:cNvCxnSpPr>
          <p:nvPr/>
        </p:nvCxnSpPr>
        <p:spPr bwMode="auto">
          <a:xfrm>
            <a:off x="3611724" y="4581418"/>
            <a:ext cx="360040" cy="38384"/>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18" name="Straight Arrow Connector 17"/>
          <p:cNvCxnSpPr>
            <a:stCxn id="13" idx="2"/>
          </p:cNvCxnSpPr>
          <p:nvPr/>
        </p:nvCxnSpPr>
        <p:spPr bwMode="auto">
          <a:xfrm>
            <a:off x="4301502" y="4773690"/>
            <a:ext cx="49030" cy="779546"/>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4041-7A3C-4353-A7BB-2C601CB11EA3}"/>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8DAA790B-A629-4AE2-A61F-DD6F19AD8E4E}"/>
              </a:ext>
            </a:extLst>
          </p:cNvPr>
          <p:cNvSpPr>
            <a:spLocks noGrp="1"/>
          </p:cNvSpPr>
          <p:nvPr>
            <p:ph idx="1"/>
          </p:nvPr>
        </p:nvSpPr>
        <p:spPr/>
        <p:txBody>
          <a:bodyPr>
            <a:normAutofit/>
          </a:bodyPr>
          <a:lstStyle/>
          <a:p>
            <a:r>
              <a:rPr lang="en-US" sz="2400" b="1" i="0" u="sng" strike="noStrike" baseline="0" dirty="0">
                <a:solidFill>
                  <a:srgbClr val="000000"/>
                </a:solidFill>
                <a:latin typeface="Arial" panose="020B0604020202020204" pitchFamily="34" charset="0"/>
              </a:rPr>
              <a:t>Fault avoidance</a:t>
            </a:r>
          </a:p>
          <a:p>
            <a:r>
              <a:rPr lang="en-US" sz="2400" b="0" i="0" u="none" strike="noStrike" baseline="0" dirty="0">
                <a:solidFill>
                  <a:srgbClr val="000000"/>
                </a:solidFill>
                <a:latin typeface="Arial" panose="020B0604020202020204" pitchFamily="34" charset="0"/>
              </a:rPr>
              <a:t>Build systems with the objective of creating fault-</a:t>
            </a:r>
            <a:r>
              <a:rPr lang="en-US" sz="2400" b="0" i="0" u="none" strike="noStrike" baseline="0" dirty="0">
                <a:solidFill>
                  <a:srgbClr val="000000"/>
                </a:solidFill>
                <a:latin typeface="Cambria Math" panose="02040503050406030204" pitchFamily="18" charset="0"/>
              </a:rPr>
              <a:t>‐</a:t>
            </a:r>
            <a:r>
              <a:rPr lang="en-US" sz="2400" b="0" i="0" u="none" strike="noStrike" baseline="0" dirty="0">
                <a:solidFill>
                  <a:srgbClr val="000000"/>
                </a:solidFill>
                <a:latin typeface="Arial" panose="020B0604020202020204" pitchFamily="34" charset="0"/>
              </a:rPr>
              <a:t>free (bug-</a:t>
            </a:r>
            <a:r>
              <a:rPr lang="en-US" sz="2400" b="0" i="0" u="none" strike="noStrike" baseline="0" dirty="0">
                <a:solidFill>
                  <a:srgbClr val="000000"/>
                </a:solidFill>
                <a:latin typeface="Cambria Math" panose="02040503050406030204" pitchFamily="18" charset="0"/>
              </a:rPr>
              <a:t>‐</a:t>
            </a:r>
            <a:r>
              <a:rPr lang="en-US" sz="2400" b="0" i="0" u="none" strike="noStrike" baseline="0" dirty="0">
                <a:solidFill>
                  <a:srgbClr val="000000"/>
                </a:solidFill>
                <a:latin typeface="Arial" panose="020B0604020202020204" pitchFamily="34" charset="0"/>
              </a:rPr>
              <a:t>free) software.</a:t>
            </a:r>
          </a:p>
          <a:p>
            <a:r>
              <a:rPr lang="en-US" sz="2400" b="1" i="0" u="sng" strike="noStrike" baseline="0" dirty="0">
                <a:solidFill>
                  <a:srgbClr val="000000"/>
                </a:solidFill>
                <a:latin typeface="Arial" panose="020B0604020202020204" pitchFamily="34" charset="0"/>
              </a:rPr>
              <a:t>Fault detection (testing and verification)</a:t>
            </a:r>
          </a:p>
          <a:p>
            <a:r>
              <a:rPr lang="en-US" sz="2400" b="0" i="0" u="none" strike="noStrike" baseline="0" dirty="0">
                <a:solidFill>
                  <a:srgbClr val="000000"/>
                </a:solidFill>
                <a:latin typeface="Arial" panose="020B0604020202020204" pitchFamily="34" charset="0"/>
              </a:rPr>
              <a:t>Detect faults (bugs) before the system is put into operation or when discovered after release.</a:t>
            </a:r>
          </a:p>
          <a:p>
            <a:r>
              <a:rPr lang="en-US" sz="2400" b="1" i="0" u="sng" strike="noStrike" baseline="0" dirty="0">
                <a:solidFill>
                  <a:srgbClr val="000000"/>
                </a:solidFill>
                <a:latin typeface="Arial" panose="020B0604020202020204" pitchFamily="34" charset="0"/>
              </a:rPr>
              <a:t>Fault tolerance</a:t>
            </a:r>
          </a:p>
          <a:p>
            <a:r>
              <a:rPr lang="en-US" sz="2400" b="0" i="0" u="none" strike="noStrike" baseline="0" dirty="0">
                <a:solidFill>
                  <a:srgbClr val="000000"/>
                </a:solidFill>
                <a:latin typeface="Arial" panose="020B0604020202020204" pitchFamily="34" charset="0"/>
              </a:rPr>
              <a:t>Build systems that continue to operate when problems (bugs, overloads, bad data, etc.) occur.</a:t>
            </a:r>
            <a:endParaRPr lang="en-US" sz="2800" dirty="0"/>
          </a:p>
        </p:txBody>
      </p:sp>
      <p:sp>
        <p:nvSpPr>
          <p:cNvPr id="4" name="Slide Number Placeholder 3">
            <a:extLst>
              <a:ext uri="{FF2B5EF4-FFF2-40B4-BE49-F238E27FC236}">
                <a16:creationId xmlns:a16="http://schemas.microsoft.com/office/drawing/2014/main" id="{D8FAF60B-CA39-4372-9B99-7E1C7CA529F8}"/>
              </a:ext>
            </a:extLst>
          </p:cNvPr>
          <p:cNvSpPr>
            <a:spLocks noGrp="1"/>
          </p:cNvSpPr>
          <p:nvPr>
            <p:ph type="sldNum" sz="quarter" idx="12"/>
          </p:nvPr>
        </p:nvSpPr>
        <p:spPr/>
        <p:txBody>
          <a:bodyPr/>
          <a:lstStyle/>
          <a:p>
            <a:fld id="{72925E92-DD69-4B30-91D7-BC3CA833981C}" type="slidenum">
              <a:rPr lang="en-US" smtClean="0"/>
              <a:t>13</a:t>
            </a:fld>
            <a:endParaRPr lang="en-US"/>
          </a:p>
        </p:txBody>
      </p:sp>
    </p:spTree>
    <p:extLst>
      <p:ext uri="{BB962C8B-B14F-4D97-AF65-F5344CB8AC3E}">
        <p14:creationId xmlns:p14="http://schemas.microsoft.com/office/powerpoint/2010/main" val="1743257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1D581-94B3-4FF0-9E81-BB5FFDB99B1A}"/>
              </a:ext>
            </a:extLst>
          </p:cNvPr>
          <p:cNvSpPr>
            <a:spLocks noGrp="1"/>
          </p:cNvSpPr>
          <p:nvPr>
            <p:ph type="title"/>
          </p:nvPr>
        </p:nvSpPr>
        <p:spPr/>
        <p:txBody>
          <a:bodyPr/>
          <a:lstStyle/>
          <a:p>
            <a:r>
              <a:rPr lang="en-US" dirty="0"/>
              <a:t>Test Cases</a:t>
            </a:r>
          </a:p>
        </p:txBody>
      </p:sp>
      <p:sp>
        <p:nvSpPr>
          <p:cNvPr id="3" name="Content Placeholder 2">
            <a:extLst>
              <a:ext uri="{FF2B5EF4-FFF2-40B4-BE49-F238E27FC236}">
                <a16:creationId xmlns:a16="http://schemas.microsoft.com/office/drawing/2014/main" id="{6A944958-0436-4582-A3EA-3AD817EE5972}"/>
              </a:ext>
            </a:extLst>
          </p:cNvPr>
          <p:cNvSpPr>
            <a:spLocks noGrp="1"/>
          </p:cNvSpPr>
          <p:nvPr>
            <p:ph idx="1"/>
          </p:nvPr>
        </p:nvSpPr>
        <p:spPr/>
        <p:txBody>
          <a:bodyPr>
            <a:normAutofit fontScale="85000" lnSpcReduction="20000"/>
          </a:bodyPr>
          <a:lstStyle/>
          <a:p>
            <a:pPr algn="just"/>
            <a:r>
              <a:rPr lang="en-US" sz="2800" b="0" i="0" u="none" strike="noStrike" baseline="0" dirty="0">
                <a:latin typeface="Arial" panose="020B0604020202020204" pitchFamily="34" charset="0"/>
              </a:rPr>
              <a:t>A test case, in software engineering, is a set of conditions or variables under which a tester will determine whether an application, software system or one of its features is working as it was originally established for it to do.</a:t>
            </a:r>
          </a:p>
          <a:p>
            <a:pPr algn="just"/>
            <a:endParaRPr lang="en-US" sz="2800" b="0" i="0" u="none" strike="noStrike" baseline="0" dirty="0">
              <a:latin typeface="Arial" panose="020B0604020202020204" pitchFamily="34" charset="0"/>
            </a:endParaRPr>
          </a:p>
          <a:p>
            <a:pPr algn="just"/>
            <a:r>
              <a:rPr lang="en-US" sz="2800" b="1" i="1" u="none" strike="noStrike" baseline="0" dirty="0">
                <a:latin typeface="Arial" panose="020B0604020202020204" pitchFamily="34" charset="0"/>
              </a:rPr>
              <a:t>“A set of test inputs, execution conditions, and expected results developed for a particular objective, such as to exercise a particular program path or to verify compliance with a specific requirement.” (IEEE)</a:t>
            </a:r>
          </a:p>
          <a:p>
            <a:pPr algn="just"/>
            <a:endParaRPr lang="en-US" sz="2800" b="0" i="0" u="none" strike="noStrike" baseline="0" dirty="0">
              <a:latin typeface="Arial" panose="020B0604020202020204" pitchFamily="34" charset="0"/>
            </a:endParaRPr>
          </a:p>
          <a:p>
            <a:pPr algn="just"/>
            <a:r>
              <a:rPr lang="en-US" sz="2800" b="0" i="0" u="none" strike="noStrike" baseline="0" dirty="0">
                <a:latin typeface="Arial" panose="020B0604020202020204" pitchFamily="34" charset="0"/>
              </a:rPr>
              <a:t>Developing and writing Test </a:t>
            </a:r>
            <a:r>
              <a:rPr lang="en-US" sz="2800" b="0" i="0" u="none" strike="noStrike" baseline="0" dirty="0" err="1">
                <a:latin typeface="Arial" panose="020B0604020202020204" pitchFamily="34" charset="0"/>
              </a:rPr>
              <a:t>Casesis</a:t>
            </a:r>
            <a:r>
              <a:rPr lang="en-US" sz="2800" b="0" i="0" u="none" strike="noStrike" baseline="0" dirty="0">
                <a:latin typeface="Arial" panose="020B0604020202020204" pitchFamily="34" charset="0"/>
              </a:rPr>
              <a:t> one of the major and most important activity in the entire testing cycle of an application</a:t>
            </a:r>
            <a:endParaRPr lang="en-US" sz="3200" dirty="0"/>
          </a:p>
        </p:txBody>
      </p:sp>
      <p:sp>
        <p:nvSpPr>
          <p:cNvPr id="4" name="Slide Number Placeholder 3">
            <a:extLst>
              <a:ext uri="{FF2B5EF4-FFF2-40B4-BE49-F238E27FC236}">
                <a16:creationId xmlns:a16="http://schemas.microsoft.com/office/drawing/2014/main" id="{78620532-C393-420A-9F8B-8AA23386AB8C}"/>
              </a:ext>
            </a:extLst>
          </p:cNvPr>
          <p:cNvSpPr>
            <a:spLocks noGrp="1"/>
          </p:cNvSpPr>
          <p:nvPr>
            <p:ph type="sldNum" sz="quarter" idx="12"/>
          </p:nvPr>
        </p:nvSpPr>
        <p:spPr/>
        <p:txBody>
          <a:bodyPr/>
          <a:lstStyle/>
          <a:p>
            <a:fld id="{72925E92-DD69-4B30-91D7-BC3CA833981C}" type="slidenum">
              <a:rPr lang="en-US" smtClean="0"/>
              <a:t>14</a:t>
            </a:fld>
            <a:endParaRPr lang="en-US"/>
          </a:p>
        </p:txBody>
      </p:sp>
    </p:spTree>
    <p:extLst>
      <p:ext uri="{BB962C8B-B14F-4D97-AF65-F5344CB8AC3E}">
        <p14:creationId xmlns:p14="http://schemas.microsoft.com/office/powerpoint/2010/main" val="2375802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F2AAF-71C0-4168-BB7A-0E92D212C703}"/>
              </a:ext>
            </a:extLst>
          </p:cNvPr>
          <p:cNvSpPr>
            <a:spLocks noGrp="1"/>
          </p:cNvSpPr>
          <p:nvPr>
            <p:ph type="title"/>
          </p:nvPr>
        </p:nvSpPr>
        <p:spPr/>
        <p:txBody>
          <a:bodyPr/>
          <a:lstStyle/>
          <a:p>
            <a:r>
              <a:rPr lang="en-US" dirty="0"/>
              <a:t>How to write good test cases</a:t>
            </a:r>
          </a:p>
        </p:txBody>
      </p:sp>
      <p:sp>
        <p:nvSpPr>
          <p:cNvPr id="3" name="Content Placeholder 2">
            <a:extLst>
              <a:ext uri="{FF2B5EF4-FFF2-40B4-BE49-F238E27FC236}">
                <a16:creationId xmlns:a16="http://schemas.microsoft.com/office/drawing/2014/main" id="{81C3C0A6-304D-4CE6-892F-8BCECA275D14}"/>
              </a:ext>
            </a:extLst>
          </p:cNvPr>
          <p:cNvSpPr>
            <a:spLocks noGrp="1"/>
          </p:cNvSpPr>
          <p:nvPr>
            <p:ph idx="1"/>
          </p:nvPr>
        </p:nvSpPr>
        <p:spPr/>
        <p:txBody>
          <a:bodyPr/>
          <a:lstStyle/>
          <a:p>
            <a:r>
              <a:rPr lang="en-US" sz="1800" b="0" i="0" u="none" strike="noStrike" baseline="0" dirty="0">
                <a:solidFill>
                  <a:srgbClr val="000000"/>
                </a:solidFill>
                <a:latin typeface="Arial" panose="020B0604020202020204" pitchFamily="34" charset="0"/>
              </a:rPr>
              <a:t>When you begin writing test cases, there are a few steps that you need to follow to ensure that you are writing good test cases</a:t>
            </a:r>
          </a:p>
          <a:p>
            <a:pPr marL="0" indent="0">
              <a:buNone/>
            </a:pPr>
            <a:r>
              <a:rPr lang="en-US" sz="1800" b="1" i="0" u="none" strike="noStrike" baseline="0" dirty="0">
                <a:solidFill>
                  <a:srgbClr val="000000"/>
                </a:solidFill>
                <a:latin typeface="Arial" panose="020B0604020202020204" pitchFamily="34" charset="0"/>
              </a:rPr>
              <a:t>Identify the purpose of testing</a:t>
            </a:r>
          </a:p>
          <a:p>
            <a:pPr marL="0" indent="0">
              <a:buNone/>
            </a:pPr>
            <a:r>
              <a:rPr lang="en-US" sz="1800" dirty="0">
                <a:solidFill>
                  <a:srgbClr val="000000"/>
                </a:solidFill>
                <a:latin typeface="Wingdings" panose="05000000000000000000" pitchFamily="2" charset="2"/>
              </a:rPr>
              <a:t> </a:t>
            </a:r>
            <a:r>
              <a:rPr lang="en-US" sz="1800" b="0" i="0" u="none" strike="noStrike" baseline="0" dirty="0">
                <a:solidFill>
                  <a:srgbClr val="000000"/>
                </a:solidFill>
                <a:latin typeface="Wingdings" panose="05000000000000000000" pitchFamily="2" charset="2"/>
              </a:rPr>
              <a:t></a:t>
            </a:r>
            <a:r>
              <a:rPr lang="en-US" sz="1800" b="0" i="0" u="none" strike="noStrike" baseline="0" dirty="0">
                <a:solidFill>
                  <a:srgbClr val="000000"/>
                </a:solidFill>
                <a:latin typeface="Arial" panose="020B0604020202020204" pitchFamily="34" charset="0"/>
              </a:rPr>
              <a:t>You need to understand the requirements to be tested. Writing test cases for a module requires that you understand the features/user requirements for that module</a:t>
            </a:r>
          </a:p>
          <a:p>
            <a:r>
              <a:rPr lang="en-US" sz="1800" b="1" i="0" u="none" strike="noStrike" baseline="0" dirty="0">
                <a:solidFill>
                  <a:srgbClr val="000000"/>
                </a:solidFill>
                <a:latin typeface="Arial" panose="020B0604020202020204" pitchFamily="34" charset="0"/>
              </a:rPr>
              <a:t>Define how to perform the testing</a:t>
            </a:r>
          </a:p>
          <a:p>
            <a:r>
              <a:rPr lang="en-US" sz="1800" b="0" i="0" u="none" strike="noStrike" baseline="0" dirty="0">
                <a:solidFill>
                  <a:srgbClr val="000000"/>
                </a:solidFill>
                <a:latin typeface="Wingdings" panose="05000000000000000000" pitchFamily="2" charset="2"/>
              </a:rPr>
              <a:t></a:t>
            </a:r>
            <a:r>
              <a:rPr lang="en-US" sz="1800" b="0" i="0" u="none" strike="noStrike" baseline="0" dirty="0">
                <a:solidFill>
                  <a:srgbClr val="000000"/>
                </a:solidFill>
                <a:latin typeface="Arial" panose="020B0604020202020204" pitchFamily="34" charset="0"/>
              </a:rPr>
              <a:t>This involves developing typical scenarios of use</a:t>
            </a:r>
          </a:p>
          <a:p>
            <a:pPr marL="0" indent="0">
              <a:buNone/>
            </a:pPr>
            <a:r>
              <a:rPr lang="en-US" sz="1800" b="1" i="0" u="none" strike="noStrike" baseline="0" dirty="0">
                <a:solidFill>
                  <a:srgbClr val="000000"/>
                </a:solidFill>
                <a:latin typeface="Arial" panose="020B0604020202020204" pitchFamily="34" charset="0"/>
              </a:rPr>
              <a:t>Identify any non-functional requirements</a:t>
            </a:r>
          </a:p>
          <a:p>
            <a:r>
              <a:rPr lang="en-US" sz="1800" b="0" i="0" u="none" strike="noStrike" baseline="0" dirty="0">
                <a:solidFill>
                  <a:srgbClr val="000000"/>
                </a:solidFill>
                <a:latin typeface="Wingdings" panose="05000000000000000000" pitchFamily="2" charset="2"/>
              </a:rPr>
              <a:t></a:t>
            </a:r>
            <a:r>
              <a:rPr lang="en-US" sz="1800" b="0" i="0" u="none" strike="noStrike" baseline="0" dirty="0">
                <a:solidFill>
                  <a:srgbClr val="000000"/>
                </a:solidFill>
                <a:latin typeface="Arial" panose="020B0604020202020204" pitchFamily="34" charset="0"/>
              </a:rPr>
              <a:t>Understand other aspects of the software related to non-functional requirements</a:t>
            </a:r>
          </a:p>
          <a:p>
            <a:endParaRPr lang="en-US" dirty="0"/>
          </a:p>
        </p:txBody>
      </p:sp>
      <p:sp>
        <p:nvSpPr>
          <p:cNvPr id="4" name="Slide Number Placeholder 3">
            <a:extLst>
              <a:ext uri="{FF2B5EF4-FFF2-40B4-BE49-F238E27FC236}">
                <a16:creationId xmlns:a16="http://schemas.microsoft.com/office/drawing/2014/main" id="{0C7384D5-A09F-4656-8CC4-CCC5BD297884}"/>
              </a:ext>
            </a:extLst>
          </p:cNvPr>
          <p:cNvSpPr>
            <a:spLocks noGrp="1"/>
          </p:cNvSpPr>
          <p:nvPr>
            <p:ph type="sldNum" sz="quarter" idx="12"/>
          </p:nvPr>
        </p:nvSpPr>
        <p:spPr/>
        <p:txBody>
          <a:bodyPr/>
          <a:lstStyle/>
          <a:p>
            <a:fld id="{72925E92-DD69-4B30-91D7-BC3CA833981C}" type="slidenum">
              <a:rPr lang="en-US" smtClean="0"/>
              <a:t>15</a:t>
            </a:fld>
            <a:endParaRPr lang="en-US"/>
          </a:p>
        </p:txBody>
      </p:sp>
    </p:spTree>
    <p:extLst>
      <p:ext uri="{BB962C8B-B14F-4D97-AF65-F5344CB8AC3E}">
        <p14:creationId xmlns:p14="http://schemas.microsoft.com/office/powerpoint/2010/main" val="389633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7CE2B-FF58-40B3-A53E-82C97D1F2998}"/>
              </a:ext>
            </a:extLst>
          </p:cNvPr>
          <p:cNvSpPr>
            <a:spLocks noGrp="1"/>
          </p:cNvSpPr>
          <p:nvPr>
            <p:ph type="title"/>
          </p:nvPr>
        </p:nvSpPr>
        <p:spPr/>
        <p:txBody>
          <a:bodyPr/>
          <a:lstStyle/>
          <a:p>
            <a:r>
              <a:rPr lang="en-US" dirty="0"/>
              <a:t>Structuring you Test Cases</a:t>
            </a:r>
          </a:p>
        </p:txBody>
      </p:sp>
      <p:sp>
        <p:nvSpPr>
          <p:cNvPr id="3" name="Content Placeholder 2">
            <a:extLst>
              <a:ext uri="{FF2B5EF4-FFF2-40B4-BE49-F238E27FC236}">
                <a16:creationId xmlns:a16="http://schemas.microsoft.com/office/drawing/2014/main" id="{59DCB500-DA8B-49B6-873F-86053408F088}"/>
              </a:ext>
            </a:extLst>
          </p:cNvPr>
          <p:cNvSpPr>
            <a:spLocks noGrp="1"/>
          </p:cNvSpPr>
          <p:nvPr>
            <p:ph idx="1"/>
          </p:nvPr>
        </p:nvSpPr>
        <p:spPr/>
        <p:txBody>
          <a:bodyPr>
            <a:normAutofit lnSpcReduction="10000"/>
          </a:bodyPr>
          <a:lstStyle/>
          <a:p>
            <a:r>
              <a:rPr lang="en-US" sz="1800" b="0" i="0" u="none" strike="noStrike" baseline="0" dirty="0">
                <a:latin typeface="Arial" panose="020B0604020202020204" pitchFamily="34" charset="0"/>
              </a:rPr>
              <a:t>1. Test Case ID ( This is the unique number which helps in identifying a specific test case)</a:t>
            </a:r>
          </a:p>
          <a:p>
            <a:r>
              <a:rPr lang="en-US" sz="1800" b="0" i="0" u="none" strike="noStrike" baseline="0" dirty="0">
                <a:latin typeface="Arial" panose="020B0604020202020204" pitchFamily="34" charset="0"/>
              </a:rPr>
              <a:t>2. Test Case Description</a:t>
            </a:r>
          </a:p>
          <a:p>
            <a:r>
              <a:rPr lang="en-US" sz="1800" b="0" i="0" u="none" strike="noStrike" baseline="0" dirty="0">
                <a:latin typeface="Arial" panose="020B0604020202020204" pitchFamily="34" charset="0"/>
              </a:rPr>
              <a:t>3. Module to be tested (Usually we provide Requirement ID to maintain traceability between test case and requirements) </a:t>
            </a:r>
          </a:p>
          <a:p>
            <a:r>
              <a:rPr lang="en-US" sz="1800" b="0" i="0" u="none" strike="noStrike" baseline="0" dirty="0">
                <a:latin typeface="Arial" panose="020B0604020202020204" pitchFamily="34" charset="0"/>
              </a:rPr>
              <a:t>4. Test Data ( We provide variable and values based on need of the test case)</a:t>
            </a:r>
          </a:p>
          <a:p>
            <a:r>
              <a:rPr lang="en-US" sz="1800" b="0" i="0" u="none" strike="noStrike" baseline="0" dirty="0">
                <a:latin typeface="Arial" panose="020B0604020202020204" pitchFamily="34" charset="0"/>
              </a:rPr>
              <a:t>5. Test Steps ( Steps to be executed)</a:t>
            </a:r>
          </a:p>
          <a:p>
            <a:r>
              <a:rPr lang="en-US" sz="1800" b="0" i="0" u="none" strike="noStrike" baseline="0" dirty="0">
                <a:latin typeface="Arial" panose="020B0604020202020204" pitchFamily="34" charset="0"/>
              </a:rPr>
              <a:t>6. Expected results ( How application should behave after performing stated test steps)</a:t>
            </a:r>
          </a:p>
          <a:p>
            <a:r>
              <a:rPr lang="en-US" sz="1800" b="0" i="0" u="none" strike="noStrike" baseline="0" dirty="0">
                <a:solidFill>
                  <a:srgbClr val="000000"/>
                </a:solidFill>
                <a:latin typeface="Arial" panose="020B0604020202020204" pitchFamily="34" charset="0"/>
              </a:rPr>
              <a:t>7. Actual results ( Actual output tester will get after preforming steps)</a:t>
            </a:r>
          </a:p>
          <a:p>
            <a:r>
              <a:rPr lang="en-US" sz="1800" b="0" i="0" u="none" strike="noStrike" baseline="0" dirty="0">
                <a:solidFill>
                  <a:srgbClr val="000000"/>
                </a:solidFill>
                <a:latin typeface="Arial" panose="020B0604020202020204" pitchFamily="34" charset="0"/>
              </a:rPr>
              <a:t>8. A result ( Pass or fail after comparing expected and actual results)</a:t>
            </a:r>
          </a:p>
          <a:p>
            <a:r>
              <a:rPr lang="en-US" sz="1800" b="0" i="0" u="none" strike="noStrike" baseline="0" dirty="0">
                <a:solidFill>
                  <a:srgbClr val="000000"/>
                </a:solidFill>
                <a:latin typeface="Arial" panose="020B0604020202020204" pitchFamily="34" charset="0"/>
              </a:rPr>
              <a:t>9. Comments ( We can provide screen shot or any other relevant information to help developer debug the code)</a:t>
            </a:r>
            <a:endParaRPr lang="en-US" dirty="0"/>
          </a:p>
        </p:txBody>
      </p:sp>
      <p:sp>
        <p:nvSpPr>
          <p:cNvPr id="4" name="Slide Number Placeholder 3">
            <a:extLst>
              <a:ext uri="{FF2B5EF4-FFF2-40B4-BE49-F238E27FC236}">
                <a16:creationId xmlns:a16="http://schemas.microsoft.com/office/drawing/2014/main" id="{A36BD20B-B50B-4438-A70E-0BF674597834}"/>
              </a:ext>
            </a:extLst>
          </p:cNvPr>
          <p:cNvSpPr>
            <a:spLocks noGrp="1"/>
          </p:cNvSpPr>
          <p:nvPr>
            <p:ph type="sldNum" sz="quarter" idx="12"/>
          </p:nvPr>
        </p:nvSpPr>
        <p:spPr/>
        <p:txBody>
          <a:bodyPr/>
          <a:lstStyle/>
          <a:p>
            <a:fld id="{72925E92-DD69-4B30-91D7-BC3CA833981C}" type="slidenum">
              <a:rPr lang="en-US" smtClean="0"/>
              <a:t>16</a:t>
            </a:fld>
            <a:endParaRPr lang="en-US"/>
          </a:p>
        </p:txBody>
      </p:sp>
    </p:spTree>
    <p:extLst>
      <p:ext uri="{BB962C8B-B14F-4D97-AF65-F5344CB8AC3E}">
        <p14:creationId xmlns:p14="http://schemas.microsoft.com/office/powerpoint/2010/main" val="751108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39CB82C2-DF65-4EC1-8280-F201D50F57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7E1D4427-852B-4B37-8E76-0E9F1810BA2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5A1B47C8-47A0-4A88-8830-6DEA3B5DE39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A983440F-608B-4249-A1E7-546841A4A0A4}"/>
              </a:ext>
            </a:extLst>
          </p:cNvPr>
          <p:cNvPicPr>
            <a:picLocks noGrp="1" noChangeAspect="1"/>
          </p:cNvPicPr>
          <p:nvPr>
            <p:ph idx="1"/>
          </p:nvPr>
        </p:nvPicPr>
        <p:blipFill>
          <a:blip r:embed="rId2"/>
          <a:stretch>
            <a:fillRect/>
          </a:stretch>
        </p:blipFill>
        <p:spPr>
          <a:xfrm>
            <a:off x="633999" y="1154070"/>
            <a:ext cx="6275667" cy="4549859"/>
          </a:xfrm>
          <a:prstGeom prst="rect">
            <a:avLst/>
          </a:prstGeom>
        </p:spPr>
      </p:pic>
      <p:sp>
        <p:nvSpPr>
          <p:cNvPr id="19" name="Rectangle 18">
            <a:extLst>
              <a:ext uri="{FF2B5EF4-FFF2-40B4-BE49-F238E27FC236}">
                <a16:creationId xmlns:a16="http://schemas.microsoft.com/office/drawing/2014/main" id="{984BBFDD-E720-4805-A9C8-129FBBF6DD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6D2E45A-CBBA-4637-AF4E-9C448577762A}"/>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a:solidFill>
                  <a:srgbClr val="FFFFFF"/>
                </a:solidFill>
              </a:rPr>
              <a:t>USE CASE FOR ADDING NUMBERS</a:t>
            </a:r>
          </a:p>
        </p:txBody>
      </p:sp>
      <p:sp>
        <p:nvSpPr>
          <p:cNvPr id="21" name="Rectangle 20">
            <a:extLst>
              <a:ext uri="{FF2B5EF4-FFF2-40B4-BE49-F238E27FC236}">
                <a16:creationId xmlns:a16="http://schemas.microsoft.com/office/drawing/2014/main" id="{5AC4BE46-4A77-42FE-9D15-065CDB2F847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BD292F7C-F137-4D70-8C39-E7100B625F42}"/>
              </a:ext>
            </a:extLst>
          </p:cNvPr>
          <p:cNvSpPr>
            <a:spLocks noGrp="1"/>
          </p:cNvSpPr>
          <p:nvPr>
            <p:ph type="sldNum" sz="quarter" idx="12"/>
          </p:nvPr>
        </p:nvSpPr>
        <p:spPr>
          <a:xfrm>
            <a:off x="11030574" y="6459785"/>
            <a:ext cx="725557" cy="365125"/>
          </a:xfrm>
        </p:spPr>
        <p:txBody>
          <a:bodyPr vert="horz" lIns="91440" tIns="45720" rIns="91440" bIns="45720" rtlCol="0" anchor="ctr">
            <a:normAutofit/>
          </a:bodyPr>
          <a:lstStyle/>
          <a:p>
            <a:pPr defTabSz="914400">
              <a:spcAft>
                <a:spcPts val="600"/>
              </a:spcAft>
            </a:pPr>
            <a:fld id="{72925E92-DD69-4B30-91D7-BC3CA833981C}" type="slidenum">
              <a:rPr lang="en-US" smtClean="0"/>
              <a:pPr defTabSz="914400">
                <a:spcAft>
                  <a:spcPts val="600"/>
                </a:spcAft>
              </a:pPr>
              <a:t>17</a:t>
            </a:fld>
            <a:endParaRPr lang="en-US"/>
          </a:p>
        </p:txBody>
      </p:sp>
    </p:spTree>
    <p:extLst>
      <p:ext uri="{BB962C8B-B14F-4D97-AF65-F5344CB8AC3E}">
        <p14:creationId xmlns:p14="http://schemas.microsoft.com/office/powerpoint/2010/main" val="3640393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E4490D0-3672-446A-AC12-B4830333BDD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39CB82C2-DF65-4EC1-8280-F201D50F57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7E1D4427-852B-4B37-8E76-0E9F1810BA2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5A1B47C8-47A0-4A88-8830-6DEA3B5DE39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94F8FD13-FBA7-4910-B03C-4D7A88B082D6}"/>
              </a:ext>
            </a:extLst>
          </p:cNvPr>
          <p:cNvPicPr>
            <a:picLocks noGrp="1" noChangeAspect="1"/>
          </p:cNvPicPr>
          <p:nvPr>
            <p:ph idx="1"/>
          </p:nvPr>
        </p:nvPicPr>
        <p:blipFill>
          <a:blip r:embed="rId2"/>
          <a:stretch>
            <a:fillRect/>
          </a:stretch>
        </p:blipFill>
        <p:spPr>
          <a:xfrm>
            <a:off x="75183" y="832104"/>
            <a:ext cx="7474227" cy="5250644"/>
          </a:xfrm>
          <a:prstGeom prst="rect">
            <a:avLst/>
          </a:prstGeom>
        </p:spPr>
      </p:pic>
      <p:sp>
        <p:nvSpPr>
          <p:cNvPr id="19" name="Rectangle 18">
            <a:extLst>
              <a:ext uri="{FF2B5EF4-FFF2-40B4-BE49-F238E27FC236}">
                <a16:creationId xmlns:a16="http://schemas.microsoft.com/office/drawing/2014/main" id="{984BBFDD-E720-4805-A9C8-129FBBF6DD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1D4286E-5E75-4642-96B7-DA7CA4AE00AF}"/>
              </a:ext>
            </a:extLst>
          </p:cNvPr>
          <p:cNvSpPr>
            <a:spLocks noGrp="1"/>
          </p:cNvSpPr>
          <p:nvPr>
            <p:ph type="title"/>
          </p:nvPr>
        </p:nvSpPr>
        <p:spPr>
          <a:xfrm>
            <a:off x="8096885" y="640080"/>
            <a:ext cx="3659246" cy="2926080"/>
          </a:xfrm>
        </p:spPr>
        <p:txBody>
          <a:bodyPr vert="horz" lIns="91440" tIns="45720" rIns="91440" bIns="45720" rtlCol="0" anchor="b">
            <a:normAutofit/>
          </a:bodyPr>
          <a:lstStyle/>
          <a:p>
            <a:r>
              <a:rPr lang="en-US" sz="4400">
                <a:solidFill>
                  <a:srgbClr val="FFFFFF"/>
                </a:solidFill>
              </a:rPr>
              <a:t>Test CASE FOR ADDING NUMBERS</a:t>
            </a:r>
          </a:p>
        </p:txBody>
      </p:sp>
      <p:sp>
        <p:nvSpPr>
          <p:cNvPr id="21" name="Rectangle 20">
            <a:extLst>
              <a:ext uri="{FF2B5EF4-FFF2-40B4-BE49-F238E27FC236}">
                <a16:creationId xmlns:a16="http://schemas.microsoft.com/office/drawing/2014/main" id="{5AC4BE46-4A77-42FE-9D15-065CDB2F847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Slide Number Placeholder 3">
            <a:extLst>
              <a:ext uri="{FF2B5EF4-FFF2-40B4-BE49-F238E27FC236}">
                <a16:creationId xmlns:a16="http://schemas.microsoft.com/office/drawing/2014/main" id="{62851A76-EC29-4C4D-A466-16E8C84DE8BC}"/>
              </a:ext>
            </a:extLst>
          </p:cNvPr>
          <p:cNvSpPr>
            <a:spLocks noGrp="1"/>
          </p:cNvSpPr>
          <p:nvPr>
            <p:ph type="sldNum" sz="quarter" idx="12"/>
          </p:nvPr>
        </p:nvSpPr>
        <p:spPr>
          <a:xfrm>
            <a:off x="11030574" y="6459785"/>
            <a:ext cx="725557" cy="365125"/>
          </a:xfrm>
        </p:spPr>
        <p:txBody>
          <a:bodyPr vert="horz" lIns="91440" tIns="45720" rIns="91440" bIns="45720" rtlCol="0" anchor="ctr">
            <a:normAutofit/>
          </a:bodyPr>
          <a:lstStyle/>
          <a:p>
            <a:pPr defTabSz="914400">
              <a:spcAft>
                <a:spcPts val="600"/>
              </a:spcAft>
            </a:pPr>
            <a:fld id="{72925E92-DD69-4B30-91D7-BC3CA833981C}" type="slidenum">
              <a:rPr lang="en-US" smtClean="0"/>
              <a:pPr defTabSz="914400">
                <a:spcAft>
                  <a:spcPts val="600"/>
                </a:spcAft>
              </a:pPr>
              <a:t>18</a:t>
            </a:fld>
            <a:endParaRPr lang="en-US"/>
          </a:p>
        </p:txBody>
      </p:sp>
    </p:spTree>
    <p:extLst>
      <p:ext uri="{BB962C8B-B14F-4D97-AF65-F5344CB8AC3E}">
        <p14:creationId xmlns:p14="http://schemas.microsoft.com/office/powerpoint/2010/main" val="1912380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1152526" y="815974"/>
            <a:ext cx="6029325" cy="762000"/>
          </a:xfrm>
        </p:spPr>
        <p:txBody>
          <a:bodyPr/>
          <a:lstStyle/>
          <a:p>
            <a:pPr eaLnBrk="1" hangingPunct="1"/>
            <a:r>
              <a:rPr lang="en-US" dirty="0">
                <a:solidFill>
                  <a:srgbClr val="0000FF"/>
                </a:solidFill>
              </a:rPr>
              <a:t>Testing Strategies</a:t>
            </a:r>
          </a:p>
        </p:txBody>
      </p:sp>
      <p:sp>
        <p:nvSpPr>
          <p:cNvPr id="1098755" name="Rectangle 3"/>
          <p:cNvSpPr>
            <a:spLocks noChangeArrowheads="1"/>
          </p:cNvSpPr>
          <p:nvPr/>
        </p:nvSpPr>
        <p:spPr bwMode="auto">
          <a:xfrm>
            <a:off x="1257301" y="2019300"/>
            <a:ext cx="10506074" cy="3641726"/>
          </a:xfrm>
          <a:prstGeom prst="rect">
            <a:avLst/>
          </a:prstGeom>
          <a:noFill/>
          <a:ln w="9525">
            <a:noFill/>
            <a:miter lim="800000"/>
            <a:headEnd/>
            <a:tailEnd/>
          </a:ln>
        </p:spPr>
        <p:txBody>
          <a:bodyPr>
            <a:prstTxWarp prst="textNoShape">
              <a:avLst/>
            </a:prstTxWarp>
          </a:bodyPr>
          <a:lstStyle/>
          <a:p>
            <a:pPr marL="457200" indent="-457200">
              <a:lnSpc>
                <a:spcPct val="90000"/>
              </a:lnSpc>
              <a:buClr>
                <a:srgbClr val="0000FF"/>
              </a:buClr>
              <a:buSzPct val="75000"/>
            </a:pPr>
            <a:r>
              <a:rPr lang="en-GB" dirty="0">
                <a:latin typeface="Verdana" charset="0"/>
              </a:rPr>
              <a:t>SW testing is one element of a broader topic referred to as V&amp;V (many SQA activities).</a:t>
            </a:r>
          </a:p>
          <a:p>
            <a:pPr marL="457200" indent="-457200">
              <a:lnSpc>
                <a:spcPct val="90000"/>
              </a:lnSpc>
              <a:buClr>
                <a:srgbClr val="0000FF"/>
              </a:buClr>
              <a:buSzPct val="75000"/>
              <a:buFont typeface="Wingdings" charset="2"/>
              <a:buChar char="q"/>
            </a:pPr>
            <a:r>
              <a:rPr lang="en-GB" sz="2800" dirty="0">
                <a:solidFill>
                  <a:srgbClr val="FF0000"/>
                </a:solidFill>
                <a:latin typeface="Verdana" charset="0"/>
              </a:rPr>
              <a:t>Verification</a:t>
            </a:r>
            <a:r>
              <a:rPr lang="en-GB" sz="1600" dirty="0">
                <a:latin typeface="Verdana" charset="0"/>
              </a:rPr>
              <a:t> </a:t>
            </a:r>
            <a:r>
              <a:rPr lang="en-GB" dirty="0">
                <a:latin typeface="Verdana" charset="0"/>
              </a:rPr>
              <a:t>(correctly implement specific function)</a:t>
            </a:r>
          </a:p>
          <a:p>
            <a:pPr marL="914400" lvl="1" indent="-457200">
              <a:lnSpc>
                <a:spcPct val="90000"/>
              </a:lnSpc>
              <a:buClr>
                <a:schemeClr val="folHlink"/>
              </a:buClr>
              <a:buSzPct val="70000"/>
              <a:buFont typeface="Wingdings" charset="2"/>
              <a:buChar char="Ø"/>
            </a:pPr>
            <a:r>
              <a:rPr lang="en-GB" sz="2400" dirty="0">
                <a:latin typeface="Verdana" charset="0"/>
              </a:rPr>
              <a:t>Defect </a:t>
            </a:r>
            <a:r>
              <a:rPr lang="en-GB" sz="2400" dirty="0">
                <a:solidFill>
                  <a:srgbClr val="0000FF"/>
                </a:solidFill>
                <a:latin typeface="Verdana" charset="0"/>
              </a:rPr>
              <a:t>detection</a:t>
            </a:r>
            <a:r>
              <a:rPr lang="en-GB" sz="2400" dirty="0">
                <a:latin typeface="Verdana" charset="0"/>
              </a:rPr>
              <a:t> and </a:t>
            </a:r>
            <a:r>
              <a:rPr lang="en-GB" sz="2400" dirty="0">
                <a:solidFill>
                  <a:srgbClr val="0000FF"/>
                </a:solidFill>
                <a:latin typeface="Verdana" charset="0"/>
              </a:rPr>
              <a:t>correction</a:t>
            </a:r>
          </a:p>
          <a:p>
            <a:pPr marL="914400" lvl="1" indent="-457200">
              <a:lnSpc>
                <a:spcPct val="90000"/>
              </a:lnSpc>
              <a:buClr>
                <a:schemeClr val="folHlink"/>
              </a:buClr>
              <a:buSzPct val="70000"/>
              <a:buFont typeface="Wingdings" charset="2"/>
              <a:buChar char="Ø"/>
            </a:pPr>
            <a:r>
              <a:rPr lang="en-GB" sz="2400" dirty="0">
                <a:solidFill>
                  <a:srgbClr val="0000FF"/>
                </a:solidFill>
                <a:latin typeface="Verdana" charset="0"/>
              </a:rPr>
              <a:t>Comparison</a:t>
            </a:r>
            <a:r>
              <a:rPr lang="en-GB" sz="2400" dirty="0">
                <a:latin typeface="Verdana" charset="0"/>
              </a:rPr>
              <a:t> between </a:t>
            </a:r>
            <a:r>
              <a:rPr lang="en-GB" sz="2400" dirty="0">
                <a:solidFill>
                  <a:srgbClr val="0000FF"/>
                </a:solidFill>
                <a:latin typeface="Verdana" charset="0"/>
              </a:rPr>
              <a:t>implementation</a:t>
            </a:r>
            <a:r>
              <a:rPr lang="en-GB" sz="2400" dirty="0">
                <a:latin typeface="Verdana" charset="0"/>
              </a:rPr>
              <a:t> and the corresponding </a:t>
            </a:r>
            <a:r>
              <a:rPr lang="en-GB" sz="2400" dirty="0">
                <a:solidFill>
                  <a:srgbClr val="0000FF"/>
                </a:solidFill>
                <a:latin typeface="Verdana" charset="0"/>
              </a:rPr>
              <a:t>specification</a:t>
            </a:r>
          </a:p>
          <a:p>
            <a:pPr marL="914400" lvl="1" indent="-457200">
              <a:lnSpc>
                <a:spcPct val="90000"/>
              </a:lnSpc>
              <a:buClr>
                <a:schemeClr val="folHlink"/>
              </a:buClr>
              <a:buSzPct val="70000"/>
              <a:buFont typeface="Wingdings" charset="2"/>
              <a:buChar char="Ø"/>
            </a:pPr>
            <a:r>
              <a:rPr lang="en-US" sz="2400" dirty="0">
                <a:latin typeface="Verdana" charset="0"/>
              </a:rPr>
              <a:t>Are we building the </a:t>
            </a:r>
            <a:r>
              <a:rPr lang="en-US" sz="2400" dirty="0">
                <a:solidFill>
                  <a:srgbClr val="0000FF"/>
                </a:solidFill>
                <a:latin typeface="Verdana" charset="0"/>
              </a:rPr>
              <a:t>product right</a:t>
            </a:r>
            <a:r>
              <a:rPr lang="en-US" sz="2400" dirty="0">
                <a:latin typeface="Verdana" charset="0"/>
              </a:rPr>
              <a:t>?</a:t>
            </a:r>
          </a:p>
          <a:p>
            <a:pPr marL="457200" indent="-457200">
              <a:lnSpc>
                <a:spcPct val="90000"/>
              </a:lnSpc>
              <a:buClr>
                <a:srgbClr val="0000FF"/>
              </a:buClr>
              <a:buSzPct val="75000"/>
              <a:buFont typeface="Wingdings" charset="2"/>
              <a:buChar char="q"/>
            </a:pPr>
            <a:r>
              <a:rPr lang="en-GB" sz="2800" dirty="0">
                <a:solidFill>
                  <a:srgbClr val="FF0000"/>
                </a:solidFill>
                <a:latin typeface="Verdana" charset="0"/>
              </a:rPr>
              <a:t>Validation </a:t>
            </a:r>
            <a:r>
              <a:rPr lang="en-GB" dirty="0">
                <a:ea typeface="Times New Roman" charset="0"/>
                <a:cs typeface="Times New Roman" charset="0"/>
              </a:rPr>
              <a:t>(SW is traceable to customer requirements)</a:t>
            </a:r>
            <a:endParaRPr lang="en-GB" sz="2400" dirty="0">
              <a:solidFill>
                <a:srgbClr val="FF0000"/>
              </a:solidFill>
              <a:latin typeface="Verdana" charset="0"/>
            </a:endParaRPr>
          </a:p>
          <a:p>
            <a:pPr marL="914400" lvl="1" indent="-457200">
              <a:lnSpc>
                <a:spcPct val="90000"/>
              </a:lnSpc>
              <a:buClr>
                <a:schemeClr val="folHlink"/>
              </a:buClr>
              <a:buSzPct val="70000"/>
              <a:buFont typeface="Wingdings" charset="2"/>
              <a:buChar char="Ø"/>
            </a:pPr>
            <a:r>
              <a:rPr lang="en-GB" sz="2400" dirty="0">
                <a:latin typeface="Verdana" charset="0"/>
              </a:rPr>
              <a:t>Defect </a:t>
            </a:r>
            <a:r>
              <a:rPr lang="en-GB" sz="2400" dirty="0">
                <a:solidFill>
                  <a:srgbClr val="0000FF"/>
                </a:solidFill>
                <a:latin typeface="Verdana" charset="0"/>
              </a:rPr>
              <a:t>prevention</a:t>
            </a:r>
          </a:p>
          <a:p>
            <a:pPr marL="914400" lvl="1" indent="-457200">
              <a:lnSpc>
                <a:spcPct val="90000"/>
              </a:lnSpc>
              <a:buClr>
                <a:schemeClr val="folHlink"/>
              </a:buClr>
              <a:buSzPct val="70000"/>
              <a:buFont typeface="Wingdings" charset="2"/>
              <a:buChar char="Ø"/>
            </a:pPr>
            <a:r>
              <a:rPr lang="en-GB" sz="2400" dirty="0">
                <a:latin typeface="Verdana" charset="0"/>
              </a:rPr>
              <a:t>Provision of sound basis for </a:t>
            </a:r>
            <a:r>
              <a:rPr lang="en-GB" sz="2400" dirty="0">
                <a:solidFill>
                  <a:srgbClr val="0000FF"/>
                </a:solidFill>
                <a:latin typeface="Verdana" charset="0"/>
              </a:rPr>
              <a:t>specific design decisions</a:t>
            </a:r>
          </a:p>
          <a:p>
            <a:pPr marL="914400" lvl="1" indent="-457200">
              <a:lnSpc>
                <a:spcPct val="90000"/>
              </a:lnSpc>
              <a:buClr>
                <a:schemeClr val="folHlink"/>
              </a:buClr>
              <a:buSzPct val="70000"/>
              <a:buFont typeface="Wingdings" charset="2"/>
              <a:buChar char="Ø"/>
            </a:pPr>
            <a:r>
              <a:rPr lang="en-US" sz="2400" dirty="0">
                <a:latin typeface="Verdana" charset="0"/>
              </a:rPr>
              <a:t>Are we building the </a:t>
            </a:r>
            <a:r>
              <a:rPr lang="en-US" sz="2400" dirty="0">
                <a:solidFill>
                  <a:srgbClr val="0000FF"/>
                </a:solidFill>
                <a:latin typeface="Verdana" charset="0"/>
              </a:rPr>
              <a:t>right product</a:t>
            </a:r>
            <a:r>
              <a:rPr lang="en-US" sz="2400" dirty="0">
                <a:latin typeface="Verdana" charset="0"/>
              </a:rPr>
              <a:t>?</a:t>
            </a:r>
          </a:p>
        </p:txBody>
      </p:sp>
      <p:sp>
        <p:nvSpPr>
          <p:cNvPr id="1098756" name="Text Box 4"/>
          <p:cNvSpPr txBox="1">
            <a:spLocks noChangeArrowheads="1"/>
          </p:cNvSpPr>
          <p:nvPr/>
        </p:nvSpPr>
        <p:spPr bwMode="auto">
          <a:xfrm>
            <a:off x="1257302" y="5624513"/>
            <a:ext cx="9829798" cy="369332"/>
          </a:xfrm>
          <a:prstGeom prst="rect">
            <a:avLst/>
          </a:prstGeom>
          <a:noFill/>
          <a:ln w="9525">
            <a:noFill/>
            <a:miter lim="800000"/>
            <a:headEnd/>
            <a:tailEnd/>
          </a:ln>
        </p:spPr>
        <p:txBody>
          <a:bodyPr wrap="square">
            <a:prstTxWarp prst="textNoShape">
              <a:avLst/>
            </a:prstTxWarp>
            <a:spAutoFit/>
          </a:bodyPr>
          <a:lstStyle/>
          <a:p>
            <a:pPr>
              <a:spcBef>
                <a:spcPct val="0"/>
              </a:spcBef>
              <a:buClrTx/>
              <a:buFontTx/>
              <a:buNone/>
            </a:pPr>
            <a:r>
              <a:rPr lang="en-US" dirty="0"/>
              <a:t>Example: </a:t>
            </a:r>
            <a:r>
              <a:rPr lang="en-US" dirty="0">
                <a:solidFill>
                  <a:srgbClr val="0000FF"/>
                </a:solidFill>
              </a:rPr>
              <a:t>Checking the printing of receipts</a:t>
            </a:r>
            <a:r>
              <a:rPr lang="en-US" dirty="0"/>
              <a:t> is </a:t>
            </a:r>
            <a:r>
              <a:rPr lang="en-US" dirty="0">
                <a:solidFill>
                  <a:srgbClr val="FF0000"/>
                </a:solidFill>
              </a:rPr>
              <a:t>verification</a:t>
            </a:r>
            <a:r>
              <a:rPr lang="en-US" dirty="0"/>
              <a:t> and </a:t>
            </a:r>
            <a:r>
              <a:rPr lang="en-US" dirty="0">
                <a:solidFill>
                  <a:srgbClr val="0000FF"/>
                </a:solidFill>
              </a:rPr>
              <a:t>correct printing (info)</a:t>
            </a:r>
            <a:r>
              <a:rPr lang="en-US" dirty="0"/>
              <a:t> is </a:t>
            </a:r>
            <a:r>
              <a:rPr lang="en-US" dirty="0">
                <a:solidFill>
                  <a:srgbClr val="FF0000"/>
                </a:solidFill>
              </a:rPr>
              <a:t>validation</a:t>
            </a:r>
            <a:r>
              <a:rPr lang="en-US" dirty="0"/>
              <a:t>.</a:t>
            </a:r>
          </a:p>
        </p:txBody>
      </p:sp>
      <p:sp>
        <p:nvSpPr>
          <p:cNvPr id="7" name="Slide Number Placeholder 6"/>
          <p:cNvSpPr>
            <a:spLocks noGrp="1"/>
          </p:cNvSpPr>
          <p:nvPr>
            <p:ph type="sldNum" sz="quarter" idx="11"/>
          </p:nvPr>
        </p:nvSpPr>
        <p:spPr/>
        <p:txBody>
          <a:bodyPr/>
          <a:lstStyle/>
          <a:p>
            <a:pPr>
              <a:defRPr/>
            </a:pPr>
            <a:fld id="{93A6482D-F627-9B4A-B22C-88794F9AB3C0}" type="slidenum">
              <a:rPr lang="nl-NL" smtClean="0"/>
              <a:pPr>
                <a:defRPr/>
              </a:pPr>
              <a:t>19</a:t>
            </a:fld>
            <a:endParaRPr lang="nl-NL"/>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98755">
                                            <p:txEl>
                                              <p:pRg st="0" end="0"/>
                                            </p:txEl>
                                          </p:spTgt>
                                        </p:tgtEl>
                                        <p:attrNameLst>
                                          <p:attrName>style.visibility</p:attrName>
                                        </p:attrNameLst>
                                      </p:cBhvr>
                                      <p:to>
                                        <p:strVal val="visible"/>
                                      </p:to>
                                    </p:set>
                                    <p:animEffect transition="in" filter="blinds(horizontal)">
                                      <p:cBhvr>
                                        <p:cTn id="7" dur="500"/>
                                        <p:tgtEl>
                                          <p:spTgt spid="10987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98755">
                                            <p:txEl>
                                              <p:pRg st="1" end="1"/>
                                            </p:txEl>
                                          </p:spTgt>
                                        </p:tgtEl>
                                        <p:attrNameLst>
                                          <p:attrName>style.visibility</p:attrName>
                                        </p:attrNameLst>
                                      </p:cBhvr>
                                      <p:to>
                                        <p:strVal val="visible"/>
                                      </p:to>
                                    </p:set>
                                    <p:animEffect transition="in" filter="blinds(horizontal)">
                                      <p:cBhvr>
                                        <p:cTn id="12" dur="500"/>
                                        <p:tgtEl>
                                          <p:spTgt spid="10987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8755">
                                            <p:txEl>
                                              <p:pRg st="2" end="2"/>
                                            </p:txEl>
                                          </p:spTgt>
                                        </p:tgtEl>
                                        <p:attrNameLst>
                                          <p:attrName>style.visibility</p:attrName>
                                        </p:attrNameLst>
                                      </p:cBhvr>
                                      <p:to>
                                        <p:strVal val="visible"/>
                                      </p:to>
                                    </p:set>
                                    <p:animEffect transition="in" filter="blinds(horizontal)">
                                      <p:cBhvr>
                                        <p:cTn id="17" dur="500"/>
                                        <p:tgtEl>
                                          <p:spTgt spid="10987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8755">
                                            <p:txEl>
                                              <p:pRg st="3" end="3"/>
                                            </p:txEl>
                                          </p:spTgt>
                                        </p:tgtEl>
                                        <p:attrNameLst>
                                          <p:attrName>style.visibility</p:attrName>
                                        </p:attrNameLst>
                                      </p:cBhvr>
                                      <p:to>
                                        <p:strVal val="visible"/>
                                      </p:to>
                                    </p:set>
                                    <p:animEffect transition="in" filter="blinds(horizontal)">
                                      <p:cBhvr>
                                        <p:cTn id="22" dur="500"/>
                                        <p:tgtEl>
                                          <p:spTgt spid="10987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98755">
                                            <p:txEl>
                                              <p:pRg st="4" end="4"/>
                                            </p:txEl>
                                          </p:spTgt>
                                        </p:tgtEl>
                                        <p:attrNameLst>
                                          <p:attrName>style.visibility</p:attrName>
                                        </p:attrNameLst>
                                      </p:cBhvr>
                                      <p:to>
                                        <p:strVal val="visible"/>
                                      </p:to>
                                    </p:set>
                                    <p:animEffect transition="in" filter="blinds(horizontal)">
                                      <p:cBhvr>
                                        <p:cTn id="27" dur="500"/>
                                        <p:tgtEl>
                                          <p:spTgt spid="10987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98755">
                                            <p:txEl>
                                              <p:pRg st="5" end="5"/>
                                            </p:txEl>
                                          </p:spTgt>
                                        </p:tgtEl>
                                        <p:attrNameLst>
                                          <p:attrName>style.visibility</p:attrName>
                                        </p:attrNameLst>
                                      </p:cBhvr>
                                      <p:to>
                                        <p:strVal val="visible"/>
                                      </p:to>
                                    </p:set>
                                    <p:animEffect transition="in" filter="blinds(horizontal)">
                                      <p:cBhvr>
                                        <p:cTn id="32" dur="500"/>
                                        <p:tgtEl>
                                          <p:spTgt spid="10987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098755">
                                            <p:txEl>
                                              <p:pRg st="6" end="6"/>
                                            </p:txEl>
                                          </p:spTgt>
                                        </p:tgtEl>
                                        <p:attrNameLst>
                                          <p:attrName>style.visibility</p:attrName>
                                        </p:attrNameLst>
                                      </p:cBhvr>
                                      <p:to>
                                        <p:strVal val="visible"/>
                                      </p:to>
                                    </p:set>
                                    <p:animEffect transition="in" filter="blinds(horizontal)">
                                      <p:cBhvr>
                                        <p:cTn id="37" dur="500"/>
                                        <p:tgtEl>
                                          <p:spTgt spid="109875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098755">
                                            <p:txEl>
                                              <p:pRg st="7" end="7"/>
                                            </p:txEl>
                                          </p:spTgt>
                                        </p:tgtEl>
                                        <p:attrNameLst>
                                          <p:attrName>style.visibility</p:attrName>
                                        </p:attrNameLst>
                                      </p:cBhvr>
                                      <p:to>
                                        <p:strVal val="visible"/>
                                      </p:to>
                                    </p:set>
                                    <p:animEffect transition="in" filter="blinds(horizontal)">
                                      <p:cBhvr>
                                        <p:cTn id="42" dur="500"/>
                                        <p:tgtEl>
                                          <p:spTgt spid="109875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098755">
                                            <p:txEl>
                                              <p:pRg st="8" end="8"/>
                                            </p:txEl>
                                          </p:spTgt>
                                        </p:tgtEl>
                                        <p:attrNameLst>
                                          <p:attrName>style.visibility</p:attrName>
                                        </p:attrNameLst>
                                      </p:cBhvr>
                                      <p:to>
                                        <p:strVal val="visible"/>
                                      </p:to>
                                    </p:set>
                                    <p:animEffect transition="in" filter="blinds(horizontal)">
                                      <p:cBhvr>
                                        <p:cTn id="47" dur="500"/>
                                        <p:tgtEl>
                                          <p:spTgt spid="109875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098756"/>
                                        </p:tgtEl>
                                        <p:attrNameLst>
                                          <p:attrName>style.visibility</p:attrName>
                                        </p:attrNameLst>
                                      </p:cBhvr>
                                      <p:to>
                                        <p:strVal val="visible"/>
                                      </p:to>
                                    </p:set>
                                    <p:animEffect transition="in" filter="blinds(horizontal)">
                                      <p:cBhvr>
                                        <p:cTn id="52" dur="500"/>
                                        <p:tgtEl>
                                          <p:spTgt spid="1098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8755" grpId="0" uiExpand="1" build="p" bldLvl="2"/>
      <p:bldP spid="109875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1282589" y="805084"/>
            <a:ext cx="8305800" cy="762000"/>
          </a:xfrm>
        </p:spPr>
        <p:txBody>
          <a:bodyPr/>
          <a:lstStyle/>
          <a:p>
            <a:pPr eaLnBrk="1" hangingPunct="1"/>
            <a:r>
              <a:rPr lang="en-US" sz="4000" dirty="0"/>
              <a:t>Types/Strategies of testing</a:t>
            </a:r>
            <a:endParaRPr lang="en-US" sz="2000" dirty="0"/>
          </a:p>
        </p:txBody>
      </p:sp>
      <p:sp>
        <p:nvSpPr>
          <p:cNvPr id="1102851" name="Rectangle 3"/>
          <p:cNvSpPr>
            <a:spLocks noGrp="1" noChangeArrowheads="1"/>
          </p:cNvSpPr>
          <p:nvPr>
            <p:ph type="body" idx="1"/>
          </p:nvPr>
        </p:nvSpPr>
        <p:spPr>
          <a:xfrm>
            <a:off x="1282590" y="1933574"/>
            <a:ext cx="8305799" cy="4159721"/>
          </a:xfrm>
        </p:spPr>
        <p:txBody>
          <a:bodyPr>
            <a:normAutofit fontScale="85000" lnSpcReduction="20000"/>
          </a:bodyPr>
          <a:lstStyle/>
          <a:p>
            <a:pPr marL="285750" indent="-285750"/>
            <a:r>
              <a:rPr lang="en-US" dirty="0"/>
              <a:t>Code Inspections</a:t>
            </a:r>
          </a:p>
          <a:p>
            <a:pPr marL="285750" indent="-285750"/>
            <a:r>
              <a:rPr lang="en-US" dirty="0"/>
              <a:t>Software (Module) Testing</a:t>
            </a:r>
          </a:p>
          <a:p>
            <a:pPr marL="857250" lvl="1" indent="-457200"/>
            <a:r>
              <a:rPr lang="en-US" dirty="0"/>
              <a:t>Unit Testing </a:t>
            </a:r>
          </a:p>
          <a:p>
            <a:pPr marL="857250" lvl="1" indent="-457200"/>
            <a:r>
              <a:rPr lang="en-US" dirty="0"/>
              <a:t>Functional Testing</a:t>
            </a:r>
          </a:p>
          <a:p>
            <a:pPr marL="285750" indent="-285750"/>
            <a:r>
              <a:rPr lang="en-US" dirty="0"/>
              <a:t>Integration Testing</a:t>
            </a:r>
          </a:p>
          <a:p>
            <a:pPr marL="857250" lvl="1" indent="-457200"/>
            <a:r>
              <a:rPr lang="en-US" dirty="0"/>
              <a:t>Compliance</a:t>
            </a:r>
          </a:p>
          <a:p>
            <a:pPr marL="857250" lvl="1" indent="-457200"/>
            <a:r>
              <a:rPr lang="en-US" dirty="0"/>
              <a:t>Interoperability Testing</a:t>
            </a:r>
          </a:p>
          <a:p>
            <a:pPr marL="285750" indent="-285750"/>
            <a:r>
              <a:rPr lang="en-US" dirty="0"/>
              <a:t> System Testing</a:t>
            </a:r>
          </a:p>
          <a:p>
            <a:pPr marL="857250" lvl="1" indent="-457200"/>
            <a:r>
              <a:rPr lang="en-US" dirty="0"/>
              <a:t>Recovery</a:t>
            </a:r>
          </a:p>
          <a:p>
            <a:pPr marL="857250" lvl="1" indent="-457200"/>
            <a:r>
              <a:rPr lang="en-US" dirty="0"/>
              <a:t>Security</a:t>
            </a:r>
          </a:p>
          <a:p>
            <a:pPr marL="857250" lvl="1" indent="-457200"/>
            <a:r>
              <a:rPr lang="en-US" dirty="0"/>
              <a:t>Environment</a:t>
            </a:r>
          </a:p>
          <a:p>
            <a:pPr marL="285750" indent="-285750"/>
            <a:r>
              <a:rPr lang="en-US" dirty="0"/>
              <a:t>Acceptance Testing and Release Testing</a:t>
            </a:r>
          </a:p>
          <a:p>
            <a:pPr marL="285750" indent="-285750"/>
            <a:r>
              <a:rPr lang="en-US" dirty="0"/>
              <a:t>Regression Testing</a:t>
            </a:r>
          </a:p>
          <a:p>
            <a:pPr marL="285750" indent="-285750"/>
            <a:r>
              <a:rPr lang="en-US" altLang="ko-KR" dirty="0">
                <a:solidFill>
                  <a:srgbClr val="0000FF"/>
                </a:solidFill>
                <a:ea typeface="굴림" charset="-127"/>
                <a:cs typeface="굴림" charset="-127"/>
              </a:rPr>
              <a:t>Stress</a:t>
            </a:r>
            <a:r>
              <a:rPr lang="en-US" altLang="ko-KR" dirty="0">
                <a:ea typeface="굴림" charset="-127"/>
                <a:cs typeface="굴림" charset="-127"/>
              </a:rPr>
              <a:t>, </a:t>
            </a:r>
            <a:r>
              <a:rPr lang="en-US" altLang="ko-KR" dirty="0">
                <a:solidFill>
                  <a:srgbClr val="0000FF"/>
                </a:solidFill>
                <a:ea typeface="굴림" charset="-127"/>
                <a:cs typeface="굴림" charset="-127"/>
              </a:rPr>
              <a:t>Security</a:t>
            </a:r>
            <a:r>
              <a:rPr lang="en-US" altLang="ko-KR" dirty="0">
                <a:ea typeface="굴림" charset="-127"/>
                <a:cs typeface="굴림" charset="-127"/>
              </a:rPr>
              <a:t>, </a:t>
            </a:r>
            <a:r>
              <a:rPr lang="en-US" altLang="ko-KR" dirty="0">
                <a:solidFill>
                  <a:srgbClr val="0000FF"/>
                </a:solidFill>
                <a:ea typeface="굴림" charset="-127"/>
                <a:cs typeface="굴림" charset="-127"/>
              </a:rPr>
              <a:t>performance</a:t>
            </a:r>
            <a:r>
              <a:rPr lang="en-US" altLang="ko-KR" dirty="0">
                <a:ea typeface="굴림" charset="-127"/>
                <a:cs typeface="굴림" charset="-127"/>
              </a:rPr>
              <a:t>, </a:t>
            </a:r>
            <a:r>
              <a:rPr lang="en-US" altLang="ko-KR" dirty="0">
                <a:solidFill>
                  <a:srgbClr val="0000FF"/>
                </a:solidFill>
                <a:ea typeface="굴림" charset="-127"/>
                <a:cs typeface="굴림" charset="-127"/>
              </a:rPr>
              <a:t>Load</a:t>
            </a:r>
            <a:r>
              <a:rPr lang="en-US" altLang="ko-KR" dirty="0">
                <a:ea typeface="굴림" charset="-127"/>
                <a:cs typeface="굴림" charset="-127"/>
              </a:rPr>
              <a:t> </a:t>
            </a:r>
            <a:r>
              <a:rPr lang="en-US" altLang="ko-KR" dirty="0">
                <a:solidFill>
                  <a:srgbClr val="0000FF"/>
                </a:solidFill>
                <a:ea typeface="굴림" charset="-127"/>
                <a:cs typeface="굴림" charset="-127"/>
              </a:rPr>
              <a:t>Testing</a:t>
            </a:r>
            <a:r>
              <a:rPr lang="en-US" dirty="0"/>
              <a:t> </a:t>
            </a:r>
            <a:r>
              <a:rPr lang="en-US" altLang="ko-KR" dirty="0">
                <a:ea typeface="굴림" charset="-127"/>
                <a:cs typeface="굴림" charset="-127"/>
              </a:rPr>
              <a:t>etc</a:t>
            </a:r>
            <a:endParaRPr lang="en-US" dirty="0"/>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20</a:t>
            </a:fld>
            <a:endParaRPr lang="nl-NL"/>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02851">
                                            <p:txEl>
                                              <p:pRg st="0" end="0"/>
                                            </p:txEl>
                                          </p:spTgt>
                                        </p:tgtEl>
                                        <p:attrNameLst>
                                          <p:attrName>style.visibility</p:attrName>
                                        </p:attrNameLst>
                                      </p:cBhvr>
                                      <p:to>
                                        <p:strVal val="visible"/>
                                      </p:to>
                                    </p:set>
                                    <p:animEffect transition="in" filter="blinds(horizontal)">
                                      <p:cBhvr>
                                        <p:cTn id="7" dur="500"/>
                                        <p:tgtEl>
                                          <p:spTgt spid="11028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02851">
                                            <p:txEl>
                                              <p:pRg st="1" end="1"/>
                                            </p:txEl>
                                          </p:spTgt>
                                        </p:tgtEl>
                                        <p:attrNameLst>
                                          <p:attrName>style.visibility</p:attrName>
                                        </p:attrNameLst>
                                      </p:cBhvr>
                                      <p:to>
                                        <p:strVal val="visible"/>
                                      </p:to>
                                    </p:set>
                                    <p:animEffect transition="in" filter="blinds(horizontal)">
                                      <p:cBhvr>
                                        <p:cTn id="12" dur="500"/>
                                        <p:tgtEl>
                                          <p:spTgt spid="1102851">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02851">
                                            <p:txEl>
                                              <p:pRg st="2" end="2"/>
                                            </p:txEl>
                                          </p:spTgt>
                                        </p:tgtEl>
                                        <p:attrNameLst>
                                          <p:attrName>style.visibility</p:attrName>
                                        </p:attrNameLst>
                                      </p:cBhvr>
                                      <p:to>
                                        <p:strVal val="visible"/>
                                      </p:to>
                                    </p:set>
                                    <p:animEffect transition="in" filter="blinds(horizontal)">
                                      <p:cBhvr>
                                        <p:cTn id="15" dur="500"/>
                                        <p:tgtEl>
                                          <p:spTgt spid="1102851">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02851">
                                            <p:txEl>
                                              <p:pRg st="3" end="3"/>
                                            </p:txEl>
                                          </p:spTgt>
                                        </p:tgtEl>
                                        <p:attrNameLst>
                                          <p:attrName>style.visibility</p:attrName>
                                        </p:attrNameLst>
                                      </p:cBhvr>
                                      <p:to>
                                        <p:strVal val="visible"/>
                                      </p:to>
                                    </p:set>
                                    <p:animEffect transition="in" filter="blinds(horizontal)">
                                      <p:cBhvr>
                                        <p:cTn id="18" dur="500"/>
                                        <p:tgtEl>
                                          <p:spTgt spid="1102851">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02851">
                                            <p:txEl>
                                              <p:pRg st="4" end="4"/>
                                            </p:txEl>
                                          </p:spTgt>
                                        </p:tgtEl>
                                        <p:attrNameLst>
                                          <p:attrName>style.visibility</p:attrName>
                                        </p:attrNameLst>
                                      </p:cBhvr>
                                      <p:to>
                                        <p:strVal val="visible"/>
                                      </p:to>
                                    </p:set>
                                    <p:animEffect transition="in" filter="blinds(horizontal)">
                                      <p:cBhvr>
                                        <p:cTn id="23" dur="500"/>
                                        <p:tgtEl>
                                          <p:spTgt spid="1102851">
                                            <p:txEl>
                                              <p:pRg st="4" end="4"/>
                                            </p:txEl>
                                          </p:spTgt>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02851">
                                            <p:txEl>
                                              <p:pRg st="5" end="5"/>
                                            </p:txEl>
                                          </p:spTgt>
                                        </p:tgtEl>
                                        <p:attrNameLst>
                                          <p:attrName>style.visibility</p:attrName>
                                        </p:attrNameLst>
                                      </p:cBhvr>
                                      <p:to>
                                        <p:strVal val="visible"/>
                                      </p:to>
                                    </p:set>
                                    <p:animEffect transition="in" filter="blinds(horizontal)">
                                      <p:cBhvr>
                                        <p:cTn id="26" dur="500"/>
                                        <p:tgtEl>
                                          <p:spTgt spid="1102851">
                                            <p:txEl>
                                              <p:pRg st="5" end="5"/>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102851">
                                            <p:txEl>
                                              <p:pRg st="6" end="6"/>
                                            </p:txEl>
                                          </p:spTgt>
                                        </p:tgtEl>
                                        <p:attrNameLst>
                                          <p:attrName>style.visibility</p:attrName>
                                        </p:attrNameLst>
                                      </p:cBhvr>
                                      <p:to>
                                        <p:strVal val="visible"/>
                                      </p:to>
                                    </p:set>
                                    <p:animEffect transition="in" filter="blinds(horizontal)">
                                      <p:cBhvr>
                                        <p:cTn id="29" dur="500"/>
                                        <p:tgtEl>
                                          <p:spTgt spid="110285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102851">
                                            <p:txEl>
                                              <p:pRg st="7" end="7"/>
                                            </p:txEl>
                                          </p:spTgt>
                                        </p:tgtEl>
                                        <p:attrNameLst>
                                          <p:attrName>style.visibility</p:attrName>
                                        </p:attrNameLst>
                                      </p:cBhvr>
                                      <p:to>
                                        <p:strVal val="visible"/>
                                      </p:to>
                                    </p:set>
                                    <p:animEffect transition="in" filter="blinds(horizontal)">
                                      <p:cBhvr>
                                        <p:cTn id="34" dur="500"/>
                                        <p:tgtEl>
                                          <p:spTgt spid="1102851">
                                            <p:txEl>
                                              <p:pRg st="7" end="7"/>
                                            </p:txEl>
                                          </p:spTgt>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102851">
                                            <p:txEl>
                                              <p:pRg st="8" end="8"/>
                                            </p:txEl>
                                          </p:spTgt>
                                        </p:tgtEl>
                                        <p:attrNameLst>
                                          <p:attrName>style.visibility</p:attrName>
                                        </p:attrNameLst>
                                      </p:cBhvr>
                                      <p:to>
                                        <p:strVal val="visible"/>
                                      </p:to>
                                    </p:set>
                                    <p:animEffect transition="in" filter="blinds(horizontal)">
                                      <p:cBhvr>
                                        <p:cTn id="37" dur="500"/>
                                        <p:tgtEl>
                                          <p:spTgt spid="1102851">
                                            <p:txEl>
                                              <p:pRg st="8" end="8"/>
                                            </p:txEl>
                                          </p:spTgt>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102851">
                                            <p:txEl>
                                              <p:pRg st="9" end="9"/>
                                            </p:txEl>
                                          </p:spTgt>
                                        </p:tgtEl>
                                        <p:attrNameLst>
                                          <p:attrName>style.visibility</p:attrName>
                                        </p:attrNameLst>
                                      </p:cBhvr>
                                      <p:to>
                                        <p:strVal val="visible"/>
                                      </p:to>
                                    </p:set>
                                    <p:animEffect transition="in" filter="blinds(horizontal)">
                                      <p:cBhvr>
                                        <p:cTn id="40" dur="500"/>
                                        <p:tgtEl>
                                          <p:spTgt spid="1102851">
                                            <p:txEl>
                                              <p:pRg st="9" end="9"/>
                                            </p:txEl>
                                          </p:spTgt>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102851">
                                            <p:txEl>
                                              <p:pRg st="10" end="10"/>
                                            </p:txEl>
                                          </p:spTgt>
                                        </p:tgtEl>
                                        <p:attrNameLst>
                                          <p:attrName>style.visibility</p:attrName>
                                        </p:attrNameLst>
                                      </p:cBhvr>
                                      <p:to>
                                        <p:strVal val="visible"/>
                                      </p:to>
                                    </p:set>
                                    <p:animEffect transition="in" filter="blinds(horizontal)">
                                      <p:cBhvr>
                                        <p:cTn id="43" dur="500"/>
                                        <p:tgtEl>
                                          <p:spTgt spid="1102851">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102851">
                                            <p:txEl>
                                              <p:pRg st="11" end="11"/>
                                            </p:txEl>
                                          </p:spTgt>
                                        </p:tgtEl>
                                        <p:attrNameLst>
                                          <p:attrName>style.visibility</p:attrName>
                                        </p:attrNameLst>
                                      </p:cBhvr>
                                      <p:to>
                                        <p:strVal val="visible"/>
                                      </p:to>
                                    </p:set>
                                    <p:animEffect transition="in" filter="blinds(horizontal)">
                                      <p:cBhvr>
                                        <p:cTn id="48" dur="500"/>
                                        <p:tgtEl>
                                          <p:spTgt spid="1102851">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102851">
                                            <p:txEl>
                                              <p:pRg st="12" end="12"/>
                                            </p:txEl>
                                          </p:spTgt>
                                        </p:tgtEl>
                                        <p:attrNameLst>
                                          <p:attrName>style.visibility</p:attrName>
                                        </p:attrNameLst>
                                      </p:cBhvr>
                                      <p:to>
                                        <p:strVal val="visible"/>
                                      </p:to>
                                    </p:set>
                                    <p:animEffect transition="in" filter="blinds(horizontal)">
                                      <p:cBhvr>
                                        <p:cTn id="53" dur="500"/>
                                        <p:tgtEl>
                                          <p:spTgt spid="1102851">
                                            <p:txEl>
                                              <p:pRg st="12" end="12"/>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102851">
                                            <p:txEl>
                                              <p:pRg st="13" end="13"/>
                                            </p:txEl>
                                          </p:spTgt>
                                        </p:tgtEl>
                                        <p:attrNameLst>
                                          <p:attrName>style.visibility</p:attrName>
                                        </p:attrNameLst>
                                      </p:cBhvr>
                                      <p:to>
                                        <p:strVal val="visible"/>
                                      </p:to>
                                    </p:set>
                                    <p:animEffect transition="in" filter="blinds(horizontal)">
                                      <p:cBhvr>
                                        <p:cTn id="58" dur="500"/>
                                        <p:tgtEl>
                                          <p:spTgt spid="110285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8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2"/>
          <p:cNvSpPr txBox="1">
            <a:spLocks noChangeArrowheads="1"/>
          </p:cNvSpPr>
          <p:nvPr/>
        </p:nvSpPr>
        <p:spPr bwMode="auto">
          <a:xfrm>
            <a:off x="2819401" y="152401"/>
            <a:ext cx="5472113" cy="1006475"/>
          </a:xfrm>
          <a:prstGeom prst="rect">
            <a:avLst/>
          </a:prstGeom>
          <a:noFill/>
          <a:ln w="9525">
            <a:noFill/>
            <a:miter lim="800000"/>
            <a:headEnd/>
            <a:tailEnd/>
          </a:ln>
        </p:spPr>
        <p:txBody>
          <a:bodyPr>
            <a:prstTxWarp prst="textNoShape">
              <a:avLst/>
            </a:prstTxWarp>
            <a:spAutoFit/>
          </a:bodyPr>
          <a:lstStyle/>
          <a:p>
            <a:pPr algn="ctr">
              <a:spcBef>
                <a:spcPct val="0"/>
              </a:spcBef>
              <a:buClrTx/>
            </a:pPr>
            <a:r>
              <a:rPr lang="en-US" sz="4400" b="1" dirty="0">
                <a:solidFill>
                  <a:srgbClr val="0000FF"/>
                </a:solidFill>
                <a:latin typeface="Times New Roman" charset="0"/>
                <a:ea typeface="Times New Roman" charset="0"/>
                <a:cs typeface="Times New Roman" charset="0"/>
              </a:rPr>
              <a:t>Software Testing</a:t>
            </a:r>
            <a:r>
              <a:rPr lang="en-US" sz="6000" b="1" dirty="0">
                <a:solidFill>
                  <a:srgbClr val="0000FF"/>
                </a:solidFill>
                <a:latin typeface="Times New Roman" charset="0"/>
                <a:ea typeface="Times New Roman" charset="0"/>
                <a:cs typeface="Times New Roman" charset="0"/>
              </a:rPr>
              <a:t> </a:t>
            </a:r>
          </a:p>
        </p:txBody>
      </p:sp>
      <p:sp>
        <p:nvSpPr>
          <p:cNvPr id="1243146" name="Text Box 10"/>
          <p:cNvSpPr txBox="1">
            <a:spLocks noChangeArrowheads="1"/>
          </p:cNvSpPr>
          <p:nvPr/>
        </p:nvSpPr>
        <p:spPr bwMode="auto">
          <a:xfrm>
            <a:off x="2208213" y="1654176"/>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dirty="0">
                <a:solidFill>
                  <a:srgbClr val="000000"/>
                </a:solidFill>
                <a:latin typeface="Times New Roman" charset="0"/>
                <a:ea typeface="Times New Roman" charset="0"/>
                <a:cs typeface="Times New Roman" charset="0"/>
              </a:rPr>
              <a:t>A better definition: ”</a:t>
            </a:r>
            <a:r>
              <a:rPr lang="en-US" sz="2400" dirty="0">
                <a:solidFill>
                  <a:srgbClr val="0000FF"/>
                </a:solidFill>
                <a:latin typeface="Times New Roman" charset="0"/>
                <a:ea typeface="Times New Roman" charset="0"/>
                <a:cs typeface="Times New Roman" charset="0"/>
              </a:rPr>
              <a:t>the process of running software </a:t>
            </a:r>
            <a:r>
              <a:rPr lang="en-US" sz="2400" dirty="0">
                <a:solidFill>
                  <a:srgbClr val="FA4C1C"/>
                </a:solidFill>
                <a:latin typeface="Times New Roman" charset="0"/>
                <a:ea typeface="Times New Roman" charset="0"/>
                <a:cs typeface="Times New Roman" charset="0"/>
              </a:rPr>
              <a:t>with the intent of finding an error”. </a:t>
            </a:r>
          </a:p>
        </p:txBody>
      </p:sp>
      <p:sp>
        <p:nvSpPr>
          <p:cNvPr id="1243147" name="Text Box 11"/>
          <p:cNvSpPr txBox="1">
            <a:spLocks noChangeArrowheads="1"/>
          </p:cNvSpPr>
          <p:nvPr/>
        </p:nvSpPr>
        <p:spPr bwMode="auto">
          <a:xfrm>
            <a:off x="2208213" y="2943226"/>
            <a:ext cx="7924800" cy="1200329"/>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dirty="0">
                <a:solidFill>
                  <a:srgbClr val="000000"/>
                </a:solidFill>
                <a:latin typeface="Times New Roman" charset="0"/>
                <a:ea typeface="Times New Roman" charset="0"/>
                <a:cs typeface="Times New Roman" charset="0"/>
              </a:rPr>
              <a:t>The way most testing works is to </a:t>
            </a:r>
            <a:r>
              <a:rPr lang="en-US" sz="2400" dirty="0">
                <a:solidFill>
                  <a:srgbClr val="0000FF"/>
                </a:solidFill>
                <a:latin typeface="Times New Roman" charset="0"/>
                <a:ea typeface="Times New Roman" charset="0"/>
                <a:cs typeface="Times New Roman" charset="0"/>
              </a:rPr>
              <a:t>input a </a:t>
            </a:r>
            <a:r>
              <a:rPr lang="en-US" sz="2400" dirty="0">
                <a:solidFill>
                  <a:srgbClr val="FF0000"/>
                </a:solidFill>
                <a:latin typeface="Times New Roman" charset="0"/>
                <a:ea typeface="Times New Roman" charset="0"/>
                <a:cs typeface="Times New Roman" charset="0"/>
              </a:rPr>
              <a:t>set of values</a:t>
            </a:r>
            <a:r>
              <a:rPr lang="en-US" sz="2400" dirty="0">
                <a:solidFill>
                  <a:srgbClr val="000000"/>
                </a:solidFill>
                <a:latin typeface="Times New Roman" charset="0"/>
                <a:ea typeface="Times New Roman" charset="0"/>
                <a:cs typeface="Times New Roman" charset="0"/>
              </a:rPr>
              <a:t>, then </a:t>
            </a:r>
            <a:r>
              <a:rPr lang="en-US" sz="2400" dirty="0">
                <a:solidFill>
                  <a:srgbClr val="FF0000"/>
                </a:solidFill>
                <a:latin typeface="Times New Roman" charset="0"/>
                <a:ea typeface="Times New Roman" charset="0"/>
                <a:cs typeface="Times New Roman" charset="0"/>
              </a:rPr>
              <a:t>compare</a:t>
            </a:r>
            <a:r>
              <a:rPr lang="en-US" sz="2400" dirty="0">
                <a:solidFill>
                  <a:srgbClr val="0000FF"/>
                </a:solidFill>
                <a:latin typeface="Times New Roman" charset="0"/>
                <a:ea typeface="Times New Roman" charset="0"/>
                <a:cs typeface="Times New Roman" charset="0"/>
              </a:rPr>
              <a:t> </a:t>
            </a:r>
            <a:r>
              <a:rPr lang="en-US" sz="2400" dirty="0">
                <a:latin typeface="Times New Roman" charset="0"/>
                <a:ea typeface="Times New Roman" charset="0"/>
                <a:cs typeface="Times New Roman" charset="0"/>
              </a:rPr>
              <a:t>the</a:t>
            </a:r>
            <a:r>
              <a:rPr lang="en-US" sz="2400" dirty="0">
                <a:solidFill>
                  <a:srgbClr val="0000FF"/>
                </a:solidFill>
                <a:latin typeface="Times New Roman" charset="0"/>
                <a:ea typeface="Times New Roman" charset="0"/>
                <a:cs typeface="Times New Roman" charset="0"/>
              </a:rPr>
              <a:t> </a:t>
            </a:r>
            <a:r>
              <a:rPr lang="en-US" sz="2400" dirty="0">
                <a:solidFill>
                  <a:srgbClr val="FF0000"/>
                </a:solidFill>
                <a:latin typeface="Times New Roman" charset="0"/>
                <a:ea typeface="Times New Roman" charset="0"/>
                <a:cs typeface="Times New Roman" charset="0"/>
              </a:rPr>
              <a:t>expected  result</a:t>
            </a:r>
            <a:r>
              <a:rPr lang="en-US" sz="2400" dirty="0">
                <a:solidFill>
                  <a:srgbClr val="000000"/>
                </a:solidFill>
                <a:latin typeface="Times New Roman" charset="0"/>
                <a:ea typeface="Times New Roman" charset="0"/>
                <a:cs typeface="Times New Roman" charset="0"/>
              </a:rPr>
              <a:t> with the out comes/</a:t>
            </a:r>
            <a:r>
              <a:rPr lang="en-US" sz="2400" dirty="0">
                <a:solidFill>
                  <a:srgbClr val="FF0000"/>
                </a:solidFill>
                <a:latin typeface="Times New Roman" charset="0"/>
                <a:ea typeface="Times New Roman" charset="0"/>
                <a:cs typeface="Times New Roman" charset="0"/>
              </a:rPr>
              <a:t>computed ones</a:t>
            </a:r>
            <a:r>
              <a:rPr lang="en-US" sz="2400" dirty="0">
                <a:solidFill>
                  <a:srgbClr val="000000"/>
                </a:solidFill>
                <a:latin typeface="Times New Roman" charset="0"/>
                <a:ea typeface="Times New Roman" charset="0"/>
                <a:cs typeface="Times New Roman" charset="0"/>
              </a:rPr>
              <a:t>. </a:t>
            </a:r>
          </a:p>
        </p:txBody>
      </p:sp>
      <p:sp>
        <p:nvSpPr>
          <p:cNvPr id="1243148" name="Text Box 12"/>
          <p:cNvSpPr txBox="1">
            <a:spLocks noChangeArrowheads="1"/>
          </p:cNvSpPr>
          <p:nvPr/>
        </p:nvSpPr>
        <p:spPr bwMode="auto">
          <a:xfrm>
            <a:off x="2208213" y="4383089"/>
            <a:ext cx="7924800" cy="1200329"/>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a:solidFill>
                  <a:srgbClr val="000000"/>
                </a:solidFill>
                <a:latin typeface="Times New Roman" charset="0"/>
                <a:ea typeface="Times New Roman" charset="0"/>
                <a:cs typeface="Times New Roman" charset="0"/>
              </a:rPr>
              <a:t>Depending on the </a:t>
            </a:r>
            <a:r>
              <a:rPr lang="en-US" sz="2400">
                <a:solidFill>
                  <a:srgbClr val="FF0000"/>
                </a:solidFill>
                <a:latin typeface="Times New Roman" charset="0"/>
                <a:ea typeface="Times New Roman" charset="0"/>
                <a:cs typeface="Times New Roman" charset="0"/>
              </a:rPr>
              <a:t>type of</a:t>
            </a:r>
            <a:r>
              <a:rPr lang="en-US" sz="2400">
                <a:solidFill>
                  <a:srgbClr val="0000FF"/>
                </a:solidFill>
                <a:latin typeface="Times New Roman" charset="0"/>
                <a:ea typeface="Times New Roman" charset="0"/>
                <a:cs typeface="Times New Roman" charset="0"/>
              </a:rPr>
              <a:t> data input</a:t>
            </a:r>
            <a:r>
              <a:rPr lang="en-US" sz="2400">
                <a:solidFill>
                  <a:srgbClr val="000000"/>
                </a:solidFill>
                <a:latin typeface="Times New Roman" charset="0"/>
                <a:ea typeface="Times New Roman" charset="0"/>
                <a:cs typeface="Times New Roman" charset="0"/>
              </a:rPr>
              <a:t>, we can identify </a:t>
            </a:r>
            <a:r>
              <a:rPr lang="en-US" sz="2400">
                <a:solidFill>
                  <a:srgbClr val="FF0000"/>
                </a:solidFill>
                <a:latin typeface="Times New Roman" charset="0"/>
                <a:ea typeface="Times New Roman" charset="0"/>
                <a:cs typeface="Times New Roman" charset="0"/>
              </a:rPr>
              <a:t>three levels</a:t>
            </a:r>
            <a:r>
              <a:rPr lang="en-US" sz="2400">
                <a:solidFill>
                  <a:srgbClr val="000000"/>
                </a:solidFill>
                <a:latin typeface="Times New Roman" charset="0"/>
                <a:ea typeface="Times New Roman" charset="0"/>
                <a:cs typeface="Times New Roman" charset="0"/>
              </a:rPr>
              <a:t> of program correctness </a:t>
            </a:r>
            <a:r>
              <a:rPr lang="en-US" sz="2400">
                <a:solidFill>
                  <a:srgbClr val="0000FF"/>
                </a:solidFill>
                <a:latin typeface="Times New Roman" charset="0"/>
                <a:ea typeface="Times New Roman" charset="0"/>
                <a:cs typeface="Times New Roman" charset="0"/>
              </a:rPr>
              <a:t>possible</a:t>
            </a:r>
            <a:r>
              <a:rPr lang="en-US" sz="2400">
                <a:solidFill>
                  <a:srgbClr val="000000"/>
                </a:solidFill>
                <a:latin typeface="Times New Roman" charset="0"/>
                <a:ea typeface="Times New Roman" charset="0"/>
                <a:cs typeface="Times New Roman" charset="0"/>
              </a:rPr>
              <a:t>, </a:t>
            </a:r>
            <a:r>
              <a:rPr lang="en-US" sz="2400">
                <a:solidFill>
                  <a:srgbClr val="0000FF"/>
                </a:solidFill>
                <a:latin typeface="Times New Roman" charset="0"/>
                <a:ea typeface="Times New Roman" charset="0"/>
                <a:cs typeface="Times New Roman" charset="0"/>
              </a:rPr>
              <a:t>probable</a:t>
            </a:r>
            <a:r>
              <a:rPr lang="en-US" sz="2400">
                <a:solidFill>
                  <a:srgbClr val="000000"/>
                </a:solidFill>
                <a:latin typeface="Times New Roman" charset="0"/>
                <a:ea typeface="Times New Roman" charset="0"/>
                <a:cs typeface="Times New Roman" charset="0"/>
              </a:rPr>
              <a:t>, and </a:t>
            </a:r>
            <a:r>
              <a:rPr lang="en-US" sz="2400">
                <a:solidFill>
                  <a:srgbClr val="0000FF"/>
                </a:solidFill>
                <a:latin typeface="Times New Roman" charset="0"/>
                <a:ea typeface="Times New Roman" charset="0"/>
                <a:cs typeface="Times New Roman" charset="0"/>
              </a:rPr>
              <a:t>absolute</a:t>
            </a:r>
            <a:r>
              <a:rPr lang="en-US" sz="2400">
                <a:solidFill>
                  <a:srgbClr val="000000"/>
                </a:solidFill>
                <a:latin typeface="Times New Roman" charset="0"/>
                <a:ea typeface="Times New Roman" charset="0"/>
                <a:cs typeface="Times New Roman" charset="0"/>
              </a:rPr>
              <a:t> </a:t>
            </a:r>
            <a:r>
              <a:rPr lang="en-US" sz="2400">
                <a:solidFill>
                  <a:srgbClr val="0000FF"/>
                </a:solidFill>
                <a:latin typeface="Times New Roman" charset="0"/>
                <a:ea typeface="Times New Roman" charset="0"/>
                <a:cs typeface="Times New Roman" charset="0"/>
              </a:rPr>
              <a:t>correctness</a:t>
            </a:r>
            <a:r>
              <a:rPr lang="en-US" sz="2400">
                <a:solidFill>
                  <a:srgbClr val="000000"/>
                </a:solidFill>
                <a:latin typeface="Times New Roman" charset="0"/>
                <a:ea typeface="Times New Roman" charset="0"/>
                <a:cs typeface="Times New Roman" charset="0"/>
              </a:rPr>
              <a:t>. </a:t>
            </a:r>
          </a:p>
        </p:txBody>
      </p:sp>
      <p:sp>
        <p:nvSpPr>
          <p:cNvPr id="8" name="Slide Number Placeholder 7"/>
          <p:cNvSpPr>
            <a:spLocks noGrp="1"/>
          </p:cNvSpPr>
          <p:nvPr>
            <p:ph type="sldNum" sz="quarter" idx="11"/>
          </p:nvPr>
        </p:nvSpPr>
        <p:spPr/>
        <p:txBody>
          <a:bodyPr/>
          <a:lstStyle/>
          <a:p>
            <a:pPr>
              <a:defRPr/>
            </a:pPr>
            <a:fld id="{09326EE3-E9CF-F94B-BB0A-EA1E2EFF2881}" type="slidenum">
              <a:rPr lang="nl-NL" smtClean="0"/>
              <a:pPr>
                <a:defRPr/>
              </a:pPr>
              <a:t>21</a:t>
            </a:fld>
            <a:endParaRPr lang="nl-NL"/>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43146"/>
                                        </p:tgtEl>
                                        <p:attrNameLst>
                                          <p:attrName>style.visibility</p:attrName>
                                        </p:attrNameLst>
                                      </p:cBhvr>
                                      <p:to>
                                        <p:strVal val="visible"/>
                                      </p:to>
                                    </p:set>
                                    <p:animEffect transition="in" filter="blinds(horizontal)">
                                      <p:cBhvr>
                                        <p:cTn id="7" dur="500"/>
                                        <p:tgtEl>
                                          <p:spTgt spid="12431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43147"/>
                                        </p:tgtEl>
                                        <p:attrNameLst>
                                          <p:attrName>style.visibility</p:attrName>
                                        </p:attrNameLst>
                                      </p:cBhvr>
                                      <p:to>
                                        <p:strVal val="visible"/>
                                      </p:to>
                                    </p:set>
                                    <p:animEffect transition="in" filter="blinds(horizontal)">
                                      <p:cBhvr>
                                        <p:cTn id="12" dur="500"/>
                                        <p:tgtEl>
                                          <p:spTgt spid="12431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43148"/>
                                        </p:tgtEl>
                                        <p:attrNameLst>
                                          <p:attrName>style.visibility</p:attrName>
                                        </p:attrNameLst>
                                      </p:cBhvr>
                                      <p:to>
                                        <p:strVal val="visible"/>
                                      </p:to>
                                    </p:set>
                                    <p:animEffect transition="in" filter="blinds(horizontal)">
                                      <p:cBhvr>
                                        <p:cTn id="17" dur="500"/>
                                        <p:tgtEl>
                                          <p:spTgt spid="1243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3146" grpId="0"/>
      <p:bldP spid="1243147" grpId="0"/>
      <p:bldP spid="124314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6" name="Text Box 2"/>
          <p:cNvSpPr txBox="1">
            <a:spLocks noChangeArrowheads="1"/>
          </p:cNvSpPr>
          <p:nvPr/>
        </p:nvSpPr>
        <p:spPr bwMode="auto">
          <a:xfrm>
            <a:off x="1097280" y="1737360"/>
            <a:ext cx="7924800" cy="1261884"/>
          </a:xfrm>
          <a:prstGeom prst="rect">
            <a:avLst/>
          </a:prstGeom>
          <a:noFill/>
          <a:ln w="9525">
            <a:noFill/>
            <a:miter lim="800000"/>
            <a:headEnd/>
            <a:tailEnd/>
          </a:ln>
        </p:spPr>
        <p:txBody>
          <a:bodyPr>
            <a:prstTxWarp prst="textNoShape">
              <a:avLst/>
            </a:prstTxWarp>
            <a:spAutoFit/>
          </a:bodyPr>
          <a:lstStyle/>
          <a:p>
            <a:pPr marL="52388" indent="-52388" algn="just">
              <a:spcBef>
                <a:spcPct val="0"/>
              </a:spcBef>
              <a:tabLst>
                <a:tab pos="0" algn="l"/>
              </a:tabLst>
            </a:pPr>
            <a:r>
              <a:rPr lang="en-US" sz="2800" b="1">
                <a:solidFill>
                  <a:srgbClr val="FF0000"/>
                </a:solidFill>
                <a:latin typeface="Times New Roman" charset="0"/>
                <a:ea typeface="Times New Roman" charset="0"/>
                <a:cs typeface="Times New Roman" charset="0"/>
              </a:rPr>
              <a:t>Possible correctness</a:t>
            </a:r>
            <a:r>
              <a:rPr lang="en-US" sz="2800">
                <a:solidFill>
                  <a:srgbClr val="000000"/>
                </a:solidFill>
                <a:latin typeface="Times New Roman" charset="0"/>
                <a:ea typeface="Times New Roman" charset="0"/>
                <a:cs typeface="Times New Roman" charset="0"/>
              </a:rPr>
              <a:t> </a:t>
            </a:r>
          </a:p>
          <a:p>
            <a:pPr marL="633413" lvl="1" indent="-404813" algn="just">
              <a:spcBef>
                <a:spcPct val="0"/>
              </a:spcBef>
              <a:buFont typeface="Symbol" charset="2"/>
              <a:buChar char="¨"/>
              <a:tabLst>
                <a:tab pos="0" algn="l"/>
              </a:tabLst>
            </a:pPr>
            <a:r>
              <a:rPr lang="en-US" sz="2400">
                <a:solidFill>
                  <a:srgbClr val="000000"/>
                </a:solidFill>
                <a:latin typeface="Times New Roman" charset="0"/>
                <a:ea typeface="Times New Roman" charset="0"/>
                <a:cs typeface="Times New Roman" charset="0"/>
              </a:rPr>
              <a:t>Obtaining </a:t>
            </a:r>
            <a:r>
              <a:rPr lang="en-US" sz="2400">
                <a:solidFill>
                  <a:srgbClr val="0000FF"/>
                </a:solidFill>
                <a:latin typeface="Times New Roman" charset="0"/>
                <a:ea typeface="Times New Roman" charset="0"/>
                <a:cs typeface="Times New Roman" charset="0"/>
              </a:rPr>
              <a:t>correct output</a:t>
            </a:r>
            <a:r>
              <a:rPr lang="en-US" sz="2400">
                <a:solidFill>
                  <a:srgbClr val="000000"/>
                </a:solidFill>
                <a:latin typeface="Times New Roman" charset="0"/>
                <a:ea typeface="Times New Roman" charset="0"/>
                <a:cs typeface="Times New Roman" charset="0"/>
              </a:rPr>
              <a:t> for some </a:t>
            </a:r>
            <a:r>
              <a:rPr lang="en-US" sz="2400">
                <a:solidFill>
                  <a:srgbClr val="FF0000"/>
                </a:solidFill>
                <a:latin typeface="Times New Roman" charset="0"/>
                <a:ea typeface="Times New Roman" charset="0"/>
                <a:cs typeface="Times New Roman" charset="0"/>
              </a:rPr>
              <a:t>arbitrary input</a:t>
            </a:r>
            <a:r>
              <a:rPr lang="en-US" sz="2400">
                <a:solidFill>
                  <a:srgbClr val="000000"/>
                </a:solidFill>
                <a:latin typeface="Times New Roman" charset="0"/>
                <a:ea typeface="Times New Roman" charset="0"/>
                <a:cs typeface="Times New Roman" charset="0"/>
              </a:rPr>
              <a:t> (single set). </a:t>
            </a:r>
          </a:p>
        </p:txBody>
      </p:sp>
      <p:sp>
        <p:nvSpPr>
          <p:cNvPr id="1106947" name="Text Box 3"/>
          <p:cNvSpPr txBox="1">
            <a:spLocks noChangeArrowheads="1"/>
          </p:cNvSpPr>
          <p:nvPr/>
        </p:nvSpPr>
        <p:spPr bwMode="auto">
          <a:xfrm>
            <a:off x="1313180" y="2948623"/>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a:solidFill>
                  <a:srgbClr val="000000"/>
                </a:solidFill>
                <a:latin typeface="Times New Roman" charset="0"/>
                <a:ea typeface="Times New Roman" charset="0"/>
                <a:cs typeface="Times New Roman" charset="0"/>
              </a:rPr>
              <a:t>If the outcome is </a:t>
            </a:r>
            <a:r>
              <a:rPr lang="en-US" sz="2400">
                <a:solidFill>
                  <a:srgbClr val="0000FF"/>
                </a:solidFill>
                <a:latin typeface="Times New Roman" charset="0"/>
                <a:ea typeface="Times New Roman" charset="0"/>
                <a:cs typeface="Times New Roman" charset="0"/>
              </a:rPr>
              <a:t>wrong</a:t>
            </a:r>
            <a:r>
              <a:rPr lang="en-US" sz="2400">
                <a:solidFill>
                  <a:srgbClr val="000000"/>
                </a:solidFill>
                <a:latin typeface="Times New Roman" charset="0"/>
                <a:ea typeface="Times New Roman" charset="0"/>
                <a:cs typeface="Times New Roman" charset="0"/>
              </a:rPr>
              <a:t>, the program </a:t>
            </a:r>
            <a:r>
              <a:rPr lang="en-US" sz="2400">
                <a:solidFill>
                  <a:srgbClr val="0000FF"/>
                </a:solidFill>
                <a:latin typeface="Times New Roman" charset="0"/>
                <a:ea typeface="Times New Roman" charset="0"/>
                <a:cs typeface="Times New Roman" charset="0"/>
              </a:rPr>
              <a:t>cannot possibly be correct.</a:t>
            </a:r>
          </a:p>
        </p:txBody>
      </p:sp>
      <p:sp>
        <p:nvSpPr>
          <p:cNvPr id="1106948" name="Text Box 4"/>
          <p:cNvSpPr txBox="1">
            <a:spLocks noChangeArrowheads="1"/>
          </p:cNvSpPr>
          <p:nvPr/>
        </p:nvSpPr>
        <p:spPr bwMode="auto">
          <a:xfrm>
            <a:off x="1313180" y="3615373"/>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dirty="0">
                <a:solidFill>
                  <a:srgbClr val="000000"/>
                </a:solidFill>
                <a:latin typeface="Times New Roman" charset="0"/>
                <a:ea typeface="Times New Roman" charset="0"/>
                <a:cs typeface="Times New Roman" charset="0"/>
              </a:rPr>
              <a:t>For example a multiply program: for  input 2 and 3, if result is 6; is </a:t>
            </a:r>
            <a:r>
              <a:rPr lang="en-US" sz="2400" dirty="0">
                <a:solidFill>
                  <a:srgbClr val="0000FF"/>
                </a:solidFill>
                <a:latin typeface="Times New Roman" charset="0"/>
                <a:ea typeface="Times New Roman" charset="0"/>
                <a:cs typeface="Times New Roman" charset="0"/>
              </a:rPr>
              <a:t>possibly correct</a:t>
            </a:r>
            <a:r>
              <a:rPr lang="en-US" sz="2400" dirty="0">
                <a:solidFill>
                  <a:srgbClr val="000000"/>
                </a:solidFill>
                <a:latin typeface="Times New Roman" charset="0"/>
                <a:ea typeface="Times New Roman" charset="0"/>
                <a:cs typeface="Times New Roman" charset="0"/>
              </a:rPr>
              <a:t>. </a:t>
            </a:r>
          </a:p>
        </p:txBody>
      </p:sp>
      <p:sp>
        <p:nvSpPr>
          <p:cNvPr id="29707" name="Rectangle 14"/>
          <p:cNvSpPr>
            <a:spLocks noGrp="1" noChangeArrowheads="1"/>
          </p:cNvSpPr>
          <p:nvPr>
            <p:ph type="title"/>
          </p:nvPr>
        </p:nvSpPr>
        <p:spPr/>
        <p:txBody>
          <a:bodyPr/>
          <a:lstStyle/>
          <a:p>
            <a:pPr eaLnBrk="1" hangingPunct="1"/>
            <a:r>
              <a:rPr lang="en-US" sz="3600" dirty="0"/>
              <a:t>Three Levels of Correctness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06946"/>
                                        </p:tgtEl>
                                        <p:attrNameLst>
                                          <p:attrName>style.visibility</p:attrName>
                                        </p:attrNameLst>
                                      </p:cBhvr>
                                      <p:to>
                                        <p:strVal val="visible"/>
                                      </p:to>
                                    </p:set>
                                    <p:anim calcmode="lin" valueType="num">
                                      <p:cBhvr additive="base">
                                        <p:cTn id="7" dur="500" fill="hold"/>
                                        <p:tgtEl>
                                          <p:spTgt spid="1106946"/>
                                        </p:tgtEl>
                                        <p:attrNameLst>
                                          <p:attrName>ppt_x</p:attrName>
                                        </p:attrNameLst>
                                      </p:cBhvr>
                                      <p:tavLst>
                                        <p:tav tm="0">
                                          <p:val>
                                            <p:strVal val="0-#ppt_w/2"/>
                                          </p:val>
                                        </p:tav>
                                        <p:tav tm="100000">
                                          <p:val>
                                            <p:strVal val="#ppt_x"/>
                                          </p:val>
                                        </p:tav>
                                      </p:tavLst>
                                    </p:anim>
                                    <p:anim calcmode="lin" valueType="num">
                                      <p:cBhvr additive="base">
                                        <p:cTn id="8" dur="500" fill="hold"/>
                                        <p:tgtEl>
                                          <p:spTgt spid="110694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06947"/>
                                        </p:tgtEl>
                                        <p:attrNameLst>
                                          <p:attrName>style.visibility</p:attrName>
                                        </p:attrNameLst>
                                      </p:cBhvr>
                                      <p:to>
                                        <p:strVal val="visible"/>
                                      </p:to>
                                    </p:set>
                                    <p:animEffect transition="in" filter="blinds(horizontal)">
                                      <p:cBhvr>
                                        <p:cTn id="13" dur="500"/>
                                        <p:tgtEl>
                                          <p:spTgt spid="1106947"/>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06948"/>
                                        </p:tgtEl>
                                        <p:attrNameLst>
                                          <p:attrName>style.visibility</p:attrName>
                                        </p:attrNameLst>
                                      </p:cBhvr>
                                      <p:to>
                                        <p:strVal val="visible"/>
                                      </p:to>
                                    </p:set>
                                    <p:animEffect transition="in" filter="blinds(horizontal)">
                                      <p:cBhvr>
                                        <p:cTn id="18" dur="500"/>
                                        <p:tgtEl>
                                          <p:spTgt spid="1106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946" grpId="0" autoUpdateAnimBg="0"/>
      <p:bldP spid="1106947" grpId="0"/>
      <p:bldP spid="11069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9" name="Text Box 5"/>
          <p:cNvSpPr txBox="1">
            <a:spLocks noChangeArrowheads="1"/>
          </p:cNvSpPr>
          <p:nvPr/>
        </p:nvSpPr>
        <p:spPr bwMode="auto">
          <a:xfrm>
            <a:off x="1097280" y="1956435"/>
            <a:ext cx="4824412" cy="523220"/>
          </a:xfrm>
          <a:prstGeom prst="rect">
            <a:avLst/>
          </a:prstGeom>
          <a:noFill/>
          <a:ln w="9525">
            <a:noFill/>
            <a:miter lim="800000"/>
            <a:headEnd/>
            <a:tailEnd/>
          </a:ln>
        </p:spPr>
        <p:txBody>
          <a:bodyPr>
            <a:prstTxWarp prst="textNoShape">
              <a:avLst/>
            </a:prstTxWarp>
            <a:spAutoFit/>
          </a:bodyPr>
          <a:lstStyle/>
          <a:p>
            <a:pPr marL="457200" indent="-457200" algn="just">
              <a:spcBef>
                <a:spcPct val="0"/>
              </a:spcBef>
            </a:pPr>
            <a:r>
              <a:rPr lang="en-US" sz="2800" b="1" dirty="0">
                <a:solidFill>
                  <a:srgbClr val="FF0000"/>
                </a:solidFill>
                <a:latin typeface="Times New Roman" charset="0"/>
                <a:ea typeface="Times New Roman" charset="0"/>
                <a:cs typeface="Times New Roman" charset="0"/>
              </a:rPr>
              <a:t>Probable correctness</a:t>
            </a:r>
            <a:r>
              <a:rPr lang="en-US" sz="2400" dirty="0">
                <a:solidFill>
                  <a:srgbClr val="0000FF"/>
                </a:solidFill>
                <a:latin typeface="Times New Roman" charset="0"/>
                <a:ea typeface="Times New Roman" charset="0"/>
                <a:cs typeface="Times New Roman" charset="0"/>
              </a:rPr>
              <a:t> </a:t>
            </a:r>
          </a:p>
        </p:txBody>
      </p:sp>
      <p:sp>
        <p:nvSpPr>
          <p:cNvPr id="1106950" name="Text Box 6"/>
          <p:cNvSpPr txBox="1">
            <a:spLocks noChangeArrowheads="1"/>
          </p:cNvSpPr>
          <p:nvPr/>
        </p:nvSpPr>
        <p:spPr bwMode="auto">
          <a:xfrm>
            <a:off x="1240156" y="2377122"/>
            <a:ext cx="8785225" cy="369332"/>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dirty="0">
                <a:solidFill>
                  <a:srgbClr val="000000"/>
                </a:solidFill>
                <a:latin typeface="Times New Roman" charset="0"/>
                <a:ea typeface="Times New Roman" charset="0"/>
                <a:cs typeface="Times New Roman" charset="0"/>
              </a:rPr>
              <a:t>Obtaining </a:t>
            </a:r>
            <a:r>
              <a:rPr lang="en-US" dirty="0">
                <a:solidFill>
                  <a:srgbClr val="0000FF"/>
                </a:solidFill>
                <a:latin typeface="Times New Roman" charset="0"/>
                <a:ea typeface="Times New Roman" charset="0"/>
                <a:cs typeface="Times New Roman" charset="0"/>
              </a:rPr>
              <a:t>correct output</a:t>
            </a:r>
            <a:r>
              <a:rPr lang="en-US" dirty="0">
                <a:solidFill>
                  <a:srgbClr val="000000"/>
                </a:solidFill>
                <a:latin typeface="Times New Roman" charset="0"/>
                <a:ea typeface="Times New Roman" charset="0"/>
                <a:cs typeface="Times New Roman" charset="0"/>
              </a:rPr>
              <a:t> for a number of </a:t>
            </a:r>
            <a:r>
              <a:rPr lang="en-US" dirty="0">
                <a:solidFill>
                  <a:srgbClr val="FF0000"/>
                </a:solidFill>
                <a:latin typeface="Times New Roman" charset="0"/>
                <a:ea typeface="Times New Roman" charset="0"/>
                <a:cs typeface="Times New Roman" charset="0"/>
              </a:rPr>
              <a:t>carefully selected inputs</a:t>
            </a:r>
            <a:r>
              <a:rPr lang="en-US" dirty="0">
                <a:solidFill>
                  <a:srgbClr val="000000"/>
                </a:solidFill>
                <a:latin typeface="Times New Roman" charset="0"/>
                <a:ea typeface="Times New Roman" charset="0"/>
                <a:cs typeface="Times New Roman" charset="0"/>
              </a:rPr>
              <a:t>.</a:t>
            </a:r>
          </a:p>
        </p:txBody>
      </p:sp>
      <p:sp>
        <p:nvSpPr>
          <p:cNvPr id="1106951" name="Text Box 7"/>
          <p:cNvSpPr txBox="1">
            <a:spLocks noChangeArrowheads="1"/>
          </p:cNvSpPr>
          <p:nvPr/>
        </p:nvSpPr>
        <p:spPr bwMode="auto">
          <a:xfrm>
            <a:off x="1276667" y="2877186"/>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dirty="0">
                <a:solidFill>
                  <a:srgbClr val="000000"/>
                </a:solidFill>
                <a:latin typeface="Times New Roman" charset="0"/>
                <a:ea typeface="Times New Roman" charset="0"/>
                <a:cs typeface="Times New Roman" charset="0"/>
              </a:rPr>
              <a:t>If all </a:t>
            </a:r>
            <a:r>
              <a:rPr lang="en-US" sz="2400" dirty="0">
                <a:solidFill>
                  <a:srgbClr val="0000FF"/>
                </a:solidFill>
                <a:latin typeface="Times New Roman" charset="0"/>
                <a:ea typeface="Times New Roman" charset="0"/>
                <a:cs typeface="Times New Roman" charset="0"/>
              </a:rPr>
              <a:t>potential problematic areas</a:t>
            </a:r>
            <a:r>
              <a:rPr lang="en-US" sz="2400" dirty="0">
                <a:solidFill>
                  <a:srgbClr val="000000"/>
                </a:solidFill>
                <a:latin typeface="Times New Roman" charset="0"/>
                <a:ea typeface="Times New Roman" charset="0"/>
                <a:cs typeface="Times New Roman" charset="0"/>
              </a:rPr>
              <a:t> are checked in this way, the program is </a:t>
            </a:r>
            <a:r>
              <a:rPr lang="en-US" sz="2400" dirty="0">
                <a:solidFill>
                  <a:srgbClr val="0000FF"/>
                </a:solidFill>
                <a:latin typeface="Times New Roman" charset="0"/>
                <a:ea typeface="Times New Roman" charset="0"/>
                <a:cs typeface="Times New Roman" charset="0"/>
              </a:rPr>
              <a:t>probably correct</a:t>
            </a:r>
            <a:r>
              <a:rPr lang="en-US" sz="2400" dirty="0">
                <a:solidFill>
                  <a:srgbClr val="000000"/>
                </a:solidFill>
                <a:latin typeface="Times New Roman" charset="0"/>
                <a:ea typeface="Times New Roman" charset="0"/>
                <a:cs typeface="Times New Roman" charset="0"/>
              </a:rPr>
              <a:t>. </a:t>
            </a:r>
          </a:p>
        </p:txBody>
      </p:sp>
      <p:sp>
        <p:nvSpPr>
          <p:cNvPr id="1106952" name="Text Box 8"/>
          <p:cNvSpPr txBox="1">
            <a:spLocks noChangeArrowheads="1"/>
          </p:cNvSpPr>
          <p:nvPr/>
        </p:nvSpPr>
        <p:spPr bwMode="auto">
          <a:xfrm>
            <a:off x="1276667" y="3634423"/>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dirty="0">
                <a:solidFill>
                  <a:srgbClr val="000000"/>
                </a:solidFill>
                <a:latin typeface="Times New Roman" charset="0"/>
                <a:ea typeface="Times New Roman" charset="0"/>
                <a:cs typeface="Times New Roman" charset="0"/>
              </a:rPr>
              <a:t>Try </a:t>
            </a:r>
            <a:r>
              <a:rPr lang="en-US" sz="2400" dirty="0">
                <a:solidFill>
                  <a:srgbClr val="0000FF"/>
                </a:solidFill>
                <a:latin typeface="Times New Roman" charset="0"/>
                <a:ea typeface="Times New Roman" charset="0"/>
                <a:cs typeface="Times New Roman" charset="0"/>
              </a:rPr>
              <a:t>several values</a:t>
            </a:r>
            <a:r>
              <a:rPr lang="en-US" sz="2400" dirty="0">
                <a:solidFill>
                  <a:srgbClr val="000000"/>
                </a:solidFill>
                <a:latin typeface="Times New Roman" charset="0"/>
                <a:ea typeface="Times New Roman" charset="0"/>
                <a:cs typeface="Times New Roman" charset="0"/>
              </a:rPr>
              <a:t>, including the obvious “</a:t>
            </a:r>
            <a:r>
              <a:rPr lang="en-US" sz="2400" dirty="0">
                <a:solidFill>
                  <a:srgbClr val="0000FF"/>
                </a:solidFill>
                <a:latin typeface="Times New Roman" charset="0"/>
                <a:ea typeface="Times New Roman" charset="0"/>
                <a:cs typeface="Times New Roman" charset="0"/>
              </a:rPr>
              <a:t>problem</a:t>
            </a:r>
            <a:r>
              <a:rPr lang="en-US" sz="2400" dirty="0">
                <a:solidFill>
                  <a:srgbClr val="000000"/>
                </a:solidFill>
                <a:latin typeface="Times New Roman" charset="0"/>
                <a:ea typeface="Times New Roman" charset="0"/>
                <a:cs typeface="Times New Roman" charset="0"/>
              </a:rPr>
              <a:t>” values such as </a:t>
            </a:r>
            <a:r>
              <a:rPr lang="en-US" sz="2400" dirty="0">
                <a:solidFill>
                  <a:srgbClr val="0000FF"/>
                </a:solidFill>
                <a:latin typeface="Times New Roman" charset="0"/>
                <a:ea typeface="Times New Roman" charset="0"/>
                <a:cs typeface="Times New Roman" charset="0"/>
              </a:rPr>
              <a:t>zero</a:t>
            </a:r>
            <a:r>
              <a:rPr lang="en-US" sz="2400" dirty="0">
                <a:solidFill>
                  <a:srgbClr val="000000"/>
                </a:solidFill>
                <a:latin typeface="Times New Roman" charset="0"/>
                <a:ea typeface="Times New Roman" charset="0"/>
                <a:cs typeface="Times New Roman" charset="0"/>
              </a:rPr>
              <a:t>, </a:t>
            </a:r>
            <a:r>
              <a:rPr lang="en-US" sz="2400" dirty="0">
                <a:solidFill>
                  <a:srgbClr val="0000FF"/>
                </a:solidFill>
                <a:latin typeface="Times New Roman" charset="0"/>
                <a:ea typeface="Times New Roman" charset="0"/>
                <a:cs typeface="Times New Roman" charset="0"/>
              </a:rPr>
              <a:t>largest negative</a:t>
            </a:r>
            <a:r>
              <a:rPr lang="en-US" sz="2400" dirty="0">
                <a:solidFill>
                  <a:srgbClr val="000000"/>
                </a:solidFill>
                <a:latin typeface="Times New Roman" charset="0"/>
                <a:ea typeface="Times New Roman" charset="0"/>
                <a:cs typeface="Times New Roman" charset="0"/>
              </a:rPr>
              <a:t>, 1, -1 and so on. </a:t>
            </a:r>
          </a:p>
        </p:txBody>
      </p:sp>
      <p:sp>
        <p:nvSpPr>
          <p:cNvPr id="29707" name="Rectangle 14"/>
          <p:cNvSpPr>
            <a:spLocks noGrp="1" noChangeArrowheads="1"/>
          </p:cNvSpPr>
          <p:nvPr>
            <p:ph type="title"/>
          </p:nvPr>
        </p:nvSpPr>
        <p:spPr/>
        <p:txBody>
          <a:bodyPr/>
          <a:lstStyle/>
          <a:p>
            <a:pPr eaLnBrk="1" hangingPunct="1"/>
            <a:r>
              <a:rPr lang="en-US" sz="3600" dirty="0"/>
              <a:t>Three Levels of Correctness</a:t>
            </a:r>
          </a:p>
        </p:txBody>
      </p:sp>
      <p:sp>
        <p:nvSpPr>
          <p:cNvPr id="12" name="Slide Number Placeholder 11"/>
          <p:cNvSpPr>
            <a:spLocks noGrp="1"/>
          </p:cNvSpPr>
          <p:nvPr>
            <p:ph type="sldNum" sz="quarter" idx="12"/>
          </p:nvPr>
        </p:nvSpPr>
        <p:spPr>
          <a:xfrm>
            <a:off x="8681575" y="4642732"/>
            <a:ext cx="1312025" cy="365125"/>
          </a:xfrm>
        </p:spPr>
        <p:txBody>
          <a:bodyPr/>
          <a:lstStyle/>
          <a:p>
            <a:pPr>
              <a:defRPr/>
            </a:pPr>
            <a:fld id="{09326EE3-E9CF-F94B-BB0A-EA1E2EFF2881}" type="slidenum">
              <a:rPr lang="nl-NL" smtClean="0"/>
              <a:pPr>
                <a:defRPr/>
              </a:pPr>
              <a:t>23</a:t>
            </a:fld>
            <a:endParaRPr lang="nl-NL"/>
          </a:p>
        </p:txBody>
      </p:sp>
    </p:spTree>
    <p:extLst>
      <p:ext uri="{BB962C8B-B14F-4D97-AF65-F5344CB8AC3E}">
        <p14:creationId xmlns:p14="http://schemas.microsoft.com/office/powerpoint/2010/main" val="26943986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06949"/>
                                        </p:tgtEl>
                                        <p:attrNameLst>
                                          <p:attrName>style.visibility</p:attrName>
                                        </p:attrNameLst>
                                      </p:cBhvr>
                                      <p:to>
                                        <p:strVal val="visible"/>
                                      </p:to>
                                    </p:set>
                                    <p:animEffect transition="in" filter="blinds(horizontal)">
                                      <p:cBhvr>
                                        <p:cTn id="7" dur="500"/>
                                        <p:tgtEl>
                                          <p:spTgt spid="11069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06950"/>
                                        </p:tgtEl>
                                        <p:attrNameLst>
                                          <p:attrName>style.visibility</p:attrName>
                                        </p:attrNameLst>
                                      </p:cBhvr>
                                      <p:to>
                                        <p:strVal val="visible"/>
                                      </p:to>
                                    </p:set>
                                    <p:animEffect transition="in" filter="blinds(horizontal)">
                                      <p:cBhvr>
                                        <p:cTn id="12" dur="500"/>
                                        <p:tgtEl>
                                          <p:spTgt spid="110695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06951"/>
                                        </p:tgtEl>
                                        <p:attrNameLst>
                                          <p:attrName>style.visibility</p:attrName>
                                        </p:attrNameLst>
                                      </p:cBhvr>
                                      <p:to>
                                        <p:strVal val="visible"/>
                                      </p:to>
                                    </p:set>
                                    <p:animEffect transition="in" filter="blinds(horizontal)">
                                      <p:cBhvr>
                                        <p:cTn id="17" dur="500"/>
                                        <p:tgtEl>
                                          <p:spTgt spid="110695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06952"/>
                                        </p:tgtEl>
                                        <p:attrNameLst>
                                          <p:attrName>style.visibility</p:attrName>
                                        </p:attrNameLst>
                                      </p:cBhvr>
                                      <p:to>
                                        <p:strVal val="visible"/>
                                      </p:to>
                                    </p:set>
                                    <p:animEffect transition="in" filter="blinds(horizontal)">
                                      <p:cBhvr>
                                        <p:cTn id="22" dur="500"/>
                                        <p:tgtEl>
                                          <p:spTgt spid="11069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949" grpId="0"/>
      <p:bldP spid="1106950" grpId="0"/>
      <p:bldP spid="1106951" grpId="0"/>
      <p:bldP spid="11069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7" name="Rectangle 14"/>
          <p:cNvSpPr>
            <a:spLocks noGrp="1" noChangeArrowheads="1"/>
          </p:cNvSpPr>
          <p:nvPr>
            <p:ph type="title"/>
          </p:nvPr>
        </p:nvSpPr>
        <p:spPr/>
        <p:txBody>
          <a:bodyPr/>
          <a:lstStyle/>
          <a:p>
            <a:pPr eaLnBrk="1" hangingPunct="1"/>
            <a:r>
              <a:rPr lang="en-US" sz="3600" dirty="0"/>
              <a:t>Three Levels of Correctness</a:t>
            </a:r>
          </a:p>
        </p:txBody>
      </p:sp>
      <p:sp>
        <p:nvSpPr>
          <p:cNvPr id="8" name="Text Box 10">
            <a:extLst>
              <a:ext uri="{FF2B5EF4-FFF2-40B4-BE49-F238E27FC236}">
                <a16:creationId xmlns:a16="http://schemas.microsoft.com/office/drawing/2014/main" id="{F2963478-CDAB-4E71-AF97-8C0FEBC4EC8D}"/>
              </a:ext>
            </a:extLst>
          </p:cNvPr>
          <p:cNvSpPr txBox="1">
            <a:spLocks noChangeArrowheads="1"/>
          </p:cNvSpPr>
          <p:nvPr/>
        </p:nvSpPr>
        <p:spPr bwMode="auto">
          <a:xfrm>
            <a:off x="1208088" y="1756410"/>
            <a:ext cx="5580062" cy="519112"/>
          </a:xfrm>
          <a:prstGeom prst="rect">
            <a:avLst/>
          </a:prstGeom>
          <a:noFill/>
          <a:ln w="9525">
            <a:noFill/>
            <a:miter lim="800000"/>
            <a:headEnd/>
            <a:tailEnd/>
          </a:ln>
        </p:spPr>
        <p:txBody>
          <a:bodyPr>
            <a:prstTxWarp prst="textNoShape">
              <a:avLst/>
            </a:prstTxWarp>
            <a:spAutoFit/>
          </a:bodyPr>
          <a:lstStyle/>
          <a:p>
            <a:pPr marL="457200" indent="-457200" algn="just">
              <a:spcBef>
                <a:spcPct val="0"/>
              </a:spcBef>
            </a:pPr>
            <a:r>
              <a:rPr lang="en-US" sz="2800" b="1">
                <a:solidFill>
                  <a:srgbClr val="FF0000"/>
                </a:solidFill>
                <a:latin typeface="Times New Roman" charset="0"/>
                <a:ea typeface="Times New Roman" charset="0"/>
                <a:cs typeface="Times New Roman" charset="0"/>
              </a:rPr>
              <a:t>Absolute correctness</a:t>
            </a:r>
          </a:p>
        </p:txBody>
      </p:sp>
      <p:sp>
        <p:nvSpPr>
          <p:cNvPr id="9" name="Text Box 11">
            <a:extLst>
              <a:ext uri="{FF2B5EF4-FFF2-40B4-BE49-F238E27FC236}">
                <a16:creationId xmlns:a16="http://schemas.microsoft.com/office/drawing/2014/main" id="{1228C8F1-D241-4F84-8666-1160B7846D1B}"/>
              </a:ext>
            </a:extLst>
          </p:cNvPr>
          <p:cNvSpPr txBox="1">
            <a:spLocks noChangeArrowheads="1"/>
          </p:cNvSpPr>
          <p:nvPr/>
        </p:nvSpPr>
        <p:spPr bwMode="auto">
          <a:xfrm>
            <a:off x="1208088" y="3229611"/>
            <a:ext cx="7924800" cy="1200329"/>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a:solidFill>
                  <a:srgbClr val="000000"/>
                </a:solidFill>
                <a:latin typeface="Times New Roman" charset="0"/>
                <a:ea typeface="Times New Roman" charset="0"/>
                <a:cs typeface="Times New Roman" charset="0"/>
              </a:rPr>
              <a:t>Requires </a:t>
            </a:r>
            <a:r>
              <a:rPr lang="en-US" sz="2400">
                <a:solidFill>
                  <a:srgbClr val="0000FF"/>
                </a:solidFill>
                <a:latin typeface="Times New Roman" charset="0"/>
                <a:ea typeface="Times New Roman" charset="0"/>
                <a:cs typeface="Times New Roman" charset="0"/>
              </a:rPr>
              <a:t>huge amount of time</a:t>
            </a:r>
            <a:r>
              <a:rPr lang="en-US" sz="2400">
                <a:solidFill>
                  <a:srgbClr val="000000"/>
                </a:solidFill>
                <a:latin typeface="Times New Roman" charset="0"/>
                <a:ea typeface="Times New Roman" charset="0"/>
                <a:cs typeface="Times New Roman" charset="0"/>
              </a:rPr>
              <a:t>; it is therefore </a:t>
            </a:r>
            <a:r>
              <a:rPr lang="en-US" sz="2400">
                <a:solidFill>
                  <a:srgbClr val="FF0000"/>
                </a:solidFill>
                <a:latin typeface="Times New Roman" charset="0"/>
                <a:ea typeface="Times New Roman" charset="0"/>
                <a:cs typeface="Times New Roman" charset="0"/>
              </a:rPr>
              <a:t>not practical</a:t>
            </a:r>
            <a:r>
              <a:rPr lang="en-US" sz="2400">
                <a:solidFill>
                  <a:srgbClr val="000000"/>
                </a:solidFill>
                <a:latin typeface="Times New Roman" charset="0"/>
                <a:ea typeface="Times New Roman" charset="0"/>
                <a:cs typeface="Times New Roman" charset="0"/>
              </a:rPr>
              <a:t> {However for some programs we can prove correctness mathematically}. </a:t>
            </a:r>
          </a:p>
        </p:txBody>
      </p:sp>
      <p:sp>
        <p:nvSpPr>
          <p:cNvPr id="10" name="Text Box 12">
            <a:extLst>
              <a:ext uri="{FF2B5EF4-FFF2-40B4-BE49-F238E27FC236}">
                <a16:creationId xmlns:a16="http://schemas.microsoft.com/office/drawing/2014/main" id="{E71348D7-27F9-44DA-B50E-F76571563CF7}"/>
              </a:ext>
            </a:extLst>
          </p:cNvPr>
          <p:cNvSpPr txBox="1">
            <a:spLocks noChangeArrowheads="1"/>
          </p:cNvSpPr>
          <p:nvPr/>
        </p:nvSpPr>
        <p:spPr bwMode="auto">
          <a:xfrm>
            <a:off x="1208088" y="4531361"/>
            <a:ext cx="7924800" cy="830997"/>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sz="2400">
                <a:solidFill>
                  <a:srgbClr val="000000"/>
                </a:solidFill>
                <a:latin typeface="Times New Roman" charset="0"/>
                <a:ea typeface="Times New Roman" charset="0"/>
                <a:cs typeface="Times New Roman" charset="0"/>
              </a:rPr>
              <a:t>Imagine the same above test for a 32 bit machine (how many combinations are possible? (Hundreds of Millions). </a:t>
            </a:r>
          </a:p>
        </p:txBody>
      </p:sp>
      <p:sp>
        <p:nvSpPr>
          <p:cNvPr id="11" name="Rectangle 13">
            <a:extLst>
              <a:ext uri="{FF2B5EF4-FFF2-40B4-BE49-F238E27FC236}">
                <a16:creationId xmlns:a16="http://schemas.microsoft.com/office/drawing/2014/main" id="{B7C20EB9-505E-4AE5-956D-C328B48F5784}"/>
              </a:ext>
            </a:extLst>
          </p:cNvPr>
          <p:cNvSpPr>
            <a:spLocks noChangeArrowheads="1"/>
          </p:cNvSpPr>
          <p:nvPr/>
        </p:nvSpPr>
        <p:spPr bwMode="auto">
          <a:xfrm>
            <a:off x="1200150" y="2339450"/>
            <a:ext cx="8001000" cy="830997"/>
          </a:xfrm>
          <a:prstGeom prst="rect">
            <a:avLst/>
          </a:prstGeom>
          <a:noFill/>
          <a:ln w="9525">
            <a:noFill/>
            <a:miter lim="800000"/>
            <a:headEnd/>
            <a:tailEnd/>
          </a:ln>
        </p:spPr>
        <p:txBody>
          <a:bodyPr anchor="ctr">
            <a:prstTxWarp prst="textNoShape">
              <a:avLst/>
            </a:prstTxWarp>
            <a:spAutoFit/>
          </a:bodyPr>
          <a:lstStyle/>
          <a:p>
            <a:pPr marL="465138" indent="-465138">
              <a:spcBef>
                <a:spcPct val="0"/>
              </a:spcBef>
              <a:buFont typeface="Symbol" charset="2"/>
              <a:buChar char="¨"/>
              <a:tabLst>
                <a:tab pos="403225" algn="l"/>
              </a:tabLst>
            </a:pPr>
            <a:r>
              <a:rPr lang="en-US" sz="2400">
                <a:solidFill>
                  <a:srgbClr val="000000"/>
                </a:solidFill>
                <a:latin typeface="Times New Roman" charset="0"/>
                <a:ea typeface="Times New Roman" charset="0"/>
                <a:cs typeface="Times New Roman" charset="0"/>
              </a:rPr>
              <a:t>can be demonstrated </a:t>
            </a:r>
            <a:r>
              <a:rPr lang="en-US" sz="2400">
                <a:solidFill>
                  <a:srgbClr val="0000FF"/>
                </a:solidFill>
                <a:latin typeface="Times New Roman" charset="0"/>
                <a:ea typeface="Times New Roman" charset="0"/>
                <a:cs typeface="Times New Roman" charset="0"/>
              </a:rPr>
              <a:t>only by a test</a:t>
            </a:r>
            <a:r>
              <a:rPr lang="en-US" sz="2400">
                <a:solidFill>
                  <a:srgbClr val="000000"/>
                </a:solidFill>
                <a:latin typeface="Times New Roman" charset="0"/>
                <a:ea typeface="Times New Roman" charset="0"/>
                <a:cs typeface="Times New Roman" charset="0"/>
              </a:rPr>
              <a:t> that involves </a:t>
            </a:r>
            <a:r>
              <a:rPr lang="en-US" sz="2400">
                <a:solidFill>
                  <a:srgbClr val="FF0000"/>
                </a:solidFill>
                <a:latin typeface="Times New Roman" charset="0"/>
                <a:ea typeface="Times New Roman" charset="0"/>
                <a:cs typeface="Times New Roman" charset="0"/>
              </a:rPr>
              <a:t>every possible</a:t>
            </a:r>
            <a:r>
              <a:rPr lang="en-US" sz="2400">
                <a:solidFill>
                  <a:srgbClr val="000000"/>
                </a:solidFill>
                <a:latin typeface="Times New Roman" charset="0"/>
                <a:ea typeface="Times New Roman" charset="0"/>
                <a:cs typeface="Times New Roman" charset="0"/>
              </a:rPr>
              <a:t> </a:t>
            </a:r>
            <a:r>
              <a:rPr lang="en-US" sz="2400">
                <a:solidFill>
                  <a:srgbClr val="0000FF"/>
                </a:solidFill>
                <a:latin typeface="Times New Roman" charset="0"/>
                <a:ea typeface="Times New Roman" charset="0"/>
                <a:cs typeface="Times New Roman" charset="0"/>
              </a:rPr>
              <a:t>combination of inputs</a:t>
            </a:r>
            <a:r>
              <a:rPr lang="en-US" sz="2400">
                <a:solidFill>
                  <a:srgbClr val="000000"/>
                </a:solidFill>
                <a:latin typeface="Times New Roman" charset="0"/>
                <a:ea typeface="Times New Roman" charset="0"/>
                <a:cs typeface="Times New Roman" charset="0"/>
              </a:rPr>
              <a:t>.</a:t>
            </a:r>
          </a:p>
        </p:txBody>
      </p:sp>
    </p:spTree>
    <p:extLst>
      <p:ext uri="{BB962C8B-B14F-4D97-AF65-F5344CB8AC3E}">
        <p14:creationId xmlns:p14="http://schemas.microsoft.com/office/powerpoint/2010/main" val="24137899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scene3d>
              <a:camera prst="orthographicFront"/>
              <a:lightRig rig="soft" dir="t"/>
            </a:scene3d>
            <a:sp3d prstMaterial="softEdge">
              <a:bevelT w="25400" h="25400"/>
            </a:sp3d>
          </a:bodyPr>
          <a:lstStyle/>
          <a:p>
            <a:pPr>
              <a:defRPr/>
            </a:pPr>
            <a:r>
              <a:rPr lang="en-US" dirty="0"/>
              <a:t>A Small Testing Example</a:t>
            </a:r>
          </a:p>
        </p:txBody>
      </p:sp>
      <p:sp>
        <p:nvSpPr>
          <p:cNvPr id="51203" name="Content Placeholder 2"/>
          <p:cNvSpPr>
            <a:spLocks noGrp="1"/>
          </p:cNvSpPr>
          <p:nvPr>
            <p:ph idx="1"/>
          </p:nvPr>
        </p:nvSpPr>
        <p:spPr/>
        <p:txBody>
          <a:bodyPr/>
          <a:lstStyle/>
          <a:p>
            <a:r>
              <a:rPr lang="en-US" dirty="0">
                <a:latin typeface="Garamond" charset="0"/>
                <a:ea typeface="ＭＳ Ｐゴシック" charset="-128"/>
              </a:rPr>
              <a:t>You are to develop a small program that reads three integer values from an input dialog. The three values represent the lengths of the sides of a triangle. </a:t>
            </a:r>
          </a:p>
          <a:p>
            <a:r>
              <a:rPr lang="en-US" dirty="0">
                <a:latin typeface="Garamond" charset="0"/>
                <a:ea typeface="ＭＳ Ｐゴシック" charset="-128"/>
              </a:rPr>
              <a:t>The program displays a message that states whether the </a:t>
            </a:r>
            <a:r>
              <a:rPr lang="en-US" dirty="0">
                <a:solidFill>
                  <a:srgbClr val="3399FF"/>
                </a:solidFill>
                <a:latin typeface="Garamond" charset="0"/>
                <a:ea typeface="ＭＳ Ｐゴシック" charset="-128"/>
              </a:rPr>
              <a:t>triangle is scalene, isosceles,</a:t>
            </a:r>
            <a:r>
              <a:rPr lang="en-US" dirty="0">
                <a:latin typeface="Garamond" charset="0"/>
                <a:ea typeface="ＭＳ Ｐゴシック" charset="-128"/>
              </a:rPr>
              <a:t> or </a:t>
            </a:r>
            <a:r>
              <a:rPr lang="en-US" dirty="0">
                <a:solidFill>
                  <a:srgbClr val="3399FF"/>
                </a:solidFill>
                <a:latin typeface="Garamond" charset="0"/>
                <a:ea typeface="ＭＳ Ｐゴシック" charset="-128"/>
              </a:rPr>
              <a:t>equilateral</a:t>
            </a:r>
            <a:r>
              <a:rPr lang="en-US" dirty="0">
                <a:latin typeface="Garamond" charset="0"/>
                <a:ea typeface="ＭＳ Ｐゴシック" charset="-128"/>
              </a:rPr>
              <a:t>.</a:t>
            </a:r>
          </a:p>
          <a:p>
            <a:r>
              <a:rPr lang="en-US" dirty="0">
                <a:latin typeface="Garamond" charset="0"/>
                <a:ea typeface="ＭＳ Ｐゴシック" charset="-128"/>
              </a:rPr>
              <a:t>Write a set of test cases—specific sets of data—to properly test the program</a:t>
            </a:r>
          </a:p>
          <a:p>
            <a:pPr lvl="1"/>
            <a:r>
              <a:rPr lang="en-US" sz="1600" dirty="0">
                <a:latin typeface="Garamond" charset="0"/>
                <a:ea typeface="ＭＳ Ｐゴシック" charset="-128"/>
              </a:rPr>
              <a:t>The set of test data must be handled by the program correctly to be considered a successful program.</a:t>
            </a:r>
          </a:p>
          <a:p>
            <a:r>
              <a:rPr lang="en-US" dirty="0">
                <a:latin typeface="Garamond" charset="0"/>
                <a:ea typeface="ＭＳ Ｐゴシック" charset="-128"/>
              </a:rPr>
              <a:t>Remember that</a:t>
            </a:r>
          </a:p>
          <a:p>
            <a:pPr lvl="1"/>
            <a:r>
              <a:rPr lang="en-US" sz="2000" dirty="0">
                <a:latin typeface="Garamond" charset="0"/>
                <a:ea typeface="ＭＳ Ｐゴシック" charset="-128"/>
              </a:rPr>
              <a:t>a </a:t>
            </a:r>
            <a:r>
              <a:rPr lang="en-US" sz="2000" dirty="0">
                <a:solidFill>
                  <a:srgbClr val="FF0000"/>
                </a:solidFill>
                <a:latin typeface="Garamond" charset="0"/>
                <a:ea typeface="ＭＳ Ｐゴシック" charset="-128"/>
              </a:rPr>
              <a:t>scalene</a:t>
            </a:r>
            <a:r>
              <a:rPr lang="en-US" sz="2000" dirty="0">
                <a:latin typeface="Garamond" charset="0"/>
                <a:ea typeface="ＭＳ Ｐゴシック" charset="-128"/>
              </a:rPr>
              <a:t> triangle is one where </a:t>
            </a:r>
            <a:r>
              <a:rPr lang="en-US" sz="2000" dirty="0">
                <a:solidFill>
                  <a:srgbClr val="0000FF"/>
                </a:solidFill>
                <a:latin typeface="Garamond" charset="0"/>
                <a:ea typeface="ＭＳ Ｐゴシック" charset="-128"/>
              </a:rPr>
              <a:t>no two sides are equal</a:t>
            </a:r>
            <a:r>
              <a:rPr lang="en-US" sz="2000" dirty="0">
                <a:latin typeface="Garamond" charset="0"/>
                <a:ea typeface="ＭＳ Ｐゴシック" charset="-128"/>
              </a:rPr>
              <a:t>, </a:t>
            </a:r>
          </a:p>
          <a:p>
            <a:pPr lvl="1"/>
            <a:r>
              <a:rPr lang="en-US" sz="2000" dirty="0">
                <a:latin typeface="Garamond" charset="0"/>
                <a:ea typeface="ＭＳ Ｐゴシック" charset="-128"/>
              </a:rPr>
              <a:t>whereas an </a:t>
            </a:r>
            <a:r>
              <a:rPr lang="en-US" sz="2000" dirty="0">
                <a:solidFill>
                  <a:srgbClr val="FF0000"/>
                </a:solidFill>
                <a:latin typeface="Garamond" charset="0"/>
                <a:ea typeface="ＭＳ Ｐゴシック" charset="-128"/>
              </a:rPr>
              <a:t>isosceles</a:t>
            </a:r>
            <a:r>
              <a:rPr lang="en-US" sz="2000" dirty="0">
                <a:latin typeface="Garamond" charset="0"/>
                <a:ea typeface="ＭＳ Ｐゴシック" charset="-128"/>
              </a:rPr>
              <a:t> triangle has </a:t>
            </a:r>
            <a:r>
              <a:rPr lang="en-US" sz="2000" dirty="0">
                <a:solidFill>
                  <a:srgbClr val="0000FF"/>
                </a:solidFill>
                <a:latin typeface="Garamond" charset="0"/>
                <a:ea typeface="ＭＳ Ｐゴシック" charset="-128"/>
              </a:rPr>
              <a:t>two equal sides</a:t>
            </a:r>
            <a:r>
              <a:rPr lang="en-US" sz="2000" dirty="0">
                <a:latin typeface="Garamond" charset="0"/>
                <a:ea typeface="ＭＳ Ｐゴシック" charset="-128"/>
              </a:rPr>
              <a:t>, and </a:t>
            </a:r>
          </a:p>
          <a:p>
            <a:pPr lvl="1"/>
            <a:r>
              <a:rPr lang="en-US" sz="2000" dirty="0">
                <a:latin typeface="Garamond" charset="0"/>
                <a:ea typeface="ＭＳ Ｐゴシック" charset="-128"/>
              </a:rPr>
              <a:t>an </a:t>
            </a:r>
            <a:r>
              <a:rPr lang="en-US" sz="2000" dirty="0">
                <a:solidFill>
                  <a:srgbClr val="FF0000"/>
                </a:solidFill>
                <a:latin typeface="Garamond" charset="0"/>
                <a:ea typeface="ＭＳ Ｐゴシック" charset="-128"/>
              </a:rPr>
              <a:t>equilateral</a:t>
            </a:r>
            <a:r>
              <a:rPr lang="en-US" sz="2000" dirty="0">
                <a:latin typeface="Garamond" charset="0"/>
                <a:ea typeface="ＭＳ Ｐゴシック" charset="-128"/>
              </a:rPr>
              <a:t> triangle has </a:t>
            </a:r>
            <a:r>
              <a:rPr lang="en-US" sz="2000" dirty="0">
                <a:solidFill>
                  <a:srgbClr val="0000FF"/>
                </a:solidFill>
                <a:latin typeface="Garamond" charset="0"/>
                <a:ea typeface="ＭＳ Ｐゴシック" charset="-128"/>
              </a:rPr>
              <a:t>three sides of equal</a:t>
            </a:r>
            <a:r>
              <a:rPr lang="en-US" sz="2000" dirty="0">
                <a:latin typeface="Garamond" charset="0"/>
                <a:ea typeface="ＭＳ Ｐゴシック" charset="-128"/>
              </a:rPr>
              <a:t> length.</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25</a:t>
            </a:fld>
            <a:endParaRPr lang="nl-NL"/>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4E4490D0-3672-446A-AC12-B4830333BDD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 name="Rectangle 73">
            <a:extLst>
              <a:ext uri="{FF2B5EF4-FFF2-40B4-BE49-F238E27FC236}">
                <a16:creationId xmlns:a16="http://schemas.microsoft.com/office/drawing/2014/main" id="{39CB82C2-DF65-4EC1-8280-F201D50F570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6" name="Straight Connector 75">
            <a:extLst>
              <a:ext uri="{FF2B5EF4-FFF2-40B4-BE49-F238E27FC236}">
                <a16:creationId xmlns:a16="http://schemas.microsoft.com/office/drawing/2014/main" id="{7E1D4427-852B-4B37-8E76-0E9F1810BA2A}"/>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78" name="Rectangle 77">
            <a:extLst>
              <a:ext uri="{FF2B5EF4-FFF2-40B4-BE49-F238E27FC236}">
                <a16:creationId xmlns:a16="http://schemas.microsoft.com/office/drawing/2014/main" id="{FA4CD5CB-D209-4D70-8CA4-629731C5921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41110" y="639097"/>
            <a:ext cx="3401961" cy="3686015"/>
          </a:xfrm>
        </p:spPr>
        <p:txBody>
          <a:bodyPr vert="horz" lIns="91440" tIns="45720" rIns="91440" bIns="45720" rtlCol="0" anchor="b">
            <a:normAutofit/>
            <a:scene3d>
              <a:camera prst="orthographicFront"/>
              <a:lightRig rig="soft" dir="t"/>
            </a:scene3d>
            <a:sp3d prstMaterial="softEdge">
              <a:bevelT w="25400" h="25400"/>
            </a:sp3d>
          </a:bodyPr>
          <a:lstStyle/>
          <a:p>
            <a:pPr>
              <a:defRPr/>
            </a:pPr>
            <a:r>
              <a:rPr lang="en-US" sz="5600">
                <a:solidFill>
                  <a:schemeClr val="tx1">
                    <a:lumMod val="85000"/>
                    <a:lumOff val="15000"/>
                  </a:schemeClr>
                </a:solidFill>
              </a:rPr>
              <a:t>Definitions</a:t>
            </a:r>
          </a:p>
        </p:txBody>
      </p:sp>
      <p:pic>
        <p:nvPicPr>
          <p:cNvPr id="52227" name="Content Placeholder 3" descr="Screen shot 2012-09-08 at 2.35.12 PM.png"/>
          <p:cNvPicPr>
            <a:picLocks noGrp="1" noChangeAspect="1"/>
          </p:cNvPicPr>
          <p:nvPr>
            <p:ph idx="1"/>
          </p:nvPr>
        </p:nvPicPr>
        <p:blipFill>
          <a:blip r:embed="rId2"/>
          <a:stretch>
            <a:fillRect/>
          </a:stretch>
        </p:blipFill>
        <p:spPr>
          <a:xfrm>
            <a:off x="1437992" y="640081"/>
            <a:ext cx="5304231" cy="5054156"/>
          </a:xfrm>
          <a:prstGeom prst="rect">
            <a:avLst/>
          </a:prstGeom>
        </p:spPr>
      </p:pic>
      <p:cxnSp>
        <p:nvCxnSpPr>
          <p:cNvPr id="80" name="Straight Connector 79">
            <a:extLst>
              <a:ext uri="{FF2B5EF4-FFF2-40B4-BE49-F238E27FC236}">
                <a16:creationId xmlns:a16="http://schemas.microsoft.com/office/drawing/2014/main" id="{5C6A2BAE-B461-4B55-8E1F-0722ABDD1393}"/>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4C27B90-DF2B-4D00-BA07-18ED774CD2F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 name="Rectangle 83">
            <a:extLst>
              <a:ext uri="{FF2B5EF4-FFF2-40B4-BE49-F238E27FC236}">
                <a16:creationId xmlns:a16="http://schemas.microsoft.com/office/drawing/2014/main" id="{593ACC25-C262-417A-8AA9-0641C772BDB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Slide Number Placeholder 5"/>
          <p:cNvSpPr>
            <a:spLocks noGrp="1"/>
          </p:cNvSpPr>
          <p:nvPr>
            <p:ph type="sldNum" sz="quarter" idx="11"/>
          </p:nvPr>
        </p:nvSpPr>
        <p:spPr>
          <a:xfrm>
            <a:off x="9900458" y="6459785"/>
            <a:ext cx="1312025" cy="365125"/>
          </a:xfrm>
        </p:spPr>
        <p:txBody>
          <a:bodyPr vert="horz" lIns="91440" tIns="45720" rIns="91440" bIns="45720" rtlCol="0" anchor="ctr">
            <a:normAutofit/>
          </a:bodyPr>
          <a:lstStyle/>
          <a:p>
            <a:pPr algn="r" defTabSz="914400">
              <a:spcAft>
                <a:spcPts val="600"/>
              </a:spcAft>
              <a:defRPr/>
            </a:pPr>
            <a:fld id="{B9E8CCA2-10A5-DA4C-9CE3-A876A95C45C4}" type="slidenum">
              <a:rPr lang="en-US" sz="1050" smtClean="0"/>
              <a:pPr algn="r" defTabSz="914400">
                <a:spcAft>
                  <a:spcPts val="600"/>
                </a:spcAft>
                <a:defRPr/>
              </a:pPr>
              <a:t>26</a:t>
            </a:fld>
            <a:endParaRPr lang="en-US" sz="10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BB2B8762-61F0-4F1B-9364-D633EE9D6AF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 name="Rectangle 74">
            <a:extLst>
              <a:ext uri="{FF2B5EF4-FFF2-40B4-BE49-F238E27FC236}">
                <a16:creationId xmlns:a16="http://schemas.microsoft.com/office/drawing/2014/main" id="{E97675C8-1328-460C-9EBF-6B446B67EAD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7" name="Straight Connector 76">
            <a:extLst>
              <a:ext uri="{FF2B5EF4-FFF2-40B4-BE49-F238E27FC236}">
                <a16:creationId xmlns:a16="http://schemas.microsoft.com/office/drawing/2014/main" id="{514EE78B-AF71-4195-A01B-F1165D9233BF}"/>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79" name="Rectangle 78">
            <a:extLst>
              <a:ext uri="{FF2B5EF4-FFF2-40B4-BE49-F238E27FC236}">
                <a16:creationId xmlns:a16="http://schemas.microsoft.com/office/drawing/2014/main" id="{C6417104-D4C1-4710-9982-2154A7F4849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6781800" y="976639"/>
            <a:ext cx="4777300" cy="515477"/>
          </a:xfrm>
          <a:prstGeom prst="rect">
            <a:avLst/>
          </a:prstGeom>
        </p:spPr>
        <p:txBody>
          <a:bodyPr vert="horz" lIns="91440" tIns="45720" rIns="91440" bIns="45720" rtlCol="0">
            <a:normAutofit fontScale="92500" lnSpcReduction="20000"/>
          </a:bodyPr>
          <a:lstStyle/>
          <a:p>
            <a:pPr defTabSz="914400">
              <a:lnSpc>
                <a:spcPct val="90000"/>
              </a:lnSpc>
              <a:spcBef>
                <a:spcPts val="1200"/>
              </a:spcBef>
              <a:spcAft>
                <a:spcPts val="200"/>
              </a:spcAft>
              <a:buClr>
                <a:schemeClr val="accent1"/>
              </a:buClr>
              <a:buSzPct val="100000"/>
            </a:pPr>
            <a:r>
              <a:rPr lang="en-US" sz="2000" cap="all" spc="200" dirty="0">
                <a:solidFill>
                  <a:schemeClr val="tx1">
                    <a:lumMod val="85000"/>
                    <a:lumOff val="15000"/>
                  </a:schemeClr>
                </a:solidFill>
                <a:latin typeface="+mj-lt"/>
              </a:rPr>
              <a:t>What test cases do you think should be there?</a:t>
            </a:r>
          </a:p>
        </p:txBody>
      </p:sp>
      <p:sp>
        <p:nvSpPr>
          <p:cNvPr id="81" name="Rectangle 80">
            <a:extLst>
              <a:ext uri="{FF2B5EF4-FFF2-40B4-BE49-F238E27FC236}">
                <a16:creationId xmlns:a16="http://schemas.microsoft.com/office/drawing/2014/main" id="{626F1402-2DEC-4071-84AF-350C7BF00D4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3996" y="886968"/>
            <a:ext cx="64008" cy="31089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04733B62-1719-4677-A612-CA0AC0AD7482}"/>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086" y="5618770"/>
            <a:ext cx="105156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DA52A394-10F4-4AA5-90E4-634D1E919DB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 name="Rectangle 86">
            <a:extLst>
              <a:ext uri="{FF2B5EF4-FFF2-40B4-BE49-F238E27FC236}">
                <a16:creationId xmlns:a16="http://schemas.microsoft.com/office/drawing/2014/main" id="{07BDDC51-8BB2-42BE-8EA8-39B3E9AC1EF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Slide Number Placeholder 7"/>
          <p:cNvSpPr>
            <a:spLocks noGrp="1"/>
          </p:cNvSpPr>
          <p:nvPr>
            <p:ph type="sldNum" sz="quarter" idx="11"/>
          </p:nvPr>
        </p:nvSpPr>
        <p:spPr>
          <a:xfrm>
            <a:off x="9900458" y="6459785"/>
            <a:ext cx="1312025" cy="365125"/>
          </a:xfrm>
        </p:spPr>
        <p:txBody>
          <a:bodyPr vert="horz" lIns="91440" tIns="45720" rIns="91440" bIns="45720" rtlCol="0" anchor="ctr">
            <a:normAutofit/>
          </a:bodyPr>
          <a:lstStyle/>
          <a:p>
            <a:pPr algn="r">
              <a:spcAft>
                <a:spcPts val="600"/>
              </a:spcAft>
              <a:defRPr/>
            </a:pPr>
            <a:fld id="{B9E8CCA2-10A5-DA4C-9CE3-A876A95C45C4}" type="slidenum">
              <a:rPr lang="en-US" sz="1050" smtClean="0"/>
              <a:pPr algn="r">
                <a:spcAft>
                  <a:spcPts val="600"/>
                </a:spcAft>
                <a:defRPr/>
              </a:pPr>
              <a:t>27</a:t>
            </a:fld>
            <a:endParaRPr lang="en-US" sz="1050"/>
          </a:p>
        </p:txBody>
      </p:sp>
      <p:sp>
        <p:nvSpPr>
          <p:cNvPr id="53250" name="Rectangle 3"/>
          <p:cNvSpPr>
            <a:spLocks noChangeArrowheads="1"/>
          </p:cNvSpPr>
          <p:nvPr/>
        </p:nvSpPr>
        <p:spPr bwMode="auto">
          <a:xfrm>
            <a:off x="955314" y="0"/>
            <a:ext cx="7391400" cy="6386364"/>
          </a:xfrm>
          <a:prstGeom prst="rect">
            <a:avLst/>
          </a:prstGeom>
          <a:noFill/>
          <a:ln w="9525">
            <a:noFill/>
            <a:miter lim="800000"/>
            <a:headEnd/>
            <a:tailEnd/>
          </a:ln>
        </p:spPr>
        <p:txBody>
          <a:bodyPr>
            <a:prstTxWarp prst="textNoShape">
              <a:avLst/>
            </a:prstTxWarp>
            <a:spAutoFit/>
          </a:bodyPr>
          <a:lstStyle/>
          <a:p>
            <a:pPr>
              <a:spcAft>
                <a:spcPts val="600"/>
              </a:spcAft>
              <a:tabLst>
                <a:tab pos="358775" algn="l"/>
                <a:tab pos="803275" algn="l"/>
                <a:tab pos="1077913" algn="l"/>
              </a:tabLst>
            </a:pPr>
            <a:r>
              <a:rPr lang="en-US" dirty="0"/>
              <a:t>int main()</a:t>
            </a:r>
          </a:p>
          <a:p>
            <a:pPr>
              <a:spcAft>
                <a:spcPts val="600"/>
              </a:spcAft>
              <a:tabLst>
                <a:tab pos="358775" algn="l"/>
                <a:tab pos="803275" algn="l"/>
                <a:tab pos="1077913" algn="l"/>
              </a:tabLst>
            </a:pPr>
            <a:r>
              <a:rPr lang="en-US" dirty="0"/>
              <a:t>{</a:t>
            </a:r>
          </a:p>
          <a:p>
            <a:pPr>
              <a:spcAft>
                <a:spcPts val="600"/>
              </a:spcAft>
              <a:tabLst>
                <a:tab pos="358775" algn="l"/>
                <a:tab pos="803275" algn="l"/>
                <a:tab pos="1077913" algn="l"/>
              </a:tabLst>
            </a:pPr>
            <a:r>
              <a:rPr lang="en-US" dirty="0"/>
              <a:t>	float </a:t>
            </a:r>
            <a:r>
              <a:rPr lang="en-US" dirty="0" err="1"/>
              <a:t>a,b,c</a:t>
            </a:r>
            <a:r>
              <a:rPr lang="en-US" dirty="0"/>
              <a:t>;</a:t>
            </a:r>
          </a:p>
          <a:p>
            <a:pPr>
              <a:spcAft>
                <a:spcPts val="600"/>
              </a:spcAft>
              <a:tabLst>
                <a:tab pos="358775" algn="l"/>
                <a:tab pos="803275" algn="l"/>
                <a:tab pos="1077913" algn="l"/>
              </a:tabLst>
            </a:pPr>
            <a:r>
              <a:rPr lang="en-US" dirty="0"/>
              <a:t>	</a:t>
            </a:r>
            <a:r>
              <a:rPr lang="en-US" dirty="0" err="1"/>
              <a:t>cin</a:t>
            </a:r>
            <a:r>
              <a:rPr lang="en-US" dirty="0"/>
              <a:t>&gt;&gt;a &gt;&gt; b &gt;&gt;c; </a:t>
            </a:r>
          </a:p>
          <a:p>
            <a:pPr>
              <a:spcAft>
                <a:spcPts val="600"/>
              </a:spcAft>
              <a:tabLst>
                <a:tab pos="358775" algn="l"/>
                <a:tab pos="803275" algn="l"/>
                <a:tab pos="1077913" algn="l"/>
              </a:tabLst>
            </a:pPr>
            <a:r>
              <a:rPr lang="en-US" dirty="0"/>
              <a:t>	if(a&lt;(</a:t>
            </a:r>
            <a:r>
              <a:rPr lang="en-US" dirty="0" err="1"/>
              <a:t>b+c</a:t>
            </a:r>
            <a:r>
              <a:rPr lang="en-US" dirty="0"/>
              <a:t>) &amp;&amp; b &lt; (</a:t>
            </a:r>
            <a:r>
              <a:rPr lang="en-US" dirty="0" err="1"/>
              <a:t>a+c</a:t>
            </a:r>
            <a:r>
              <a:rPr lang="en-US" dirty="0"/>
              <a:t>) &amp;&amp; c&lt; (</a:t>
            </a:r>
            <a:r>
              <a:rPr lang="en-US" dirty="0" err="1"/>
              <a:t>a+b</a:t>
            </a:r>
            <a:r>
              <a:rPr lang="en-US" dirty="0"/>
              <a:t>))</a:t>
            </a:r>
          </a:p>
          <a:p>
            <a:pPr>
              <a:spcAft>
                <a:spcPts val="600"/>
              </a:spcAft>
              <a:tabLst>
                <a:tab pos="358775" algn="l"/>
                <a:tab pos="803275" algn="l"/>
                <a:tab pos="1077913" algn="l"/>
              </a:tabLst>
            </a:pPr>
            <a:r>
              <a:rPr lang="en-US" dirty="0"/>
              <a:t>	{</a:t>
            </a:r>
          </a:p>
          <a:p>
            <a:pPr>
              <a:spcAft>
                <a:spcPts val="600"/>
              </a:spcAft>
              <a:tabLst>
                <a:tab pos="358775" algn="l"/>
                <a:tab pos="803275" algn="l"/>
                <a:tab pos="1077913" algn="l"/>
              </a:tabLst>
            </a:pPr>
            <a:r>
              <a:rPr lang="en-US" dirty="0"/>
              <a:t>		</a:t>
            </a:r>
            <a:r>
              <a:rPr lang="en-US" dirty="0" err="1"/>
              <a:t>cout</a:t>
            </a:r>
            <a:r>
              <a:rPr lang="en-US" dirty="0"/>
              <a:t>&lt;&lt;"\</a:t>
            </a:r>
            <a:r>
              <a:rPr lang="en-US" dirty="0" err="1"/>
              <a:t>nIt</a:t>
            </a:r>
            <a:r>
              <a:rPr lang="en-US" dirty="0"/>
              <a:t> is a Triangle.”; </a:t>
            </a:r>
          </a:p>
          <a:p>
            <a:pPr>
              <a:spcAft>
                <a:spcPts val="600"/>
              </a:spcAft>
              <a:tabLst>
                <a:tab pos="358775" algn="l"/>
                <a:tab pos="803275" algn="l"/>
                <a:tab pos="1077913" algn="l"/>
              </a:tabLst>
            </a:pPr>
            <a:r>
              <a:rPr lang="en-US" dirty="0"/>
              <a:t>		if (a==b &amp;&amp; b==c)     </a:t>
            </a:r>
          </a:p>
          <a:p>
            <a:pPr>
              <a:spcAft>
                <a:spcPts val="600"/>
              </a:spcAft>
              <a:tabLst>
                <a:tab pos="358775" algn="l"/>
                <a:tab pos="803275" algn="l"/>
                <a:tab pos="1077913" algn="l"/>
              </a:tabLst>
            </a:pPr>
            <a:r>
              <a:rPr lang="en-US" dirty="0"/>
              <a:t>			</a:t>
            </a:r>
            <a:r>
              <a:rPr lang="en-US" dirty="0" err="1"/>
              <a:t>cout</a:t>
            </a:r>
            <a:r>
              <a:rPr lang="en-US" dirty="0"/>
              <a:t>&lt;&lt;"\</a:t>
            </a:r>
            <a:r>
              <a:rPr lang="en-US" dirty="0" err="1"/>
              <a:t>nIt</a:t>
            </a:r>
            <a:r>
              <a:rPr lang="en-US" dirty="0"/>
              <a:t> is a Equilateral Triangle.”;  </a:t>
            </a:r>
          </a:p>
          <a:p>
            <a:pPr>
              <a:spcAft>
                <a:spcPts val="600"/>
              </a:spcAft>
              <a:tabLst>
                <a:tab pos="358775" algn="l"/>
                <a:tab pos="803275" algn="l"/>
                <a:tab pos="1077913" algn="l"/>
              </a:tabLst>
            </a:pPr>
            <a:r>
              <a:rPr lang="en-US" dirty="0"/>
              <a:t>		if(a==b || a==c || b==c)      </a:t>
            </a:r>
          </a:p>
          <a:p>
            <a:pPr>
              <a:spcAft>
                <a:spcPts val="600"/>
              </a:spcAft>
              <a:tabLst>
                <a:tab pos="358775" algn="l"/>
                <a:tab pos="803275" algn="l"/>
                <a:tab pos="1077913" algn="l"/>
              </a:tabLst>
            </a:pPr>
            <a:r>
              <a:rPr lang="en-US" dirty="0"/>
              <a:t>			</a:t>
            </a:r>
            <a:r>
              <a:rPr lang="en-US" dirty="0" err="1"/>
              <a:t>cout</a:t>
            </a:r>
            <a:r>
              <a:rPr lang="en-US" dirty="0"/>
              <a:t>&lt;&lt;"\</a:t>
            </a:r>
            <a:r>
              <a:rPr lang="en-US" dirty="0" err="1"/>
              <a:t>nIt</a:t>
            </a:r>
            <a:r>
              <a:rPr lang="en-US" dirty="0"/>
              <a:t> is a Isosceles Triangle.”;</a:t>
            </a:r>
          </a:p>
          <a:p>
            <a:pPr>
              <a:spcAft>
                <a:spcPts val="600"/>
              </a:spcAft>
              <a:tabLst>
                <a:tab pos="358775" algn="l"/>
                <a:tab pos="803275" algn="l"/>
                <a:tab pos="1077913" algn="l"/>
              </a:tabLst>
            </a:pPr>
            <a:r>
              <a:rPr lang="en-US" dirty="0"/>
              <a:t>		else</a:t>
            </a:r>
          </a:p>
          <a:p>
            <a:pPr>
              <a:spcAft>
                <a:spcPts val="600"/>
              </a:spcAft>
              <a:tabLst>
                <a:tab pos="358775" algn="l"/>
                <a:tab pos="803275" algn="l"/>
                <a:tab pos="1077913" algn="l"/>
              </a:tabLst>
            </a:pPr>
            <a:r>
              <a:rPr lang="en-US" dirty="0"/>
              <a:t>			</a:t>
            </a:r>
            <a:r>
              <a:rPr lang="en-US" dirty="0" err="1"/>
              <a:t>cout</a:t>
            </a:r>
            <a:r>
              <a:rPr lang="en-US" dirty="0"/>
              <a:t>&lt;&lt;"\</a:t>
            </a:r>
            <a:r>
              <a:rPr lang="en-US" dirty="0" err="1"/>
              <a:t>nIt</a:t>
            </a:r>
            <a:r>
              <a:rPr lang="en-US" dirty="0"/>
              <a:t> is a Scalene Triangle.”;    </a:t>
            </a:r>
          </a:p>
          <a:p>
            <a:pPr>
              <a:spcAft>
                <a:spcPts val="600"/>
              </a:spcAft>
              <a:tabLst>
                <a:tab pos="358775" algn="l"/>
                <a:tab pos="803275" algn="l"/>
                <a:tab pos="1077913" algn="l"/>
              </a:tabLst>
            </a:pPr>
            <a:r>
              <a:rPr lang="en-US" dirty="0"/>
              <a:t>	}      </a:t>
            </a:r>
          </a:p>
          <a:p>
            <a:pPr>
              <a:spcAft>
                <a:spcPts val="600"/>
              </a:spcAft>
              <a:tabLst>
                <a:tab pos="358775" algn="l"/>
                <a:tab pos="803275" algn="l"/>
                <a:tab pos="1077913" algn="l"/>
              </a:tabLst>
            </a:pPr>
            <a:r>
              <a:rPr lang="en-US" dirty="0"/>
              <a:t>	else</a:t>
            </a:r>
          </a:p>
          <a:p>
            <a:pPr>
              <a:spcAft>
                <a:spcPts val="600"/>
              </a:spcAft>
              <a:tabLst>
                <a:tab pos="358775" algn="l"/>
                <a:tab pos="803275" algn="l"/>
                <a:tab pos="1077913" algn="l"/>
              </a:tabLst>
            </a:pPr>
            <a:r>
              <a:rPr lang="en-US" dirty="0"/>
              <a:t>		</a:t>
            </a:r>
            <a:r>
              <a:rPr lang="en-US" dirty="0" err="1"/>
              <a:t>cout</a:t>
            </a:r>
            <a:r>
              <a:rPr lang="en-US" dirty="0"/>
              <a:t>&lt;&lt;"This Triangle is not possible.”;      </a:t>
            </a:r>
          </a:p>
          <a:p>
            <a:pPr>
              <a:spcAft>
                <a:spcPts val="600"/>
              </a:spcAft>
              <a:tabLst>
                <a:tab pos="358775" algn="l"/>
                <a:tab pos="803275" algn="l"/>
                <a:tab pos="1077913" algn="l"/>
              </a:tabLst>
            </a:pPr>
            <a:r>
              <a:rPr lang="en-US" dirty="0"/>
              <a:t>	return 0; </a:t>
            </a:r>
          </a:p>
          <a:p>
            <a:pPr>
              <a:spcAft>
                <a:spcPts val="600"/>
              </a:spcAft>
              <a:tabLst>
                <a:tab pos="358775" algn="l"/>
                <a:tab pos="803275" algn="l"/>
                <a:tab pos="1077913" algn="l"/>
              </a:tabLst>
            </a:pPr>
            <a:r>
              <a:rPr lang="en-US" dirty="0"/>
              <a:t>}</a:t>
            </a:r>
          </a:p>
        </p:txBody>
      </p:sp>
      <p:sp>
        <p:nvSpPr>
          <p:cNvPr id="53252" name="Rectangle 5"/>
          <p:cNvSpPr>
            <a:spLocks noChangeArrowheads="1"/>
          </p:cNvSpPr>
          <p:nvPr/>
        </p:nvSpPr>
        <p:spPr bwMode="auto">
          <a:xfrm>
            <a:off x="6781800" y="1408113"/>
            <a:ext cx="3581400" cy="1200329"/>
          </a:xfrm>
          <a:prstGeom prst="rect">
            <a:avLst/>
          </a:prstGeom>
          <a:noFill/>
          <a:ln w="9525">
            <a:noFill/>
            <a:miter lim="800000"/>
            <a:headEnd/>
            <a:tailEnd/>
          </a:ln>
        </p:spPr>
        <p:txBody>
          <a:bodyPr>
            <a:prstTxWarp prst="textNoShape">
              <a:avLst/>
            </a:prstTxWarp>
            <a:spAutoFit/>
          </a:bodyPr>
          <a:lstStyle/>
          <a:p>
            <a:pPr algn="l">
              <a:spcAft>
                <a:spcPts val="600"/>
              </a:spcAft>
            </a:pPr>
            <a:r>
              <a:rPr lang="en-US" dirty="0"/>
              <a:t>For the input values to represent a triangle, they must be integers greater than 0 where the sum of any two is greater than the third.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fade">
                                      <p:cBhvr>
                                        <p:cTn id="7" dur="1000"/>
                                        <p:tgtEl>
                                          <p:spTgt spid="53252"/>
                                        </p:tgtEl>
                                      </p:cBhvr>
                                    </p:animEffect>
                                    <p:anim calcmode="lin" valueType="num">
                                      <p:cBhvr>
                                        <p:cTn id="8" dur="1000" fill="hold"/>
                                        <p:tgtEl>
                                          <p:spTgt spid="53252"/>
                                        </p:tgtEl>
                                        <p:attrNameLst>
                                          <p:attrName>ppt_x</p:attrName>
                                        </p:attrNameLst>
                                      </p:cBhvr>
                                      <p:tavLst>
                                        <p:tav tm="0">
                                          <p:val>
                                            <p:strVal val="#ppt_x"/>
                                          </p:val>
                                        </p:tav>
                                        <p:tav tm="100000">
                                          <p:val>
                                            <p:strVal val="#ppt_x"/>
                                          </p:val>
                                        </p:tav>
                                      </p:tavLst>
                                    </p:anim>
                                    <p:anim calcmode="lin" valueType="num">
                                      <p:cBhvr>
                                        <p:cTn id="9" dur="1000" fill="hold"/>
                                        <p:tgtEl>
                                          <p:spTgt spid="532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Questions to Answer ??</a:t>
            </a:r>
          </a:p>
        </p:txBody>
      </p:sp>
      <p:sp>
        <p:nvSpPr>
          <p:cNvPr id="3" name="Content Placeholder 2"/>
          <p:cNvSpPr>
            <a:spLocks noGrp="1"/>
          </p:cNvSpPr>
          <p:nvPr>
            <p:ph idx="1"/>
          </p:nvPr>
        </p:nvSpPr>
        <p:spPr/>
        <p:txBody>
          <a:bodyPr/>
          <a:lstStyle/>
          <a:p>
            <a:pPr marL="342900" indent="-342900">
              <a:buFont typeface="+mj-lt"/>
              <a:buAutoNum type="arabicPeriod"/>
            </a:pPr>
            <a:r>
              <a:rPr lang="en-GB" sz="1600" dirty="0"/>
              <a:t>Do you have a test case that represents a valid scalene triangle</a:t>
            </a:r>
          </a:p>
          <a:p>
            <a:pPr marL="342900" indent="-342900">
              <a:buFont typeface="+mj-lt"/>
              <a:buAutoNum type="arabicPeriod"/>
            </a:pPr>
            <a:r>
              <a:rPr lang="en-GB" sz="1600" dirty="0"/>
              <a:t>Do you have a test case that represents a valid equilateral triangle?</a:t>
            </a:r>
          </a:p>
          <a:p>
            <a:pPr marL="342900" indent="-342900">
              <a:buFont typeface="+mj-lt"/>
              <a:buAutoNum type="arabicPeriod"/>
            </a:pPr>
            <a:r>
              <a:rPr lang="en-GB" sz="1600" dirty="0"/>
              <a:t> Do you have a test case that represents a valid isosceles triangle? </a:t>
            </a:r>
          </a:p>
          <a:p>
            <a:pPr marL="342900" indent="-342900">
              <a:buFont typeface="+mj-lt"/>
              <a:buAutoNum type="arabicPeriod"/>
            </a:pPr>
            <a:r>
              <a:rPr lang="en-GB" sz="1600" dirty="0"/>
              <a:t> Do you have at least three test cases that represent valid isosceles triangles such that you have tried all three permutations of two equal sides (such as, 3, 3, 4; 3, 4, 3; and 4, 3, 3)?</a:t>
            </a:r>
          </a:p>
          <a:p>
            <a:pPr marL="342900" indent="-342900">
              <a:buFont typeface="+mj-lt"/>
              <a:buAutoNum type="arabicPeriod"/>
            </a:pPr>
            <a:r>
              <a:rPr lang="en-GB" sz="1600" dirty="0"/>
              <a:t>Do you have a test case in which one side has a zero value?</a:t>
            </a:r>
          </a:p>
          <a:p>
            <a:pPr marL="342900" indent="-342900">
              <a:buFont typeface="+mj-lt"/>
              <a:buAutoNum type="arabicPeriod"/>
            </a:pPr>
            <a:r>
              <a:rPr lang="en-GB" sz="1600" dirty="0"/>
              <a:t>Do you have a test case in which one side has a negative value?</a:t>
            </a:r>
          </a:p>
          <a:p>
            <a:pPr marL="342900" indent="-342900">
              <a:buFont typeface="+mj-lt"/>
              <a:buAutoNum type="arabicPeriod"/>
            </a:pPr>
            <a:r>
              <a:rPr lang="en-GB" sz="1600" dirty="0"/>
              <a:t> Do you have a test case with three integers greater than zero such that the sum of two of the numbers is equal to the third? (That is, if the program said that 1, 2, 3 represents a scalene triangle, it would contain a bug.) </a:t>
            </a:r>
          </a:p>
        </p:txBody>
      </p:sp>
      <p:sp>
        <p:nvSpPr>
          <p:cNvPr id="5" name="Slide Number Placeholder 4"/>
          <p:cNvSpPr>
            <a:spLocks noGrp="1"/>
          </p:cNvSpPr>
          <p:nvPr>
            <p:ph type="sldNum" sz="quarter" idx="11"/>
          </p:nvPr>
        </p:nvSpPr>
        <p:spPr/>
        <p:txBody>
          <a:bodyPr/>
          <a:lstStyle/>
          <a:p>
            <a:pPr>
              <a:defRPr/>
            </a:pPr>
            <a:fld id="{B9E8CCA2-10A5-DA4C-9CE3-A876A95C45C4}" type="slidenum">
              <a:rPr lang="nl-NL" smtClean="0"/>
              <a:pPr>
                <a:defRPr/>
              </a:pPr>
              <a:t>28</a:t>
            </a:fld>
            <a:endParaRPr lang="nl-N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Questions to Answer ??  (2)</a:t>
            </a:r>
          </a:p>
        </p:txBody>
      </p:sp>
      <p:sp>
        <p:nvSpPr>
          <p:cNvPr id="3" name="Content Placeholder 2"/>
          <p:cNvSpPr>
            <a:spLocks noGrp="1"/>
          </p:cNvSpPr>
          <p:nvPr>
            <p:ph idx="1"/>
          </p:nvPr>
        </p:nvSpPr>
        <p:spPr/>
        <p:txBody>
          <a:bodyPr/>
          <a:lstStyle/>
          <a:p>
            <a:pPr marL="342900" indent="-342900">
              <a:buFont typeface="Wingdings" charset="2"/>
              <a:buAutoNum type="arabicPlain" startAt="8"/>
            </a:pPr>
            <a:r>
              <a:rPr lang="en-GB" sz="1600" dirty="0"/>
              <a:t>Do you have at least three test cases in category 7 such that you have tried all three permutations where the length of one side is equal to the sum of the lengths of the other two sides (for example, 1, 2, 3; 1, 3, 2; and 3, 1, 2)?</a:t>
            </a:r>
          </a:p>
          <a:p>
            <a:pPr marL="342900" indent="-342900">
              <a:buFont typeface="Wingdings" charset="2"/>
              <a:buAutoNum type="arabicPlain" startAt="8"/>
            </a:pPr>
            <a:r>
              <a:rPr lang="en-GB" sz="1600" dirty="0"/>
              <a:t> Do you have a test case with three integers greater than zero such that the sum of two of the numbers is less than the third (such as 1, 2, 4 or 12,15,30)?</a:t>
            </a:r>
          </a:p>
          <a:p>
            <a:pPr marL="342900" indent="-342900">
              <a:buFont typeface="Wingdings" charset="2"/>
              <a:buAutoNum type="arabicPlain" startAt="8"/>
            </a:pPr>
            <a:r>
              <a:rPr lang="en-GB" sz="1600" dirty="0"/>
              <a:t>Do you have at least three test cases in category 9 such that you have tried all three permutations (for example, 1, 2, 4; 1, 4, 2; and 4, 1, 2)?</a:t>
            </a:r>
          </a:p>
          <a:p>
            <a:pPr marL="342900" indent="-342900">
              <a:buFont typeface="Wingdings" charset="2"/>
              <a:buAutoNum type="arabicPlain" startAt="8"/>
            </a:pPr>
            <a:r>
              <a:rPr lang="en-GB" sz="1600" dirty="0"/>
              <a:t>Do you have a test case in which all sides are zero (0, 0, 0)?</a:t>
            </a:r>
          </a:p>
          <a:p>
            <a:pPr marL="342900" indent="-342900">
              <a:buFont typeface="Wingdings" charset="2"/>
              <a:buAutoNum type="arabicPlain" startAt="8"/>
            </a:pPr>
            <a:r>
              <a:rPr lang="en-GB" sz="1600" dirty="0"/>
              <a:t> Do you have at least one test case specifying </a:t>
            </a:r>
            <a:r>
              <a:rPr lang="en-GB" sz="1600" dirty="0" err="1"/>
              <a:t>noninteger</a:t>
            </a:r>
            <a:r>
              <a:rPr lang="en-GB" sz="1600" dirty="0"/>
              <a:t> values (such as 2.5, 3.5, 5.5)? </a:t>
            </a:r>
          </a:p>
          <a:p>
            <a:pPr marL="342900" indent="-342900">
              <a:buFont typeface="Wingdings" charset="2"/>
              <a:buAutoNum type="arabicPlain" startAt="8"/>
            </a:pPr>
            <a:r>
              <a:rPr lang="en-GB" sz="1600" dirty="0"/>
              <a:t>Do you have at least one test case specifying the wrong number of values (two rather than three integers, for example)? </a:t>
            </a:r>
          </a:p>
          <a:p>
            <a:pPr marL="342900" indent="-342900">
              <a:buFont typeface="Wingdings" charset="2"/>
              <a:buAutoNum type="arabicPlain" startAt="8"/>
            </a:pPr>
            <a:r>
              <a:rPr lang="en-GB" sz="1600" dirty="0"/>
              <a:t> For each test case did you specify the expected output from the program in addition to the input values? </a:t>
            </a:r>
          </a:p>
        </p:txBody>
      </p:sp>
      <p:sp>
        <p:nvSpPr>
          <p:cNvPr id="5" name="Slide Number Placeholder 4"/>
          <p:cNvSpPr>
            <a:spLocks noGrp="1"/>
          </p:cNvSpPr>
          <p:nvPr>
            <p:ph type="sldNum" sz="quarter" idx="11"/>
          </p:nvPr>
        </p:nvSpPr>
        <p:spPr/>
        <p:txBody>
          <a:bodyPr/>
          <a:lstStyle/>
          <a:p>
            <a:pPr>
              <a:defRPr/>
            </a:pPr>
            <a:fld id="{B9E8CCA2-10A5-DA4C-9CE3-A876A95C45C4}" type="slidenum">
              <a:rPr lang="nl-NL" smtClean="0"/>
              <a:pPr>
                <a:defRPr/>
              </a:pPr>
              <a:t>29</a:t>
            </a:fld>
            <a:endParaRPr lang="nl-NL"/>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p:cNvSpPr>
            <a:spLocks noGrp="1"/>
          </p:cNvSpPr>
          <p:nvPr>
            <p:ph idx="1"/>
          </p:nvPr>
        </p:nvSpPr>
        <p:spPr/>
        <p:txBody>
          <a:bodyPr/>
          <a:lstStyle/>
          <a:p>
            <a:r>
              <a:rPr lang="en-US" sz="3200" dirty="0">
                <a:latin typeface="Garamond" charset="0"/>
                <a:ea typeface="ＭＳ Ｐゴシック" charset="-128"/>
              </a:rPr>
              <a:t>A very simple program</a:t>
            </a:r>
          </a:p>
          <a:p>
            <a:r>
              <a:rPr lang="en-US" sz="3200" dirty="0">
                <a:latin typeface="Garamond" charset="0"/>
                <a:ea typeface="ＭＳ Ｐゴシック" charset="-128"/>
              </a:rPr>
              <a:t>To do exhaustive testing</a:t>
            </a:r>
          </a:p>
          <a:p>
            <a:pPr lvl="1"/>
            <a:r>
              <a:rPr lang="en-US" sz="2800" dirty="0">
                <a:latin typeface="Garamond" charset="0"/>
                <a:ea typeface="ＭＳ Ｐゴシック" charset="-128"/>
              </a:rPr>
              <a:t>Test with all possible values of a, b, &amp; c (the three sides)</a:t>
            </a:r>
          </a:p>
          <a:p>
            <a:pPr lvl="2"/>
            <a:r>
              <a:rPr lang="en-US" sz="2000" dirty="0">
                <a:latin typeface="Garamond" charset="0"/>
                <a:ea typeface="ＭＳ Ｐゴシック" charset="-128"/>
              </a:rPr>
              <a:t>And their combinations</a:t>
            </a:r>
          </a:p>
          <a:p>
            <a:pPr lvl="2"/>
            <a:r>
              <a:rPr lang="en-US" sz="2000" dirty="0">
                <a:latin typeface="Garamond" charset="0"/>
                <a:ea typeface="ＭＳ Ｐゴシック" charset="-128"/>
              </a:rPr>
              <a:t>32-bit integer, 2</a:t>
            </a:r>
            <a:r>
              <a:rPr lang="en-US" sz="2000" baseline="30000" dirty="0">
                <a:latin typeface="Garamond" charset="0"/>
                <a:ea typeface="ＭＳ Ｐゴシック" charset="-128"/>
              </a:rPr>
              <a:t>32 </a:t>
            </a:r>
            <a:r>
              <a:rPr lang="en-US" sz="2000" dirty="0">
                <a:latin typeface="Garamond" charset="0"/>
                <a:ea typeface="ＭＳ Ｐゴシック" charset="-128"/>
              </a:rPr>
              <a:t>possible values for one integer</a:t>
            </a:r>
          </a:p>
          <a:p>
            <a:pPr lvl="2"/>
            <a:r>
              <a:rPr lang="en-US" sz="2000" dirty="0">
                <a:latin typeface="Garamond" charset="0"/>
                <a:ea typeface="ＭＳ Ｐゴシック" charset="-128"/>
              </a:rPr>
              <a:t>Assuming only integers from 1 to 10, there are 10</a:t>
            </a:r>
            <a:r>
              <a:rPr lang="en-US" sz="2000" baseline="30000" dirty="0">
                <a:latin typeface="Garamond" charset="0"/>
                <a:ea typeface="ＭＳ Ｐゴシック" charset="-128"/>
              </a:rPr>
              <a:t>12</a:t>
            </a:r>
            <a:r>
              <a:rPr lang="en-US" sz="2000" dirty="0">
                <a:latin typeface="Garamond" charset="0"/>
                <a:ea typeface="ＭＳ Ｐゴシック" charset="-128"/>
              </a:rPr>
              <a:t> possible values for a triangle. </a:t>
            </a:r>
          </a:p>
          <a:p>
            <a:pPr lvl="3"/>
            <a:r>
              <a:rPr lang="en-US" sz="2000" dirty="0">
                <a:latin typeface="Garamond" charset="0"/>
                <a:ea typeface="ＭＳ Ｐゴシック" charset="-128"/>
              </a:rPr>
              <a:t>Testing 1000 cases per second, you would need 317 years!</a:t>
            </a:r>
          </a:p>
          <a:p>
            <a:pPr lvl="1"/>
            <a:r>
              <a:rPr lang="en-US" sz="2800" dirty="0">
                <a:latin typeface="Garamond" charset="0"/>
                <a:ea typeface="ＭＳ Ｐゴシック" charset="-128"/>
              </a:rPr>
              <a:t>Test with all the invalid inputs</a:t>
            </a:r>
          </a:p>
          <a:p>
            <a:pPr lvl="2"/>
            <a:r>
              <a:rPr lang="en-US" sz="2000" dirty="0">
                <a:latin typeface="Garamond" charset="0"/>
              </a:rPr>
              <a:t>e</a:t>
            </a:r>
            <a:r>
              <a:rPr lang="en-US" sz="2000" dirty="0">
                <a:latin typeface="Garamond" charset="0"/>
                <a:ea typeface="ＭＳ Ｐゴシック" charset="-128"/>
              </a:rPr>
              <a:t>.g., All strings ;)</a:t>
            </a:r>
          </a:p>
          <a:p>
            <a:endParaRPr lang="en-US" dirty="0">
              <a:latin typeface="Garamond" charset="0"/>
              <a:ea typeface="ＭＳ Ｐゴシック" charset="-128"/>
            </a:endParaRPr>
          </a:p>
          <a:p>
            <a:pPr lvl="1"/>
            <a:endParaRPr lang="en-US" dirty="0">
              <a:latin typeface="Garamond" charset="0"/>
              <a:ea typeface="ＭＳ Ｐゴシック" charset="-128"/>
            </a:endParaRPr>
          </a:p>
        </p:txBody>
      </p:sp>
      <p:sp>
        <p:nvSpPr>
          <p:cNvPr id="3" name="Title 2"/>
          <p:cNvSpPr>
            <a:spLocks noGrp="1"/>
          </p:cNvSpPr>
          <p:nvPr>
            <p:ph type="title"/>
          </p:nvPr>
        </p:nvSpPr>
        <p:spPr/>
        <p:txBody>
          <a:bodyPr>
            <a:normAutofit/>
            <a:scene3d>
              <a:camera prst="orthographicFront"/>
              <a:lightRig rig="soft" dir="t"/>
            </a:scene3d>
            <a:sp3d prstMaterial="softEdge">
              <a:bevelT w="25400" h="25400"/>
            </a:sp3d>
          </a:bodyPr>
          <a:lstStyle/>
          <a:p>
            <a:pPr>
              <a:defRPr/>
            </a:pPr>
            <a:r>
              <a:rPr lang="en-US" dirty="0"/>
              <a:t>Testing the triangle program – Some thoughts!</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30</a:t>
            </a:fld>
            <a:endParaRPr lang="nl-NL"/>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p:cNvSpPr>
            <a:spLocks noGrp="1"/>
          </p:cNvSpPr>
          <p:nvPr>
            <p:ph idx="1"/>
          </p:nvPr>
        </p:nvSpPr>
        <p:spPr/>
        <p:txBody>
          <a:bodyPr/>
          <a:lstStyle/>
          <a:p>
            <a:r>
              <a:rPr lang="en-US" dirty="0">
                <a:latin typeface="Garamond" charset="0"/>
                <a:ea typeface="ＭＳ Ｐゴシック" charset="-128"/>
              </a:rPr>
              <a:t>If testing a trivial program is so complex, what about testing large programs of thousands of lines of code, e.g., air traffic control software</a:t>
            </a:r>
          </a:p>
          <a:p>
            <a:r>
              <a:rPr lang="en-US" dirty="0">
                <a:latin typeface="Garamond" charset="0"/>
                <a:ea typeface="ＭＳ Ｐゴシック" charset="-128"/>
              </a:rPr>
              <a:t>Solution?</a:t>
            </a:r>
          </a:p>
          <a:p>
            <a:endParaRPr lang="en-US" dirty="0">
              <a:latin typeface="Garamond" charset="0"/>
              <a:ea typeface="ＭＳ Ｐゴシック" charset="-128"/>
            </a:endParaRPr>
          </a:p>
          <a:p>
            <a:endParaRPr lang="en-US" dirty="0">
              <a:latin typeface="Garamond" charset="0"/>
              <a:ea typeface="ＭＳ Ｐゴシック" charset="-128"/>
            </a:endParaRPr>
          </a:p>
        </p:txBody>
      </p:sp>
      <p:sp>
        <p:nvSpPr>
          <p:cNvPr id="3" name="Title 2"/>
          <p:cNvSpPr>
            <a:spLocks noGrp="1"/>
          </p:cNvSpPr>
          <p:nvPr>
            <p:ph type="title"/>
          </p:nvPr>
        </p:nvSpPr>
        <p:spPr/>
        <p:txBody>
          <a:bodyPr>
            <a:normAutofit/>
            <a:scene3d>
              <a:camera prst="orthographicFront"/>
              <a:lightRig rig="soft" dir="t"/>
            </a:scene3d>
            <a:sp3d prstMaterial="softEdge">
              <a:bevelT w="25400" h="25400"/>
            </a:sp3d>
          </a:bodyPr>
          <a:lstStyle/>
          <a:p>
            <a:pPr>
              <a:defRPr/>
            </a:pPr>
            <a:r>
              <a:rPr lang="en-US" dirty="0"/>
              <a:t>Testing the triangle program – Some thoughts!</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31</a:t>
            </a:fld>
            <a:endParaRPr lang="nl-NL"/>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p:cNvSpPr>
            <a:spLocks noGrp="1"/>
          </p:cNvSpPr>
          <p:nvPr>
            <p:ph idx="1"/>
          </p:nvPr>
        </p:nvSpPr>
        <p:spPr/>
        <p:txBody>
          <a:bodyPr/>
          <a:lstStyle/>
          <a:p>
            <a:r>
              <a:rPr lang="en-US" dirty="0">
                <a:latin typeface="Garamond" charset="0"/>
                <a:ea typeface="ＭＳ Ｐゴシック" charset="-128"/>
              </a:rPr>
              <a:t>If testing a trivial program is so complex, what about testing large programs of thousands of lines of code, e.g., air traffic control software</a:t>
            </a:r>
          </a:p>
          <a:p>
            <a:r>
              <a:rPr lang="en-US" dirty="0">
                <a:latin typeface="Garamond" charset="0"/>
                <a:ea typeface="ＭＳ Ｐゴシック" charset="-128"/>
              </a:rPr>
              <a:t>Solution?</a:t>
            </a:r>
          </a:p>
          <a:p>
            <a:pPr lvl="1"/>
            <a:r>
              <a:rPr lang="en-US" dirty="0">
                <a:latin typeface="Garamond" charset="0"/>
                <a:ea typeface="ＭＳ Ｐゴシック" charset="-128"/>
              </a:rPr>
              <a:t>Use of sophisticated testing techniques </a:t>
            </a:r>
          </a:p>
          <a:p>
            <a:pPr lvl="2"/>
            <a:r>
              <a:rPr lang="en-US" dirty="0">
                <a:latin typeface="Garamond" charset="0"/>
                <a:ea typeface="ＭＳ Ｐゴシック" charset="-128"/>
              </a:rPr>
              <a:t>Select the test cases that have most chances of triggering a failure</a:t>
            </a:r>
          </a:p>
          <a:p>
            <a:pPr lvl="2"/>
            <a:r>
              <a:rPr lang="en-US" dirty="0" err="1">
                <a:latin typeface="Garamond" charset="0"/>
                <a:ea typeface="ＭＳ Ｐゴシック" charset="-128"/>
              </a:rPr>
              <a:t>e.g</a:t>
            </a:r>
            <a:r>
              <a:rPr lang="en-US" dirty="0">
                <a:latin typeface="Garamond" charset="0"/>
                <a:ea typeface="ＭＳ Ｐゴシック" charset="-128"/>
              </a:rPr>
              <a:t>, boundary values</a:t>
            </a:r>
          </a:p>
          <a:p>
            <a:endParaRPr lang="en-US" dirty="0">
              <a:latin typeface="Garamond" charset="0"/>
              <a:ea typeface="ＭＳ Ｐゴシック" charset="-128"/>
            </a:endParaRPr>
          </a:p>
          <a:p>
            <a:endParaRPr lang="en-US" dirty="0">
              <a:latin typeface="Garamond" charset="0"/>
              <a:ea typeface="ＭＳ Ｐゴシック" charset="-128"/>
            </a:endParaRPr>
          </a:p>
        </p:txBody>
      </p:sp>
      <p:sp>
        <p:nvSpPr>
          <p:cNvPr id="3" name="Title 2"/>
          <p:cNvSpPr>
            <a:spLocks noGrp="1"/>
          </p:cNvSpPr>
          <p:nvPr>
            <p:ph type="title"/>
          </p:nvPr>
        </p:nvSpPr>
        <p:spPr/>
        <p:txBody>
          <a:bodyPr>
            <a:normAutofit/>
            <a:scene3d>
              <a:camera prst="orthographicFront"/>
              <a:lightRig rig="soft" dir="t"/>
            </a:scene3d>
            <a:sp3d prstMaterial="softEdge">
              <a:bevelT w="25400" h="25400"/>
            </a:sp3d>
          </a:bodyPr>
          <a:lstStyle/>
          <a:p>
            <a:pPr>
              <a:defRPr/>
            </a:pPr>
            <a:r>
              <a:rPr lang="en-US" dirty="0"/>
              <a:t>Testing the triangle program – Some thoughts!</a:t>
            </a:r>
          </a:p>
        </p:txBody>
      </p:sp>
      <p:sp>
        <p:nvSpPr>
          <p:cNvPr id="6" name="Slide Number Placeholder 5"/>
          <p:cNvSpPr>
            <a:spLocks noGrp="1"/>
          </p:cNvSpPr>
          <p:nvPr>
            <p:ph type="sldNum" sz="quarter" idx="11"/>
          </p:nvPr>
        </p:nvSpPr>
        <p:spPr/>
        <p:txBody>
          <a:bodyPr/>
          <a:lstStyle/>
          <a:p>
            <a:pPr>
              <a:defRPr/>
            </a:pPr>
            <a:fld id="{B9E8CCA2-10A5-DA4C-9CE3-A876A95C45C4}" type="slidenum">
              <a:rPr lang="nl-NL" smtClean="0"/>
              <a:pPr>
                <a:defRPr/>
              </a:pPr>
              <a:t>32</a:t>
            </a:fld>
            <a:endParaRPr lang="nl-NL"/>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3"/>
          <p:cNvSpPr txBox="1">
            <a:spLocks noChangeArrowheads="1"/>
          </p:cNvSpPr>
          <p:nvPr/>
        </p:nvSpPr>
        <p:spPr bwMode="auto">
          <a:xfrm>
            <a:off x="3124200" y="1"/>
            <a:ext cx="2819400" cy="519113"/>
          </a:xfrm>
          <a:prstGeom prst="rect">
            <a:avLst/>
          </a:prstGeom>
          <a:noFill/>
          <a:ln w="9525">
            <a:noFill/>
            <a:miter lim="800000"/>
            <a:headEnd/>
            <a:tailEnd/>
          </a:ln>
        </p:spPr>
        <p:txBody>
          <a:bodyPr>
            <a:prstTxWarp prst="textNoShape">
              <a:avLst/>
            </a:prstTxWarp>
            <a:spAutoFit/>
          </a:bodyPr>
          <a:lstStyle/>
          <a:p>
            <a:pPr marL="457200" indent="-457200" algn="ctr">
              <a:spcBef>
                <a:spcPct val="0"/>
              </a:spcBef>
            </a:pPr>
            <a:endParaRPr lang="en-US" sz="2800" b="1">
              <a:solidFill>
                <a:srgbClr val="0000FF"/>
              </a:solidFill>
              <a:latin typeface="Times New Roman" charset="0"/>
              <a:ea typeface="Times New Roman" charset="0"/>
              <a:cs typeface="Times New Roman" charset="0"/>
            </a:endParaRPr>
          </a:p>
        </p:txBody>
      </p:sp>
      <p:grpSp>
        <p:nvGrpSpPr>
          <p:cNvPr id="35845" name="Group 7"/>
          <p:cNvGrpSpPr>
            <a:grpSpLocks/>
          </p:cNvGrpSpPr>
          <p:nvPr/>
        </p:nvGrpSpPr>
        <p:grpSpPr bwMode="auto">
          <a:xfrm>
            <a:off x="8572500" y="0"/>
            <a:ext cx="2095500" cy="2109788"/>
            <a:chOff x="4296" y="2511"/>
            <a:chExt cx="1320" cy="1329"/>
          </a:xfrm>
        </p:grpSpPr>
        <p:sp>
          <p:nvSpPr>
            <p:cNvPr id="35860" name="Freeform 8"/>
            <p:cNvSpPr>
              <a:spLocks/>
            </p:cNvSpPr>
            <p:nvPr/>
          </p:nvSpPr>
          <p:spPr bwMode="auto">
            <a:xfrm>
              <a:off x="4512" y="3015"/>
              <a:ext cx="849" cy="705"/>
            </a:xfrm>
            <a:custGeom>
              <a:avLst/>
              <a:gdLst>
                <a:gd name="T0" fmla="*/ 0 w 849"/>
                <a:gd name="T1" fmla="*/ 584 h 705"/>
                <a:gd name="T2" fmla="*/ 128 w 849"/>
                <a:gd name="T3" fmla="*/ 640 h 705"/>
                <a:gd name="T4" fmla="*/ 280 w 849"/>
                <a:gd name="T5" fmla="*/ 576 h 705"/>
                <a:gd name="T6" fmla="*/ 584 w 849"/>
                <a:gd name="T7" fmla="*/ 704 h 705"/>
                <a:gd name="T8" fmla="*/ 680 w 849"/>
                <a:gd name="T9" fmla="*/ 528 h 705"/>
                <a:gd name="T10" fmla="*/ 816 w 849"/>
                <a:gd name="T11" fmla="*/ 488 h 705"/>
                <a:gd name="T12" fmla="*/ 816 w 849"/>
                <a:gd name="T13" fmla="*/ 424 h 705"/>
                <a:gd name="T14" fmla="*/ 848 w 849"/>
                <a:gd name="T15" fmla="*/ 336 h 705"/>
                <a:gd name="T16" fmla="*/ 800 w 849"/>
                <a:gd name="T17" fmla="*/ 256 h 705"/>
                <a:gd name="T18" fmla="*/ 680 w 849"/>
                <a:gd name="T19" fmla="*/ 176 h 705"/>
                <a:gd name="T20" fmla="*/ 712 w 849"/>
                <a:gd name="T21" fmla="*/ 96 h 705"/>
                <a:gd name="T22" fmla="*/ 592 w 849"/>
                <a:gd name="T23" fmla="*/ 48 h 705"/>
                <a:gd name="T24" fmla="*/ 456 w 849"/>
                <a:gd name="T25" fmla="*/ 72 h 705"/>
                <a:gd name="T26" fmla="*/ 320 w 849"/>
                <a:gd name="T27" fmla="*/ 0 h 705"/>
                <a:gd name="T28" fmla="*/ 208 w 849"/>
                <a:gd name="T29" fmla="*/ 104 h 705"/>
                <a:gd name="T30" fmla="*/ 192 w 849"/>
                <a:gd name="T31" fmla="*/ 208 h 705"/>
                <a:gd name="T32" fmla="*/ 96 w 849"/>
                <a:gd name="T33" fmla="*/ 208 h 705"/>
                <a:gd name="T34" fmla="*/ 24 w 849"/>
                <a:gd name="T35" fmla="*/ 328 h 705"/>
                <a:gd name="T36" fmla="*/ 24 w 849"/>
                <a:gd name="T37" fmla="*/ 448 h 705"/>
                <a:gd name="T38" fmla="*/ 8 w 849"/>
                <a:gd name="T39" fmla="*/ 584 h 705"/>
                <a:gd name="T40" fmla="*/ 0 w 849"/>
                <a:gd name="T41" fmla="*/ 584 h 7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9"/>
                <a:gd name="T64" fmla="*/ 0 h 705"/>
                <a:gd name="T65" fmla="*/ 849 w 849"/>
                <a:gd name="T66" fmla="*/ 705 h 70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9" h="705">
                  <a:moveTo>
                    <a:pt x="0" y="584"/>
                  </a:moveTo>
                  <a:lnTo>
                    <a:pt x="128" y="640"/>
                  </a:lnTo>
                  <a:lnTo>
                    <a:pt x="280" y="576"/>
                  </a:lnTo>
                  <a:lnTo>
                    <a:pt x="584" y="704"/>
                  </a:lnTo>
                  <a:lnTo>
                    <a:pt x="680" y="528"/>
                  </a:lnTo>
                  <a:lnTo>
                    <a:pt x="816" y="488"/>
                  </a:lnTo>
                  <a:lnTo>
                    <a:pt x="816" y="424"/>
                  </a:lnTo>
                  <a:lnTo>
                    <a:pt x="848" y="336"/>
                  </a:lnTo>
                  <a:lnTo>
                    <a:pt x="800" y="256"/>
                  </a:lnTo>
                  <a:lnTo>
                    <a:pt x="680" y="176"/>
                  </a:lnTo>
                  <a:lnTo>
                    <a:pt x="712" y="96"/>
                  </a:lnTo>
                  <a:lnTo>
                    <a:pt x="592" y="48"/>
                  </a:lnTo>
                  <a:lnTo>
                    <a:pt x="456" y="72"/>
                  </a:lnTo>
                  <a:lnTo>
                    <a:pt x="320" y="0"/>
                  </a:lnTo>
                  <a:lnTo>
                    <a:pt x="208" y="104"/>
                  </a:lnTo>
                  <a:lnTo>
                    <a:pt x="192" y="208"/>
                  </a:lnTo>
                  <a:lnTo>
                    <a:pt x="96" y="208"/>
                  </a:lnTo>
                  <a:lnTo>
                    <a:pt x="24" y="328"/>
                  </a:lnTo>
                  <a:lnTo>
                    <a:pt x="24" y="448"/>
                  </a:lnTo>
                  <a:lnTo>
                    <a:pt x="8" y="584"/>
                  </a:lnTo>
                  <a:lnTo>
                    <a:pt x="0" y="584"/>
                  </a:lnTo>
                </a:path>
              </a:pathLst>
            </a:custGeom>
            <a:solidFill>
              <a:srgbClr val="99CCFF"/>
            </a:solidFill>
            <a:ln w="12700" cap="rnd">
              <a:solidFill>
                <a:srgbClr val="000000"/>
              </a:solidFill>
              <a:round/>
              <a:headEnd/>
              <a:tailEnd/>
            </a:ln>
          </p:spPr>
          <p:txBody>
            <a:bodyPr>
              <a:prstTxWarp prst="textNoShape">
                <a:avLst/>
              </a:prstTxWarp>
            </a:bodyPr>
            <a:lstStyle/>
            <a:p>
              <a:endParaRPr lang="en-GB"/>
            </a:p>
          </p:txBody>
        </p:sp>
        <p:sp>
          <p:nvSpPr>
            <p:cNvPr id="35861" name="Freeform 9"/>
            <p:cNvSpPr>
              <a:spLocks/>
            </p:cNvSpPr>
            <p:nvPr/>
          </p:nvSpPr>
          <p:spPr bwMode="auto">
            <a:xfrm>
              <a:off x="4512" y="3015"/>
              <a:ext cx="849" cy="705"/>
            </a:xfrm>
            <a:custGeom>
              <a:avLst/>
              <a:gdLst>
                <a:gd name="T0" fmla="*/ 0 w 849"/>
                <a:gd name="T1" fmla="*/ 584 h 705"/>
                <a:gd name="T2" fmla="*/ 128 w 849"/>
                <a:gd name="T3" fmla="*/ 640 h 705"/>
                <a:gd name="T4" fmla="*/ 280 w 849"/>
                <a:gd name="T5" fmla="*/ 576 h 705"/>
                <a:gd name="T6" fmla="*/ 584 w 849"/>
                <a:gd name="T7" fmla="*/ 704 h 705"/>
                <a:gd name="T8" fmla="*/ 680 w 849"/>
                <a:gd name="T9" fmla="*/ 528 h 705"/>
                <a:gd name="T10" fmla="*/ 816 w 849"/>
                <a:gd name="T11" fmla="*/ 488 h 705"/>
                <a:gd name="T12" fmla="*/ 816 w 849"/>
                <a:gd name="T13" fmla="*/ 424 h 705"/>
                <a:gd name="T14" fmla="*/ 848 w 849"/>
                <a:gd name="T15" fmla="*/ 336 h 705"/>
                <a:gd name="T16" fmla="*/ 800 w 849"/>
                <a:gd name="T17" fmla="*/ 256 h 705"/>
                <a:gd name="T18" fmla="*/ 680 w 849"/>
                <a:gd name="T19" fmla="*/ 176 h 705"/>
                <a:gd name="T20" fmla="*/ 712 w 849"/>
                <a:gd name="T21" fmla="*/ 96 h 705"/>
                <a:gd name="T22" fmla="*/ 592 w 849"/>
                <a:gd name="T23" fmla="*/ 48 h 705"/>
                <a:gd name="T24" fmla="*/ 456 w 849"/>
                <a:gd name="T25" fmla="*/ 72 h 705"/>
                <a:gd name="T26" fmla="*/ 320 w 849"/>
                <a:gd name="T27" fmla="*/ 0 h 705"/>
                <a:gd name="T28" fmla="*/ 208 w 849"/>
                <a:gd name="T29" fmla="*/ 104 h 705"/>
                <a:gd name="T30" fmla="*/ 192 w 849"/>
                <a:gd name="T31" fmla="*/ 208 h 705"/>
                <a:gd name="T32" fmla="*/ 96 w 849"/>
                <a:gd name="T33" fmla="*/ 208 h 705"/>
                <a:gd name="T34" fmla="*/ 24 w 849"/>
                <a:gd name="T35" fmla="*/ 328 h 705"/>
                <a:gd name="T36" fmla="*/ 24 w 849"/>
                <a:gd name="T37" fmla="*/ 448 h 705"/>
                <a:gd name="T38" fmla="*/ 8 w 849"/>
                <a:gd name="T39" fmla="*/ 584 h 7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49"/>
                <a:gd name="T61" fmla="*/ 0 h 705"/>
                <a:gd name="T62" fmla="*/ 849 w 849"/>
                <a:gd name="T63" fmla="*/ 705 h 70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49" h="705">
                  <a:moveTo>
                    <a:pt x="0" y="584"/>
                  </a:moveTo>
                  <a:lnTo>
                    <a:pt x="128" y="640"/>
                  </a:lnTo>
                  <a:lnTo>
                    <a:pt x="280" y="576"/>
                  </a:lnTo>
                  <a:lnTo>
                    <a:pt x="584" y="704"/>
                  </a:lnTo>
                  <a:lnTo>
                    <a:pt x="680" y="528"/>
                  </a:lnTo>
                  <a:lnTo>
                    <a:pt x="816" y="488"/>
                  </a:lnTo>
                  <a:lnTo>
                    <a:pt x="816" y="424"/>
                  </a:lnTo>
                  <a:lnTo>
                    <a:pt x="848" y="336"/>
                  </a:lnTo>
                  <a:lnTo>
                    <a:pt x="800" y="256"/>
                  </a:lnTo>
                  <a:lnTo>
                    <a:pt x="680" y="176"/>
                  </a:lnTo>
                  <a:lnTo>
                    <a:pt x="712" y="96"/>
                  </a:lnTo>
                  <a:lnTo>
                    <a:pt x="592" y="48"/>
                  </a:lnTo>
                  <a:lnTo>
                    <a:pt x="456" y="72"/>
                  </a:lnTo>
                  <a:lnTo>
                    <a:pt x="320" y="0"/>
                  </a:lnTo>
                  <a:lnTo>
                    <a:pt x="208" y="104"/>
                  </a:lnTo>
                  <a:lnTo>
                    <a:pt x="192" y="208"/>
                  </a:lnTo>
                  <a:lnTo>
                    <a:pt x="96" y="208"/>
                  </a:lnTo>
                  <a:lnTo>
                    <a:pt x="24" y="328"/>
                  </a:lnTo>
                  <a:lnTo>
                    <a:pt x="24" y="448"/>
                  </a:lnTo>
                  <a:lnTo>
                    <a:pt x="8" y="584"/>
                  </a:lnTo>
                </a:path>
              </a:pathLst>
            </a:custGeom>
            <a:noFill/>
            <a:ln w="12700" cap="rnd">
              <a:solidFill>
                <a:srgbClr val="000000"/>
              </a:solidFill>
              <a:round/>
              <a:headEnd/>
              <a:tailEnd/>
            </a:ln>
          </p:spPr>
          <p:txBody>
            <a:bodyPr>
              <a:prstTxWarp prst="textNoShape">
                <a:avLst/>
              </a:prstTxWarp>
            </a:bodyPr>
            <a:lstStyle/>
            <a:p>
              <a:endParaRPr lang="en-GB"/>
            </a:p>
          </p:txBody>
        </p:sp>
        <p:sp>
          <p:nvSpPr>
            <p:cNvPr id="35862" name="Freeform 10"/>
            <p:cNvSpPr>
              <a:spLocks/>
            </p:cNvSpPr>
            <p:nvPr/>
          </p:nvSpPr>
          <p:spPr bwMode="auto">
            <a:xfrm>
              <a:off x="4296" y="2511"/>
              <a:ext cx="537" cy="1233"/>
            </a:xfrm>
            <a:custGeom>
              <a:avLst/>
              <a:gdLst>
                <a:gd name="T0" fmla="*/ 536 w 537"/>
                <a:gd name="T1" fmla="*/ 0 h 1233"/>
                <a:gd name="T2" fmla="*/ 536 w 537"/>
                <a:gd name="T3" fmla="*/ 840 h 1233"/>
                <a:gd name="T4" fmla="*/ 0 w 537"/>
                <a:gd name="T5" fmla="*/ 1232 h 1233"/>
                <a:gd name="T6" fmla="*/ 0 60000 65536"/>
                <a:gd name="T7" fmla="*/ 0 60000 65536"/>
                <a:gd name="T8" fmla="*/ 0 60000 65536"/>
                <a:gd name="T9" fmla="*/ 0 w 537"/>
                <a:gd name="T10" fmla="*/ 0 h 1233"/>
                <a:gd name="T11" fmla="*/ 537 w 537"/>
                <a:gd name="T12" fmla="*/ 1233 h 1233"/>
              </a:gdLst>
              <a:ahLst/>
              <a:cxnLst>
                <a:cxn ang="T6">
                  <a:pos x="T0" y="T1"/>
                </a:cxn>
                <a:cxn ang="T7">
                  <a:pos x="T2" y="T3"/>
                </a:cxn>
                <a:cxn ang="T8">
                  <a:pos x="T4" y="T5"/>
                </a:cxn>
              </a:cxnLst>
              <a:rect l="T9" t="T10" r="T11" b="T12"/>
              <a:pathLst>
                <a:path w="537" h="1233">
                  <a:moveTo>
                    <a:pt x="536" y="0"/>
                  </a:moveTo>
                  <a:lnTo>
                    <a:pt x="536" y="840"/>
                  </a:lnTo>
                  <a:lnTo>
                    <a:pt x="0" y="1232"/>
                  </a:lnTo>
                </a:path>
              </a:pathLst>
            </a:custGeom>
            <a:noFill/>
            <a:ln w="25400" cap="rnd">
              <a:solidFill>
                <a:schemeClr val="tx1"/>
              </a:solidFill>
              <a:round/>
              <a:headEnd/>
              <a:tailEnd/>
            </a:ln>
          </p:spPr>
          <p:txBody>
            <a:bodyPr>
              <a:prstTxWarp prst="textNoShape">
                <a:avLst/>
              </a:prstTxWarp>
            </a:bodyPr>
            <a:lstStyle/>
            <a:p>
              <a:endParaRPr lang="en-GB"/>
            </a:p>
          </p:txBody>
        </p:sp>
        <p:sp>
          <p:nvSpPr>
            <p:cNvPr id="35863" name="Line 11"/>
            <p:cNvSpPr>
              <a:spLocks noChangeShapeType="1"/>
            </p:cNvSpPr>
            <p:nvPr/>
          </p:nvSpPr>
          <p:spPr bwMode="auto">
            <a:xfrm>
              <a:off x="4832" y="3367"/>
              <a:ext cx="784" cy="112"/>
            </a:xfrm>
            <a:prstGeom prst="line">
              <a:avLst/>
            </a:prstGeom>
            <a:noFill/>
            <a:ln w="25400">
              <a:solidFill>
                <a:schemeClr val="tx1"/>
              </a:solidFill>
              <a:round/>
              <a:headEnd/>
              <a:tailEnd/>
            </a:ln>
          </p:spPr>
          <p:txBody>
            <a:bodyPr wrap="none" anchor="ctr">
              <a:prstTxWarp prst="textNoShape">
                <a:avLst/>
              </a:prstTxWarp>
            </a:bodyPr>
            <a:lstStyle/>
            <a:p>
              <a:endParaRPr lang="en-GB"/>
            </a:p>
          </p:txBody>
        </p:sp>
        <p:sp>
          <p:nvSpPr>
            <p:cNvPr id="35864" name="Oval 12" descr="50%"/>
            <p:cNvSpPr>
              <a:spLocks noChangeArrowheads="1"/>
            </p:cNvSpPr>
            <p:nvPr/>
          </p:nvSpPr>
          <p:spPr bwMode="auto">
            <a:xfrm>
              <a:off x="5104" y="3607"/>
              <a:ext cx="312" cy="64"/>
            </a:xfrm>
            <a:prstGeom prst="ellipse">
              <a:avLst/>
            </a:prstGeom>
            <a:pattFill prst="pct50">
              <a:fgClr>
                <a:srgbClr val="000000"/>
              </a:fgClr>
              <a:bgClr>
                <a:srgbClr val="FFFFFF"/>
              </a:bgClr>
            </a:pattFill>
            <a:ln w="25400">
              <a:solidFill>
                <a:schemeClr val="tx1"/>
              </a:solidFill>
              <a:round/>
              <a:headEnd/>
              <a:tailEnd/>
            </a:ln>
          </p:spPr>
          <p:txBody>
            <a:bodyPr wrap="none" anchor="ctr">
              <a:prstTxWarp prst="textNoShape">
                <a:avLst/>
              </a:prstTxWarp>
            </a:bodyPr>
            <a:lstStyle/>
            <a:p>
              <a:endParaRPr lang="en-GB"/>
            </a:p>
          </p:txBody>
        </p:sp>
        <p:sp>
          <p:nvSpPr>
            <p:cNvPr id="35865" name="Oval 13"/>
            <p:cNvSpPr>
              <a:spLocks noChangeArrowheads="1"/>
            </p:cNvSpPr>
            <p:nvPr/>
          </p:nvSpPr>
          <p:spPr bwMode="auto">
            <a:xfrm>
              <a:off x="5096" y="3599"/>
              <a:ext cx="328" cy="80"/>
            </a:xfrm>
            <a:prstGeom prst="ellipse">
              <a:avLst/>
            </a:prstGeom>
            <a:solidFill>
              <a:schemeClr val="accent2"/>
            </a:solidFill>
            <a:ln w="25400">
              <a:solidFill>
                <a:schemeClr val="tx1"/>
              </a:solidFill>
              <a:round/>
              <a:headEnd/>
              <a:tailEnd/>
            </a:ln>
          </p:spPr>
          <p:txBody>
            <a:bodyPr wrap="none" anchor="ctr">
              <a:prstTxWarp prst="textNoShape">
                <a:avLst/>
              </a:prstTxWarp>
            </a:bodyPr>
            <a:lstStyle/>
            <a:p>
              <a:endParaRPr lang="en-GB"/>
            </a:p>
          </p:txBody>
        </p:sp>
        <p:sp>
          <p:nvSpPr>
            <p:cNvPr id="35866" name="Freeform 14"/>
            <p:cNvSpPr>
              <a:spLocks/>
            </p:cNvSpPr>
            <p:nvPr/>
          </p:nvSpPr>
          <p:spPr bwMode="auto">
            <a:xfrm>
              <a:off x="5104" y="3695"/>
              <a:ext cx="65" cy="129"/>
            </a:xfrm>
            <a:custGeom>
              <a:avLst/>
              <a:gdLst>
                <a:gd name="T0" fmla="*/ 64 w 65"/>
                <a:gd name="T1" fmla="*/ 0 h 129"/>
                <a:gd name="T2" fmla="*/ 0 w 65"/>
                <a:gd name="T3" fmla="*/ 48 h 129"/>
                <a:gd name="T4" fmla="*/ 40 w 65"/>
                <a:gd name="T5" fmla="*/ 128 h 129"/>
                <a:gd name="T6" fmla="*/ 40 w 65"/>
                <a:gd name="T7" fmla="*/ 112 h 129"/>
                <a:gd name="T8" fmla="*/ 0 60000 65536"/>
                <a:gd name="T9" fmla="*/ 0 60000 65536"/>
                <a:gd name="T10" fmla="*/ 0 60000 65536"/>
                <a:gd name="T11" fmla="*/ 0 60000 65536"/>
                <a:gd name="T12" fmla="*/ 0 w 65"/>
                <a:gd name="T13" fmla="*/ 0 h 129"/>
                <a:gd name="T14" fmla="*/ 65 w 65"/>
                <a:gd name="T15" fmla="*/ 129 h 129"/>
              </a:gdLst>
              <a:ahLst/>
              <a:cxnLst>
                <a:cxn ang="T8">
                  <a:pos x="T0" y="T1"/>
                </a:cxn>
                <a:cxn ang="T9">
                  <a:pos x="T2" y="T3"/>
                </a:cxn>
                <a:cxn ang="T10">
                  <a:pos x="T4" y="T5"/>
                </a:cxn>
                <a:cxn ang="T11">
                  <a:pos x="T6" y="T7"/>
                </a:cxn>
              </a:cxnLst>
              <a:rect l="T12" t="T13" r="T14" b="T15"/>
              <a:pathLst>
                <a:path w="65" h="129">
                  <a:moveTo>
                    <a:pt x="64" y="0"/>
                  </a:moveTo>
                  <a:lnTo>
                    <a:pt x="0" y="48"/>
                  </a:lnTo>
                  <a:lnTo>
                    <a:pt x="40" y="128"/>
                  </a:lnTo>
                  <a:lnTo>
                    <a:pt x="40" y="112"/>
                  </a:lnTo>
                </a:path>
              </a:pathLst>
            </a:custGeom>
            <a:noFill/>
            <a:ln w="25400" cap="rnd">
              <a:solidFill>
                <a:schemeClr val="tx1"/>
              </a:solidFill>
              <a:round/>
              <a:headEnd/>
              <a:tailEnd/>
            </a:ln>
          </p:spPr>
          <p:txBody>
            <a:bodyPr>
              <a:prstTxWarp prst="textNoShape">
                <a:avLst/>
              </a:prstTxWarp>
            </a:bodyPr>
            <a:lstStyle/>
            <a:p>
              <a:endParaRPr lang="en-GB"/>
            </a:p>
          </p:txBody>
        </p:sp>
        <p:sp>
          <p:nvSpPr>
            <p:cNvPr id="35867" name="Freeform 15"/>
            <p:cNvSpPr>
              <a:spLocks/>
            </p:cNvSpPr>
            <p:nvPr/>
          </p:nvSpPr>
          <p:spPr bwMode="auto">
            <a:xfrm>
              <a:off x="5096" y="3687"/>
              <a:ext cx="65" cy="129"/>
            </a:xfrm>
            <a:custGeom>
              <a:avLst/>
              <a:gdLst>
                <a:gd name="T0" fmla="*/ 64 w 65"/>
                <a:gd name="T1" fmla="*/ 0 h 129"/>
                <a:gd name="T2" fmla="*/ 0 w 65"/>
                <a:gd name="T3" fmla="*/ 48 h 129"/>
                <a:gd name="T4" fmla="*/ 40 w 65"/>
                <a:gd name="T5" fmla="*/ 128 h 129"/>
                <a:gd name="T6" fmla="*/ 40 w 65"/>
                <a:gd name="T7" fmla="*/ 112 h 129"/>
                <a:gd name="T8" fmla="*/ 0 60000 65536"/>
                <a:gd name="T9" fmla="*/ 0 60000 65536"/>
                <a:gd name="T10" fmla="*/ 0 60000 65536"/>
                <a:gd name="T11" fmla="*/ 0 60000 65536"/>
                <a:gd name="T12" fmla="*/ 0 w 65"/>
                <a:gd name="T13" fmla="*/ 0 h 129"/>
                <a:gd name="T14" fmla="*/ 65 w 65"/>
                <a:gd name="T15" fmla="*/ 129 h 129"/>
              </a:gdLst>
              <a:ahLst/>
              <a:cxnLst>
                <a:cxn ang="T8">
                  <a:pos x="T0" y="T1"/>
                </a:cxn>
                <a:cxn ang="T9">
                  <a:pos x="T2" y="T3"/>
                </a:cxn>
                <a:cxn ang="T10">
                  <a:pos x="T4" y="T5"/>
                </a:cxn>
                <a:cxn ang="T11">
                  <a:pos x="T6" y="T7"/>
                </a:cxn>
              </a:cxnLst>
              <a:rect l="T12" t="T13" r="T14" b="T15"/>
              <a:pathLst>
                <a:path w="65" h="129">
                  <a:moveTo>
                    <a:pt x="64" y="0"/>
                  </a:moveTo>
                  <a:lnTo>
                    <a:pt x="0" y="48"/>
                  </a:lnTo>
                  <a:lnTo>
                    <a:pt x="40" y="128"/>
                  </a:lnTo>
                  <a:lnTo>
                    <a:pt x="40" y="112"/>
                  </a:lnTo>
                </a:path>
              </a:pathLst>
            </a:custGeom>
            <a:noFill/>
            <a:ln w="25400" cap="rnd">
              <a:solidFill>
                <a:schemeClr val="tx1"/>
              </a:solidFill>
              <a:round/>
              <a:headEnd/>
              <a:tailEnd/>
            </a:ln>
          </p:spPr>
          <p:txBody>
            <a:bodyPr>
              <a:prstTxWarp prst="textNoShape">
                <a:avLst/>
              </a:prstTxWarp>
            </a:bodyPr>
            <a:lstStyle/>
            <a:p>
              <a:endParaRPr lang="en-GB"/>
            </a:p>
          </p:txBody>
        </p:sp>
        <p:sp>
          <p:nvSpPr>
            <p:cNvPr id="35868" name="Freeform 16"/>
            <p:cNvSpPr>
              <a:spLocks/>
            </p:cNvSpPr>
            <p:nvPr/>
          </p:nvSpPr>
          <p:spPr bwMode="auto">
            <a:xfrm>
              <a:off x="5272" y="3711"/>
              <a:ext cx="41" cy="129"/>
            </a:xfrm>
            <a:custGeom>
              <a:avLst/>
              <a:gdLst>
                <a:gd name="T0" fmla="*/ 0 w 41"/>
                <a:gd name="T1" fmla="*/ 0 h 129"/>
                <a:gd name="T2" fmla="*/ 16 w 41"/>
                <a:gd name="T3" fmla="*/ 64 h 129"/>
                <a:gd name="T4" fmla="*/ 40 w 41"/>
                <a:gd name="T5" fmla="*/ 128 h 129"/>
                <a:gd name="T6" fmla="*/ 0 60000 65536"/>
                <a:gd name="T7" fmla="*/ 0 60000 65536"/>
                <a:gd name="T8" fmla="*/ 0 60000 65536"/>
                <a:gd name="T9" fmla="*/ 0 w 41"/>
                <a:gd name="T10" fmla="*/ 0 h 129"/>
                <a:gd name="T11" fmla="*/ 41 w 41"/>
                <a:gd name="T12" fmla="*/ 129 h 129"/>
              </a:gdLst>
              <a:ahLst/>
              <a:cxnLst>
                <a:cxn ang="T6">
                  <a:pos x="T0" y="T1"/>
                </a:cxn>
                <a:cxn ang="T7">
                  <a:pos x="T2" y="T3"/>
                </a:cxn>
                <a:cxn ang="T8">
                  <a:pos x="T4" y="T5"/>
                </a:cxn>
              </a:cxnLst>
              <a:rect l="T9" t="T10" r="T11" b="T12"/>
              <a:pathLst>
                <a:path w="41" h="129">
                  <a:moveTo>
                    <a:pt x="0" y="0"/>
                  </a:moveTo>
                  <a:lnTo>
                    <a:pt x="16" y="64"/>
                  </a:lnTo>
                  <a:lnTo>
                    <a:pt x="40" y="128"/>
                  </a:lnTo>
                </a:path>
              </a:pathLst>
            </a:custGeom>
            <a:noFill/>
            <a:ln w="25400" cap="rnd">
              <a:solidFill>
                <a:schemeClr val="tx1"/>
              </a:solidFill>
              <a:round/>
              <a:headEnd/>
              <a:tailEnd/>
            </a:ln>
          </p:spPr>
          <p:txBody>
            <a:bodyPr>
              <a:prstTxWarp prst="textNoShape">
                <a:avLst/>
              </a:prstTxWarp>
            </a:bodyPr>
            <a:lstStyle/>
            <a:p>
              <a:endParaRPr lang="en-GB"/>
            </a:p>
          </p:txBody>
        </p:sp>
        <p:sp>
          <p:nvSpPr>
            <p:cNvPr id="35869" name="Freeform 17"/>
            <p:cNvSpPr>
              <a:spLocks/>
            </p:cNvSpPr>
            <p:nvPr/>
          </p:nvSpPr>
          <p:spPr bwMode="auto">
            <a:xfrm>
              <a:off x="5264" y="3703"/>
              <a:ext cx="41" cy="129"/>
            </a:xfrm>
            <a:custGeom>
              <a:avLst/>
              <a:gdLst>
                <a:gd name="T0" fmla="*/ 0 w 41"/>
                <a:gd name="T1" fmla="*/ 0 h 129"/>
                <a:gd name="T2" fmla="*/ 16 w 41"/>
                <a:gd name="T3" fmla="*/ 64 h 129"/>
                <a:gd name="T4" fmla="*/ 40 w 41"/>
                <a:gd name="T5" fmla="*/ 128 h 129"/>
                <a:gd name="T6" fmla="*/ 0 60000 65536"/>
                <a:gd name="T7" fmla="*/ 0 60000 65536"/>
                <a:gd name="T8" fmla="*/ 0 60000 65536"/>
                <a:gd name="T9" fmla="*/ 0 w 41"/>
                <a:gd name="T10" fmla="*/ 0 h 129"/>
                <a:gd name="T11" fmla="*/ 41 w 41"/>
                <a:gd name="T12" fmla="*/ 129 h 129"/>
              </a:gdLst>
              <a:ahLst/>
              <a:cxnLst>
                <a:cxn ang="T6">
                  <a:pos x="T0" y="T1"/>
                </a:cxn>
                <a:cxn ang="T7">
                  <a:pos x="T2" y="T3"/>
                </a:cxn>
                <a:cxn ang="T8">
                  <a:pos x="T4" y="T5"/>
                </a:cxn>
              </a:cxnLst>
              <a:rect l="T9" t="T10" r="T11" b="T12"/>
              <a:pathLst>
                <a:path w="41" h="129">
                  <a:moveTo>
                    <a:pt x="0" y="0"/>
                  </a:moveTo>
                  <a:lnTo>
                    <a:pt x="16" y="64"/>
                  </a:lnTo>
                  <a:lnTo>
                    <a:pt x="40" y="128"/>
                  </a:lnTo>
                </a:path>
              </a:pathLst>
            </a:custGeom>
            <a:noFill/>
            <a:ln w="25400" cap="rnd">
              <a:solidFill>
                <a:schemeClr val="tx1"/>
              </a:solidFill>
              <a:round/>
              <a:headEnd/>
              <a:tailEnd/>
            </a:ln>
          </p:spPr>
          <p:txBody>
            <a:bodyPr>
              <a:prstTxWarp prst="textNoShape">
                <a:avLst/>
              </a:prstTxWarp>
            </a:bodyPr>
            <a:lstStyle/>
            <a:p>
              <a:endParaRPr lang="en-GB"/>
            </a:p>
          </p:txBody>
        </p:sp>
        <p:sp>
          <p:nvSpPr>
            <p:cNvPr id="35870" name="Freeform 18"/>
            <p:cNvSpPr>
              <a:spLocks/>
            </p:cNvSpPr>
            <p:nvPr/>
          </p:nvSpPr>
          <p:spPr bwMode="auto">
            <a:xfrm>
              <a:off x="5400" y="3671"/>
              <a:ext cx="41" cy="129"/>
            </a:xfrm>
            <a:custGeom>
              <a:avLst/>
              <a:gdLst>
                <a:gd name="T0" fmla="*/ 0 w 41"/>
                <a:gd name="T1" fmla="*/ 0 h 129"/>
                <a:gd name="T2" fmla="*/ 40 w 41"/>
                <a:gd name="T3" fmla="*/ 48 h 129"/>
                <a:gd name="T4" fmla="*/ 0 w 41"/>
                <a:gd name="T5" fmla="*/ 128 h 129"/>
                <a:gd name="T6" fmla="*/ 0 60000 65536"/>
                <a:gd name="T7" fmla="*/ 0 60000 65536"/>
                <a:gd name="T8" fmla="*/ 0 60000 65536"/>
                <a:gd name="T9" fmla="*/ 0 w 41"/>
                <a:gd name="T10" fmla="*/ 0 h 129"/>
                <a:gd name="T11" fmla="*/ 41 w 41"/>
                <a:gd name="T12" fmla="*/ 129 h 129"/>
              </a:gdLst>
              <a:ahLst/>
              <a:cxnLst>
                <a:cxn ang="T6">
                  <a:pos x="T0" y="T1"/>
                </a:cxn>
                <a:cxn ang="T7">
                  <a:pos x="T2" y="T3"/>
                </a:cxn>
                <a:cxn ang="T8">
                  <a:pos x="T4" y="T5"/>
                </a:cxn>
              </a:cxnLst>
              <a:rect l="T9" t="T10" r="T11" b="T12"/>
              <a:pathLst>
                <a:path w="41" h="129">
                  <a:moveTo>
                    <a:pt x="0" y="0"/>
                  </a:moveTo>
                  <a:lnTo>
                    <a:pt x="40" y="48"/>
                  </a:lnTo>
                  <a:lnTo>
                    <a:pt x="0" y="128"/>
                  </a:lnTo>
                </a:path>
              </a:pathLst>
            </a:custGeom>
            <a:noFill/>
            <a:ln w="25400" cap="rnd">
              <a:solidFill>
                <a:schemeClr val="tx1"/>
              </a:solidFill>
              <a:round/>
              <a:headEnd/>
              <a:tailEnd/>
            </a:ln>
          </p:spPr>
          <p:txBody>
            <a:bodyPr>
              <a:prstTxWarp prst="textNoShape">
                <a:avLst/>
              </a:prstTxWarp>
            </a:bodyPr>
            <a:lstStyle/>
            <a:p>
              <a:endParaRPr lang="en-GB"/>
            </a:p>
          </p:txBody>
        </p:sp>
        <p:sp>
          <p:nvSpPr>
            <p:cNvPr id="35871" name="Freeform 19"/>
            <p:cNvSpPr>
              <a:spLocks/>
            </p:cNvSpPr>
            <p:nvPr/>
          </p:nvSpPr>
          <p:spPr bwMode="auto">
            <a:xfrm>
              <a:off x="5392" y="3663"/>
              <a:ext cx="41" cy="129"/>
            </a:xfrm>
            <a:custGeom>
              <a:avLst/>
              <a:gdLst>
                <a:gd name="T0" fmla="*/ 0 w 41"/>
                <a:gd name="T1" fmla="*/ 0 h 129"/>
                <a:gd name="T2" fmla="*/ 40 w 41"/>
                <a:gd name="T3" fmla="*/ 48 h 129"/>
                <a:gd name="T4" fmla="*/ 0 w 41"/>
                <a:gd name="T5" fmla="*/ 128 h 129"/>
                <a:gd name="T6" fmla="*/ 0 60000 65536"/>
                <a:gd name="T7" fmla="*/ 0 60000 65536"/>
                <a:gd name="T8" fmla="*/ 0 60000 65536"/>
                <a:gd name="T9" fmla="*/ 0 w 41"/>
                <a:gd name="T10" fmla="*/ 0 h 129"/>
                <a:gd name="T11" fmla="*/ 41 w 41"/>
                <a:gd name="T12" fmla="*/ 129 h 129"/>
              </a:gdLst>
              <a:ahLst/>
              <a:cxnLst>
                <a:cxn ang="T6">
                  <a:pos x="T0" y="T1"/>
                </a:cxn>
                <a:cxn ang="T7">
                  <a:pos x="T2" y="T3"/>
                </a:cxn>
                <a:cxn ang="T8">
                  <a:pos x="T4" y="T5"/>
                </a:cxn>
              </a:cxnLst>
              <a:rect l="T9" t="T10" r="T11" b="T12"/>
              <a:pathLst>
                <a:path w="41" h="129">
                  <a:moveTo>
                    <a:pt x="0" y="0"/>
                  </a:moveTo>
                  <a:lnTo>
                    <a:pt x="40" y="48"/>
                  </a:lnTo>
                  <a:lnTo>
                    <a:pt x="0" y="128"/>
                  </a:lnTo>
                </a:path>
              </a:pathLst>
            </a:custGeom>
            <a:noFill/>
            <a:ln w="25400" cap="rnd">
              <a:solidFill>
                <a:schemeClr val="tx1"/>
              </a:solidFill>
              <a:round/>
              <a:headEnd/>
              <a:tailEnd/>
            </a:ln>
          </p:spPr>
          <p:txBody>
            <a:bodyPr>
              <a:prstTxWarp prst="textNoShape">
                <a:avLst/>
              </a:prstTxWarp>
            </a:bodyPr>
            <a:lstStyle/>
            <a:p>
              <a:endParaRPr lang="en-GB"/>
            </a:p>
          </p:txBody>
        </p:sp>
        <p:sp>
          <p:nvSpPr>
            <p:cNvPr id="35872" name="Line 20"/>
            <p:cNvSpPr>
              <a:spLocks noChangeShapeType="1"/>
            </p:cNvSpPr>
            <p:nvPr/>
          </p:nvSpPr>
          <p:spPr bwMode="auto">
            <a:xfrm>
              <a:off x="5344" y="3679"/>
              <a:ext cx="0" cy="56"/>
            </a:xfrm>
            <a:prstGeom prst="line">
              <a:avLst/>
            </a:prstGeom>
            <a:noFill/>
            <a:ln w="25400">
              <a:solidFill>
                <a:schemeClr val="tx1"/>
              </a:solidFill>
              <a:round/>
              <a:headEnd/>
              <a:tailEnd/>
            </a:ln>
          </p:spPr>
          <p:txBody>
            <a:bodyPr wrap="none" anchor="ctr">
              <a:prstTxWarp prst="textNoShape">
                <a:avLst/>
              </a:prstTxWarp>
            </a:bodyPr>
            <a:lstStyle/>
            <a:p>
              <a:endParaRPr lang="en-GB"/>
            </a:p>
          </p:txBody>
        </p:sp>
        <p:sp>
          <p:nvSpPr>
            <p:cNvPr id="35873" name="Freeform 21"/>
            <p:cNvSpPr>
              <a:spLocks/>
            </p:cNvSpPr>
            <p:nvPr/>
          </p:nvSpPr>
          <p:spPr bwMode="auto">
            <a:xfrm>
              <a:off x="5064" y="3679"/>
              <a:ext cx="65" cy="97"/>
            </a:xfrm>
            <a:custGeom>
              <a:avLst/>
              <a:gdLst>
                <a:gd name="T0" fmla="*/ 64 w 65"/>
                <a:gd name="T1" fmla="*/ 0 h 97"/>
                <a:gd name="T2" fmla="*/ 0 w 65"/>
                <a:gd name="T3" fmla="*/ 16 h 97"/>
                <a:gd name="T4" fmla="*/ 0 w 65"/>
                <a:gd name="T5" fmla="*/ 96 h 97"/>
                <a:gd name="T6" fmla="*/ 0 60000 65536"/>
                <a:gd name="T7" fmla="*/ 0 60000 65536"/>
                <a:gd name="T8" fmla="*/ 0 60000 65536"/>
                <a:gd name="T9" fmla="*/ 0 w 65"/>
                <a:gd name="T10" fmla="*/ 0 h 97"/>
                <a:gd name="T11" fmla="*/ 65 w 65"/>
                <a:gd name="T12" fmla="*/ 97 h 97"/>
              </a:gdLst>
              <a:ahLst/>
              <a:cxnLst>
                <a:cxn ang="T6">
                  <a:pos x="T0" y="T1"/>
                </a:cxn>
                <a:cxn ang="T7">
                  <a:pos x="T2" y="T3"/>
                </a:cxn>
                <a:cxn ang="T8">
                  <a:pos x="T4" y="T5"/>
                </a:cxn>
              </a:cxnLst>
              <a:rect l="T9" t="T10" r="T11" b="T12"/>
              <a:pathLst>
                <a:path w="65" h="97">
                  <a:moveTo>
                    <a:pt x="64" y="0"/>
                  </a:moveTo>
                  <a:lnTo>
                    <a:pt x="0" y="16"/>
                  </a:lnTo>
                  <a:lnTo>
                    <a:pt x="0" y="96"/>
                  </a:lnTo>
                </a:path>
              </a:pathLst>
            </a:custGeom>
            <a:noFill/>
            <a:ln w="25400" cap="rnd">
              <a:solidFill>
                <a:schemeClr val="tx1"/>
              </a:solidFill>
              <a:round/>
              <a:headEnd/>
              <a:tailEnd/>
            </a:ln>
          </p:spPr>
          <p:txBody>
            <a:bodyPr>
              <a:prstTxWarp prst="textNoShape">
                <a:avLst/>
              </a:prstTxWarp>
            </a:bodyPr>
            <a:lstStyle/>
            <a:p>
              <a:endParaRPr lang="en-GB"/>
            </a:p>
          </p:txBody>
        </p:sp>
        <p:sp>
          <p:nvSpPr>
            <p:cNvPr id="35874" name="Freeform 22"/>
            <p:cNvSpPr>
              <a:spLocks/>
            </p:cNvSpPr>
            <p:nvPr/>
          </p:nvSpPr>
          <p:spPr bwMode="auto">
            <a:xfrm>
              <a:off x="5056" y="3671"/>
              <a:ext cx="65" cy="97"/>
            </a:xfrm>
            <a:custGeom>
              <a:avLst/>
              <a:gdLst>
                <a:gd name="T0" fmla="*/ 64 w 65"/>
                <a:gd name="T1" fmla="*/ 0 h 97"/>
                <a:gd name="T2" fmla="*/ 0 w 65"/>
                <a:gd name="T3" fmla="*/ 16 h 97"/>
                <a:gd name="T4" fmla="*/ 0 w 65"/>
                <a:gd name="T5" fmla="*/ 96 h 97"/>
                <a:gd name="T6" fmla="*/ 0 60000 65536"/>
                <a:gd name="T7" fmla="*/ 0 60000 65536"/>
                <a:gd name="T8" fmla="*/ 0 60000 65536"/>
                <a:gd name="T9" fmla="*/ 0 w 65"/>
                <a:gd name="T10" fmla="*/ 0 h 97"/>
                <a:gd name="T11" fmla="*/ 65 w 65"/>
                <a:gd name="T12" fmla="*/ 97 h 97"/>
              </a:gdLst>
              <a:ahLst/>
              <a:cxnLst>
                <a:cxn ang="T6">
                  <a:pos x="T0" y="T1"/>
                </a:cxn>
                <a:cxn ang="T7">
                  <a:pos x="T2" y="T3"/>
                </a:cxn>
                <a:cxn ang="T8">
                  <a:pos x="T4" y="T5"/>
                </a:cxn>
              </a:cxnLst>
              <a:rect l="T9" t="T10" r="T11" b="T12"/>
              <a:pathLst>
                <a:path w="65" h="97">
                  <a:moveTo>
                    <a:pt x="64" y="0"/>
                  </a:moveTo>
                  <a:lnTo>
                    <a:pt x="0" y="16"/>
                  </a:lnTo>
                  <a:lnTo>
                    <a:pt x="0" y="96"/>
                  </a:lnTo>
                </a:path>
              </a:pathLst>
            </a:custGeom>
            <a:noFill/>
            <a:ln w="25400" cap="rnd">
              <a:solidFill>
                <a:schemeClr val="tx1"/>
              </a:solidFill>
              <a:round/>
              <a:headEnd/>
              <a:tailEnd/>
            </a:ln>
          </p:spPr>
          <p:txBody>
            <a:bodyPr>
              <a:prstTxWarp prst="textNoShape">
                <a:avLst/>
              </a:prstTxWarp>
            </a:bodyPr>
            <a:lstStyle/>
            <a:p>
              <a:endParaRPr lang="en-GB"/>
            </a:p>
          </p:txBody>
        </p:sp>
        <p:sp>
          <p:nvSpPr>
            <p:cNvPr id="35875" name="Line 23"/>
            <p:cNvSpPr>
              <a:spLocks noChangeShapeType="1"/>
            </p:cNvSpPr>
            <p:nvPr/>
          </p:nvSpPr>
          <p:spPr bwMode="auto">
            <a:xfrm>
              <a:off x="5056" y="3751"/>
              <a:ext cx="0" cy="8"/>
            </a:xfrm>
            <a:prstGeom prst="line">
              <a:avLst/>
            </a:prstGeom>
            <a:noFill/>
            <a:ln w="25400">
              <a:solidFill>
                <a:schemeClr val="tx1"/>
              </a:solidFill>
              <a:round/>
              <a:headEnd/>
              <a:tailEnd/>
            </a:ln>
          </p:spPr>
          <p:txBody>
            <a:bodyPr wrap="none" anchor="ctr">
              <a:prstTxWarp prst="textNoShape">
                <a:avLst/>
              </a:prstTxWarp>
            </a:bodyPr>
            <a:lstStyle/>
            <a:p>
              <a:endParaRPr lang="en-GB"/>
            </a:p>
          </p:txBody>
        </p:sp>
        <p:sp>
          <p:nvSpPr>
            <p:cNvPr id="35876" name="Freeform 24"/>
            <p:cNvSpPr>
              <a:spLocks/>
            </p:cNvSpPr>
            <p:nvPr/>
          </p:nvSpPr>
          <p:spPr bwMode="auto">
            <a:xfrm>
              <a:off x="5208" y="3711"/>
              <a:ext cx="25" cy="81"/>
            </a:xfrm>
            <a:custGeom>
              <a:avLst/>
              <a:gdLst>
                <a:gd name="T0" fmla="*/ 24 w 25"/>
                <a:gd name="T1" fmla="*/ 0 h 81"/>
                <a:gd name="T2" fmla="*/ 0 w 25"/>
                <a:gd name="T3" fmla="*/ 48 h 81"/>
                <a:gd name="T4" fmla="*/ 0 w 25"/>
                <a:gd name="T5" fmla="*/ 80 h 81"/>
                <a:gd name="T6" fmla="*/ 0 60000 65536"/>
                <a:gd name="T7" fmla="*/ 0 60000 65536"/>
                <a:gd name="T8" fmla="*/ 0 60000 65536"/>
                <a:gd name="T9" fmla="*/ 0 w 25"/>
                <a:gd name="T10" fmla="*/ 0 h 81"/>
                <a:gd name="T11" fmla="*/ 25 w 25"/>
                <a:gd name="T12" fmla="*/ 81 h 81"/>
              </a:gdLst>
              <a:ahLst/>
              <a:cxnLst>
                <a:cxn ang="T6">
                  <a:pos x="T0" y="T1"/>
                </a:cxn>
                <a:cxn ang="T7">
                  <a:pos x="T2" y="T3"/>
                </a:cxn>
                <a:cxn ang="T8">
                  <a:pos x="T4" y="T5"/>
                </a:cxn>
              </a:cxnLst>
              <a:rect l="T9" t="T10" r="T11" b="T12"/>
              <a:pathLst>
                <a:path w="25" h="81">
                  <a:moveTo>
                    <a:pt x="24" y="0"/>
                  </a:moveTo>
                  <a:lnTo>
                    <a:pt x="0" y="48"/>
                  </a:lnTo>
                  <a:lnTo>
                    <a:pt x="0" y="80"/>
                  </a:lnTo>
                </a:path>
              </a:pathLst>
            </a:custGeom>
            <a:noFill/>
            <a:ln w="25400" cap="rnd">
              <a:solidFill>
                <a:schemeClr val="tx1"/>
              </a:solidFill>
              <a:round/>
              <a:headEnd/>
              <a:tailEnd/>
            </a:ln>
          </p:spPr>
          <p:txBody>
            <a:bodyPr>
              <a:prstTxWarp prst="textNoShape">
                <a:avLst/>
              </a:prstTxWarp>
            </a:bodyPr>
            <a:lstStyle/>
            <a:p>
              <a:endParaRPr lang="en-GB"/>
            </a:p>
          </p:txBody>
        </p:sp>
        <p:sp>
          <p:nvSpPr>
            <p:cNvPr id="35877" name="Freeform 25"/>
            <p:cNvSpPr>
              <a:spLocks/>
            </p:cNvSpPr>
            <p:nvPr/>
          </p:nvSpPr>
          <p:spPr bwMode="auto">
            <a:xfrm>
              <a:off x="5200" y="3703"/>
              <a:ext cx="25" cy="81"/>
            </a:xfrm>
            <a:custGeom>
              <a:avLst/>
              <a:gdLst>
                <a:gd name="T0" fmla="*/ 24 w 25"/>
                <a:gd name="T1" fmla="*/ 0 h 81"/>
                <a:gd name="T2" fmla="*/ 0 w 25"/>
                <a:gd name="T3" fmla="*/ 48 h 81"/>
                <a:gd name="T4" fmla="*/ 0 w 25"/>
                <a:gd name="T5" fmla="*/ 80 h 81"/>
                <a:gd name="T6" fmla="*/ 0 60000 65536"/>
                <a:gd name="T7" fmla="*/ 0 60000 65536"/>
                <a:gd name="T8" fmla="*/ 0 60000 65536"/>
                <a:gd name="T9" fmla="*/ 0 w 25"/>
                <a:gd name="T10" fmla="*/ 0 h 81"/>
                <a:gd name="T11" fmla="*/ 25 w 25"/>
                <a:gd name="T12" fmla="*/ 81 h 81"/>
              </a:gdLst>
              <a:ahLst/>
              <a:cxnLst>
                <a:cxn ang="T6">
                  <a:pos x="T0" y="T1"/>
                </a:cxn>
                <a:cxn ang="T7">
                  <a:pos x="T2" y="T3"/>
                </a:cxn>
                <a:cxn ang="T8">
                  <a:pos x="T4" y="T5"/>
                </a:cxn>
              </a:cxnLst>
              <a:rect l="T9" t="T10" r="T11" b="T12"/>
              <a:pathLst>
                <a:path w="25" h="81">
                  <a:moveTo>
                    <a:pt x="24" y="0"/>
                  </a:moveTo>
                  <a:lnTo>
                    <a:pt x="0" y="48"/>
                  </a:lnTo>
                  <a:lnTo>
                    <a:pt x="0" y="80"/>
                  </a:lnTo>
                </a:path>
              </a:pathLst>
            </a:custGeom>
            <a:noFill/>
            <a:ln w="25400" cap="rnd">
              <a:solidFill>
                <a:schemeClr val="tx1"/>
              </a:solidFill>
              <a:round/>
              <a:headEnd/>
              <a:tailEnd/>
            </a:ln>
          </p:spPr>
          <p:txBody>
            <a:bodyPr>
              <a:prstTxWarp prst="textNoShape">
                <a:avLst/>
              </a:prstTxWarp>
            </a:bodyPr>
            <a:lstStyle/>
            <a:p>
              <a:endParaRPr lang="en-GB"/>
            </a:p>
          </p:txBody>
        </p:sp>
        <p:sp>
          <p:nvSpPr>
            <p:cNvPr id="35878" name="Oval 26"/>
            <p:cNvSpPr>
              <a:spLocks noChangeArrowheads="1"/>
            </p:cNvSpPr>
            <p:nvPr/>
          </p:nvSpPr>
          <p:spPr bwMode="auto">
            <a:xfrm>
              <a:off x="5040" y="3543"/>
              <a:ext cx="64" cy="72"/>
            </a:xfrm>
            <a:prstGeom prst="ellipse">
              <a:avLst/>
            </a:prstGeom>
            <a:solidFill>
              <a:srgbClr val="51DC00"/>
            </a:solidFill>
            <a:ln w="25400">
              <a:solidFill>
                <a:schemeClr val="bg1"/>
              </a:solidFill>
              <a:round/>
              <a:headEnd/>
              <a:tailEnd/>
            </a:ln>
          </p:spPr>
          <p:txBody>
            <a:bodyPr wrap="none" anchor="ctr">
              <a:prstTxWarp prst="textNoShape">
                <a:avLst/>
              </a:prstTxWarp>
            </a:bodyPr>
            <a:lstStyle/>
            <a:p>
              <a:endParaRPr lang="en-GB"/>
            </a:p>
          </p:txBody>
        </p:sp>
        <p:sp>
          <p:nvSpPr>
            <p:cNvPr id="35879" name="Oval 27"/>
            <p:cNvSpPr>
              <a:spLocks noChangeArrowheads="1"/>
            </p:cNvSpPr>
            <p:nvPr/>
          </p:nvSpPr>
          <p:spPr bwMode="auto">
            <a:xfrm>
              <a:off x="5032" y="3535"/>
              <a:ext cx="80" cy="88"/>
            </a:xfrm>
            <a:prstGeom prst="ellipse">
              <a:avLst/>
            </a:prstGeom>
            <a:noFill/>
            <a:ln w="25400">
              <a:solidFill>
                <a:srgbClr val="000000"/>
              </a:solidFill>
              <a:round/>
              <a:headEnd/>
              <a:tailEnd/>
            </a:ln>
          </p:spPr>
          <p:txBody>
            <a:bodyPr wrap="none" anchor="ctr">
              <a:prstTxWarp prst="textNoShape">
                <a:avLst/>
              </a:prstTxWarp>
            </a:bodyPr>
            <a:lstStyle/>
            <a:p>
              <a:endParaRPr lang="en-GB"/>
            </a:p>
          </p:txBody>
        </p:sp>
        <p:sp>
          <p:nvSpPr>
            <p:cNvPr id="35880" name="Freeform 28"/>
            <p:cNvSpPr>
              <a:spLocks/>
            </p:cNvSpPr>
            <p:nvPr/>
          </p:nvSpPr>
          <p:spPr bwMode="auto">
            <a:xfrm>
              <a:off x="4904" y="3391"/>
              <a:ext cx="153" cy="145"/>
            </a:xfrm>
            <a:custGeom>
              <a:avLst/>
              <a:gdLst>
                <a:gd name="T0" fmla="*/ 152 w 153"/>
                <a:gd name="T1" fmla="*/ 144 h 145"/>
                <a:gd name="T2" fmla="*/ 88 w 153"/>
                <a:gd name="T3" fmla="*/ 32 h 145"/>
                <a:gd name="T4" fmla="*/ 0 w 153"/>
                <a:gd name="T5" fmla="*/ 0 h 145"/>
                <a:gd name="T6" fmla="*/ 0 60000 65536"/>
                <a:gd name="T7" fmla="*/ 0 60000 65536"/>
                <a:gd name="T8" fmla="*/ 0 60000 65536"/>
                <a:gd name="T9" fmla="*/ 0 w 153"/>
                <a:gd name="T10" fmla="*/ 0 h 145"/>
                <a:gd name="T11" fmla="*/ 153 w 153"/>
                <a:gd name="T12" fmla="*/ 145 h 145"/>
              </a:gdLst>
              <a:ahLst/>
              <a:cxnLst>
                <a:cxn ang="T6">
                  <a:pos x="T0" y="T1"/>
                </a:cxn>
                <a:cxn ang="T7">
                  <a:pos x="T2" y="T3"/>
                </a:cxn>
                <a:cxn ang="T8">
                  <a:pos x="T4" y="T5"/>
                </a:cxn>
              </a:cxnLst>
              <a:rect l="T9" t="T10" r="T11" b="T12"/>
              <a:pathLst>
                <a:path w="153" h="145">
                  <a:moveTo>
                    <a:pt x="152" y="144"/>
                  </a:moveTo>
                  <a:lnTo>
                    <a:pt x="88" y="32"/>
                  </a:lnTo>
                  <a:lnTo>
                    <a:pt x="0" y="0"/>
                  </a:lnTo>
                </a:path>
              </a:pathLst>
            </a:custGeom>
            <a:noFill/>
            <a:ln w="12700" cap="rnd">
              <a:solidFill>
                <a:srgbClr val="000000"/>
              </a:solidFill>
              <a:round/>
              <a:headEnd/>
              <a:tailEnd/>
            </a:ln>
          </p:spPr>
          <p:txBody>
            <a:bodyPr>
              <a:prstTxWarp prst="textNoShape">
                <a:avLst/>
              </a:prstTxWarp>
            </a:bodyPr>
            <a:lstStyle/>
            <a:p>
              <a:endParaRPr lang="en-GB"/>
            </a:p>
          </p:txBody>
        </p:sp>
        <p:sp>
          <p:nvSpPr>
            <p:cNvPr id="35881" name="Freeform 29"/>
            <p:cNvSpPr>
              <a:spLocks/>
            </p:cNvSpPr>
            <p:nvPr/>
          </p:nvSpPr>
          <p:spPr bwMode="auto">
            <a:xfrm>
              <a:off x="4904" y="3391"/>
              <a:ext cx="153" cy="145"/>
            </a:xfrm>
            <a:custGeom>
              <a:avLst/>
              <a:gdLst>
                <a:gd name="T0" fmla="*/ 152 w 153"/>
                <a:gd name="T1" fmla="*/ 144 h 145"/>
                <a:gd name="T2" fmla="*/ 88 w 153"/>
                <a:gd name="T3" fmla="*/ 32 h 145"/>
                <a:gd name="T4" fmla="*/ 0 w 153"/>
                <a:gd name="T5" fmla="*/ 0 h 145"/>
                <a:gd name="T6" fmla="*/ 0 60000 65536"/>
                <a:gd name="T7" fmla="*/ 0 60000 65536"/>
                <a:gd name="T8" fmla="*/ 0 60000 65536"/>
                <a:gd name="T9" fmla="*/ 0 w 153"/>
                <a:gd name="T10" fmla="*/ 0 h 145"/>
                <a:gd name="T11" fmla="*/ 153 w 153"/>
                <a:gd name="T12" fmla="*/ 145 h 145"/>
              </a:gdLst>
              <a:ahLst/>
              <a:cxnLst>
                <a:cxn ang="T6">
                  <a:pos x="T0" y="T1"/>
                </a:cxn>
                <a:cxn ang="T7">
                  <a:pos x="T2" y="T3"/>
                </a:cxn>
                <a:cxn ang="T8">
                  <a:pos x="T4" y="T5"/>
                </a:cxn>
              </a:cxnLst>
              <a:rect l="T9" t="T10" r="T11" b="T12"/>
              <a:pathLst>
                <a:path w="153" h="145">
                  <a:moveTo>
                    <a:pt x="152" y="144"/>
                  </a:moveTo>
                  <a:lnTo>
                    <a:pt x="88" y="32"/>
                  </a:lnTo>
                  <a:lnTo>
                    <a:pt x="0" y="0"/>
                  </a:lnTo>
                </a:path>
              </a:pathLst>
            </a:custGeom>
            <a:noFill/>
            <a:ln w="12700" cap="rnd">
              <a:solidFill>
                <a:schemeClr val="tx1"/>
              </a:solidFill>
              <a:round/>
              <a:headEnd/>
              <a:tailEnd/>
            </a:ln>
          </p:spPr>
          <p:txBody>
            <a:bodyPr>
              <a:prstTxWarp prst="textNoShape">
                <a:avLst/>
              </a:prstTxWarp>
            </a:bodyPr>
            <a:lstStyle/>
            <a:p>
              <a:endParaRPr lang="en-GB"/>
            </a:p>
          </p:txBody>
        </p:sp>
        <p:sp>
          <p:nvSpPr>
            <p:cNvPr id="35882" name="Oval 30"/>
            <p:cNvSpPr>
              <a:spLocks noChangeArrowheads="1"/>
            </p:cNvSpPr>
            <p:nvPr/>
          </p:nvSpPr>
          <p:spPr bwMode="auto">
            <a:xfrm>
              <a:off x="4868" y="3363"/>
              <a:ext cx="32" cy="40"/>
            </a:xfrm>
            <a:prstGeom prst="ellipse">
              <a:avLst/>
            </a:prstGeom>
            <a:solidFill>
              <a:schemeClr val="accent2"/>
            </a:solidFill>
            <a:ln w="12700">
              <a:solidFill>
                <a:schemeClr val="tx1"/>
              </a:solidFill>
              <a:round/>
              <a:headEnd/>
              <a:tailEnd/>
            </a:ln>
          </p:spPr>
          <p:txBody>
            <a:bodyPr wrap="none" anchor="ctr">
              <a:prstTxWarp prst="textNoShape">
                <a:avLst/>
              </a:prstTxWarp>
            </a:bodyPr>
            <a:lstStyle/>
            <a:p>
              <a:endParaRPr lang="en-GB"/>
            </a:p>
          </p:txBody>
        </p:sp>
        <p:sp>
          <p:nvSpPr>
            <p:cNvPr id="35883" name="Freeform 31"/>
            <p:cNvSpPr>
              <a:spLocks/>
            </p:cNvSpPr>
            <p:nvPr/>
          </p:nvSpPr>
          <p:spPr bwMode="auto">
            <a:xfrm>
              <a:off x="4992" y="3327"/>
              <a:ext cx="105" cy="209"/>
            </a:xfrm>
            <a:custGeom>
              <a:avLst/>
              <a:gdLst>
                <a:gd name="T0" fmla="*/ 104 w 105"/>
                <a:gd name="T1" fmla="*/ 208 h 209"/>
                <a:gd name="T2" fmla="*/ 80 w 105"/>
                <a:gd name="T3" fmla="*/ 80 h 209"/>
                <a:gd name="T4" fmla="*/ 0 w 105"/>
                <a:gd name="T5" fmla="*/ 0 h 209"/>
                <a:gd name="T6" fmla="*/ 0 60000 65536"/>
                <a:gd name="T7" fmla="*/ 0 60000 65536"/>
                <a:gd name="T8" fmla="*/ 0 60000 65536"/>
                <a:gd name="T9" fmla="*/ 0 w 105"/>
                <a:gd name="T10" fmla="*/ 0 h 209"/>
                <a:gd name="T11" fmla="*/ 105 w 105"/>
                <a:gd name="T12" fmla="*/ 209 h 209"/>
              </a:gdLst>
              <a:ahLst/>
              <a:cxnLst>
                <a:cxn ang="T6">
                  <a:pos x="T0" y="T1"/>
                </a:cxn>
                <a:cxn ang="T7">
                  <a:pos x="T2" y="T3"/>
                </a:cxn>
                <a:cxn ang="T8">
                  <a:pos x="T4" y="T5"/>
                </a:cxn>
              </a:cxnLst>
              <a:rect l="T9" t="T10" r="T11" b="T12"/>
              <a:pathLst>
                <a:path w="105" h="209">
                  <a:moveTo>
                    <a:pt x="104" y="208"/>
                  </a:moveTo>
                  <a:lnTo>
                    <a:pt x="80" y="80"/>
                  </a:lnTo>
                  <a:lnTo>
                    <a:pt x="0" y="0"/>
                  </a:lnTo>
                </a:path>
              </a:pathLst>
            </a:custGeom>
            <a:noFill/>
            <a:ln w="12700" cap="rnd">
              <a:solidFill>
                <a:srgbClr val="000000"/>
              </a:solidFill>
              <a:round/>
              <a:headEnd/>
              <a:tailEnd/>
            </a:ln>
          </p:spPr>
          <p:txBody>
            <a:bodyPr>
              <a:prstTxWarp prst="textNoShape">
                <a:avLst/>
              </a:prstTxWarp>
            </a:bodyPr>
            <a:lstStyle/>
            <a:p>
              <a:endParaRPr lang="en-GB"/>
            </a:p>
          </p:txBody>
        </p:sp>
        <p:sp>
          <p:nvSpPr>
            <p:cNvPr id="35884" name="Freeform 32"/>
            <p:cNvSpPr>
              <a:spLocks/>
            </p:cNvSpPr>
            <p:nvPr/>
          </p:nvSpPr>
          <p:spPr bwMode="auto">
            <a:xfrm>
              <a:off x="4992" y="3327"/>
              <a:ext cx="105" cy="209"/>
            </a:xfrm>
            <a:custGeom>
              <a:avLst/>
              <a:gdLst>
                <a:gd name="T0" fmla="*/ 104 w 105"/>
                <a:gd name="T1" fmla="*/ 208 h 209"/>
                <a:gd name="T2" fmla="*/ 80 w 105"/>
                <a:gd name="T3" fmla="*/ 80 h 209"/>
                <a:gd name="T4" fmla="*/ 0 w 105"/>
                <a:gd name="T5" fmla="*/ 0 h 209"/>
                <a:gd name="T6" fmla="*/ 0 60000 65536"/>
                <a:gd name="T7" fmla="*/ 0 60000 65536"/>
                <a:gd name="T8" fmla="*/ 0 60000 65536"/>
                <a:gd name="T9" fmla="*/ 0 w 105"/>
                <a:gd name="T10" fmla="*/ 0 h 209"/>
                <a:gd name="T11" fmla="*/ 105 w 105"/>
                <a:gd name="T12" fmla="*/ 209 h 209"/>
              </a:gdLst>
              <a:ahLst/>
              <a:cxnLst>
                <a:cxn ang="T6">
                  <a:pos x="T0" y="T1"/>
                </a:cxn>
                <a:cxn ang="T7">
                  <a:pos x="T2" y="T3"/>
                </a:cxn>
                <a:cxn ang="T8">
                  <a:pos x="T4" y="T5"/>
                </a:cxn>
              </a:cxnLst>
              <a:rect l="T9" t="T10" r="T11" b="T12"/>
              <a:pathLst>
                <a:path w="105" h="209">
                  <a:moveTo>
                    <a:pt x="104" y="208"/>
                  </a:moveTo>
                  <a:lnTo>
                    <a:pt x="80" y="80"/>
                  </a:lnTo>
                  <a:lnTo>
                    <a:pt x="0" y="0"/>
                  </a:lnTo>
                </a:path>
              </a:pathLst>
            </a:custGeom>
            <a:noFill/>
            <a:ln w="12700" cap="rnd">
              <a:solidFill>
                <a:schemeClr val="tx1"/>
              </a:solidFill>
              <a:round/>
              <a:headEnd/>
              <a:tailEnd/>
            </a:ln>
          </p:spPr>
          <p:txBody>
            <a:bodyPr>
              <a:prstTxWarp prst="textNoShape">
                <a:avLst/>
              </a:prstTxWarp>
            </a:bodyPr>
            <a:lstStyle/>
            <a:p>
              <a:endParaRPr lang="en-GB"/>
            </a:p>
          </p:txBody>
        </p:sp>
        <p:sp>
          <p:nvSpPr>
            <p:cNvPr id="35885" name="Oval 33"/>
            <p:cNvSpPr>
              <a:spLocks noChangeArrowheads="1"/>
            </p:cNvSpPr>
            <p:nvPr/>
          </p:nvSpPr>
          <p:spPr bwMode="auto">
            <a:xfrm>
              <a:off x="4956" y="3299"/>
              <a:ext cx="56" cy="40"/>
            </a:xfrm>
            <a:prstGeom prst="ellipse">
              <a:avLst/>
            </a:prstGeom>
            <a:solidFill>
              <a:schemeClr val="accent2"/>
            </a:solidFill>
            <a:ln w="12700">
              <a:solidFill>
                <a:schemeClr val="tx1"/>
              </a:solidFill>
              <a:round/>
              <a:headEnd/>
              <a:tailEnd/>
            </a:ln>
          </p:spPr>
          <p:txBody>
            <a:bodyPr wrap="none" anchor="ctr">
              <a:prstTxWarp prst="textNoShape">
                <a:avLst/>
              </a:prstTxWarp>
            </a:bodyPr>
            <a:lstStyle/>
            <a:p>
              <a:endParaRPr lang="en-GB"/>
            </a:p>
          </p:txBody>
        </p:sp>
      </p:grpSp>
      <p:grpSp>
        <p:nvGrpSpPr>
          <p:cNvPr id="3" name="Group 34"/>
          <p:cNvGrpSpPr>
            <a:grpSpLocks/>
          </p:cNvGrpSpPr>
          <p:nvPr/>
        </p:nvGrpSpPr>
        <p:grpSpPr bwMode="auto">
          <a:xfrm>
            <a:off x="6264276" y="228600"/>
            <a:ext cx="2574925" cy="1455738"/>
            <a:chOff x="2231" y="2774"/>
            <a:chExt cx="1622" cy="917"/>
          </a:xfrm>
        </p:grpSpPr>
        <p:sp>
          <p:nvSpPr>
            <p:cNvPr id="1111075" name="Rectangle 35"/>
            <p:cNvSpPr>
              <a:spLocks noChangeArrowheads="1"/>
            </p:cNvSpPr>
            <p:nvPr/>
          </p:nvSpPr>
          <p:spPr bwMode="auto">
            <a:xfrm>
              <a:off x="2231" y="2774"/>
              <a:ext cx="1622" cy="229"/>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dirty="0">
                  <a:solidFill>
                    <a:srgbClr val="FA4C1C"/>
                  </a:solidFill>
                  <a:effectLst>
                    <a:outerShdw blurRad="38100" dist="38100" dir="2700000" algn="tl">
                      <a:srgbClr val="DDDDDD"/>
                    </a:outerShdw>
                  </a:effectLst>
                  <a:latin typeface="Helvetica" charset="0"/>
                </a:rPr>
                <a:t>"Bugs lurk in corners </a:t>
              </a:r>
            </a:p>
          </p:txBody>
        </p:sp>
        <p:sp>
          <p:nvSpPr>
            <p:cNvPr id="1111076" name="Rectangle 36"/>
            <p:cNvSpPr>
              <a:spLocks noChangeArrowheads="1"/>
            </p:cNvSpPr>
            <p:nvPr/>
          </p:nvSpPr>
          <p:spPr bwMode="auto">
            <a:xfrm>
              <a:off x="2231" y="2974"/>
              <a:ext cx="1394" cy="229"/>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a:solidFill>
                    <a:srgbClr val="FA4C1C"/>
                  </a:solidFill>
                  <a:effectLst>
                    <a:outerShdw blurRad="38100" dist="38100" dir="2700000" algn="tl">
                      <a:srgbClr val="DDDDDD"/>
                    </a:outerShdw>
                  </a:effectLst>
                  <a:latin typeface="Helvetica" charset="0"/>
                </a:rPr>
                <a:t>and congregate at </a:t>
              </a:r>
            </a:p>
          </p:txBody>
        </p:sp>
        <p:sp>
          <p:nvSpPr>
            <p:cNvPr id="1111077" name="Rectangle 37"/>
            <p:cNvSpPr>
              <a:spLocks noChangeArrowheads="1"/>
            </p:cNvSpPr>
            <p:nvPr/>
          </p:nvSpPr>
          <p:spPr bwMode="auto">
            <a:xfrm>
              <a:off x="2231" y="3174"/>
              <a:ext cx="1118" cy="229"/>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a:solidFill>
                    <a:srgbClr val="FA4C1C"/>
                  </a:solidFill>
                  <a:effectLst>
                    <a:outerShdw blurRad="38100" dist="38100" dir="2700000" algn="tl">
                      <a:srgbClr val="DDDDDD"/>
                    </a:outerShdw>
                  </a:effectLst>
                  <a:latin typeface="Helvetica" charset="0"/>
                </a:rPr>
                <a:t>boundaries ..."</a:t>
              </a:r>
            </a:p>
          </p:txBody>
        </p:sp>
        <p:sp>
          <p:nvSpPr>
            <p:cNvPr id="1111078" name="Rectangle 38"/>
            <p:cNvSpPr>
              <a:spLocks noChangeArrowheads="1"/>
            </p:cNvSpPr>
            <p:nvPr/>
          </p:nvSpPr>
          <p:spPr bwMode="auto">
            <a:xfrm>
              <a:off x="2855" y="3462"/>
              <a:ext cx="954" cy="229"/>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i="1">
                  <a:solidFill>
                    <a:srgbClr val="FA4C1C"/>
                  </a:solidFill>
                  <a:effectLst>
                    <a:outerShdw blurRad="38100" dist="38100" dir="2700000" algn="tl">
                      <a:srgbClr val="DDDDDD"/>
                    </a:outerShdw>
                  </a:effectLst>
                  <a:latin typeface="Helvetica" charset="0"/>
                </a:rPr>
                <a:t>Boris Beizer</a:t>
              </a:r>
            </a:p>
          </p:txBody>
        </p:sp>
      </p:grpSp>
      <p:sp>
        <p:nvSpPr>
          <p:cNvPr id="1111080" name="Rectangle 40"/>
          <p:cNvSpPr>
            <a:spLocks noChangeArrowheads="1"/>
          </p:cNvSpPr>
          <p:nvPr/>
        </p:nvSpPr>
        <p:spPr bwMode="auto">
          <a:xfrm>
            <a:off x="1017587" y="1316076"/>
            <a:ext cx="182806" cy="643766"/>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endParaRPr lang="en-US" b="1" i="1">
              <a:solidFill>
                <a:schemeClr val="bg1"/>
              </a:solidFill>
              <a:effectLst>
                <a:outerShdw blurRad="38100" dist="38100" dir="2700000" algn="tl">
                  <a:srgbClr val="DDDDDD"/>
                </a:outerShdw>
              </a:effectLst>
              <a:latin typeface="Helvetica" charset="0"/>
            </a:endParaRPr>
          </a:p>
          <a:p>
            <a:pPr eaLnBrk="0" hangingPunct="0">
              <a:spcBef>
                <a:spcPct val="0"/>
              </a:spcBef>
              <a:buClrTx/>
              <a:buFontTx/>
              <a:buNone/>
              <a:defRPr/>
            </a:pPr>
            <a:endParaRPr lang="en-US" b="1" i="1">
              <a:solidFill>
                <a:schemeClr val="bg1"/>
              </a:solidFill>
              <a:effectLst>
                <a:outerShdw blurRad="38100" dist="38100" dir="2700000" algn="tl">
                  <a:srgbClr val="DDDDDD"/>
                </a:outerShdw>
              </a:effectLst>
              <a:latin typeface="Helvetica" charset="0"/>
            </a:endParaRPr>
          </a:p>
        </p:txBody>
      </p:sp>
      <p:sp>
        <p:nvSpPr>
          <p:cNvPr id="1111042" name="Text Box 2"/>
          <p:cNvSpPr txBox="1">
            <a:spLocks noChangeArrowheads="1"/>
          </p:cNvSpPr>
          <p:nvPr/>
        </p:nvSpPr>
        <p:spPr bwMode="auto">
          <a:xfrm>
            <a:off x="741362" y="2595601"/>
            <a:ext cx="7924800" cy="369332"/>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a:solidFill>
                  <a:srgbClr val="000000"/>
                </a:solidFill>
                <a:latin typeface="Times New Roman" charset="0"/>
                <a:ea typeface="Times New Roman" charset="0"/>
                <a:cs typeface="Times New Roman" charset="0"/>
              </a:rPr>
              <a:t>A </a:t>
            </a:r>
            <a:r>
              <a:rPr lang="en-US">
                <a:solidFill>
                  <a:srgbClr val="FA4C1C"/>
                </a:solidFill>
                <a:latin typeface="Times New Roman" charset="0"/>
                <a:ea typeface="Times New Roman" charset="0"/>
                <a:cs typeface="Times New Roman" charset="0"/>
              </a:rPr>
              <a:t>successful test --</a:t>
            </a:r>
            <a:r>
              <a:rPr lang="en-US">
                <a:solidFill>
                  <a:srgbClr val="000000"/>
                </a:solidFill>
                <a:latin typeface="Times New Roman" charset="0"/>
                <a:ea typeface="Times New Roman" charset="0"/>
                <a:cs typeface="Times New Roman" charset="0"/>
              </a:rPr>
              <a:t> -- </a:t>
            </a:r>
            <a:r>
              <a:rPr lang="en-US">
                <a:solidFill>
                  <a:srgbClr val="0000FF"/>
                </a:solidFill>
                <a:latin typeface="Times New Roman" charset="0"/>
                <a:ea typeface="Times New Roman" charset="0"/>
                <a:cs typeface="Times New Roman" charset="0"/>
              </a:rPr>
              <a:t>that uncovers</a:t>
            </a:r>
            <a:r>
              <a:rPr lang="en-US">
                <a:solidFill>
                  <a:srgbClr val="000000"/>
                </a:solidFill>
                <a:latin typeface="Times New Roman" charset="0"/>
                <a:ea typeface="Times New Roman" charset="0"/>
                <a:cs typeface="Times New Roman" charset="0"/>
              </a:rPr>
              <a:t> an as-yet </a:t>
            </a:r>
            <a:r>
              <a:rPr lang="en-US">
                <a:solidFill>
                  <a:srgbClr val="0000FF"/>
                </a:solidFill>
                <a:latin typeface="Times New Roman" charset="0"/>
                <a:ea typeface="Times New Roman" charset="0"/>
                <a:cs typeface="Times New Roman" charset="0"/>
              </a:rPr>
              <a:t>undiscovered error</a:t>
            </a:r>
            <a:r>
              <a:rPr lang="en-US">
                <a:solidFill>
                  <a:srgbClr val="000000"/>
                </a:solidFill>
                <a:latin typeface="Times New Roman" charset="0"/>
                <a:ea typeface="Times New Roman" charset="0"/>
                <a:cs typeface="Times New Roman" charset="0"/>
              </a:rPr>
              <a:t>. </a:t>
            </a:r>
          </a:p>
        </p:txBody>
      </p:sp>
      <p:sp>
        <p:nvSpPr>
          <p:cNvPr id="1111044" name="Text Box 4"/>
          <p:cNvSpPr txBox="1">
            <a:spLocks noChangeArrowheads="1"/>
          </p:cNvSpPr>
          <p:nvPr/>
        </p:nvSpPr>
        <p:spPr bwMode="auto">
          <a:xfrm>
            <a:off x="741362" y="3016288"/>
            <a:ext cx="7924800" cy="1477328"/>
          </a:xfrm>
          <a:prstGeom prst="rect">
            <a:avLst/>
          </a:prstGeom>
          <a:noFill/>
          <a:ln w="9525">
            <a:noFill/>
            <a:miter lim="800000"/>
            <a:headEnd/>
            <a:tailEnd/>
          </a:ln>
        </p:spPr>
        <p:txBody>
          <a:bodyPr>
            <a:prstTxWarp prst="textNoShape">
              <a:avLst/>
            </a:prstTxWarp>
            <a:spAutoFit/>
          </a:bodyPr>
          <a:lstStyle/>
          <a:p>
            <a:pPr marL="457200" indent="-457200" algn="just">
              <a:spcBef>
                <a:spcPct val="0"/>
              </a:spcBef>
              <a:buFont typeface="Symbol" charset="2"/>
              <a:buChar char="¨"/>
            </a:pPr>
            <a:r>
              <a:rPr lang="en-US">
                <a:solidFill>
                  <a:srgbClr val="FA4C1C"/>
                </a:solidFill>
                <a:latin typeface="Times New Roman" charset="0"/>
                <a:ea typeface="Times New Roman" charset="0"/>
                <a:cs typeface="Times New Roman" charset="0"/>
              </a:rPr>
              <a:t>Minimum number of required tests</a:t>
            </a:r>
            <a:r>
              <a:rPr lang="en-US">
                <a:solidFill>
                  <a:srgbClr val="000000"/>
                </a:solidFill>
                <a:latin typeface="Times New Roman" charset="0"/>
                <a:ea typeface="Times New Roman" charset="0"/>
                <a:cs typeface="Times New Roman" charset="0"/>
              </a:rPr>
              <a:t> with </a:t>
            </a:r>
            <a:r>
              <a:rPr lang="en-US">
                <a:solidFill>
                  <a:srgbClr val="0000FF"/>
                </a:solidFill>
                <a:latin typeface="Times New Roman" charset="0"/>
                <a:ea typeface="Times New Roman" charset="0"/>
                <a:cs typeface="Times New Roman" charset="0"/>
              </a:rPr>
              <a:t>100% functional coverage</a:t>
            </a:r>
            <a:r>
              <a:rPr lang="en-US">
                <a:solidFill>
                  <a:srgbClr val="000000"/>
                </a:solidFill>
                <a:latin typeface="Times New Roman" charset="0"/>
                <a:ea typeface="Times New Roman" charset="0"/>
                <a:cs typeface="Times New Roman" charset="0"/>
              </a:rPr>
              <a:t> and </a:t>
            </a:r>
            <a:r>
              <a:rPr lang="en-US">
                <a:solidFill>
                  <a:srgbClr val="0000FF"/>
                </a:solidFill>
                <a:latin typeface="Times New Roman" charset="0"/>
                <a:ea typeface="Times New Roman" charset="0"/>
                <a:cs typeface="Times New Roman" charset="0"/>
              </a:rPr>
              <a:t>0% redundancy</a:t>
            </a:r>
            <a:r>
              <a:rPr lang="en-US">
                <a:solidFill>
                  <a:srgbClr val="000000"/>
                </a:solidFill>
                <a:latin typeface="Times New Roman" charset="0"/>
                <a:ea typeface="Times New Roman" charset="0"/>
                <a:cs typeface="Times New Roman" charset="0"/>
              </a:rPr>
              <a:t>.</a:t>
            </a:r>
          </a:p>
          <a:p>
            <a:pPr marL="457200" indent="-457200" algn="just">
              <a:spcBef>
                <a:spcPct val="0"/>
              </a:spcBef>
              <a:buFont typeface="Symbol" charset="2"/>
              <a:buChar char="¨"/>
            </a:pPr>
            <a:r>
              <a:rPr lang="en-US">
                <a:solidFill>
                  <a:srgbClr val="000000"/>
                </a:solidFill>
                <a:latin typeface="Times New Roman" charset="0"/>
                <a:ea typeface="Times New Roman" charset="0"/>
                <a:cs typeface="Times New Roman" charset="0"/>
              </a:rPr>
              <a:t>Rich variety of </a:t>
            </a:r>
            <a:r>
              <a:rPr lang="en-US">
                <a:solidFill>
                  <a:srgbClr val="FA4C1C"/>
                </a:solidFill>
                <a:latin typeface="Times New Roman" charset="0"/>
                <a:ea typeface="Times New Roman" charset="0"/>
                <a:cs typeface="Times New Roman" charset="0"/>
              </a:rPr>
              <a:t>test case design methods</a:t>
            </a:r>
          </a:p>
          <a:p>
            <a:pPr marL="457200" indent="-457200" algn="just">
              <a:spcBef>
                <a:spcPct val="0"/>
              </a:spcBef>
            </a:pPr>
            <a:r>
              <a:rPr lang="en-US">
                <a:solidFill>
                  <a:srgbClr val="000000"/>
                </a:solidFill>
                <a:latin typeface="Times New Roman" charset="0"/>
                <a:ea typeface="Times New Roman" charset="0"/>
                <a:cs typeface="Times New Roman" charset="0"/>
              </a:rPr>
              <a:t>	- Cause-effect graphing, Equivalence Class Partitioning, Boundary Analysis, and vendor specific: client/server, OO test case design.</a:t>
            </a:r>
          </a:p>
        </p:txBody>
      </p:sp>
      <p:sp>
        <p:nvSpPr>
          <p:cNvPr id="1111045" name="Text Box 5"/>
          <p:cNvSpPr txBox="1">
            <a:spLocks noChangeArrowheads="1"/>
          </p:cNvSpPr>
          <p:nvPr/>
        </p:nvSpPr>
        <p:spPr bwMode="auto">
          <a:xfrm>
            <a:off x="817562" y="4499013"/>
            <a:ext cx="7543800" cy="923330"/>
          </a:xfrm>
          <a:prstGeom prst="rect">
            <a:avLst/>
          </a:prstGeom>
          <a:noFill/>
          <a:ln w="9525">
            <a:noFill/>
            <a:miter lim="800000"/>
            <a:headEnd/>
            <a:tailEnd/>
          </a:ln>
        </p:spPr>
        <p:txBody>
          <a:bodyPr>
            <a:prstTxWarp prst="textNoShape">
              <a:avLst/>
            </a:prstTxWarp>
            <a:spAutoFit/>
          </a:bodyPr>
          <a:lstStyle/>
          <a:p>
            <a:pPr marL="457200" indent="-457200" algn="just">
              <a:spcBef>
                <a:spcPct val="0"/>
              </a:spcBef>
            </a:pPr>
            <a:r>
              <a:rPr lang="en-US" b="1">
                <a:solidFill>
                  <a:srgbClr val="3333FF"/>
                </a:solidFill>
                <a:latin typeface="Times New Roman" charset="0"/>
                <a:ea typeface="Times New Roman" charset="0"/>
                <a:cs typeface="Times New Roman" charset="0"/>
              </a:rPr>
              <a:t>Possible approaches:</a:t>
            </a:r>
          </a:p>
          <a:p>
            <a:pPr marL="457200" indent="-457200" algn="just">
              <a:spcBef>
                <a:spcPct val="0"/>
              </a:spcBef>
            </a:pPr>
            <a:r>
              <a:rPr lang="en-US">
                <a:solidFill>
                  <a:srgbClr val="000000"/>
                </a:solidFill>
                <a:latin typeface="Times New Roman" charset="0"/>
                <a:ea typeface="Times New Roman" charset="0"/>
                <a:cs typeface="Times New Roman" charset="0"/>
              </a:rPr>
              <a:t>(1) Knowing the </a:t>
            </a:r>
            <a:r>
              <a:rPr lang="en-US">
                <a:solidFill>
                  <a:srgbClr val="FA4C1C"/>
                </a:solidFill>
                <a:latin typeface="Times New Roman" charset="0"/>
                <a:ea typeface="Times New Roman" charset="0"/>
                <a:cs typeface="Times New Roman" charset="0"/>
              </a:rPr>
              <a:t>specified functions</a:t>
            </a:r>
            <a:r>
              <a:rPr lang="en-US">
                <a:solidFill>
                  <a:srgbClr val="000000"/>
                </a:solidFill>
                <a:latin typeface="Times New Roman" charset="0"/>
                <a:ea typeface="Times New Roman" charset="0"/>
                <a:cs typeface="Times New Roman" charset="0"/>
              </a:rPr>
              <a:t>, </a:t>
            </a:r>
            <a:r>
              <a:rPr lang="en-US">
                <a:solidFill>
                  <a:srgbClr val="0000FF"/>
                </a:solidFill>
                <a:latin typeface="Times New Roman" charset="0"/>
                <a:ea typeface="Times New Roman" charset="0"/>
                <a:cs typeface="Times New Roman" charset="0"/>
              </a:rPr>
              <a:t>tests can be conducted</a:t>
            </a:r>
            <a:r>
              <a:rPr lang="en-US">
                <a:solidFill>
                  <a:srgbClr val="000000"/>
                </a:solidFill>
                <a:latin typeface="Times New Roman" charset="0"/>
                <a:ea typeface="Times New Roman" charset="0"/>
                <a:cs typeface="Times New Roman" charset="0"/>
              </a:rPr>
              <a:t> to </a:t>
            </a:r>
            <a:r>
              <a:rPr lang="en-US">
                <a:solidFill>
                  <a:srgbClr val="0000FF"/>
                </a:solidFill>
                <a:latin typeface="Times New Roman" charset="0"/>
                <a:ea typeface="Times New Roman" charset="0"/>
                <a:cs typeface="Times New Roman" charset="0"/>
              </a:rPr>
              <a:t>demonstrate </a:t>
            </a:r>
            <a:r>
              <a:rPr lang="en-US">
                <a:solidFill>
                  <a:srgbClr val="000000"/>
                </a:solidFill>
                <a:latin typeface="Times New Roman" charset="0"/>
                <a:ea typeface="Times New Roman" charset="0"/>
                <a:cs typeface="Times New Roman" charset="0"/>
              </a:rPr>
              <a:t>that each </a:t>
            </a:r>
            <a:r>
              <a:rPr lang="en-US">
                <a:solidFill>
                  <a:srgbClr val="FA4C1C"/>
                </a:solidFill>
                <a:latin typeface="Times New Roman" charset="0"/>
                <a:ea typeface="Times New Roman" charset="0"/>
                <a:cs typeface="Times New Roman" charset="0"/>
              </a:rPr>
              <a:t>function is fully operational  </a:t>
            </a:r>
            <a:r>
              <a:rPr lang="en-US">
                <a:solidFill>
                  <a:srgbClr val="3333FF"/>
                </a:solidFill>
                <a:latin typeface="Times New Roman" charset="0"/>
                <a:ea typeface="Times New Roman" charset="0"/>
                <a:cs typeface="Times New Roman" charset="0"/>
              </a:rPr>
              <a:t>(</a:t>
            </a:r>
            <a:r>
              <a:rPr lang="en-US" b="1">
                <a:solidFill>
                  <a:srgbClr val="3333FF"/>
                </a:solidFill>
                <a:latin typeface="Times New Roman" charset="0"/>
                <a:ea typeface="Times New Roman" charset="0"/>
                <a:cs typeface="Times New Roman" charset="0"/>
              </a:rPr>
              <a:t>Black Box</a:t>
            </a:r>
            <a:r>
              <a:rPr lang="en-US">
                <a:solidFill>
                  <a:srgbClr val="3333FF"/>
                </a:solidFill>
                <a:latin typeface="Times New Roman" charset="0"/>
                <a:ea typeface="Times New Roman" charset="0"/>
                <a:cs typeface="Times New Roman" charset="0"/>
              </a:rPr>
              <a:t>).</a:t>
            </a:r>
          </a:p>
        </p:txBody>
      </p:sp>
      <p:sp>
        <p:nvSpPr>
          <p:cNvPr id="1111046" name="Text Box 6"/>
          <p:cNvSpPr txBox="1">
            <a:spLocks noChangeArrowheads="1"/>
          </p:cNvSpPr>
          <p:nvPr/>
        </p:nvSpPr>
        <p:spPr bwMode="auto">
          <a:xfrm>
            <a:off x="817562" y="5408652"/>
            <a:ext cx="7543800" cy="646331"/>
          </a:xfrm>
          <a:prstGeom prst="rect">
            <a:avLst/>
          </a:prstGeom>
          <a:noFill/>
          <a:ln w="9525">
            <a:noFill/>
            <a:miter lim="800000"/>
            <a:headEnd/>
            <a:tailEnd/>
          </a:ln>
        </p:spPr>
        <p:txBody>
          <a:bodyPr>
            <a:prstTxWarp prst="textNoShape">
              <a:avLst/>
            </a:prstTxWarp>
            <a:spAutoFit/>
          </a:bodyPr>
          <a:lstStyle/>
          <a:p>
            <a:pPr marL="457200" indent="-457200" algn="just">
              <a:spcBef>
                <a:spcPct val="0"/>
              </a:spcBef>
            </a:pPr>
            <a:r>
              <a:rPr lang="en-US">
                <a:solidFill>
                  <a:srgbClr val="000000"/>
                </a:solidFill>
                <a:latin typeface="Times New Roman" charset="0"/>
                <a:ea typeface="Times New Roman" charset="0"/>
                <a:cs typeface="Times New Roman" charset="0"/>
              </a:rPr>
              <a:t>(2)  Knowing the </a:t>
            </a:r>
            <a:r>
              <a:rPr lang="en-US">
                <a:solidFill>
                  <a:srgbClr val="FA4C1C"/>
                </a:solidFill>
                <a:latin typeface="Times New Roman" charset="0"/>
                <a:ea typeface="Times New Roman" charset="0"/>
                <a:cs typeface="Times New Roman" charset="0"/>
              </a:rPr>
              <a:t>internal workings</a:t>
            </a:r>
            <a:r>
              <a:rPr lang="en-US">
                <a:solidFill>
                  <a:srgbClr val="000000"/>
                </a:solidFill>
                <a:latin typeface="Times New Roman" charset="0"/>
                <a:ea typeface="Times New Roman" charset="0"/>
                <a:cs typeface="Times New Roman" charset="0"/>
              </a:rPr>
              <a:t> of a product, </a:t>
            </a:r>
            <a:r>
              <a:rPr lang="en-US">
                <a:solidFill>
                  <a:srgbClr val="0000FF"/>
                </a:solidFill>
                <a:latin typeface="Times New Roman" charset="0"/>
                <a:ea typeface="Times New Roman" charset="0"/>
                <a:cs typeface="Times New Roman" charset="0"/>
              </a:rPr>
              <a:t>tests</a:t>
            </a:r>
            <a:r>
              <a:rPr lang="en-US">
                <a:solidFill>
                  <a:srgbClr val="000000"/>
                </a:solidFill>
                <a:latin typeface="Times New Roman" charset="0"/>
                <a:ea typeface="Times New Roman" charset="0"/>
                <a:cs typeface="Times New Roman" charset="0"/>
              </a:rPr>
              <a:t> can be conducted to ensure that “all gears mesh“ (</a:t>
            </a:r>
            <a:r>
              <a:rPr lang="en-US" b="1">
                <a:solidFill>
                  <a:srgbClr val="3333FF"/>
                </a:solidFill>
                <a:latin typeface="Times New Roman" charset="0"/>
                <a:ea typeface="Times New Roman" charset="0"/>
                <a:cs typeface="Times New Roman" charset="0"/>
              </a:rPr>
              <a:t>White Box</a:t>
            </a:r>
            <a:r>
              <a:rPr lang="en-US">
                <a:solidFill>
                  <a:srgbClr val="000000"/>
                </a:solidFill>
                <a:latin typeface="Times New Roman" charset="0"/>
                <a:ea typeface="Times New Roman" charset="0"/>
                <a:cs typeface="Times New Roman" charset="0"/>
              </a:rPr>
              <a:t>). </a:t>
            </a:r>
          </a:p>
        </p:txBody>
      </p:sp>
      <p:sp>
        <p:nvSpPr>
          <p:cNvPr id="1111079" name="Rectangle 39"/>
          <p:cNvSpPr>
            <a:spLocks noChangeArrowheads="1"/>
          </p:cNvSpPr>
          <p:nvPr/>
        </p:nvSpPr>
        <p:spPr bwMode="auto">
          <a:xfrm>
            <a:off x="877888" y="1297027"/>
            <a:ext cx="3800475" cy="363537"/>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i="1">
                <a:solidFill>
                  <a:srgbClr val="FA4C1C"/>
                </a:solidFill>
                <a:effectLst>
                  <a:outerShdw blurRad="38100" dist="38100" dir="2700000" algn="tl">
                    <a:srgbClr val="DDDDDD"/>
                  </a:outerShdw>
                </a:effectLst>
                <a:latin typeface="Helvetica" charset="0"/>
              </a:rPr>
              <a:t>OBJECTIVE</a:t>
            </a:r>
            <a:r>
              <a:rPr lang="en-US" b="1" i="1">
                <a:solidFill>
                  <a:srgbClr val="0000FF"/>
                </a:solidFill>
                <a:effectLst>
                  <a:outerShdw blurRad="38100" dist="38100" dir="2700000" algn="tl">
                    <a:srgbClr val="DDDDDD"/>
                  </a:outerShdw>
                </a:effectLst>
                <a:latin typeface="Helvetica" charset="0"/>
              </a:rPr>
              <a:t> ---- </a:t>
            </a:r>
            <a:r>
              <a:rPr lang="en-US" b="1">
                <a:solidFill>
                  <a:srgbClr val="0000FF"/>
                </a:solidFill>
                <a:effectLst>
                  <a:outerShdw blurRad="38100" dist="38100" dir="2700000" algn="tl">
                    <a:srgbClr val="DDDDDD"/>
                  </a:outerShdw>
                </a:effectLst>
                <a:latin typeface="Helvetica" charset="0"/>
              </a:rPr>
              <a:t>to uncover errors</a:t>
            </a:r>
            <a:endParaRPr lang="en-US" b="1" i="1">
              <a:solidFill>
                <a:srgbClr val="0000FF"/>
              </a:solidFill>
              <a:effectLst>
                <a:outerShdw blurRad="38100" dist="38100" dir="2700000" algn="tl">
                  <a:srgbClr val="DDDDDD"/>
                </a:outerShdw>
              </a:effectLst>
              <a:latin typeface="Helvetica" charset="0"/>
            </a:endParaRPr>
          </a:p>
        </p:txBody>
      </p:sp>
      <p:sp>
        <p:nvSpPr>
          <p:cNvPr id="1111081" name="Rectangle 41"/>
          <p:cNvSpPr>
            <a:spLocks noChangeArrowheads="1"/>
          </p:cNvSpPr>
          <p:nvPr/>
        </p:nvSpPr>
        <p:spPr bwMode="auto">
          <a:xfrm>
            <a:off x="877888" y="1700252"/>
            <a:ext cx="4117975" cy="363537"/>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i="1" dirty="0">
                <a:solidFill>
                  <a:srgbClr val="FA4C1C"/>
                </a:solidFill>
                <a:effectLst>
                  <a:outerShdw blurRad="38100" dist="38100" dir="2700000" algn="tl">
                    <a:srgbClr val="DDDDDD"/>
                  </a:outerShdw>
                </a:effectLst>
                <a:latin typeface="Helvetica" charset="0"/>
              </a:rPr>
              <a:t>CRITERIA</a:t>
            </a:r>
            <a:r>
              <a:rPr lang="en-US" b="1" i="1" dirty="0">
                <a:solidFill>
                  <a:schemeClr val="bg1"/>
                </a:solidFill>
                <a:effectLst>
                  <a:outerShdw blurRad="38100" dist="38100" dir="2700000" algn="tl">
                    <a:srgbClr val="DDDDDD"/>
                  </a:outerShdw>
                </a:effectLst>
                <a:latin typeface="Helvetica" charset="0"/>
              </a:rPr>
              <a:t> </a:t>
            </a:r>
            <a:r>
              <a:rPr lang="en-US" b="1" i="1" dirty="0">
                <a:solidFill>
                  <a:srgbClr val="0000FF"/>
                </a:solidFill>
                <a:effectLst>
                  <a:outerShdw blurRad="38100" dist="38100" dir="2700000" algn="tl">
                    <a:srgbClr val="DDDDDD"/>
                  </a:outerShdw>
                </a:effectLst>
                <a:latin typeface="Helvetica" charset="0"/>
              </a:rPr>
              <a:t>-----</a:t>
            </a:r>
            <a:r>
              <a:rPr lang="en-US" b="1" i="1" dirty="0">
                <a:solidFill>
                  <a:schemeClr val="bg1"/>
                </a:solidFill>
                <a:effectLst>
                  <a:outerShdw blurRad="38100" dist="38100" dir="2700000" algn="tl">
                    <a:srgbClr val="DDDDDD"/>
                  </a:outerShdw>
                </a:effectLst>
                <a:latin typeface="Helvetica" charset="0"/>
              </a:rPr>
              <a:t> </a:t>
            </a:r>
            <a:r>
              <a:rPr lang="en-US" b="1" dirty="0">
                <a:solidFill>
                  <a:srgbClr val="0000FF"/>
                </a:solidFill>
                <a:effectLst>
                  <a:outerShdw blurRad="38100" dist="38100" dir="2700000" algn="tl">
                    <a:srgbClr val="DDDDDD"/>
                  </a:outerShdw>
                </a:effectLst>
                <a:latin typeface="Helvetica" charset="0"/>
              </a:rPr>
              <a:t>In a complete manner</a:t>
            </a:r>
            <a:endParaRPr lang="en-US" b="1" i="1" dirty="0">
              <a:solidFill>
                <a:srgbClr val="0000FF"/>
              </a:solidFill>
              <a:effectLst>
                <a:outerShdw blurRad="38100" dist="38100" dir="2700000" algn="tl">
                  <a:srgbClr val="DDDDDD"/>
                </a:outerShdw>
              </a:effectLst>
              <a:latin typeface="Helvetica" charset="0"/>
            </a:endParaRPr>
          </a:p>
        </p:txBody>
      </p:sp>
      <p:sp>
        <p:nvSpPr>
          <p:cNvPr id="1111082" name="Rectangle 42"/>
          <p:cNvSpPr>
            <a:spLocks noChangeArrowheads="1"/>
          </p:cNvSpPr>
          <p:nvPr/>
        </p:nvSpPr>
        <p:spPr bwMode="auto">
          <a:xfrm>
            <a:off x="877888" y="2120938"/>
            <a:ext cx="5921375" cy="363538"/>
          </a:xfrm>
          <a:prstGeom prst="rect">
            <a:avLst/>
          </a:prstGeom>
          <a:noFill/>
          <a:ln w="25400">
            <a:noFill/>
            <a:miter lim="800000"/>
            <a:headEnd/>
            <a:tailEnd/>
          </a:ln>
          <a:effectLst/>
        </p:spPr>
        <p:txBody>
          <a:bodyPr wrap="none" lIns="90487" tIns="44450" rIns="90487" bIns="44450">
            <a:prstTxWarp prst="textNoShape">
              <a:avLst/>
            </a:prstTxWarp>
            <a:spAutoFit/>
          </a:bodyPr>
          <a:lstStyle/>
          <a:p>
            <a:pPr eaLnBrk="0" hangingPunct="0">
              <a:spcBef>
                <a:spcPct val="0"/>
              </a:spcBef>
              <a:buClrTx/>
              <a:buFontTx/>
              <a:buNone/>
              <a:defRPr/>
            </a:pPr>
            <a:r>
              <a:rPr lang="en-US" b="1" i="1">
                <a:solidFill>
                  <a:srgbClr val="FA4C1C"/>
                </a:solidFill>
                <a:effectLst>
                  <a:outerShdw blurRad="38100" dist="38100" dir="2700000" algn="tl">
                    <a:srgbClr val="DDDDDD"/>
                  </a:outerShdw>
                </a:effectLst>
                <a:latin typeface="Helvetica" charset="0"/>
              </a:rPr>
              <a:t>CONSTRAINT</a:t>
            </a:r>
            <a:r>
              <a:rPr lang="en-US" b="1" i="1">
                <a:solidFill>
                  <a:schemeClr val="bg1"/>
                </a:solidFill>
                <a:effectLst>
                  <a:outerShdw blurRad="38100" dist="38100" dir="2700000" algn="tl">
                    <a:srgbClr val="DDDDDD"/>
                  </a:outerShdw>
                </a:effectLst>
                <a:latin typeface="Helvetica" charset="0"/>
              </a:rPr>
              <a:t> </a:t>
            </a:r>
            <a:r>
              <a:rPr lang="en-US" b="1" i="1">
                <a:solidFill>
                  <a:srgbClr val="0000FF"/>
                </a:solidFill>
                <a:effectLst>
                  <a:outerShdw blurRad="38100" dist="38100" dir="2700000" algn="tl">
                    <a:srgbClr val="DDDDDD"/>
                  </a:outerShdw>
                </a:effectLst>
                <a:latin typeface="Helvetica" charset="0"/>
              </a:rPr>
              <a:t>------</a:t>
            </a:r>
            <a:r>
              <a:rPr lang="en-US" b="1" i="1">
                <a:solidFill>
                  <a:schemeClr val="bg1"/>
                </a:solidFill>
                <a:effectLst>
                  <a:outerShdw blurRad="38100" dist="38100" dir="2700000" algn="tl">
                    <a:srgbClr val="DDDDDD"/>
                  </a:outerShdw>
                </a:effectLst>
                <a:latin typeface="Helvetica" charset="0"/>
              </a:rPr>
              <a:t> </a:t>
            </a:r>
            <a:r>
              <a:rPr lang="en-US" b="1">
                <a:solidFill>
                  <a:srgbClr val="0000FF"/>
                </a:solidFill>
                <a:effectLst>
                  <a:outerShdw blurRad="38100" dist="38100" dir="2700000" algn="tl">
                    <a:srgbClr val="DDDDDD"/>
                  </a:outerShdw>
                </a:effectLst>
                <a:latin typeface="Helvetica" charset="0"/>
              </a:rPr>
              <a:t>with a minimum of effort and time</a:t>
            </a:r>
            <a:endParaRPr lang="en-US" b="1" i="1">
              <a:solidFill>
                <a:srgbClr val="0000FF"/>
              </a:solidFill>
              <a:effectLst>
                <a:outerShdw blurRad="38100" dist="38100" dir="2700000" algn="tl">
                  <a:srgbClr val="DDDDDD"/>
                </a:outerShdw>
              </a:effectLst>
              <a:latin typeface="Helvetica" charset="0"/>
            </a:endParaRPr>
          </a:p>
        </p:txBody>
      </p:sp>
      <p:sp>
        <p:nvSpPr>
          <p:cNvPr id="35855" name="Rectangle 43"/>
          <p:cNvSpPr>
            <a:spLocks noGrp="1" noChangeArrowheads="1"/>
          </p:cNvSpPr>
          <p:nvPr>
            <p:ph type="title" idx="4294967295"/>
          </p:nvPr>
        </p:nvSpPr>
        <p:spPr>
          <a:xfrm>
            <a:off x="731044" y="116669"/>
            <a:ext cx="3468688" cy="1108075"/>
          </a:xfrm>
        </p:spPr>
        <p:txBody>
          <a:bodyPr/>
          <a:lstStyle/>
          <a:p>
            <a:pPr eaLnBrk="1" hangingPunct="1"/>
            <a:r>
              <a:rPr lang="en-US" sz="3600" dirty="0">
                <a:solidFill>
                  <a:srgbClr val="0000FF"/>
                </a:solidFill>
              </a:rPr>
              <a:t>Test case design</a:t>
            </a:r>
          </a:p>
        </p:txBody>
      </p:sp>
      <p:sp>
        <p:nvSpPr>
          <p:cNvPr id="46" name="Slide Number Placeholder 45"/>
          <p:cNvSpPr>
            <a:spLocks noGrp="1"/>
          </p:cNvSpPr>
          <p:nvPr>
            <p:ph type="sldNum" sz="quarter" idx="11"/>
          </p:nvPr>
        </p:nvSpPr>
        <p:spPr/>
        <p:txBody>
          <a:bodyPr/>
          <a:lstStyle/>
          <a:p>
            <a:pPr>
              <a:defRPr/>
            </a:pPr>
            <a:fld id="{09326EE3-E9CF-F94B-BB0A-EA1E2EFF2881}" type="slidenum">
              <a:rPr lang="nl-NL" smtClean="0"/>
              <a:pPr>
                <a:defRPr/>
              </a:pPr>
              <a:t>33</a:t>
            </a:fld>
            <a:endParaRPr lang="nl-NL"/>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p:spPr>
      </p:pic>
      <p:sp>
        <p:nvSpPr>
          <p:cNvPr id="3" name="Slide Number Placeholder 2">
            <a:extLst>
              <a:ext uri="{FF2B5EF4-FFF2-40B4-BE49-F238E27FC236}">
                <a16:creationId xmlns:a16="http://schemas.microsoft.com/office/drawing/2014/main" id="{A41273A4-DCF5-44D5-9424-0C64C55405A2}"/>
              </a:ext>
            </a:extLst>
          </p:cNvPr>
          <p:cNvSpPr>
            <a:spLocks noGrp="1"/>
          </p:cNvSpPr>
          <p:nvPr>
            <p:ph type="sldNum" sz="quarter" idx="12"/>
          </p:nvPr>
        </p:nvSpPr>
        <p:spPr/>
        <p:txBody>
          <a:bodyPr/>
          <a:lstStyle/>
          <a:p>
            <a:fld id="{51A81361-66D7-4C6D-A462-B780D05B41E3}" type="slidenum">
              <a:rPr lang="en-US" smtClean="0"/>
              <a:t>34</a:t>
            </a:fld>
            <a:endParaRPr lang="en-US" dirty="0"/>
          </a:p>
        </p:txBody>
      </p:sp>
    </p:spTree>
    <p:extLst>
      <p:ext uri="{BB962C8B-B14F-4D97-AF65-F5344CB8AC3E}">
        <p14:creationId xmlns:p14="http://schemas.microsoft.com/office/powerpoint/2010/main" val="2510062262"/>
      </p:ext>
    </p:extLst>
  </p:cSld>
  <p:clrMapOvr>
    <a:masterClrMapping/>
  </p:clrMapOvr>
  <p:transition>
    <p:fad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480</TotalTime>
  <Words>2604</Words>
  <Application>Microsoft Office PowerPoint</Application>
  <PresentationFormat>Widescreen</PresentationFormat>
  <Paragraphs>279</Paragraphs>
  <Slides>34</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34</vt:i4>
      </vt:variant>
    </vt:vector>
  </HeadingPairs>
  <TitlesOfParts>
    <vt:vector size="47" baseType="lpstr">
      <vt:lpstr>ＭＳ Ｐゴシック</vt:lpstr>
      <vt:lpstr>Arial</vt:lpstr>
      <vt:lpstr>Calibri</vt:lpstr>
      <vt:lpstr>Calibri Light</vt:lpstr>
      <vt:lpstr>Cambria Math</vt:lpstr>
      <vt:lpstr>Garamond</vt:lpstr>
      <vt:lpstr>굴림</vt:lpstr>
      <vt:lpstr>Helvetica</vt:lpstr>
      <vt:lpstr>Symbol</vt:lpstr>
      <vt:lpstr>Times New Roman</vt:lpstr>
      <vt:lpstr>Verdana</vt:lpstr>
      <vt:lpstr>Wingdings</vt:lpstr>
      <vt:lpstr>Retrospect</vt:lpstr>
      <vt:lpstr> Software Engineering </vt:lpstr>
      <vt:lpstr>What is Software Testing?</vt:lpstr>
      <vt:lpstr>Why Testing and Analysis?</vt:lpstr>
      <vt:lpstr>Ariane 5</vt:lpstr>
      <vt:lpstr>Ariane 5 – Root Cause</vt:lpstr>
      <vt:lpstr>Ariane 5 – Lessons Learned</vt:lpstr>
      <vt:lpstr>F-18 crash</vt:lpstr>
      <vt:lpstr>Fatal Therac-25 Radiation</vt:lpstr>
      <vt:lpstr>Therac 25</vt:lpstr>
      <vt:lpstr>Errors</vt:lpstr>
      <vt:lpstr>Faults and Failures</vt:lpstr>
      <vt:lpstr>PowerPoint Presentation</vt:lpstr>
      <vt:lpstr>Terminology</vt:lpstr>
      <vt:lpstr>Test Cases</vt:lpstr>
      <vt:lpstr>How to write good test cases</vt:lpstr>
      <vt:lpstr>Structuring you Test Cases</vt:lpstr>
      <vt:lpstr>USE CASE FOR ADDING NUMBERS</vt:lpstr>
      <vt:lpstr>Test CASE FOR ADDING NUMBERS</vt:lpstr>
      <vt:lpstr>Testing Strategies</vt:lpstr>
      <vt:lpstr>Types/Strategies of testing</vt:lpstr>
      <vt:lpstr>PowerPoint Presentation</vt:lpstr>
      <vt:lpstr>Three Levels of Correctness</vt:lpstr>
      <vt:lpstr>Three Levels of Correctness</vt:lpstr>
      <vt:lpstr>Three Levels of Correctness</vt:lpstr>
      <vt:lpstr>A Small Testing Example</vt:lpstr>
      <vt:lpstr>Definitions</vt:lpstr>
      <vt:lpstr>PowerPoint Presentation</vt:lpstr>
      <vt:lpstr>Questions to Answer ??</vt:lpstr>
      <vt:lpstr>Questions to Answer ??  (2)</vt:lpstr>
      <vt:lpstr>Testing the triangle program – Some thoughts!</vt:lpstr>
      <vt:lpstr>Testing the triangle program – Some thoughts!</vt:lpstr>
      <vt:lpstr>Testing the triangle program – Some thoughts!</vt:lpstr>
      <vt:lpstr>Test case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Irum Inayat</dc:creator>
  <cp:lastModifiedBy>Rabail Zahid</cp:lastModifiedBy>
  <cp:revision>53</cp:revision>
  <dcterms:created xsi:type="dcterms:W3CDTF">2021-05-04T05:27:42Z</dcterms:created>
  <dcterms:modified xsi:type="dcterms:W3CDTF">2026-03-17T23:24:00Z</dcterms:modified>
</cp:coreProperties>
</file>