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6" r:id="rId4"/>
    <p:sldId id="271" r:id="rId5"/>
    <p:sldId id="274" r:id="rId6"/>
    <p:sldId id="273" r:id="rId7"/>
    <p:sldId id="276" r:id="rId8"/>
  </p:sldIdLst>
  <p:sldSz cx="9144000" cy="6858000" type="screen4x3"/>
  <p:notesSz cx="9926638" cy="6669088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20" autoAdjust="0"/>
    <p:restoredTop sz="95095" autoAdjust="0"/>
  </p:normalViewPr>
  <p:slideViewPr>
    <p:cSldViewPr>
      <p:cViewPr varScale="1">
        <p:scale>
          <a:sx n="94" d="100"/>
          <a:sy n="94" d="100"/>
        </p:scale>
        <p:origin x="690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33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HK"/>
              <a:t>SEEM3530 Tutorial 2 Project Management</a:t>
            </a:r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33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64CD6-4120-4EAD-B09D-775E0F3421AB}" type="datetimeFigureOut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334477"/>
            <a:ext cx="4301543" cy="3334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798" y="6334477"/>
            <a:ext cx="4301543" cy="3334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B3061-58F7-4A37-8F1B-ADEF57F4049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91101670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33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HK"/>
              <a:t>SEEM3530 Tutorial 2 Project Management</a:t>
            </a:r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33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21FAF-C4C7-4C0D-8805-EBEE9401B606}" type="datetimeFigureOut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5338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167818"/>
            <a:ext cx="7941310" cy="300109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334477"/>
            <a:ext cx="4301543" cy="3334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334477"/>
            <a:ext cx="4301543" cy="3334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3555A-7F3B-4C4A-9555-2BF34655A89B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1100199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altLang="zh-HK"/>
              <a:t>SEEM3530 Tutorial 2 Project Management</a:t>
            </a:r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80875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altLang="zh-HK"/>
              <a:t>SEEM3530 Tutorial 2 Project Management</a:t>
            </a:r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8969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altLang="zh-HK"/>
              <a:t>SEEM3530 Tutorial 2 Project Management</a:t>
            </a:r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8969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HK"/>
              <a:t>Click to edit Master subtitle style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38C46-9BF6-42F1-9BFF-4A14AB3D3432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5147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B275-D349-4DE4-BAE2-55200128E06B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8317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BFC6-B603-4145-B44A-A7678E90A5BD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77750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4D4DC-5343-4618-9CDD-F2AA6D847AB6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97778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D10C-C2D2-4470-AF8F-23131AAE71DD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5105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1345-91CE-4896-B6FA-FF3A246DEC22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47913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14A1-A569-4558-B21F-1436EBC13372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8848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23563-A6A1-45F2-8A90-96481FC387E0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820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D9F6-B7DA-42D4-B796-4F52CF9B4D01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8028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4AD23-BFB7-4378-9709-3E4751E7C0B9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12531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A46C-2BDD-4BD3-9482-C384DDC267A2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27560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914B5-F0D6-41EA-96FB-D9006CB82C05}" type="datetime1">
              <a:rPr lang="zh-HK" altLang="en-US" smtClean="0"/>
              <a:t>3/3/2025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DE6FE-C3FB-435B-8197-DFF04A44373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0723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2286000"/>
            <a:ext cx="7488219" cy="1793167"/>
          </a:xfrm>
        </p:spPr>
        <p:txBody>
          <a:bodyPr/>
          <a:lstStyle/>
          <a:p>
            <a:r>
              <a:rPr lang="en-US" altLang="zh-HK" dirty="0"/>
              <a:t>Project Management</a:t>
            </a:r>
            <a:br>
              <a:rPr lang="en-US" altLang="zh-HK" dirty="0"/>
            </a:br>
            <a:r>
              <a:rPr lang="en-US" altLang="zh-HK" sz="2400" dirty="0"/>
              <a:t>CPM An Illustrative Example</a:t>
            </a:r>
            <a:endParaRPr lang="zh-HK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HK" dirty="0"/>
              <a:t>Sidra Khalid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22312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196272"/>
              </p:ext>
            </p:extLst>
          </p:nvPr>
        </p:nvGraphicFramePr>
        <p:xfrm>
          <a:off x="1524000" y="1899920"/>
          <a:ext cx="6096000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Activity</a:t>
                      </a:r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Immediate Predecessors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Expected Time (days)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1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Walls and</a:t>
                      </a:r>
                      <a:r>
                        <a:rPr lang="en-US" altLang="zh-HK" baseline="0" dirty="0"/>
                        <a:t> Ceiling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2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5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2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Foundation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-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3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3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Roof Timbers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1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2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Roof Sheathing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3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3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5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Electrical Wiring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1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4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6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Roof Shingles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4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8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7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Exterior Siding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8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5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8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Windows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1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2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9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Paint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6,</a:t>
                      </a:r>
                      <a:r>
                        <a:rPr lang="en-US" altLang="zh-HK" baseline="0" dirty="0"/>
                        <a:t> 7, 10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2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10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Inside Wall Board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8, 5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3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6412468"/>
            <a:ext cx="7793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>
                <a:solidFill>
                  <a:schemeClr val="bg1">
                    <a:lumMod val="50000"/>
                  </a:schemeClr>
                </a:solidFill>
              </a:rPr>
              <a:t>Modified from Moore and Weatherford, Decision </a:t>
            </a:r>
            <a:r>
              <a:rPr lang="en-US" altLang="zh-HK" dirty="0" err="1">
                <a:solidFill>
                  <a:schemeClr val="bg1">
                    <a:lumMod val="50000"/>
                  </a:schemeClr>
                </a:solidFill>
              </a:rPr>
              <a:t>Modelling</a:t>
            </a:r>
            <a:r>
              <a:rPr lang="en-US" altLang="zh-HK" dirty="0">
                <a:solidFill>
                  <a:schemeClr val="bg1">
                    <a:lumMod val="50000"/>
                  </a:schemeClr>
                </a:solidFill>
              </a:rPr>
              <a:t>, Pearson 2001.</a:t>
            </a:r>
            <a:endParaRPr lang="zh-HK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HK" dirty="0"/>
              <a:t>The House </a:t>
            </a:r>
            <a:r>
              <a:rPr lang="en-US" altLang="zh-HK"/>
              <a:t>Construction Problem</a:t>
            </a:r>
            <a:endParaRPr lang="zh-HK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997803"/>
            <a:ext cx="8915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sz="2400" dirty="0"/>
              <a:t>The Build-Rite Construction Company has identified ten activities that take place in building a house. They are</a:t>
            </a:r>
            <a:endParaRPr lang="zh-HK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0334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r>
              <a:rPr lang="en-US" altLang="zh-HK" dirty="0"/>
              <a:t>Critical Path Method (CPM)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dirty="0"/>
              <a:t>Step 1: Forward pass</a:t>
            </a:r>
          </a:p>
          <a:p>
            <a:pPr marL="0" indent="0">
              <a:buNone/>
            </a:pPr>
            <a:r>
              <a:rPr lang="en-US" altLang="zh-HK" dirty="0"/>
              <a:t>Step 2: Backward pass</a:t>
            </a:r>
          </a:p>
          <a:p>
            <a:pPr marL="0" indent="0">
              <a:buNone/>
            </a:pPr>
            <a:r>
              <a:rPr lang="en-US" altLang="zh-HK" dirty="0"/>
              <a:t>Step 3: Calculating</a:t>
            </a:r>
          </a:p>
          <a:p>
            <a:pPr marL="0" indent="0">
              <a:buNone/>
            </a:pPr>
            <a:endParaRPr lang="en-US" altLang="zh-HK" dirty="0"/>
          </a:p>
          <a:p>
            <a:pPr marL="0" indent="0">
              <a:buNone/>
            </a:pPr>
            <a:r>
              <a:rPr lang="en-US" altLang="zh-HK" dirty="0"/>
              <a:t>Identify the critical path(s).</a:t>
            </a:r>
          </a:p>
          <a:p>
            <a:pPr marL="0" indent="0">
              <a:buNone/>
            </a:pPr>
            <a:r>
              <a:rPr lang="en-US" altLang="zh-HK" dirty="0"/>
              <a:t>interpret the meaning of slacks and critical activities.</a:t>
            </a:r>
          </a:p>
          <a:p>
            <a:pPr marL="514350" indent="-514350">
              <a:buFont typeface="+mj-lt"/>
              <a:buAutoNum type="arabicPeriod"/>
            </a:pPr>
            <a:endParaRPr lang="en-US" altLang="zh-HK" dirty="0"/>
          </a:p>
        </p:txBody>
      </p:sp>
    </p:spTree>
    <p:extLst>
      <p:ext uri="{BB962C8B-B14F-4D97-AF65-F5344CB8AC3E}">
        <p14:creationId xmlns:p14="http://schemas.microsoft.com/office/powerpoint/2010/main" val="416956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/>
          <p:cNvSpPr/>
          <p:nvPr/>
        </p:nvSpPr>
        <p:spPr>
          <a:xfrm>
            <a:off x="1510146" y="41910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42" name="Oval 41"/>
          <p:cNvSpPr/>
          <p:nvPr/>
        </p:nvSpPr>
        <p:spPr>
          <a:xfrm>
            <a:off x="2438400" y="41910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1</a:t>
            </a:r>
            <a:endParaRPr lang="zh-HK" altLang="en-US" dirty="0"/>
          </a:p>
        </p:txBody>
      </p:sp>
      <p:sp>
        <p:nvSpPr>
          <p:cNvPr id="43" name="Oval 42"/>
          <p:cNvSpPr/>
          <p:nvPr/>
        </p:nvSpPr>
        <p:spPr>
          <a:xfrm>
            <a:off x="3352800" y="28956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44" name="Oval 43"/>
          <p:cNvSpPr/>
          <p:nvPr/>
        </p:nvSpPr>
        <p:spPr>
          <a:xfrm>
            <a:off x="3567546" y="43434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45" name="Oval 44"/>
          <p:cNvSpPr/>
          <p:nvPr/>
        </p:nvSpPr>
        <p:spPr>
          <a:xfrm>
            <a:off x="3581400" y="59436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8</a:t>
            </a:r>
            <a:endParaRPr lang="zh-HK" altLang="en-US" dirty="0"/>
          </a:p>
        </p:txBody>
      </p:sp>
      <p:sp>
        <p:nvSpPr>
          <p:cNvPr id="46" name="Oval 45"/>
          <p:cNvSpPr/>
          <p:nvPr/>
        </p:nvSpPr>
        <p:spPr>
          <a:xfrm>
            <a:off x="5181600" y="6019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7</a:t>
            </a:r>
            <a:endParaRPr lang="zh-HK" altLang="en-US" dirty="0"/>
          </a:p>
        </p:txBody>
      </p:sp>
      <p:sp>
        <p:nvSpPr>
          <p:cNvPr id="47" name="Oval 46"/>
          <p:cNvSpPr/>
          <p:nvPr/>
        </p:nvSpPr>
        <p:spPr>
          <a:xfrm>
            <a:off x="6535150" y="40386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9</a:t>
            </a:r>
            <a:endParaRPr lang="zh-HK" altLang="en-US" dirty="0"/>
          </a:p>
        </p:txBody>
      </p:sp>
      <p:sp>
        <p:nvSpPr>
          <p:cNvPr id="48" name="Oval 47"/>
          <p:cNvSpPr/>
          <p:nvPr/>
        </p:nvSpPr>
        <p:spPr>
          <a:xfrm>
            <a:off x="7478741" y="4038600"/>
            <a:ext cx="762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500" dirty="0"/>
              <a:t>END</a:t>
            </a:r>
            <a:endParaRPr lang="zh-HK" altLang="en-US" sz="1500" dirty="0"/>
          </a:p>
        </p:txBody>
      </p:sp>
      <p:sp>
        <p:nvSpPr>
          <p:cNvPr id="49" name="Oval 48"/>
          <p:cNvSpPr/>
          <p:nvPr/>
        </p:nvSpPr>
        <p:spPr>
          <a:xfrm>
            <a:off x="332510" y="4191000"/>
            <a:ext cx="762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400" dirty="0"/>
              <a:t>Start</a:t>
            </a:r>
            <a:endParaRPr lang="zh-HK" altLang="en-US" sz="1400" dirty="0"/>
          </a:p>
        </p:txBody>
      </p:sp>
      <p:cxnSp>
        <p:nvCxnSpPr>
          <p:cNvPr id="51" name="Straight Arrow Connector 50"/>
          <p:cNvCxnSpPr>
            <a:stCxn id="49" idx="6"/>
            <a:endCxn id="41" idx="2"/>
          </p:cNvCxnSpPr>
          <p:nvPr/>
        </p:nvCxnSpPr>
        <p:spPr>
          <a:xfrm>
            <a:off x="1094510" y="4419600"/>
            <a:ext cx="41563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1" idx="6"/>
            <a:endCxn id="42" idx="2"/>
          </p:cNvCxnSpPr>
          <p:nvPr/>
        </p:nvCxnSpPr>
        <p:spPr>
          <a:xfrm>
            <a:off x="1981200" y="4419600"/>
            <a:ext cx="4572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42" idx="6"/>
            <a:endCxn id="44" idx="2"/>
          </p:cNvCxnSpPr>
          <p:nvPr/>
        </p:nvCxnSpPr>
        <p:spPr>
          <a:xfrm>
            <a:off x="2909454" y="4419600"/>
            <a:ext cx="658092" cy="152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2" idx="5"/>
            <a:endCxn id="45" idx="2"/>
          </p:cNvCxnSpPr>
          <p:nvPr/>
        </p:nvCxnSpPr>
        <p:spPr>
          <a:xfrm>
            <a:off x="2840470" y="4581245"/>
            <a:ext cx="740930" cy="159095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42" idx="7"/>
            <a:endCxn id="43" idx="3"/>
          </p:cNvCxnSpPr>
          <p:nvPr/>
        </p:nvCxnSpPr>
        <p:spPr>
          <a:xfrm flipV="1">
            <a:off x="2840470" y="3285845"/>
            <a:ext cx="581314" cy="9721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43" idx="6"/>
            <a:endCxn id="88" idx="2"/>
          </p:cNvCxnSpPr>
          <p:nvPr/>
        </p:nvCxnSpPr>
        <p:spPr>
          <a:xfrm>
            <a:off x="3823854" y="3124200"/>
            <a:ext cx="74814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6" idx="7"/>
            <a:endCxn id="47" idx="3"/>
          </p:cNvCxnSpPr>
          <p:nvPr/>
        </p:nvCxnSpPr>
        <p:spPr>
          <a:xfrm flipV="1">
            <a:off x="5583670" y="4428845"/>
            <a:ext cx="1020464" cy="16579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45" idx="6"/>
            <a:endCxn id="46" idx="2"/>
          </p:cNvCxnSpPr>
          <p:nvPr/>
        </p:nvCxnSpPr>
        <p:spPr>
          <a:xfrm>
            <a:off x="4052454" y="6172200"/>
            <a:ext cx="1129146" cy="76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47" idx="6"/>
            <a:endCxn id="48" idx="2"/>
          </p:cNvCxnSpPr>
          <p:nvPr/>
        </p:nvCxnSpPr>
        <p:spPr>
          <a:xfrm>
            <a:off x="7006204" y="4267200"/>
            <a:ext cx="472537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533400" y="388620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0</a:t>
            </a:r>
            <a:endParaRPr lang="zh-HK" altLang="en-US" dirty="0"/>
          </a:p>
        </p:txBody>
      </p:sp>
      <p:sp>
        <p:nvSpPr>
          <p:cNvPr id="79" name="Rectangle 78"/>
          <p:cNvSpPr/>
          <p:nvPr/>
        </p:nvSpPr>
        <p:spPr>
          <a:xfrm>
            <a:off x="1638696" y="38978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80" name="Rectangle 79"/>
          <p:cNvSpPr/>
          <p:nvPr/>
        </p:nvSpPr>
        <p:spPr>
          <a:xfrm>
            <a:off x="2514600" y="38978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3429000" y="26024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83" name="Rectangle 82"/>
          <p:cNvSpPr/>
          <p:nvPr/>
        </p:nvSpPr>
        <p:spPr>
          <a:xfrm>
            <a:off x="3657600" y="40502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4</a:t>
            </a:r>
            <a:endParaRPr lang="zh-HK" altLang="en-US" dirty="0"/>
          </a:p>
        </p:txBody>
      </p:sp>
      <p:sp>
        <p:nvSpPr>
          <p:cNvPr id="84" name="Rectangle 83"/>
          <p:cNvSpPr/>
          <p:nvPr/>
        </p:nvSpPr>
        <p:spPr>
          <a:xfrm>
            <a:off x="3657600" y="56504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85" name="Rectangle 84"/>
          <p:cNvSpPr/>
          <p:nvPr/>
        </p:nvSpPr>
        <p:spPr>
          <a:xfrm>
            <a:off x="5891584" y="259080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8</a:t>
            </a:r>
            <a:endParaRPr lang="zh-HK" altLang="en-US" dirty="0"/>
          </a:p>
        </p:txBody>
      </p:sp>
      <p:sp>
        <p:nvSpPr>
          <p:cNvPr id="86" name="Rectangle 85"/>
          <p:cNvSpPr/>
          <p:nvPr/>
        </p:nvSpPr>
        <p:spPr>
          <a:xfrm>
            <a:off x="4648200" y="26024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87" name="Rectangle 86"/>
          <p:cNvSpPr/>
          <p:nvPr/>
        </p:nvSpPr>
        <p:spPr>
          <a:xfrm>
            <a:off x="7699314" y="37454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0</a:t>
            </a:r>
            <a:endParaRPr lang="zh-HK" altLang="en-US" dirty="0"/>
          </a:p>
        </p:txBody>
      </p:sp>
      <p:sp>
        <p:nvSpPr>
          <p:cNvPr id="88" name="Oval 87"/>
          <p:cNvSpPr/>
          <p:nvPr/>
        </p:nvSpPr>
        <p:spPr>
          <a:xfrm>
            <a:off x="4572000" y="28956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4</a:t>
            </a:r>
            <a:endParaRPr lang="zh-HK" altLang="en-US" dirty="0"/>
          </a:p>
        </p:txBody>
      </p:sp>
      <p:cxnSp>
        <p:nvCxnSpPr>
          <p:cNvPr id="89" name="Straight Arrow Connector 88"/>
          <p:cNvCxnSpPr>
            <a:stCxn id="44" idx="6"/>
            <a:endCxn id="92" idx="2"/>
          </p:cNvCxnSpPr>
          <p:nvPr/>
        </p:nvCxnSpPr>
        <p:spPr>
          <a:xfrm flipV="1">
            <a:off x="4038600" y="4544814"/>
            <a:ext cx="1066800" cy="2718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5105400" y="4289027"/>
            <a:ext cx="623454" cy="5115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10</a:t>
            </a:r>
            <a:endParaRPr lang="zh-HK" altLang="en-US" dirty="0"/>
          </a:p>
        </p:txBody>
      </p:sp>
      <p:cxnSp>
        <p:nvCxnSpPr>
          <p:cNvPr id="93" name="Straight Arrow Connector 92"/>
          <p:cNvCxnSpPr>
            <a:stCxn id="45" idx="6"/>
            <a:endCxn id="92" idx="3"/>
          </p:cNvCxnSpPr>
          <p:nvPr/>
        </p:nvCxnSpPr>
        <p:spPr>
          <a:xfrm flipV="1">
            <a:off x="4052454" y="4725682"/>
            <a:ext cx="1144249" cy="144651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5791200" y="28956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6</a:t>
            </a:r>
            <a:endParaRPr lang="zh-HK" altLang="en-US" dirty="0"/>
          </a:p>
        </p:txBody>
      </p:sp>
      <p:cxnSp>
        <p:nvCxnSpPr>
          <p:cNvPr id="96" name="Straight Arrow Connector 95"/>
          <p:cNvCxnSpPr>
            <a:stCxn id="88" idx="6"/>
            <a:endCxn id="95" idx="2"/>
          </p:cNvCxnSpPr>
          <p:nvPr/>
        </p:nvCxnSpPr>
        <p:spPr>
          <a:xfrm>
            <a:off x="5043054" y="3124200"/>
            <a:ext cx="74814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2" idx="6"/>
            <a:endCxn id="47" idx="2"/>
          </p:cNvCxnSpPr>
          <p:nvPr/>
        </p:nvCxnSpPr>
        <p:spPr>
          <a:xfrm flipV="1">
            <a:off x="5728854" y="4267200"/>
            <a:ext cx="806296" cy="27761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95" idx="5"/>
            <a:endCxn id="47" idx="1"/>
          </p:cNvCxnSpPr>
          <p:nvPr/>
        </p:nvCxnSpPr>
        <p:spPr>
          <a:xfrm>
            <a:off x="6193270" y="3285845"/>
            <a:ext cx="410864" cy="8197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5257800" y="39740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100" name="Rectangle 99"/>
          <p:cNvSpPr/>
          <p:nvPr/>
        </p:nvSpPr>
        <p:spPr>
          <a:xfrm>
            <a:off x="5257800" y="5726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101" name="Rectangle 100"/>
          <p:cNvSpPr/>
          <p:nvPr/>
        </p:nvSpPr>
        <p:spPr>
          <a:xfrm>
            <a:off x="6629400" y="37454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graphicFrame>
        <p:nvGraphicFramePr>
          <p:cNvPr id="102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916908"/>
              </p:ext>
            </p:extLst>
          </p:nvPr>
        </p:nvGraphicFramePr>
        <p:xfrm>
          <a:off x="381000" y="342900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3" name="Table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526464"/>
              </p:ext>
            </p:extLst>
          </p:nvPr>
        </p:nvGraphicFramePr>
        <p:xfrm>
          <a:off x="1440873" y="34594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4" name="Table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439176"/>
              </p:ext>
            </p:extLst>
          </p:nvPr>
        </p:nvGraphicFramePr>
        <p:xfrm>
          <a:off x="2438400" y="34594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5" name="Table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843895"/>
              </p:ext>
            </p:extLst>
          </p:nvPr>
        </p:nvGraphicFramePr>
        <p:xfrm>
          <a:off x="3276600" y="213360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260084"/>
              </p:ext>
            </p:extLst>
          </p:nvPr>
        </p:nvGraphicFramePr>
        <p:xfrm>
          <a:off x="4486275" y="213360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546892"/>
              </p:ext>
            </p:extLst>
          </p:nvPr>
        </p:nvGraphicFramePr>
        <p:xfrm>
          <a:off x="5715000" y="213360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8" name="Table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016444"/>
              </p:ext>
            </p:extLst>
          </p:nvPr>
        </p:nvGraphicFramePr>
        <p:xfrm>
          <a:off x="6542577" y="3114675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9" name="Table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900385"/>
              </p:ext>
            </p:extLst>
          </p:nvPr>
        </p:nvGraphicFramePr>
        <p:xfrm>
          <a:off x="7612091" y="312420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0" name="Table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096466"/>
              </p:ext>
            </p:extLst>
          </p:nvPr>
        </p:nvGraphicFramePr>
        <p:xfrm>
          <a:off x="3519054" y="3535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1" name="Table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409848"/>
              </p:ext>
            </p:extLst>
          </p:nvPr>
        </p:nvGraphicFramePr>
        <p:xfrm>
          <a:off x="5166879" y="352044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2" name="Table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117936"/>
              </p:ext>
            </p:extLst>
          </p:nvPr>
        </p:nvGraphicFramePr>
        <p:xfrm>
          <a:off x="3505200" y="51358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3" name="Table 1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491181"/>
              </p:ext>
            </p:extLst>
          </p:nvPr>
        </p:nvGraphicFramePr>
        <p:xfrm>
          <a:off x="5105400" y="5157073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02328" y="76200"/>
            <a:ext cx="6512511" cy="1143000"/>
          </a:xfrm>
        </p:spPr>
        <p:txBody>
          <a:bodyPr/>
          <a:lstStyle/>
          <a:p>
            <a:r>
              <a:rPr lang="en-US" altLang="zh-HK" dirty="0"/>
              <a:t>Notations</a:t>
            </a:r>
            <a:endParaRPr lang="zh-HK" altLang="en-US" dirty="0"/>
          </a:p>
        </p:txBody>
      </p:sp>
      <p:graphicFrame>
        <p:nvGraphicFramePr>
          <p:cNvPr id="132" name="Table 1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461122"/>
              </p:ext>
            </p:extLst>
          </p:nvPr>
        </p:nvGraphicFramePr>
        <p:xfrm>
          <a:off x="586326" y="1066800"/>
          <a:ext cx="1112176" cy="11125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556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r>
                        <a:rPr lang="en-US" altLang="zh-HK" sz="2600" dirty="0"/>
                        <a:t>ES</a:t>
                      </a:r>
                      <a:endParaRPr lang="zh-HK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2600" dirty="0"/>
                        <a:t>EF</a:t>
                      </a:r>
                      <a:endParaRPr lang="zh-HK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lang="en-US" altLang="zh-HK" sz="2600" dirty="0"/>
                        <a:t>LS</a:t>
                      </a:r>
                      <a:endParaRPr lang="zh-HK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2600" dirty="0"/>
                        <a:t>LF</a:t>
                      </a:r>
                      <a:endParaRPr lang="zh-HK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3" name="Rectangle 132"/>
          <p:cNvSpPr/>
          <p:nvPr/>
        </p:nvSpPr>
        <p:spPr>
          <a:xfrm>
            <a:off x="1981200" y="1066800"/>
            <a:ext cx="655871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2000" dirty="0"/>
              <a:t>ES: Earliest Start     LS: Latest Start        TS: Total Slack</a:t>
            </a:r>
          </a:p>
          <a:p>
            <a:pPr>
              <a:defRPr/>
            </a:pPr>
            <a:r>
              <a:rPr lang="en-US" altLang="zh-HK" sz="2000" dirty="0"/>
              <a:t>EF: Earliest Finish   LF: Latest Finish      FS:  Free Slack</a:t>
            </a:r>
            <a:endParaRPr lang="zh-HK" alt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698A59-E39F-F4B8-23D5-0775C3302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702" y="4909110"/>
            <a:ext cx="2744788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5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HK" sz="4800" dirty="0"/>
              <a:t>Step 1: Forward Pass</a:t>
            </a:r>
            <a:endParaRPr lang="zh-HK" altLang="en-US" sz="4800" dirty="0"/>
          </a:p>
        </p:txBody>
      </p:sp>
      <p:sp>
        <p:nvSpPr>
          <p:cNvPr id="5" name="Oval 4"/>
          <p:cNvSpPr/>
          <p:nvPr/>
        </p:nvSpPr>
        <p:spPr>
          <a:xfrm>
            <a:off x="1510146" y="35052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8" name="Oval 7"/>
          <p:cNvSpPr/>
          <p:nvPr/>
        </p:nvSpPr>
        <p:spPr>
          <a:xfrm>
            <a:off x="2438400" y="35052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1</a:t>
            </a:r>
            <a:endParaRPr lang="zh-HK" altLang="en-US" dirty="0"/>
          </a:p>
        </p:txBody>
      </p:sp>
      <p:sp>
        <p:nvSpPr>
          <p:cNvPr id="10" name="Oval 9"/>
          <p:cNvSpPr/>
          <p:nvPr/>
        </p:nvSpPr>
        <p:spPr>
          <a:xfrm>
            <a:off x="3352800" y="2209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11" name="Oval 10"/>
          <p:cNvSpPr/>
          <p:nvPr/>
        </p:nvSpPr>
        <p:spPr>
          <a:xfrm>
            <a:off x="3567546" y="36576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12" name="Oval 11"/>
          <p:cNvSpPr/>
          <p:nvPr/>
        </p:nvSpPr>
        <p:spPr>
          <a:xfrm>
            <a:off x="3581400" y="5257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8</a:t>
            </a:r>
            <a:endParaRPr lang="zh-HK" altLang="en-US" dirty="0"/>
          </a:p>
        </p:txBody>
      </p:sp>
      <p:sp>
        <p:nvSpPr>
          <p:cNvPr id="13" name="Oval 12"/>
          <p:cNvSpPr/>
          <p:nvPr/>
        </p:nvSpPr>
        <p:spPr>
          <a:xfrm>
            <a:off x="5181600" y="53340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7</a:t>
            </a:r>
            <a:endParaRPr lang="zh-HK" altLang="en-US" dirty="0"/>
          </a:p>
        </p:txBody>
      </p:sp>
      <p:sp>
        <p:nvSpPr>
          <p:cNvPr id="14" name="Oval 13"/>
          <p:cNvSpPr/>
          <p:nvPr/>
        </p:nvSpPr>
        <p:spPr>
          <a:xfrm>
            <a:off x="6535150" y="3352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9</a:t>
            </a:r>
            <a:endParaRPr lang="zh-HK" altLang="en-US" dirty="0"/>
          </a:p>
        </p:txBody>
      </p:sp>
      <p:cxnSp>
        <p:nvCxnSpPr>
          <p:cNvPr id="21" name="Straight Arrow Connector 20"/>
          <p:cNvCxnSpPr>
            <a:stCxn id="5" idx="6"/>
            <a:endCxn id="8" idx="2"/>
          </p:cNvCxnSpPr>
          <p:nvPr/>
        </p:nvCxnSpPr>
        <p:spPr>
          <a:xfrm>
            <a:off x="1981200" y="3733800"/>
            <a:ext cx="4572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8" idx="6"/>
            <a:endCxn id="11" idx="2"/>
          </p:cNvCxnSpPr>
          <p:nvPr/>
        </p:nvCxnSpPr>
        <p:spPr>
          <a:xfrm>
            <a:off x="2909454" y="3733800"/>
            <a:ext cx="658092" cy="152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5"/>
            <a:endCxn id="12" idx="2"/>
          </p:cNvCxnSpPr>
          <p:nvPr/>
        </p:nvCxnSpPr>
        <p:spPr>
          <a:xfrm>
            <a:off x="2840470" y="3895445"/>
            <a:ext cx="740930" cy="159095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7"/>
            <a:endCxn id="10" idx="3"/>
          </p:cNvCxnSpPr>
          <p:nvPr/>
        </p:nvCxnSpPr>
        <p:spPr>
          <a:xfrm flipV="1">
            <a:off x="2840470" y="2600045"/>
            <a:ext cx="581314" cy="9721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" idx="6"/>
            <a:endCxn id="63" idx="2"/>
          </p:cNvCxnSpPr>
          <p:nvPr/>
        </p:nvCxnSpPr>
        <p:spPr>
          <a:xfrm>
            <a:off x="3823854" y="2438400"/>
            <a:ext cx="74814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3" idx="7"/>
            <a:endCxn id="14" idx="3"/>
          </p:cNvCxnSpPr>
          <p:nvPr/>
        </p:nvCxnSpPr>
        <p:spPr>
          <a:xfrm flipV="1">
            <a:off x="5583670" y="3743045"/>
            <a:ext cx="1020464" cy="16579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2" idx="6"/>
            <a:endCxn id="13" idx="2"/>
          </p:cNvCxnSpPr>
          <p:nvPr/>
        </p:nvCxnSpPr>
        <p:spPr>
          <a:xfrm>
            <a:off x="4052454" y="5486400"/>
            <a:ext cx="1129146" cy="76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21427" y="5715000"/>
            <a:ext cx="1124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dirty="0"/>
              <a:t>Notations</a:t>
            </a:r>
            <a:endParaRPr lang="zh-HK" altLang="en-US" dirty="0"/>
          </a:p>
        </p:txBody>
      </p:sp>
      <p:sp>
        <p:nvSpPr>
          <p:cNvPr id="49" name="Rectangle 48"/>
          <p:cNvSpPr/>
          <p:nvPr/>
        </p:nvSpPr>
        <p:spPr>
          <a:xfrm>
            <a:off x="914400" y="6172200"/>
            <a:ext cx="34482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200" dirty="0"/>
              <a:t>ES: Earliest Start     LS: Latest Start        TS: Total Slack</a:t>
            </a:r>
          </a:p>
          <a:p>
            <a:pPr>
              <a:defRPr/>
            </a:pPr>
            <a:r>
              <a:rPr lang="en-US" altLang="zh-HK" sz="1200" dirty="0"/>
              <a:t>EF: Earliest Finish   LF: Latest Finish      FS:  Free Slack</a:t>
            </a:r>
            <a:endParaRPr lang="zh-HK" altLang="en-US" sz="1200" dirty="0"/>
          </a:p>
        </p:txBody>
      </p:sp>
      <p:sp>
        <p:nvSpPr>
          <p:cNvPr id="52" name="Rectangle 51"/>
          <p:cNvSpPr/>
          <p:nvPr/>
        </p:nvSpPr>
        <p:spPr>
          <a:xfrm>
            <a:off x="1638696" y="32120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55" name="Rectangle 54"/>
          <p:cNvSpPr/>
          <p:nvPr/>
        </p:nvSpPr>
        <p:spPr>
          <a:xfrm>
            <a:off x="2514600" y="32120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57" name="Rectangle 56"/>
          <p:cNvSpPr/>
          <p:nvPr/>
        </p:nvSpPr>
        <p:spPr>
          <a:xfrm>
            <a:off x="3429000" y="1916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0" y="33644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4</a:t>
            </a:r>
            <a:endParaRPr lang="zh-HK" altLang="en-US" dirty="0"/>
          </a:p>
        </p:txBody>
      </p:sp>
      <p:sp>
        <p:nvSpPr>
          <p:cNvPr id="59" name="Rectangle 58"/>
          <p:cNvSpPr/>
          <p:nvPr/>
        </p:nvSpPr>
        <p:spPr>
          <a:xfrm>
            <a:off x="3657600" y="4964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60" name="Rectangle 59"/>
          <p:cNvSpPr/>
          <p:nvPr/>
        </p:nvSpPr>
        <p:spPr>
          <a:xfrm>
            <a:off x="5891584" y="190500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8</a:t>
            </a:r>
            <a:endParaRPr lang="zh-HK" alt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48200" y="1916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63" name="Oval 62"/>
          <p:cNvSpPr/>
          <p:nvPr/>
        </p:nvSpPr>
        <p:spPr>
          <a:xfrm>
            <a:off x="4572000" y="2209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4</a:t>
            </a:r>
            <a:endParaRPr lang="zh-HK" altLang="en-US" dirty="0"/>
          </a:p>
        </p:txBody>
      </p:sp>
      <p:cxnSp>
        <p:nvCxnSpPr>
          <p:cNvPr id="64" name="Straight Arrow Connector 63"/>
          <p:cNvCxnSpPr>
            <a:stCxn id="11" idx="6"/>
            <a:endCxn id="65" idx="2"/>
          </p:cNvCxnSpPr>
          <p:nvPr/>
        </p:nvCxnSpPr>
        <p:spPr>
          <a:xfrm flipV="1">
            <a:off x="4038600" y="3859014"/>
            <a:ext cx="1066800" cy="2718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5105400" y="3603227"/>
            <a:ext cx="623454" cy="5115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10</a:t>
            </a:r>
            <a:endParaRPr lang="zh-HK" altLang="en-US" dirty="0"/>
          </a:p>
        </p:txBody>
      </p:sp>
      <p:cxnSp>
        <p:nvCxnSpPr>
          <p:cNvPr id="66" name="Straight Arrow Connector 65"/>
          <p:cNvCxnSpPr>
            <a:stCxn id="12" idx="6"/>
            <a:endCxn id="65" idx="3"/>
          </p:cNvCxnSpPr>
          <p:nvPr/>
        </p:nvCxnSpPr>
        <p:spPr>
          <a:xfrm flipV="1">
            <a:off x="4052454" y="4039882"/>
            <a:ext cx="1144249" cy="144651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791200" y="2209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6</a:t>
            </a:r>
            <a:endParaRPr lang="zh-HK" altLang="en-US" dirty="0"/>
          </a:p>
        </p:txBody>
      </p:sp>
      <p:cxnSp>
        <p:nvCxnSpPr>
          <p:cNvPr id="73" name="Straight Arrow Connector 72"/>
          <p:cNvCxnSpPr>
            <a:stCxn id="63" idx="6"/>
            <a:endCxn id="72" idx="2"/>
          </p:cNvCxnSpPr>
          <p:nvPr/>
        </p:nvCxnSpPr>
        <p:spPr>
          <a:xfrm>
            <a:off x="5043054" y="2438400"/>
            <a:ext cx="74814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65" idx="6"/>
            <a:endCxn id="14" idx="2"/>
          </p:cNvCxnSpPr>
          <p:nvPr/>
        </p:nvCxnSpPr>
        <p:spPr>
          <a:xfrm flipV="1">
            <a:off x="5728854" y="3581400"/>
            <a:ext cx="806296" cy="27761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72" idx="5"/>
            <a:endCxn id="14" idx="1"/>
          </p:cNvCxnSpPr>
          <p:nvPr/>
        </p:nvCxnSpPr>
        <p:spPr>
          <a:xfrm>
            <a:off x="6193270" y="2600045"/>
            <a:ext cx="410864" cy="8197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5257800" y="32882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91" name="Rectangle 90"/>
          <p:cNvSpPr/>
          <p:nvPr/>
        </p:nvSpPr>
        <p:spPr>
          <a:xfrm>
            <a:off x="5257800" y="50408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94" name="Rectangle 93"/>
          <p:cNvSpPr/>
          <p:nvPr/>
        </p:nvSpPr>
        <p:spPr>
          <a:xfrm>
            <a:off x="6629400" y="3059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graphicFrame>
        <p:nvGraphicFramePr>
          <p:cNvPr id="96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010679"/>
              </p:ext>
            </p:extLst>
          </p:nvPr>
        </p:nvGraphicFramePr>
        <p:xfrm>
          <a:off x="1440873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7" name="Table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463844"/>
              </p:ext>
            </p:extLst>
          </p:nvPr>
        </p:nvGraphicFramePr>
        <p:xfrm>
          <a:off x="2438400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9" name="Table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099457"/>
              </p:ext>
            </p:extLst>
          </p:nvPr>
        </p:nvGraphicFramePr>
        <p:xfrm>
          <a:off x="3276600" y="144780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0" name="Table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726634"/>
              </p:ext>
            </p:extLst>
          </p:nvPr>
        </p:nvGraphicFramePr>
        <p:xfrm>
          <a:off x="4486275" y="144780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1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793028"/>
              </p:ext>
            </p:extLst>
          </p:nvPr>
        </p:nvGraphicFramePr>
        <p:xfrm>
          <a:off x="5715000" y="144780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2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594223"/>
              </p:ext>
            </p:extLst>
          </p:nvPr>
        </p:nvGraphicFramePr>
        <p:xfrm>
          <a:off x="6542577" y="2428875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4" name="Table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752044"/>
              </p:ext>
            </p:extLst>
          </p:nvPr>
        </p:nvGraphicFramePr>
        <p:xfrm>
          <a:off x="3519054" y="28498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5" name="Table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416103"/>
              </p:ext>
            </p:extLst>
          </p:nvPr>
        </p:nvGraphicFramePr>
        <p:xfrm>
          <a:off x="5166879" y="283464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96040"/>
              </p:ext>
            </p:extLst>
          </p:nvPr>
        </p:nvGraphicFramePr>
        <p:xfrm>
          <a:off x="3505200" y="44500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116253"/>
              </p:ext>
            </p:extLst>
          </p:nvPr>
        </p:nvGraphicFramePr>
        <p:xfrm>
          <a:off x="5105400" y="4471273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595202"/>
              </p:ext>
            </p:extLst>
          </p:nvPr>
        </p:nvGraphicFramePr>
        <p:xfrm>
          <a:off x="1440873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Table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23526"/>
              </p:ext>
            </p:extLst>
          </p:nvPr>
        </p:nvGraphicFramePr>
        <p:xfrm>
          <a:off x="2438400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4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983493"/>
              </p:ext>
            </p:extLst>
          </p:nvPr>
        </p:nvGraphicFramePr>
        <p:xfrm>
          <a:off x="3276600" y="1447800"/>
          <a:ext cx="682686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1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910577"/>
              </p:ext>
            </p:extLst>
          </p:nvPr>
        </p:nvGraphicFramePr>
        <p:xfrm>
          <a:off x="4362651" y="1447800"/>
          <a:ext cx="73322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6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496297"/>
              </p:ext>
            </p:extLst>
          </p:nvPr>
        </p:nvGraphicFramePr>
        <p:xfrm>
          <a:off x="5559486" y="1447800"/>
          <a:ext cx="76511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82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14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01278"/>
              </p:ext>
            </p:extLst>
          </p:nvPr>
        </p:nvGraphicFramePr>
        <p:xfrm>
          <a:off x="6535147" y="2428875"/>
          <a:ext cx="780052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90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22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954223"/>
              </p:ext>
            </p:extLst>
          </p:nvPr>
        </p:nvGraphicFramePr>
        <p:xfrm>
          <a:off x="3519052" y="2849880"/>
          <a:ext cx="67887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3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12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158288"/>
              </p:ext>
            </p:extLst>
          </p:nvPr>
        </p:nvGraphicFramePr>
        <p:xfrm>
          <a:off x="5043053" y="2834640"/>
          <a:ext cx="733426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66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216951"/>
              </p:ext>
            </p:extLst>
          </p:nvPr>
        </p:nvGraphicFramePr>
        <p:xfrm>
          <a:off x="3505198" y="4450080"/>
          <a:ext cx="692728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097162"/>
              </p:ext>
            </p:extLst>
          </p:nvPr>
        </p:nvGraphicFramePr>
        <p:xfrm>
          <a:off x="5105400" y="4471273"/>
          <a:ext cx="6858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21306"/>
              </p:ext>
            </p:extLst>
          </p:nvPr>
        </p:nvGraphicFramePr>
        <p:xfrm>
          <a:off x="121426" y="6156066"/>
          <a:ext cx="716774" cy="549534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58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767"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ES</a:t>
                      </a:r>
                      <a:endParaRPr lang="zh-HK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EF</a:t>
                      </a:r>
                      <a:endParaRPr lang="zh-HK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67"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LS</a:t>
                      </a:r>
                      <a:endParaRPr lang="zh-HK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LF</a:t>
                      </a:r>
                      <a:endParaRPr lang="zh-HK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B180358-F0ED-6B7A-72E1-08B8D508A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800600"/>
            <a:ext cx="2744788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93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510146" y="35052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8" name="Oval 7"/>
          <p:cNvSpPr/>
          <p:nvPr/>
        </p:nvSpPr>
        <p:spPr>
          <a:xfrm>
            <a:off x="2438400" y="35052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1</a:t>
            </a:r>
            <a:endParaRPr lang="zh-HK" altLang="en-US" dirty="0"/>
          </a:p>
        </p:txBody>
      </p:sp>
      <p:sp>
        <p:nvSpPr>
          <p:cNvPr id="10" name="Oval 9"/>
          <p:cNvSpPr/>
          <p:nvPr/>
        </p:nvSpPr>
        <p:spPr>
          <a:xfrm>
            <a:off x="3352800" y="2209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11" name="Oval 10"/>
          <p:cNvSpPr/>
          <p:nvPr/>
        </p:nvSpPr>
        <p:spPr>
          <a:xfrm>
            <a:off x="3567546" y="36576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12" name="Oval 11"/>
          <p:cNvSpPr/>
          <p:nvPr/>
        </p:nvSpPr>
        <p:spPr>
          <a:xfrm>
            <a:off x="3581400" y="5257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8</a:t>
            </a:r>
            <a:endParaRPr lang="zh-HK" altLang="en-US" dirty="0"/>
          </a:p>
        </p:txBody>
      </p:sp>
      <p:sp>
        <p:nvSpPr>
          <p:cNvPr id="13" name="Oval 12"/>
          <p:cNvSpPr/>
          <p:nvPr/>
        </p:nvSpPr>
        <p:spPr>
          <a:xfrm>
            <a:off x="5181600" y="53340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7</a:t>
            </a:r>
            <a:endParaRPr lang="zh-HK" altLang="en-US" dirty="0"/>
          </a:p>
        </p:txBody>
      </p:sp>
      <p:sp>
        <p:nvSpPr>
          <p:cNvPr id="14" name="Oval 13"/>
          <p:cNvSpPr/>
          <p:nvPr/>
        </p:nvSpPr>
        <p:spPr>
          <a:xfrm>
            <a:off x="6535150" y="3352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9</a:t>
            </a:r>
            <a:endParaRPr lang="zh-HK" altLang="en-US" dirty="0"/>
          </a:p>
        </p:txBody>
      </p:sp>
      <p:cxnSp>
        <p:nvCxnSpPr>
          <p:cNvPr id="21" name="Straight Arrow Connector 20"/>
          <p:cNvCxnSpPr>
            <a:stCxn id="5" idx="6"/>
            <a:endCxn id="8" idx="2"/>
          </p:cNvCxnSpPr>
          <p:nvPr/>
        </p:nvCxnSpPr>
        <p:spPr>
          <a:xfrm>
            <a:off x="1981200" y="3733800"/>
            <a:ext cx="4572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8" idx="6"/>
            <a:endCxn id="11" idx="2"/>
          </p:cNvCxnSpPr>
          <p:nvPr/>
        </p:nvCxnSpPr>
        <p:spPr>
          <a:xfrm>
            <a:off x="2909454" y="3733800"/>
            <a:ext cx="658092" cy="152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5"/>
            <a:endCxn id="12" idx="2"/>
          </p:cNvCxnSpPr>
          <p:nvPr/>
        </p:nvCxnSpPr>
        <p:spPr>
          <a:xfrm>
            <a:off x="2840470" y="3895445"/>
            <a:ext cx="740930" cy="159095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7"/>
            <a:endCxn id="10" idx="3"/>
          </p:cNvCxnSpPr>
          <p:nvPr/>
        </p:nvCxnSpPr>
        <p:spPr>
          <a:xfrm flipV="1">
            <a:off x="2840470" y="2600045"/>
            <a:ext cx="581314" cy="9721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" idx="6"/>
            <a:endCxn id="63" idx="2"/>
          </p:cNvCxnSpPr>
          <p:nvPr/>
        </p:nvCxnSpPr>
        <p:spPr>
          <a:xfrm>
            <a:off x="3823854" y="2438400"/>
            <a:ext cx="74814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3" idx="7"/>
            <a:endCxn id="14" idx="3"/>
          </p:cNvCxnSpPr>
          <p:nvPr/>
        </p:nvCxnSpPr>
        <p:spPr>
          <a:xfrm flipV="1">
            <a:off x="5583670" y="3743045"/>
            <a:ext cx="1020464" cy="16579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2" idx="6"/>
            <a:endCxn id="13" idx="2"/>
          </p:cNvCxnSpPr>
          <p:nvPr/>
        </p:nvCxnSpPr>
        <p:spPr>
          <a:xfrm>
            <a:off x="4052454" y="5486400"/>
            <a:ext cx="1129146" cy="76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21427" y="5715000"/>
            <a:ext cx="1124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dirty="0"/>
              <a:t>Notations</a:t>
            </a:r>
            <a:endParaRPr lang="zh-HK" altLang="en-US" dirty="0"/>
          </a:p>
        </p:txBody>
      </p:sp>
      <p:sp>
        <p:nvSpPr>
          <p:cNvPr id="49" name="Rectangle 48"/>
          <p:cNvSpPr/>
          <p:nvPr/>
        </p:nvSpPr>
        <p:spPr>
          <a:xfrm>
            <a:off x="914400" y="6172200"/>
            <a:ext cx="34482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200" dirty="0"/>
              <a:t>ES: Earliest Start     LS: Latest Start        TS: Total Slack</a:t>
            </a:r>
          </a:p>
          <a:p>
            <a:pPr>
              <a:defRPr/>
            </a:pPr>
            <a:r>
              <a:rPr lang="en-US" altLang="zh-HK" sz="1200" dirty="0"/>
              <a:t>EF: Earliest Finish   LF: Latest Finish      FS:  Free Slack</a:t>
            </a:r>
            <a:endParaRPr lang="zh-HK" altLang="en-US" sz="1200" dirty="0"/>
          </a:p>
        </p:txBody>
      </p:sp>
      <p:sp>
        <p:nvSpPr>
          <p:cNvPr id="52" name="Rectangle 51"/>
          <p:cNvSpPr/>
          <p:nvPr/>
        </p:nvSpPr>
        <p:spPr>
          <a:xfrm>
            <a:off x="1638696" y="32120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55" name="Rectangle 54"/>
          <p:cNvSpPr/>
          <p:nvPr/>
        </p:nvSpPr>
        <p:spPr>
          <a:xfrm>
            <a:off x="2514600" y="32120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57" name="Rectangle 56"/>
          <p:cNvSpPr/>
          <p:nvPr/>
        </p:nvSpPr>
        <p:spPr>
          <a:xfrm>
            <a:off x="3429000" y="1916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0" y="33644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4</a:t>
            </a:r>
            <a:endParaRPr lang="zh-HK" altLang="en-US" dirty="0"/>
          </a:p>
        </p:txBody>
      </p:sp>
      <p:sp>
        <p:nvSpPr>
          <p:cNvPr id="59" name="Rectangle 58"/>
          <p:cNvSpPr/>
          <p:nvPr/>
        </p:nvSpPr>
        <p:spPr>
          <a:xfrm>
            <a:off x="3657600" y="4964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60" name="Rectangle 59"/>
          <p:cNvSpPr/>
          <p:nvPr/>
        </p:nvSpPr>
        <p:spPr>
          <a:xfrm>
            <a:off x="5891584" y="190500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8</a:t>
            </a:r>
            <a:endParaRPr lang="zh-HK" alt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48200" y="1916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63" name="Oval 62"/>
          <p:cNvSpPr/>
          <p:nvPr/>
        </p:nvSpPr>
        <p:spPr>
          <a:xfrm>
            <a:off x="4572000" y="2209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4</a:t>
            </a:r>
            <a:endParaRPr lang="zh-HK" altLang="en-US" dirty="0"/>
          </a:p>
        </p:txBody>
      </p:sp>
      <p:cxnSp>
        <p:nvCxnSpPr>
          <p:cNvPr id="64" name="Straight Arrow Connector 63"/>
          <p:cNvCxnSpPr>
            <a:stCxn id="11" idx="6"/>
            <a:endCxn id="65" idx="2"/>
          </p:cNvCxnSpPr>
          <p:nvPr/>
        </p:nvCxnSpPr>
        <p:spPr>
          <a:xfrm flipV="1">
            <a:off x="4038600" y="3859014"/>
            <a:ext cx="1066800" cy="2718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5105400" y="3603227"/>
            <a:ext cx="623454" cy="5115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10</a:t>
            </a:r>
            <a:endParaRPr lang="zh-HK" altLang="en-US" dirty="0"/>
          </a:p>
        </p:txBody>
      </p:sp>
      <p:cxnSp>
        <p:nvCxnSpPr>
          <p:cNvPr id="66" name="Straight Arrow Connector 65"/>
          <p:cNvCxnSpPr>
            <a:stCxn id="12" idx="6"/>
            <a:endCxn id="65" idx="3"/>
          </p:cNvCxnSpPr>
          <p:nvPr/>
        </p:nvCxnSpPr>
        <p:spPr>
          <a:xfrm flipV="1">
            <a:off x="4052454" y="4039882"/>
            <a:ext cx="1144249" cy="144651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791200" y="2209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6</a:t>
            </a:r>
            <a:endParaRPr lang="zh-HK" altLang="en-US" dirty="0"/>
          </a:p>
        </p:txBody>
      </p:sp>
      <p:cxnSp>
        <p:nvCxnSpPr>
          <p:cNvPr id="73" name="Straight Arrow Connector 72"/>
          <p:cNvCxnSpPr>
            <a:stCxn id="63" idx="6"/>
            <a:endCxn id="72" idx="2"/>
          </p:cNvCxnSpPr>
          <p:nvPr/>
        </p:nvCxnSpPr>
        <p:spPr>
          <a:xfrm>
            <a:off x="5043054" y="2438400"/>
            <a:ext cx="74814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65" idx="6"/>
            <a:endCxn id="14" idx="2"/>
          </p:cNvCxnSpPr>
          <p:nvPr/>
        </p:nvCxnSpPr>
        <p:spPr>
          <a:xfrm flipV="1">
            <a:off x="5728854" y="3581400"/>
            <a:ext cx="806296" cy="27761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72" idx="5"/>
            <a:endCxn id="14" idx="1"/>
          </p:cNvCxnSpPr>
          <p:nvPr/>
        </p:nvCxnSpPr>
        <p:spPr>
          <a:xfrm>
            <a:off x="6193270" y="2600045"/>
            <a:ext cx="410864" cy="8197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5257800" y="32882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91" name="Rectangle 90"/>
          <p:cNvSpPr/>
          <p:nvPr/>
        </p:nvSpPr>
        <p:spPr>
          <a:xfrm>
            <a:off x="5257800" y="50408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94" name="Rectangle 93"/>
          <p:cNvSpPr/>
          <p:nvPr/>
        </p:nvSpPr>
        <p:spPr>
          <a:xfrm>
            <a:off x="6629400" y="3059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graphicFrame>
        <p:nvGraphicFramePr>
          <p:cNvPr id="96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348494"/>
              </p:ext>
            </p:extLst>
          </p:nvPr>
        </p:nvGraphicFramePr>
        <p:xfrm>
          <a:off x="1440873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0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7" name="Table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033765"/>
              </p:ext>
            </p:extLst>
          </p:nvPr>
        </p:nvGraphicFramePr>
        <p:xfrm>
          <a:off x="2438400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3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9" name="Table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436001"/>
              </p:ext>
            </p:extLst>
          </p:nvPr>
        </p:nvGraphicFramePr>
        <p:xfrm>
          <a:off x="3276600" y="1447800"/>
          <a:ext cx="682686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1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0" name="Table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706875"/>
              </p:ext>
            </p:extLst>
          </p:nvPr>
        </p:nvGraphicFramePr>
        <p:xfrm>
          <a:off x="4362651" y="1447800"/>
          <a:ext cx="73322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6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1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020233"/>
              </p:ext>
            </p:extLst>
          </p:nvPr>
        </p:nvGraphicFramePr>
        <p:xfrm>
          <a:off x="5559486" y="1447800"/>
          <a:ext cx="76511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82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2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037524"/>
              </p:ext>
            </p:extLst>
          </p:nvPr>
        </p:nvGraphicFramePr>
        <p:xfrm>
          <a:off x="6535147" y="2428875"/>
          <a:ext cx="780052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90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4" name="Table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276061"/>
              </p:ext>
            </p:extLst>
          </p:nvPr>
        </p:nvGraphicFramePr>
        <p:xfrm>
          <a:off x="3519052" y="2849880"/>
          <a:ext cx="67887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3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12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5" name="Table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820086"/>
              </p:ext>
            </p:extLst>
          </p:nvPr>
        </p:nvGraphicFramePr>
        <p:xfrm>
          <a:off x="5043053" y="2834640"/>
          <a:ext cx="733426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66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12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239205"/>
              </p:ext>
            </p:extLst>
          </p:nvPr>
        </p:nvGraphicFramePr>
        <p:xfrm>
          <a:off x="3505198" y="4450080"/>
          <a:ext cx="692728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938061"/>
              </p:ext>
            </p:extLst>
          </p:nvPr>
        </p:nvGraphicFramePr>
        <p:xfrm>
          <a:off x="5105400" y="4471273"/>
          <a:ext cx="6858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Table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02719"/>
              </p:ext>
            </p:extLst>
          </p:nvPr>
        </p:nvGraphicFramePr>
        <p:xfrm>
          <a:off x="1440873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400192"/>
              </p:ext>
            </p:extLst>
          </p:nvPr>
        </p:nvGraphicFramePr>
        <p:xfrm>
          <a:off x="2438400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4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4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352904"/>
              </p:ext>
            </p:extLst>
          </p:nvPr>
        </p:nvGraphicFramePr>
        <p:xfrm>
          <a:off x="3276600" y="1447800"/>
          <a:ext cx="682686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1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501650"/>
              </p:ext>
            </p:extLst>
          </p:nvPr>
        </p:nvGraphicFramePr>
        <p:xfrm>
          <a:off x="4362651" y="1447800"/>
          <a:ext cx="73322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6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850335"/>
              </p:ext>
            </p:extLst>
          </p:nvPr>
        </p:nvGraphicFramePr>
        <p:xfrm>
          <a:off x="5559486" y="1447800"/>
          <a:ext cx="76511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82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14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14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72024"/>
              </p:ext>
            </p:extLst>
          </p:nvPr>
        </p:nvGraphicFramePr>
        <p:xfrm>
          <a:off x="6535147" y="2428875"/>
          <a:ext cx="780052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90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22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22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870887"/>
              </p:ext>
            </p:extLst>
          </p:nvPr>
        </p:nvGraphicFramePr>
        <p:xfrm>
          <a:off x="3519052" y="2849880"/>
          <a:ext cx="67887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3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12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18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91513"/>
              </p:ext>
            </p:extLst>
          </p:nvPr>
        </p:nvGraphicFramePr>
        <p:xfrm>
          <a:off x="5043053" y="2834640"/>
          <a:ext cx="733426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66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492981"/>
              </p:ext>
            </p:extLst>
          </p:nvPr>
        </p:nvGraphicFramePr>
        <p:xfrm>
          <a:off x="3505198" y="4450080"/>
          <a:ext cx="692728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16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411535"/>
              </p:ext>
            </p:extLst>
          </p:nvPr>
        </p:nvGraphicFramePr>
        <p:xfrm>
          <a:off x="5105400" y="4471273"/>
          <a:ext cx="6858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17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3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HK" sz="4800" dirty="0"/>
              <a:t>Step 2: Backward Pass</a:t>
            </a:r>
            <a:endParaRPr lang="zh-HK" altLang="en-US" sz="4800" dirty="0"/>
          </a:p>
        </p:txBody>
      </p:sp>
      <p:graphicFrame>
        <p:nvGraphicFramePr>
          <p:cNvPr id="84" name="Table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21306"/>
              </p:ext>
            </p:extLst>
          </p:nvPr>
        </p:nvGraphicFramePr>
        <p:xfrm>
          <a:off x="121426" y="6156066"/>
          <a:ext cx="716774" cy="549534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58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767"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ES</a:t>
                      </a:r>
                      <a:endParaRPr lang="zh-HK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EF</a:t>
                      </a:r>
                      <a:endParaRPr lang="zh-HK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67"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LS</a:t>
                      </a:r>
                      <a:endParaRPr lang="zh-HK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LF</a:t>
                      </a:r>
                      <a:endParaRPr lang="zh-HK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750F755E-7B3D-7B5B-F8F3-5A3610882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4800600"/>
            <a:ext cx="2744788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61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510146" y="35052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8" name="Oval 7"/>
          <p:cNvSpPr/>
          <p:nvPr/>
        </p:nvSpPr>
        <p:spPr>
          <a:xfrm>
            <a:off x="2438400" y="35052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1</a:t>
            </a:r>
            <a:endParaRPr lang="zh-HK" altLang="en-US" dirty="0"/>
          </a:p>
        </p:txBody>
      </p:sp>
      <p:sp>
        <p:nvSpPr>
          <p:cNvPr id="10" name="Oval 9"/>
          <p:cNvSpPr/>
          <p:nvPr/>
        </p:nvSpPr>
        <p:spPr>
          <a:xfrm>
            <a:off x="3352800" y="2209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11" name="Oval 10"/>
          <p:cNvSpPr/>
          <p:nvPr/>
        </p:nvSpPr>
        <p:spPr>
          <a:xfrm>
            <a:off x="3567546" y="36576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12" name="Oval 11"/>
          <p:cNvSpPr/>
          <p:nvPr/>
        </p:nvSpPr>
        <p:spPr>
          <a:xfrm>
            <a:off x="3581400" y="5257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8</a:t>
            </a:r>
            <a:endParaRPr lang="zh-HK" altLang="en-US" dirty="0"/>
          </a:p>
        </p:txBody>
      </p:sp>
      <p:sp>
        <p:nvSpPr>
          <p:cNvPr id="13" name="Oval 12"/>
          <p:cNvSpPr/>
          <p:nvPr/>
        </p:nvSpPr>
        <p:spPr>
          <a:xfrm>
            <a:off x="5181600" y="53340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7</a:t>
            </a:r>
            <a:endParaRPr lang="zh-HK" altLang="en-US" dirty="0"/>
          </a:p>
        </p:txBody>
      </p:sp>
      <p:sp>
        <p:nvSpPr>
          <p:cNvPr id="14" name="Oval 13"/>
          <p:cNvSpPr/>
          <p:nvPr/>
        </p:nvSpPr>
        <p:spPr>
          <a:xfrm>
            <a:off x="6535150" y="3352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9</a:t>
            </a:r>
            <a:endParaRPr lang="zh-HK" altLang="en-US" dirty="0"/>
          </a:p>
        </p:txBody>
      </p:sp>
      <p:cxnSp>
        <p:nvCxnSpPr>
          <p:cNvPr id="21" name="Straight Arrow Connector 20"/>
          <p:cNvCxnSpPr>
            <a:stCxn id="5" idx="6"/>
            <a:endCxn id="8" idx="2"/>
          </p:cNvCxnSpPr>
          <p:nvPr/>
        </p:nvCxnSpPr>
        <p:spPr>
          <a:xfrm>
            <a:off x="1981200" y="3733800"/>
            <a:ext cx="4572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8" idx="6"/>
            <a:endCxn id="11" idx="2"/>
          </p:cNvCxnSpPr>
          <p:nvPr/>
        </p:nvCxnSpPr>
        <p:spPr>
          <a:xfrm>
            <a:off x="2909454" y="3733800"/>
            <a:ext cx="658092" cy="152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5"/>
            <a:endCxn id="12" idx="2"/>
          </p:cNvCxnSpPr>
          <p:nvPr/>
        </p:nvCxnSpPr>
        <p:spPr>
          <a:xfrm>
            <a:off x="2840470" y="3895445"/>
            <a:ext cx="740930" cy="159095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7"/>
            <a:endCxn id="10" idx="3"/>
          </p:cNvCxnSpPr>
          <p:nvPr/>
        </p:nvCxnSpPr>
        <p:spPr>
          <a:xfrm flipV="1">
            <a:off x="2840470" y="2600045"/>
            <a:ext cx="581314" cy="9721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" idx="6"/>
            <a:endCxn id="63" idx="2"/>
          </p:cNvCxnSpPr>
          <p:nvPr/>
        </p:nvCxnSpPr>
        <p:spPr>
          <a:xfrm>
            <a:off x="3823854" y="2438400"/>
            <a:ext cx="74814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3" idx="7"/>
            <a:endCxn id="14" idx="3"/>
          </p:cNvCxnSpPr>
          <p:nvPr/>
        </p:nvCxnSpPr>
        <p:spPr>
          <a:xfrm flipV="1">
            <a:off x="5583670" y="3743045"/>
            <a:ext cx="1020464" cy="16579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2" idx="6"/>
            <a:endCxn id="13" idx="2"/>
          </p:cNvCxnSpPr>
          <p:nvPr/>
        </p:nvCxnSpPr>
        <p:spPr>
          <a:xfrm>
            <a:off x="4052454" y="5486400"/>
            <a:ext cx="1129146" cy="76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21427" y="5715000"/>
            <a:ext cx="1124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dirty="0"/>
              <a:t>Notations</a:t>
            </a:r>
            <a:endParaRPr lang="zh-HK" altLang="en-US" dirty="0"/>
          </a:p>
        </p:txBody>
      </p:sp>
      <p:sp>
        <p:nvSpPr>
          <p:cNvPr id="49" name="Rectangle 48"/>
          <p:cNvSpPr/>
          <p:nvPr/>
        </p:nvSpPr>
        <p:spPr>
          <a:xfrm>
            <a:off x="914400" y="6172200"/>
            <a:ext cx="34482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200" dirty="0"/>
              <a:t>ES: Earliest Start     LS: Latest Start        TS: Total Slack</a:t>
            </a:r>
          </a:p>
          <a:p>
            <a:pPr>
              <a:defRPr/>
            </a:pPr>
            <a:r>
              <a:rPr lang="en-US" altLang="zh-HK" sz="1200" dirty="0"/>
              <a:t>EF: Earliest Finish   LF: Latest Finish      FS:  Free Slack</a:t>
            </a:r>
            <a:endParaRPr lang="zh-HK" altLang="en-US" sz="1200" dirty="0"/>
          </a:p>
        </p:txBody>
      </p:sp>
      <p:sp>
        <p:nvSpPr>
          <p:cNvPr id="52" name="Rectangle 51"/>
          <p:cNvSpPr/>
          <p:nvPr/>
        </p:nvSpPr>
        <p:spPr>
          <a:xfrm>
            <a:off x="1620776" y="322592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55" name="Rectangle 54"/>
          <p:cNvSpPr/>
          <p:nvPr/>
        </p:nvSpPr>
        <p:spPr>
          <a:xfrm>
            <a:off x="2514600" y="32120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57" name="Rectangle 56"/>
          <p:cNvSpPr/>
          <p:nvPr/>
        </p:nvSpPr>
        <p:spPr>
          <a:xfrm>
            <a:off x="3429000" y="1916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0" y="33644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4</a:t>
            </a:r>
            <a:endParaRPr lang="zh-HK" altLang="en-US" dirty="0"/>
          </a:p>
        </p:txBody>
      </p:sp>
      <p:sp>
        <p:nvSpPr>
          <p:cNvPr id="59" name="Rectangle 58"/>
          <p:cNvSpPr/>
          <p:nvPr/>
        </p:nvSpPr>
        <p:spPr>
          <a:xfrm>
            <a:off x="3657600" y="4964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sp>
        <p:nvSpPr>
          <p:cNvPr id="60" name="Rectangle 59"/>
          <p:cNvSpPr/>
          <p:nvPr/>
        </p:nvSpPr>
        <p:spPr>
          <a:xfrm>
            <a:off x="5891584" y="190500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8</a:t>
            </a:r>
            <a:endParaRPr lang="zh-HK" alt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48200" y="1916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63" name="Oval 62"/>
          <p:cNvSpPr/>
          <p:nvPr/>
        </p:nvSpPr>
        <p:spPr>
          <a:xfrm>
            <a:off x="4572000" y="2209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4</a:t>
            </a:r>
            <a:endParaRPr lang="zh-HK" altLang="en-US" dirty="0"/>
          </a:p>
        </p:txBody>
      </p:sp>
      <p:cxnSp>
        <p:nvCxnSpPr>
          <p:cNvPr id="64" name="Straight Arrow Connector 63"/>
          <p:cNvCxnSpPr>
            <a:stCxn id="11" idx="6"/>
            <a:endCxn id="65" idx="2"/>
          </p:cNvCxnSpPr>
          <p:nvPr/>
        </p:nvCxnSpPr>
        <p:spPr>
          <a:xfrm flipV="1">
            <a:off x="4038600" y="3859014"/>
            <a:ext cx="1066800" cy="2718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5105400" y="3603227"/>
            <a:ext cx="623454" cy="5115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10</a:t>
            </a:r>
            <a:endParaRPr lang="zh-HK" altLang="en-US" dirty="0"/>
          </a:p>
        </p:txBody>
      </p:sp>
      <p:cxnSp>
        <p:nvCxnSpPr>
          <p:cNvPr id="66" name="Straight Arrow Connector 65"/>
          <p:cNvCxnSpPr>
            <a:stCxn id="12" idx="6"/>
            <a:endCxn id="65" idx="3"/>
          </p:cNvCxnSpPr>
          <p:nvPr/>
        </p:nvCxnSpPr>
        <p:spPr>
          <a:xfrm flipV="1">
            <a:off x="4052454" y="4039882"/>
            <a:ext cx="1144249" cy="144651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791200" y="2209800"/>
            <a:ext cx="471054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/>
              <a:t>6</a:t>
            </a:r>
            <a:endParaRPr lang="zh-HK" altLang="en-US" dirty="0"/>
          </a:p>
        </p:txBody>
      </p:sp>
      <p:cxnSp>
        <p:nvCxnSpPr>
          <p:cNvPr id="73" name="Straight Arrow Connector 72"/>
          <p:cNvCxnSpPr>
            <a:stCxn id="63" idx="6"/>
            <a:endCxn id="72" idx="2"/>
          </p:cNvCxnSpPr>
          <p:nvPr/>
        </p:nvCxnSpPr>
        <p:spPr>
          <a:xfrm>
            <a:off x="5043054" y="2438400"/>
            <a:ext cx="74814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65" idx="6"/>
            <a:endCxn id="14" idx="2"/>
          </p:cNvCxnSpPr>
          <p:nvPr/>
        </p:nvCxnSpPr>
        <p:spPr>
          <a:xfrm flipV="1">
            <a:off x="5728854" y="3581400"/>
            <a:ext cx="806296" cy="27761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72" idx="5"/>
            <a:endCxn id="14" idx="1"/>
          </p:cNvCxnSpPr>
          <p:nvPr/>
        </p:nvCxnSpPr>
        <p:spPr>
          <a:xfrm>
            <a:off x="6193270" y="2600045"/>
            <a:ext cx="410864" cy="8197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5257800" y="32882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3</a:t>
            </a:r>
            <a:endParaRPr lang="zh-HK" altLang="en-US" dirty="0"/>
          </a:p>
        </p:txBody>
      </p:sp>
      <p:sp>
        <p:nvSpPr>
          <p:cNvPr id="91" name="Rectangle 90"/>
          <p:cNvSpPr/>
          <p:nvPr/>
        </p:nvSpPr>
        <p:spPr>
          <a:xfrm>
            <a:off x="5257800" y="50408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5</a:t>
            </a:r>
            <a:endParaRPr lang="zh-HK" altLang="en-US" dirty="0"/>
          </a:p>
        </p:txBody>
      </p:sp>
      <p:sp>
        <p:nvSpPr>
          <p:cNvPr id="94" name="Rectangle 93"/>
          <p:cNvSpPr/>
          <p:nvPr/>
        </p:nvSpPr>
        <p:spPr>
          <a:xfrm>
            <a:off x="6629400" y="3059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dirty="0"/>
              <a:t>2</a:t>
            </a:r>
            <a:endParaRPr lang="zh-HK" altLang="en-US" dirty="0"/>
          </a:p>
        </p:txBody>
      </p:sp>
      <p:graphicFrame>
        <p:nvGraphicFramePr>
          <p:cNvPr id="96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24963"/>
              </p:ext>
            </p:extLst>
          </p:nvPr>
        </p:nvGraphicFramePr>
        <p:xfrm>
          <a:off x="1440873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0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7" name="Table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440361"/>
              </p:ext>
            </p:extLst>
          </p:nvPr>
        </p:nvGraphicFramePr>
        <p:xfrm>
          <a:off x="2438400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3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9" name="Table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613529"/>
              </p:ext>
            </p:extLst>
          </p:nvPr>
        </p:nvGraphicFramePr>
        <p:xfrm>
          <a:off x="3276600" y="1447800"/>
          <a:ext cx="682686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1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0" name="Table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36388"/>
              </p:ext>
            </p:extLst>
          </p:nvPr>
        </p:nvGraphicFramePr>
        <p:xfrm>
          <a:off x="4362651" y="1447800"/>
          <a:ext cx="73322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6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1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406370"/>
              </p:ext>
            </p:extLst>
          </p:nvPr>
        </p:nvGraphicFramePr>
        <p:xfrm>
          <a:off x="5559486" y="1447800"/>
          <a:ext cx="76511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82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2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834833"/>
              </p:ext>
            </p:extLst>
          </p:nvPr>
        </p:nvGraphicFramePr>
        <p:xfrm>
          <a:off x="6535147" y="2428875"/>
          <a:ext cx="780052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90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4" name="Table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449309"/>
              </p:ext>
            </p:extLst>
          </p:nvPr>
        </p:nvGraphicFramePr>
        <p:xfrm>
          <a:off x="3519052" y="2849880"/>
          <a:ext cx="67887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3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12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5" name="Table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807914"/>
              </p:ext>
            </p:extLst>
          </p:nvPr>
        </p:nvGraphicFramePr>
        <p:xfrm>
          <a:off x="5043053" y="2834640"/>
          <a:ext cx="733426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66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12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893639"/>
              </p:ext>
            </p:extLst>
          </p:nvPr>
        </p:nvGraphicFramePr>
        <p:xfrm>
          <a:off x="3505198" y="4450080"/>
          <a:ext cx="692728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408256"/>
              </p:ext>
            </p:extLst>
          </p:nvPr>
        </p:nvGraphicFramePr>
        <p:xfrm>
          <a:off x="5105400" y="4471273"/>
          <a:ext cx="6858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Table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940681"/>
              </p:ext>
            </p:extLst>
          </p:nvPr>
        </p:nvGraphicFramePr>
        <p:xfrm>
          <a:off x="1440873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387074"/>
              </p:ext>
            </p:extLst>
          </p:nvPr>
        </p:nvGraphicFramePr>
        <p:xfrm>
          <a:off x="2438400" y="2773680"/>
          <a:ext cx="6096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4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4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8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41895"/>
              </p:ext>
            </p:extLst>
          </p:nvPr>
        </p:nvGraphicFramePr>
        <p:xfrm>
          <a:off x="3276600" y="1447800"/>
          <a:ext cx="682686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1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110450"/>
              </p:ext>
            </p:extLst>
          </p:nvPr>
        </p:nvGraphicFramePr>
        <p:xfrm>
          <a:off x="4362651" y="1447800"/>
          <a:ext cx="73322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6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267904"/>
              </p:ext>
            </p:extLst>
          </p:nvPr>
        </p:nvGraphicFramePr>
        <p:xfrm>
          <a:off x="5559486" y="1447800"/>
          <a:ext cx="76511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82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14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14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49585"/>
              </p:ext>
            </p:extLst>
          </p:nvPr>
        </p:nvGraphicFramePr>
        <p:xfrm>
          <a:off x="6535147" y="2428875"/>
          <a:ext cx="780052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90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22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22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23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089983"/>
              </p:ext>
            </p:extLst>
          </p:nvPr>
        </p:nvGraphicFramePr>
        <p:xfrm>
          <a:off x="3519052" y="2849880"/>
          <a:ext cx="678874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3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12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18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360061"/>
              </p:ext>
            </p:extLst>
          </p:nvPr>
        </p:nvGraphicFramePr>
        <p:xfrm>
          <a:off x="5043053" y="2834640"/>
          <a:ext cx="733426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66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13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294550"/>
              </p:ext>
            </p:extLst>
          </p:nvPr>
        </p:nvGraphicFramePr>
        <p:xfrm>
          <a:off x="3505198" y="4450080"/>
          <a:ext cx="692728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9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10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16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9439"/>
              </p:ext>
            </p:extLst>
          </p:nvPr>
        </p:nvGraphicFramePr>
        <p:xfrm>
          <a:off x="5105400" y="4471273"/>
          <a:ext cx="685800" cy="502920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11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15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17</a:t>
                      </a:r>
                      <a:endParaRPr lang="zh-HK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000" dirty="0"/>
                        <a:t>21</a:t>
                      </a:r>
                      <a:endParaRPr lang="zh-HK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4" name="Rectangle 83"/>
          <p:cNvSpPr/>
          <p:nvPr/>
        </p:nvSpPr>
        <p:spPr>
          <a:xfrm>
            <a:off x="6604134" y="1853625"/>
            <a:ext cx="742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TS = 0</a:t>
            </a:r>
          </a:p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FS = 0</a:t>
            </a:r>
            <a:endParaRPr lang="zh-HK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547085" y="863025"/>
            <a:ext cx="742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TS = 0</a:t>
            </a:r>
          </a:p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FS = 0</a:t>
            </a:r>
            <a:endParaRPr lang="zh-HK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343400" y="899756"/>
            <a:ext cx="742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TS = 0</a:t>
            </a:r>
          </a:p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FS = 0</a:t>
            </a:r>
            <a:endParaRPr lang="zh-HK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276600" y="899755"/>
            <a:ext cx="742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TS = 0</a:t>
            </a:r>
          </a:p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FS = 0</a:t>
            </a:r>
            <a:endParaRPr lang="zh-HK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419662" y="2158425"/>
            <a:ext cx="742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TS = 0</a:t>
            </a:r>
          </a:p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FS = 0</a:t>
            </a:r>
            <a:endParaRPr lang="zh-HK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391373" y="2234625"/>
            <a:ext cx="742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TS = 0</a:t>
            </a:r>
          </a:p>
          <a:p>
            <a:pPr>
              <a:defRPr/>
            </a:pPr>
            <a:r>
              <a:rPr lang="en-US" altLang="zh-HK" sz="1600" dirty="0">
                <a:solidFill>
                  <a:schemeClr val="bg1">
                    <a:lumMod val="50000"/>
                  </a:schemeClr>
                </a:solidFill>
              </a:rPr>
              <a:t>FS = 0</a:t>
            </a:r>
            <a:endParaRPr lang="zh-HK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4137046" y="4444425"/>
            <a:ext cx="7793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600" b="1" dirty="0">
                <a:solidFill>
                  <a:schemeClr val="accent4">
                    <a:lumMod val="50000"/>
                  </a:schemeClr>
                </a:solidFill>
              </a:rPr>
              <a:t>TS = 6</a:t>
            </a:r>
          </a:p>
          <a:p>
            <a:pPr>
              <a:defRPr/>
            </a:pPr>
            <a:r>
              <a:rPr lang="en-US" altLang="zh-HK" sz="1600" b="1" dirty="0">
                <a:solidFill>
                  <a:schemeClr val="accent4">
                    <a:lumMod val="50000"/>
                  </a:schemeClr>
                </a:solidFill>
              </a:rPr>
              <a:t>FS = 0</a:t>
            </a:r>
            <a:endParaRPr lang="zh-HK" altLang="en-US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5791200" y="4380925"/>
            <a:ext cx="7793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600" b="1" dirty="0">
                <a:solidFill>
                  <a:schemeClr val="accent4">
                    <a:lumMod val="50000"/>
                  </a:schemeClr>
                </a:solidFill>
              </a:rPr>
              <a:t>TS = 6</a:t>
            </a:r>
          </a:p>
          <a:p>
            <a:pPr>
              <a:defRPr/>
            </a:pPr>
            <a:r>
              <a:rPr lang="en-US" altLang="zh-HK" sz="1600" b="1" dirty="0">
                <a:solidFill>
                  <a:schemeClr val="accent4">
                    <a:lumMod val="50000"/>
                  </a:schemeClr>
                </a:solidFill>
              </a:rPr>
              <a:t>FS = 6</a:t>
            </a:r>
            <a:endParaRPr lang="zh-HK" altLang="en-US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4060846" y="3377625"/>
            <a:ext cx="7793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600" b="1" dirty="0">
                <a:solidFill>
                  <a:schemeClr val="accent4">
                    <a:lumMod val="50000"/>
                  </a:schemeClr>
                </a:solidFill>
              </a:rPr>
              <a:t>TS = 6</a:t>
            </a:r>
          </a:p>
          <a:p>
            <a:pPr>
              <a:defRPr/>
            </a:pPr>
            <a:r>
              <a:rPr lang="en-US" altLang="zh-HK" sz="1600" b="1" dirty="0">
                <a:solidFill>
                  <a:schemeClr val="accent4">
                    <a:lumMod val="50000"/>
                  </a:schemeClr>
                </a:solidFill>
              </a:rPr>
              <a:t>FS = 0</a:t>
            </a:r>
            <a:endParaRPr lang="zh-HK" altLang="en-US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5715000" y="2804756"/>
            <a:ext cx="7793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HK" sz="1600" b="1" dirty="0">
                <a:solidFill>
                  <a:schemeClr val="accent4">
                    <a:lumMod val="50000"/>
                  </a:schemeClr>
                </a:solidFill>
              </a:rPr>
              <a:t>TS = 6</a:t>
            </a:r>
          </a:p>
          <a:p>
            <a:pPr>
              <a:defRPr/>
            </a:pPr>
            <a:r>
              <a:rPr lang="en-US" altLang="zh-HK" sz="1600" b="1" dirty="0">
                <a:solidFill>
                  <a:schemeClr val="accent4">
                    <a:lumMod val="50000"/>
                  </a:schemeClr>
                </a:solidFill>
              </a:rPr>
              <a:t>FS = 6</a:t>
            </a:r>
            <a:endParaRPr lang="zh-HK" altLang="en-US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1" y="1334869"/>
            <a:ext cx="28290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dirty="0"/>
              <a:t>The slacks are equal to zero for all the critical activities.</a:t>
            </a:r>
            <a:endParaRPr lang="zh-HK" altLang="en-US" dirty="0"/>
          </a:p>
        </p:txBody>
      </p:sp>
      <p:graphicFrame>
        <p:nvGraphicFramePr>
          <p:cNvPr id="110" name="Table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21306"/>
              </p:ext>
            </p:extLst>
          </p:nvPr>
        </p:nvGraphicFramePr>
        <p:xfrm>
          <a:off x="121426" y="6156066"/>
          <a:ext cx="716774" cy="549534"/>
        </p:xfrm>
        <a:graphic>
          <a:graphicData uri="http://schemas.openxmlformats.org/drawingml/2006/table">
            <a:tbl>
              <a:tblPr>
                <a:effectLst/>
                <a:tableStyleId>{69CF1AB2-1976-4502-BF36-3FF5EA218861}</a:tableStyleId>
              </a:tblPr>
              <a:tblGrid>
                <a:gridCol w="358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767"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ES</a:t>
                      </a:r>
                      <a:endParaRPr lang="zh-HK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EF</a:t>
                      </a:r>
                      <a:endParaRPr lang="zh-HK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67"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LS</a:t>
                      </a:r>
                      <a:endParaRPr lang="zh-HK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LF</a:t>
                      </a:r>
                      <a:endParaRPr lang="zh-HK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1" name="Title 1"/>
          <p:cNvSpPr>
            <a:spLocks noGrp="1"/>
          </p:cNvSpPr>
          <p:nvPr>
            <p:ph type="title"/>
          </p:nvPr>
        </p:nvSpPr>
        <p:spPr>
          <a:xfrm>
            <a:off x="286802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HK" sz="4800" dirty="0"/>
              <a:t>Step 3: Calculating Slacks</a:t>
            </a:r>
          </a:p>
        </p:txBody>
      </p:sp>
    </p:spTree>
    <p:extLst>
      <p:ext uri="{BB962C8B-B14F-4D97-AF65-F5344CB8AC3E}">
        <p14:creationId xmlns:p14="http://schemas.microsoft.com/office/powerpoint/2010/main" val="123960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/>
      <p:bldP spid="86" grpId="0"/>
      <p:bldP spid="87" grpId="0"/>
      <p:bldP spid="89" grpId="0"/>
      <p:bldP spid="92" grpId="0"/>
      <p:bldP spid="93" grpId="0"/>
      <p:bldP spid="98" grpId="0"/>
      <p:bldP spid="108" grpId="0"/>
      <p:bldP spid="109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945</TotalTime>
  <Words>584</Words>
  <Application>Microsoft Office PowerPoint</Application>
  <PresentationFormat>On-screen Show (4:3)</PresentationFormat>
  <Paragraphs>334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Project Management CPM An Illustrative Example</vt:lpstr>
      <vt:lpstr>The House Construction Problem</vt:lpstr>
      <vt:lpstr>Critical Path Method (CPM)</vt:lpstr>
      <vt:lpstr>Notations</vt:lpstr>
      <vt:lpstr>Step 1: Forward Pass</vt:lpstr>
      <vt:lpstr>Step 2: Backward Pass</vt:lpstr>
      <vt:lpstr>Step 3: Calculating Slacks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Path Method (CPM)</dc:title>
  <dc:creator>installer</dc:creator>
  <cp:lastModifiedBy>Basharat Hussain</cp:lastModifiedBy>
  <cp:revision>959</cp:revision>
  <cp:lastPrinted>2013-09-19T06:29:29Z</cp:lastPrinted>
  <dcterms:created xsi:type="dcterms:W3CDTF">2013-09-11T06:34:10Z</dcterms:created>
  <dcterms:modified xsi:type="dcterms:W3CDTF">2025-03-03T16:07:53Z</dcterms:modified>
</cp:coreProperties>
</file>