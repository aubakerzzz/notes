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6"/>
  </p:notesMasterIdLst>
  <p:sldIdLst>
    <p:sldId id="256" r:id="rId2"/>
    <p:sldId id="295" r:id="rId3"/>
    <p:sldId id="296"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9" r:id="rId22"/>
    <p:sldId id="320" r:id="rId23"/>
    <p:sldId id="314" r:id="rId24"/>
    <p:sldId id="315" r:id="rId25"/>
    <p:sldId id="316" r:id="rId26"/>
    <p:sldId id="317" r:id="rId27"/>
    <p:sldId id="318" r:id="rId28"/>
    <p:sldId id="321" r:id="rId29"/>
    <p:sldId id="322" r:id="rId30"/>
    <p:sldId id="323" r:id="rId31"/>
    <p:sldId id="324" r:id="rId32"/>
    <p:sldId id="328" r:id="rId33"/>
    <p:sldId id="329" r:id="rId34"/>
    <p:sldId id="330" r:id="rId35"/>
    <p:sldId id="326" r:id="rId36"/>
    <p:sldId id="327" r:id="rId37"/>
    <p:sldId id="325" r:id="rId38"/>
    <p:sldId id="367" r:id="rId39"/>
    <p:sldId id="368" r:id="rId40"/>
    <p:sldId id="369" r:id="rId41"/>
    <p:sldId id="370" r:id="rId42"/>
    <p:sldId id="371" r:id="rId43"/>
    <p:sldId id="372" r:id="rId44"/>
    <p:sldId id="277"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776" autoAdjust="0"/>
  </p:normalViewPr>
  <p:slideViewPr>
    <p:cSldViewPr snapToGrid="0">
      <p:cViewPr varScale="1">
        <p:scale>
          <a:sx n="60" d="100"/>
          <a:sy n="60" d="100"/>
        </p:scale>
        <p:origin x="152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AEB6D1-528B-49F1-95D7-5065F3F46ED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ECCC849-A1A4-46B6-9C53-AAA5B261646C}">
      <dgm:prSet/>
      <dgm:spPr/>
      <dgm:t>
        <a:bodyPr/>
        <a:lstStyle/>
        <a:p>
          <a:r>
            <a:rPr lang="en-US"/>
            <a:t>• Unambiguous</a:t>
          </a:r>
        </a:p>
      </dgm:t>
    </dgm:pt>
    <dgm:pt modelId="{6EA79E87-C781-45EB-8804-A633D033A0F0}" type="parTrans" cxnId="{DECFCD40-5FBE-4279-A136-FE097BCD3B7C}">
      <dgm:prSet/>
      <dgm:spPr/>
      <dgm:t>
        <a:bodyPr/>
        <a:lstStyle/>
        <a:p>
          <a:endParaRPr lang="en-US"/>
        </a:p>
      </dgm:t>
    </dgm:pt>
    <dgm:pt modelId="{DA21A9AD-6E4E-4E69-8D54-6B6A5659A000}" type="sibTrans" cxnId="{DECFCD40-5FBE-4279-A136-FE097BCD3B7C}">
      <dgm:prSet/>
      <dgm:spPr/>
      <dgm:t>
        <a:bodyPr/>
        <a:lstStyle/>
        <a:p>
          <a:endParaRPr lang="en-US"/>
        </a:p>
      </dgm:t>
    </dgm:pt>
    <dgm:pt modelId="{4E5E040D-E8DF-42FE-B9BA-2D2CE9A04114}">
      <dgm:prSet/>
      <dgm:spPr/>
      <dgm:t>
        <a:bodyPr/>
        <a:lstStyle/>
        <a:p>
          <a:r>
            <a:rPr lang="en-US"/>
            <a:t>• Testable (verifiable)</a:t>
          </a:r>
        </a:p>
      </dgm:t>
    </dgm:pt>
    <dgm:pt modelId="{8B88055C-3D5E-418A-B638-D11E8922E0CA}" type="parTrans" cxnId="{98AAD25C-01FC-4D55-82F0-2C7177E39A08}">
      <dgm:prSet/>
      <dgm:spPr/>
      <dgm:t>
        <a:bodyPr/>
        <a:lstStyle/>
        <a:p>
          <a:endParaRPr lang="en-US"/>
        </a:p>
      </dgm:t>
    </dgm:pt>
    <dgm:pt modelId="{E3910039-6011-4193-8F41-46CB28DB843E}" type="sibTrans" cxnId="{98AAD25C-01FC-4D55-82F0-2C7177E39A08}">
      <dgm:prSet/>
      <dgm:spPr/>
      <dgm:t>
        <a:bodyPr/>
        <a:lstStyle/>
        <a:p>
          <a:endParaRPr lang="en-US"/>
        </a:p>
      </dgm:t>
    </dgm:pt>
    <dgm:pt modelId="{46287619-6D4F-4087-B849-CF885450B361}">
      <dgm:prSet/>
      <dgm:spPr/>
      <dgm:t>
        <a:bodyPr/>
        <a:lstStyle/>
        <a:p>
          <a:r>
            <a:rPr lang="en-US"/>
            <a:t>• Clear (concise, terse, simple, precise)</a:t>
          </a:r>
        </a:p>
      </dgm:t>
    </dgm:pt>
    <dgm:pt modelId="{5AB70786-3563-473F-9E8B-1E19974A7B1B}" type="parTrans" cxnId="{122D4B8D-1854-4ABE-93B6-A8364933331D}">
      <dgm:prSet/>
      <dgm:spPr/>
      <dgm:t>
        <a:bodyPr/>
        <a:lstStyle/>
        <a:p>
          <a:endParaRPr lang="en-US"/>
        </a:p>
      </dgm:t>
    </dgm:pt>
    <dgm:pt modelId="{9F0AF3F5-BB56-4445-AFAA-8B102642C842}" type="sibTrans" cxnId="{122D4B8D-1854-4ABE-93B6-A8364933331D}">
      <dgm:prSet/>
      <dgm:spPr/>
      <dgm:t>
        <a:bodyPr/>
        <a:lstStyle/>
        <a:p>
          <a:endParaRPr lang="en-US"/>
        </a:p>
      </dgm:t>
    </dgm:pt>
    <dgm:pt modelId="{9AE7C045-A459-4EAF-A3C5-845DCB7F34EE}">
      <dgm:prSet/>
      <dgm:spPr/>
      <dgm:t>
        <a:bodyPr/>
        <a:lstStyle/>
        <a:p>
          <a:r>
            <a:rPr lang="en-US"/>
            <a:t>• Correct</a:t>
          </a:r>
        </a:p>
      </dgm:t>
    </dgm:pt>
    <dgm:pt modelId="{D612067F-49B2-4DFD-987B-3DC6C572F5ED}" type="parTrans" cxnId="{1F93CCD8-1ABA-4C3E-AABB-F9F679BF2AE7}">
      <dgm:prSet/>
      <dgm:spPr/>
      <dgm:t>
        <a:bodyPr/>
        <a:lstStyle/>
        <a:p>
          <a:endParaRPr lang="en-US"/>
        </a:p>
      </dgm:t>
    </dgm:pt>
    <dgm:pt modelId="{FC92CE59-FE81-455E-93D2-FB2F6D096060}" type="sibTrans" cxnId="{1F93CCD8-1ABA-4C3E-AABB-F9F679BF2AE7}">
      <dgm:prSet/>
      <dgm:spPr/>
      <dgm:t>
        <a:bodyPr/>
        <a:lstStyle/>
        <a:p>
          <a:endParaRPr lang="en-US"/>
        </a:p>
      </dgm:t>
    </dgm:pt>
    <dgm:pt modelId="{0A885757-ECFF-45F2-B41A-00176130EFC9}">
      <dgm:prSet/>
      <dgm:spPr/>
      <dgm:t>
        <a:bodyPr/>
        <a:lstStyle/>
        <a:p>
          <a:r>
            <a:rPr lang="en-US"/>
            <a:t>• Understandable</a:t>
          </a:r>
        </a:p>
      </dgm:t>
    </dgm:pt>
    <dgm:pt modelId="{9B001E90-A2C9-473D-8772-75C1D4A1A470}" type="parTrans" cxnId="{44903BF2-2D67-4E3B-96AB-06800DC930B8}">
      <dgm:prSet/>
      <dgm:spPr/>
      <dgm:t>
        <a:bodyPr/>
        <a:lstStyle/>
        <a:p>
          <a:endParaRPr lang="en-US"/>
        </a:p>
      </dgm:t>
    </dgm:pt>
    <dgm:pt modelId="{5D65ED58-3072-481D-BC08-5BDF845906EE}" type="sibTrans" cxnId="{44903BF2-2D67-4E3B-96AB-06800DC930B8}">
      <dgm:prSet/>
      <dgm:spPr/>
      <dgm:t>
        <a:bodyPr/>
        <a:lstStyle/>
        <a:p>
          <a:endParaRPr lang="en-US"/>
        </a:p>
      </dgm:t>
    </dgm:pt>
    <dgm:pt modelId="{32C7E870-FC6C-4330-9B18-5F0479019D4E}">
      <dgm:prSet/>
      <dgm:spPr/>
      <dgm:t>
        <a:bodyPr/>
        <a:lstStyle/>
        <a:p>
          <a:r>
            <a:rPr lang="en-US"/>
            <a:t>• Feasible (realistic, possible)</a:t>
          </a:r>
        </a:p>
      </dgm:t>
    </dgm:pt>
    <dgm:pt modelId="{A4795C85-33A4-4E53-85E9-B17A372EF352}" type="parTrans" cxnId="{7F302F57-1AEC-4B19-B8C2-35A8FCD842A1}">
      <dgm:prSet/>
      <dgm:spPr/>
      <dgm:t>
        <a:bodyPr/>
        <a:lstStyle/>
        <a:p>
          <a:endParaRPr lang="en-US"/>
        </a:p>
      </dgm:t>
    </dgm:pt>
    <dgm:pt modelId="{2BB1A91A-6129-4585-B8CC-41CD1FFB25C1}" type="sibTrans" cxnId="{7F302F57-1AEC-4B19-B8C2-35A8FCD842A1}">
      <dgm:prSet/>
      <dgm:spPr/>
      <dgm:t>
        <a:bodyPr/>
        <a:lstStyle/>
        <a:p>
          <a:endParaRPr lang="en-US"/>
        </a:p>
      </dgm:t>
    </dgm:pt>
    <dgm:pt modelId="{261F82CE-555F-478A-BD3E-B7A07A2654C4}">
      <dgm:prSet/>
      <dgm:spPr/>
      <dgm:t>
        <a:bodyPr/>
        <a:lstStyle/>
        <a:p>
          <a:r>
            <a:rPr lang="en-US"/>
            <a:t>• Independent</a:t>
          </a:r>
        </a:p>
      </dgm:t>
    </dgm:pt>
    <dgm:pt modelId="{6045128E-FDBF-4C1E-BB16-2EC939413131}" type="parTrans" cxnId="{BDBE21D0-42A9-4BF0-884B-5C8804971949}">
      <dgm:prSet/>
      <dgm:spPr/>
      <dgm:t>
        <a:bodyPr/>
        <a:lstStyle/>
        <a:p>
          <a:endParaRPr lang="en-US"/>
        </a:p>
      </dgm:t>
    </dgm:pt>
    <dgm:pt modelId="{AB789900-3B89-4F7F-BA46-3D839892EFAB}" type="sibTrans" cxnId="{BDBE21D0-42A9-4BF0-884B-5C8804971949}">
      <dgm:prSet/>
      <dgm:spPr/>
      <dgm:t>
        <a:bodyPr/>
        <a:lstStyle/>
        <a:p>
          <a:endParaRPr lang="en-US"/>
        </a:p>
      </dgm:t>
    </dgm:pt>
    <dgm:pt modelId="{645B6910-124A-43D7-B3B8-FA561AA14940}">
      <dgm:prSet/>
      <dgm:spPr/>
      <dgm:t>
        <a:bodyPr/>
        <a:lstStyle/>
        <a:p>
          <a:r>
            <a:rPr lang="en-US"/>
            <a:t>• Atomic</a:t>
          </a:r>
        </a:p>
      </dgm:t>
    </dgm:pt>
    <dgm:pt modelId="{6A920D98-8839-4BA4-8906-3EED9F3B1BA6}" type="parTrans" cxnId="{8E90A237-3D3F-4BAB-BEDC-CCEC5E6B5C96}">
      <dgm:prSet/>
      <dgm:spPr/>
      <dgm:t>
        <a:bodyPr/>
        <a:lstStyle/>
        <a:p>
          <a:endParaRPr lang="en-US"/>
        </a:p>
      </dgm:t>
    </dgm:pt>
    <dgm:pt modelId="{CCEF6D1F-D13B-4C8E-BD6C-111353A0F41B}" type="sibTrans" cxnId="{8E90A237-3D3F-4BAB-BEDC-CCEC5E6B5C96}">
      <dgm:prSet/>
      <dgm:spPr/>
      <dgm:t>
        <a:bodyPr/>
        <a:lstStyle/>
        <a:p>
          <a:endParaRPr lang="en-US"/>
        </a:p>
      </dgm:t>
    </dgm:pt>
    <dgm:pt modelId="{71B439F8-35B6-4459-8411-8E309DAE5C9C}">
      <dgm:prSet/>
      <dgm:spPr/>
      <dgm:t>
        <a:bodyPr/>
        <a:lstStyle/>
        <a:p>
          <a:r>
            <a:rPr lang="en-US"/>
            <a:t>• Necessary</a:t>
          </a:r>
        </a:p>
      </dgm:t>
    </dgm:pt>
    <dgm:pt modelId="{6CCE8D18-075C-419C-AC67-9AFC912DBF24}" type="parTrans" cxnId="{4CD33A87-7CBC-45FA-A397-BE98D50AF845}">
      <dgm:prSet/>
      <dgm:spPr/>
      <dgm:t>
        <a:bodyPr/>
        <a:lstStyle/>
        <a:p>
          <a:endParaRPr lang="en-US"/>
        </a:p>
      </dgm:t>
    </dgm:pt>
    <dgm:pt modelId="{24BF2353-658F-4160-B978-3335E9F8B347}" type="sibTrans" cxnId="{4CD33A87-7CBC-45FA-A397-BE98D50AF845}">
      <dgm:prSet/>
      <dgm:spPr/>
      <dgm:t>
        <a:bodyPr/>
        <a:lstStyle/>
        <a:p>
          <a:endParaRPr lang="en-US"/>
        </a:p>
      </dgm:t>
    </dgm:pt>
    <dgm:pt modelId="{FE8B33A1-FEDF-4A92-9658-26F54B13C372}">
      <dgm:prSet/>
      <dgm:spPr/>
      <dgm:t>
        <a:bodyPr/>
        <a:lstStyle/>
        <a:p>
          <a:r>
            <a:rPr lang="en-US"/>
            <a:t>• Implementation free (abstract)</a:t>
          </a:r>
        </a:p>
      </dgm:t>
    </dgm:pt>
    <dgm:pt modelId="{6EA59249-F4F7-43AF-8AE1-822CF4F683D2}" type="parTrans" cxnId="{827F86B7-4156-4EC6-9584-33416502026F}">
      <dgm:prSet/>
      <dgm:spPr/>
      <dgm:t>
        <a:bodyPr/>
        <a:lstStyle/>
        <a:p>
          <a:endParaRPr lang="en-US"/>
        </a:p>
      </dgm:t>
    </dgm:pt>
    <dgm:pt modelId="{78ECF956-EC92-42CD-ACC1-DDBFF31EABDD}" type="sibTrans" cxnId="{827F86B7-4156-4EC6-9584-33416502026F}">
      <dgm:prSet/>
      <dgm:spPr/>
      <dgm:t>
        <a:bodyPr/>
        <a:lstStyle/>
        <a:p>
          <a:endParaRPr lang="en-US"/>
        </a:p>
      </dgm:t>
    </dgm:pt>
    <dgm:pt modelId="{D1FB8C16-C33C-44BD-AF9A-0BBB83D9B942}" type="pres">
      <dgm:prSet presAssocID="{B6AEB6D1-528B-49F1-95D7-5065F3F46EDB}" presName="vert0" presStyleCnt="0">
        <dgm:presLayoutVars>
          <dgm:dir/>
          <dgm:animOne val="branch"/>
          <dgm:animLvl val="lvl"/>
        </dgm:presLayoutVars>
      </dgm:prSet>
      <dgm:spPr/>
      <dgm:t>
        <a:bodyPr/>
        <a:lstStyle/>
        <a:p>
          <a:endParaRPr lang="en-US"/>
        </a:p>
      </dgm:t>
    </dgm:pt>
    <dgm:pt modelId="{2DE24DC6-16E4-4BEA-9119-568E00958F0F}" type="pres">
      <dgm:prSet presAssocID="{BECCC849-A1A4-46B6-9C53-AAA5B261646C}" presName="thickLine" presStyleLbl="alignNode1" presStyleIdx="0" presStyleCnt="10"/>
      <dgm:spPr/>
    </dgm:pt>
    <dgm:pt modelId="{93848C0E-363B-4483-B36D-FE61AB8D48D6}" type="pres">
      <dgm:prSet presAssocID="{BECCC849-A1A4-46B6-9C53-AAA5B261646C}" presName="horz1" presStyleCnt="0"/>
      <dgm:spPr/>
    </dgm:pt>
    <dgm:pt modelId="{2FE339B5-B60A-48DF-AA0F-6B72971F89C6}" type="pres">
      <dgm:prSet presAssocID="{BECCC849-A1A4-46B6-9C53-AAA5B261646C}" presName="tx1" presStyleLbl="revTx" presStyleIdx="0" presStyleCnt="10"/>
      <dgm:spPr/>
      <dgm:t>
        <a:bodyPr/>
        <a:lstStyle/>
        <a:p>
          <a:endParaRPr lang="en-US"/>
        </a:p>
      </dgm:t>
    </dgm:pt>
    <dgm:pt modelId="{666244C5-3695-4AD1-8D4C-1DB4685AC1B5}" type="pres">
      <dgm:prSet presAssocID="{BECCC849-A1A4-46B6-9C53-AAA5B261646C}" presName="vert1" presStyleCnt="0"/>
      <dgm:spPr/>
    </dgm:pt>
    <dgm:pt modelId="{C935C35B-7E80-47A2-958E-643319DC1E1C}" type="pres">
      <dgm:prSet presAssocID="{4E5E040D-E8DF-42FE-B9BA-2D2CE9A04114}" presName="thickLine" presStyleLbl="alignNode1" presStyleIdx="1" presStyleCnt="10"/>
      <dgm:spPr/>
    </dgm:pt>
    <dgm:pt modelId="{95852308-ADA5-4A5A-A32C-B40852E9E7A2}" type="pres">
      <dgm:prSet presAssocID="{4E5E040D-E8DF-42FE-B9BA-2D2CE9A04114}" presName="horz1" presStyleCnt="0"/>
      <dgm:spPr/>
    </dgm:pt>
    <dgm:pt modelId="{715D1446-7EFD-4EEF-B80E-FEFBF430DD95}" type="pres">
      <dgm:prSet presAssocID="{4E5E040D-E8DF-42FE-B9BA-2D2CE9A04114}" presName="tx1" presStyleLbl="revTx" presStyleIdx="1" presStyleCnt="10"/>
      <dgm:spPr/>
      <dgm:t>
        <a:bodyPr/>
        <a:lstStyle/>
        <a:p>
          <a:endParaRPr lang="en-US"/>
        </a:p>
      </dgm:t>
    </dgm:pt>
    <dgm:pt modelId="{CF97D1CA-EBD6-4E2D-A786-E635038A8F23}" type="pres">
      <dgm:prSet presAssocID="{4E5E040D-E8DF-42FE-B9BA-2D2CE9A04114}" presName="vert1" presStyleCnt="0"/>
      <dgm:spPr/>
    </dgm:pt>
    <dgm:pt modelId="{3E49B183-BD2E-4DC1-A83A-7B818FE5E76C}" type="pres">
      <dgm:prSet presAssocID="{46287619-6D4F-4087-B849-CF885450B361}" presName="thickLine" presStyleLbl="alignNode1" presStyleIdx="2" presStyleCnt="10"/>
      <dgm:spPr/>
    </dgm:pt>
    <dgm:pt modelId="{69F3EE86-83A5-415A-932E-AE37B89F62B7}" type="pres">
      <dgm:prSet presAssocID="{46287619-6D4F-4087-B849-CF885450B361}" presName="horz1" presStyleCnt="0"/>
      <dgm:spPr/>
    </dgm:pt>
    <dgm:pt modelId="{0EE43D00-B230-435E-B7BB-5EE349CB36C7}" type="pres">
      <dgm:prSet presAssocID="{46287619-6D4F-4087-B849-CF885450B361}" presName="tx1" presStyleLbl="revTx" presStyleIdx="2" presStyleCnt="10"/>
      <dgm:spPr/>
      <dgm:t>
        <a:bodyPr/>
        <a:lstStyle/>
        <a:p>
          <a:endParaRPr lang="en-US"/>
        </a:p>
      </dgm:t>
    </dgm:pt>
    <dgm:pt modelId="{124D4070-C219-4CCF-9C83-A8A9923A75E9}" type="pres">
      <dgm:prSet presAssocID="{46287619-6D4F-4087-B849-CF885450B361}" presName="vert1" presStyleCnt="0"/>
      <dgm:spPr/>
    </dgm:pt>
    <dgm:pt modelId="{B775C942-F316-490F-A8D0-C6DECF5E1BB9}" type="pres">
      <dgm:prSet presAssocID="{9AE7C045-A459-4EAF-A3C5-845DCB7F34EE}" presName="thickLine" presStyleLbl="alignNode1" presStyleIdx="3" presStyleCnt="10"/>
      <dgm:spPr/>
    </dgm:pt>
    <dgm:pt modelId="{5344D433-2E82-4E34-98B6-BA5043D10D2E}" type="pres">
      <dgm:prSet presAssocID="{9AE7C045-A459-4EAF-A3C5-845DCB7F34EE}" presName="horz1" presStyleCnt="0"/>
      <dgm:spPr/>
    </dgm:pt>
    <dgm:pt modelId="{2729F0E5-12B1-4266-B4E5-D997D305AA85}" type="pres">
      <dgm:prSet presAssocID="{9AE7C045-A459-4EAF-A3C5-845DCB7F34EE}" presName="tx1" presStyleLbl="revTx" presStyleIdx="3" presStyleCnt="10"/>
      <dgm:spPr/>
      <dgm:t>
        <a:bodyPr/>
        <a:lstStyle/>
        <a:p>
          <a:endParaRPr lang="en-US"/>
        </a:p>
      </dgm:t>
    </dgm:pt>
    <dgm:pt modelId="{A511C349-E88B-46BF-9EFA-80F410337E50}" type="pres">
      <dgm:prSet presAssocID="{9AE7C045-A459-4EAF-A3C5-845DCB7F34EE}" presName="vert1" presStyleCnt="0"/>
      <dgm:spPr/>
    </dgm:pt>
    <dgm:pt modelId="{7ED40A95-03C4-49AA-8976-312622D00015}" type="pres">
      <dgm:prSet presAssocID="{0A885757-ECFF-45F2-B41A-00176130EFC9}" presName="thickLine" presStyleLbl="alignNode1" presStyleIdx="4" presStyleCnt="10"/>
      <dgm:spPr/>
    </dgm:pt>
    <dgm:pt modelId="{2CA1CB12-6B45-4B3D-A1CB-39D1E7089629}" type="pres">
      <dgm:prSet presAssocID="{0A885757-ECFF-45F2-B41A-00176130EFC9}" presName="horz1" presStyleCnt="0"/>
      <dgm:spPr/>
    </dgm:pt>
    <dgm:pt modelId="{DD571DE0-254C-4A15-9557-7E931A8BAC0B}" type="pres">
      <dgm:prSet presAssocID="{0A885757-ECFF-45F2-B41A-00176130EFC9}" presName="tx1" presStyleLbl="revTx" presStyleIdx="4" presStyleCnt="10"/>
      <dgm:spPr/>
      <dgm:t>
        <a:bodyPr/>
        <a:lstStyle/>
        <a:p>
          <a:endParaRPr lang="en-US"/>
        </a:p>
      </dgm:t>
    </dgm:pt>
    <dgm:pt modelId="{9CD15808-2F22-48F7-8909-755B16894A31}" type="pres">
      <dgm:prSet presAssocID="{0A885757-ECFF-45F2-B41A-00176130EFC9}" presName="vert1" presStyleCnt="0"/>
      <dgm:spPr/>
    </dgm:pt>
    <dgm:pt modelId="{73C12717-6BE8-4B7D-807E-0A63FAE8B0C9}" type="pres">
      <dgm:prSet presAssocID="{32C7E870-FC6C-4330-9B18-5F0479019D4E}" presName="thickLine" presStyleLbl="alignNode1" presStyleIdx="5" presStyleCnt="10"/>
      <dgm:spPr/>
    </dgm:pt>
    <dgm:pt modelId="{422BBC6C-704D-4C36-8C84-F90F8F2A4157}" type="pres">
      <dgm:prSet presAssocID="{32C7E870-FC6C-4330-9B18-5F0479019D4E}" presName="horz1" presStyleCnt="0"/>
      <dgm:spPr/>
    </dgm:pt>
    <dgm:pt modelId="{11D2689C-25DB-4D0F-AB6C-D7BF20C1D2C6}" type="pres">
      <dgm:prSet presAssocID="{32C7E870-FC6C-4330-9B18-5F0479019D4E}" presName="tx1" presStyleLbl="revTx" presStyleIdx="5" presStyleCnt="10"/>
      <dgm:spPr/>
      <dgm:t>
        <a:bodyPr/>
        <a:lstStyle/>
        <a:p>
          <a:endParaRPr lang="en-US"/>
        </a:p>
      </dgm:t>
    </dgm:pt>
    <dgm:pt modelId="{7C158C34-1DF5-4A66-A802-8A34CD6B5CAC}" type="pres">
      <dgm:prSet presAssocID="{32C7E870-FC6C-4330-9B18-5F0479019D4E}" presName="vert1" presStyleCnt="0"/>
      <dgm:spPr/>
    </dgm:pt>
    <dgm:pt modelId="{30943419-9E14-4E89-8A88-78B130504AA6}" type="pres">
      <dgm:prSet presAssocID="{261F82CE-555F-478A-BD3E-B7A07A2654C4}" presName="thickLine" presStyleLbl="alignNode1" presStyleIdx="6" presStyleCnt="10"/>
      <dgm:spPr/>
    </dgm:pt>
    <dgm:pt modelId="{F7278EC0-AF8D-4D3A-97EA-15FAC4BA95AA}" type="pres">
      <dgm:prSet presAssocID="{261F82CE-555F-478A-BD3E-B7A07A2654C4}" presName="horz1" presStyleCnt="0"/>
      <dgm:spPr/>
    </dgm:pt>
    <dgm:pt modelId="{CB7227F1-2E1B-47F5-BCF2-057D34DB0F98}" type="pres">
      <dgm:prSet presAssocID="{261F82CE-555F-478A-BD3E-B7A07A2654C4}" presName="tx1" presStyleLbl="revTx" presStyleIdx="6" presStyleCnt="10"/>
      <dgm:spPr/>
      <dgm:t>
        <a:bodyPr/>
        <a:lstStyle/>
        <a:p>
          <a:endParaRPr lang="en-US"/>
        </a:p>
      </dgm:t>
    </dgm:pt>
    <dgm:pt modelId="{1959676B-87A3-49E0-992C-A4D61878AD7C}" type="pres">
      <dgm:prSet presAssocID="{261F82CE-555F-478A-BD3E-B7A07A2654C4}" presName="vert1" presStyleCnt="0"/>
      <dgm:spPr/>
    </dgm:pt>
    <dgm:pt modelId="{A5A4B98C-00EF-489B-8F82-6A854680384D}" type="pres">
      <dgm:prSet presAssocID="{645B6910-124A-43D7-B3B8-FA561AA14940}" presName="thickLine" presStyleLbl="alignNode1" presStyleIdx="7" presStyleCnt="10"/>
      <dgm:spPr/>
    </dgm:pt>
    <dgm:pt modelId="{05AD5632-D24D-484F-BD1C-87C99B95CA46}" type="pres">
      <dgm:prSet presAssocID="{645B6910-124A-43D7-B3B8-FA561AA14940}" presName="horz1" presStyleCnt="0"/>
      <dgm:spPr/>
    </dgm:pt>
    <dgm:pt modelId="{83E353F1-ADF7-410D-9270-70C45201FB94}" type="pres">
      <dgm:prSet presAssocID="{645B6910-124A-43D7-B3B8-FA561AA14940}" presName="tx1" presStyleLbl="revTx" presStyleIdx="7" presStyleCnt="10"/>
      <dgm:spPr/>
      <dgm:t>
        <a:bodyPr/>
        <a:lstStyle/>
        <a:p>
          <a:endParaRPr lang="en-US"/>
        </a:p>
      </dgm:t>
    </dgm:pt>
    <dgm:pt modelId="{04D5DF2B-D4C4-4CE7-920D-B6EB88A94108}" type="pres">
      <dgm:prSet presAssocID="{645B6910-124A-43D7-B3B8-FA561AA14940}" presName="vert1" presStyleCnt="0"/>
      <dgm:spPr/>
    </dgm:pt>
    <dgm:pt modelId="{AC48D902-33FF-47F0-BF4A-647E5075A50E}" type="pres">
      <dgm:prSet presAssocID="{71B439F8-35B6-4459-8411-8E309DAE5C9C}" presName="thickLine" presStyleLbl="alignNode1" presStyleIdx="8" presStyleCnt="10"/>
      <dgm:spPr/>
    </dgm:pt>
    <dgm:pt modelId="{BD731F42-6FE2-47CD-9BB6-F1D1F7B6AFCB}" type="pres">
      <dgm:prSet presAssocID="{71B439F8-35B6-4459-8411-8E309DAE5C9C}" presName="horz1" presStyleCnt="0"/>
      <dgm:spPr/>
    </dgm:pt>
    <dgm:pt modelId="{83114805-F1E5-4A3D-B78A-828E1B6AB390}" type="pres">
      <dgm:prSet presAssocID="{71B439F8-35B6-4459-8411-8E309DAE5C9C}" presName="tx1" presStyleLbl="revTx" presStyleIdx="8" presStyleCnt="10"/>
      <dgm:spPr/>
      <dgm:t>
        <a:bodyPr/>
        <a:lstStyle/>
        <a:p>
          <a:endParaRPr lang="en-US"/>
        </a:p>
      </dgm:t>
    </dgm:pt>
    <dgm:pt modelId="{A991C607-037A-4AA2-8AF3-8153B8AA00F7}" type="pres">
      <dgm:prSet presAssocID="{71B439F8-35B6-4459-8411-8E309DAE5C9C}" presName="vert1" presStyleCnt="0"/>
      <dgm:spPr/>
    </dgm:pt>
    <dgm:pt modelId="{F36AF7DF-81C9-444C-8AA8-A965B1EA11FD}" type="pres">
      <dgm:prSet presAssocID="{FE8B33A1-FEDF-4A92-9658-26F54B13C372}" presName="thickLine" presStyleLbl="alignNode1" presStyleIdx="9" presStyleCnt="10"/>
      <dgm:spPr/>
    </dgm:pt>
    <dgm:pt modelId="{9DD1B427-ADFC-4505-8DAD-5EE93596F856}" type="pres">
      <dgm:prSet presAssocID="{FE8B33A1-FEDF-4A92-9658-26F54B13C372}" presName="horz1" presStyleCnt="0"/>
      <dgm:spPr/>
    </dgm:pt>
    <dgm:pt modelId="{0C9705C2-1E90-4156-884F-714FB0E9AC3B}" type="pres">
      <dgm:prSet presAssocID="{FE8B33A1-FEDF-4A92-9658-26F54B13C372}" presName="tx1" presStyleLbl="revTx" presStyleIdx="9" presStyleCnt="10"/>
      <dgm:spPr/>
      <dgm:t>
        <a:bodyPr/>
        <a:lstStyle/>
        <a:p>
          <a:endParaRPr lang="en-US"/>
        </a:p>
      </dgm:t>
    </dgm:pt>
    <dgm:pt modelId="{A80391BF-AEDB-48D3-BA2F-D043918308FC}" type="pres">
      <dgm:prSet presAssocID="{FE8B33A1-FEDF-4A92-9658-26F54B13C372}" presName="vert1" presStyleCnt="0"/>
      <dgm:spPr/>
    </dgm:pt>
  </dgm:ptLst>
  <dgm:cxnLst>
    <dgm:cxn modelId="{122D4B8D-1854-4ABE-93B6-A8364933331D}" srcId="{B6AEB6D1-528B-49F1-95D7-5065F3F46EDB}" destId="{46287619-6D4F-4087-B849-CF885450B361}" srcOrd="2" destOrd="0" parTransId="{5AB70786-3563-473F-9E8B-1E19974A7B1B}" sibTransId="{9F0AF3F5-BB56-4445-AFAA-8B102642C842}"/>
    <dgm:cxn modelId="{62D6EA55-BC05-460D-9C92-323B36A9CA26}" type="presOf" srcId="{71B439F8-35B6-4459-8411-8E309DAE5C9C}" destId="{83114805-F1E5-4A3D-B78A-828E1B6AB390}" srcOrd="0" destOrd="0" presId="urn:microsoft.com/office/officeart/2008/layout/LinedList"/>
    <dgm:cxn modelId="{4CD33A87-7CBC-45FA-A397-BE98D50AF845}" srcId="{B6AEB6D1-528B-49F1-95D7-5065F3F46EDB}" destId="{71B439F8-35B6-4459-8411-8E309DAE5C9C}" srcOrd="8" destOrd="0" parTransId="{6CCE8D18-075C-419C-AC67-9AFC912DBF24}" sibTransId="{24BF2353-658F-4160-B978-3335E9F8B347}"/>
    <dgm:cxn modelId="{36279B64-8BBC-4E39-8C20-EAE3B1279E24}" type="presOf" srcId="{B6AEB6D1-528B-49F1-95D7-5065F3F46EDB}" destId="{D1FB8C16-C33C-44BD-AF9A-0BBB83D9B942}" srcOrd="0" destOrd="0" presId="urn:microsoft.com/office/officeart/2008/layout/LinedList"/>
    <dgm:cxn modelId="{7F248203-4662-4F35-A6B0-28033916AB27}" type="presOf" srcId="{261F82CE-555F-478A-BD3E-B7A07A2654C4}" destId="{CB7227F1-2E1B-47F5-BCF2-057D34DB0F98}" srcOrd="0" destOrd="0" presId="urn:microsoft.com/office/officeart/2008/layout/LinedList"/>
    <dgm:cxn modelId="{1F93CCD8-1ABA-4C3E-AABB-F9F679BF2AE7}" srcId="{B6AEB6D1-528B-49F1-95D7-5065F3F46EDB}" destId="{9AE7C045-A459-4EAF-A3C5-845DCB7F34EE}" srcOrd="3" destOrd="0" parTransId="{D612067F-49B2-4DFD-987B-3DC6C572F5ED}" sibTransId="{FC92CE59-FE81-455E-93D2-FB2F6D096060}"/>
    <dgm:cxn modelId="{DECFCD40-5FBE-4279-A136-FE097BCD3B7C}" srcId="{B6AEB6D1-528B-49F1-95D7-5065F3F46EDB}" destId="{BECCC849-A1A4-46B6-9C53-AAA5B261646C}" srcOrd="0" destOrd="0" parTransId="{6EA79E87-C781-45EB-8804-A633D033A0F0}" sibTransId="{DA21A9AD-6E4E-4E69-8D54-6B6A5659A000}"/>
    <dgm:cxn modelId="{19188981-66AC-4721-BFD0-A77FFC135AFE}" type="presOf" srcId="{0A885757-ECFF-45F2-B41A-00176130EFC9}" destId="{DD571DE0-254C-4A15-9557-7E931A8BAC0B}" srcOrd="0" destOrd="0" presId="urn:microsoft.com/office/officeart/2008/layout/LinedList"/>
    <dgm:cxn modelId="{827F86B7-4156-4EC6-9584-33416502026F}" srcId="{B6AEB6D1-528B-49F1-95D7-5065F3F46EDB}" destId="{FE8B33A1-FEDF-4A92-9658-26F54B13C372}" srcOrd="9" destOrd="0" parTransId="{6EA59249-F4F7-43AF-8AE1-822CF4F683D2}" sibTransId="{78ECF956-EC92-42CD-ACC1-DDBFF31EABDD}"/>
    <dgm:cxn modelId="{BDBE21D0-42A9-4BF0-884B-5C8804971949}" srcId="{B6AEB6D1-528B-49F1-95D7-5065F3F46EDB}" destId="{261F82CE-555F-478A-BD3E-B7A07A2654C4}" srcOrd="6" destOrd="0" parTransId="{6045128E-FDBF-4C1E-BB16-2EC939413131}" sibTransId="{AB789900-3B89-4F7F-BA46-3D839892EFAB}"/>
    <dgm:cxn modelId="{C9121E9F-442F-4045-83AB-921AE24B5857}" type="presOf" srcId="{645B6910-124A-43D7-B3B8-FA561AA14940}" destId="{83E353F1-ADF7-410D-9270-70C45201FB94}" srcOrd="0" destOrd="0" presId="urn:microsoft.com/office/officeart/2008/layout/LinedList"/>
    <dgm:cxn modelId="{B63A475F-D4E0-4ED9-B0DB-2F723C860740}" type="presOf" srcId="{4E5E040D-E8DF-42FE-B9BA-2D2CE9A04114}" destId="{715D1446-7EFD-4EEF-B80E-FEFBF430DD95}" srcOrd="0" destOrd="0" presId="urn:microsoft.com/office/officeart/2008/layout/LinedList"/>
    <dgm:cxn modelId="{7F302F57-1AEC-4B19-B8C2-35A8FCD842A1}" srcId="{B6AEB6D1-528B-49F1-95D7-5065F3F46EDB}" destId="{32C7E870-FC6C-4330-9B18-5F0479019D4E}" srcOrd="5" destOrd="0" parTransId="{A4795C85-33A4-4E53-85E9-B17A372EF352}" sibTransId="{2BB1A91A-6129-4585-B8CC-41CD1FFB25C1}"/>
    <dgm:cxn modelId="{2BECBA8E-EEBD-43BF-A41D-F40506D6B02B}" type="presOf" srcId="{BECCC849-A1A4-46B6-9C53-AAA5B261646C}" destId="{2FE339B5-B60A-48DF-AA0F-6B72971F89C6}" srcOrd="0" destOrd="0" presId="urn:microsoft.com/office/officeart/2008/layout/LinedList"/>
    <dgm:cxn modelId="{44903BF2-2D67-4E3B-96AB-06800DC930B8}" srcId="{B6AEB6D1-528B-49F1-95D7-5065F3F46EDB}" destId="{0A885757-ECFF-45F2-B41A-00176130EFC9}" srcOrd="4" destOrd="0" parTransId="{9B001E90-A2C9-473D-8772-75C1D4A1A470}" sibTransId="{5D65ED58-3072-481D-BC08-5BDF845906EE}"/>
    <dgm:cxn modelId="{B7D06B79-17B3-4E78-BEFB-AF2F8E37746C}" type="presOf" srcId="{9AE7C045-A459-4EAF-A3C5-845DCB7F34EE}" destId="{2729F0E5-12B1-4266-B4E5-D997D305AA85}" srcOrd="0" destOrd="0" presId="urn:microsoft.com/office/officeart/2008/layout/LinedList"/>
    <dgm:cxn modelId="{15CB7EC6-7328-4DE9-9D7B-0E0567C1217E}" type="presOf" srcId="{FE8B33A1-FEDF-4A92-9658-26F54B13C372}" destId="{0C9705C2-1E90-4156-884F-714FB0E9AC3B}" srcOrd="0" destOrd="0" presId="urn:microsoft.com/office/officeart/2008/layout/LinedList"/>
    <dgm:cxn modelId="{98AAD25C-01FC-4D55-82F0-2C7177E39A08}" srcId="{B6AEB6D1-528B-49F1-95D7-5065F3F46EDB}" destId="{4E5E040D-E8DF-42FE-B9BA-2D2CE9A04114}" srcOrd="1" destOrd="0" parTransId="{8B88055C-3D5E-418A-B638-D11E8922E0CA}" sibTransId="{E3910039-6011-4193-8F41-46CB28DB843E}"/>
    <dgm:cxn modelId="{49FD936A-84F9-44E2-BFF2-AA52F1F0241F}" type="presOf" srcId="{46287619-6D4F-4087-B849-CF885450B361}" destId="{0EE43D00-B230-435E-B7BB-5EE349CB36C7}" srcOrd="0" destOrd="0" presId="urn:microsoft.com/office/officeart/2008/layout/LinedList"/>
    <dgm:cxn modelId="{A5B47F2D-0964-4426-B213-84F1EDE81B8B}" type="presOf" srcId="{32C7E870-FC6C-4330-9B18-5F0479019D4E}" destId="{11D2689C-25DB-4D0F-AB6C-D7BF20C1D2C6}" srcOrd="0" destOrd="0" presId="urn:microsoft.com/office/officeart/2008/layout/LinedList"/>
    <dgm:cxn modelId="{8E90A237-3D3F-4BAB-BEDC-CCEC5E6B5C96}" srcId="{B6AEB6D1-528B-49F1-95D7-5065F3F46EDB}" destId="{645B6910-124A-43D7-B3B8-FA561AA14940}" srcOrd="7" destOrd="0" parTransId="{6A920D98-8839-4BA4-8906-3EED9F3B1BA6}" sibTransId="{CCEF6D1F-D13B-4C8E-BD6C-111353A0F41B}"/>
    <dgm:cxn modelId="{769A2502-E9DC-4DD3-9650-A5A9168145CD}" type="presParOf" srcId="{D1FB8C16-C33C-44BD-AF9A-0BBB83D9B942}" destId="{2DE24DC6-16E4-4BEA-9119-568E00958F0F}" srcOrd="0" destOrd="0" presId="urn:microsoft.com/office/officeart/2008/layout/LinedList"/>
    <dgm:cxn modelId="{EAFC72AC-78C1-4804-993B-686E59F2B59E}" type="presParOf" srcId="{D1FB8C16-C33C-44BD-AF9A-0BBB83D9B942}" destId="{93848C0E-363B-4483-B36D-FE61AB8D48D6}" srcOrd="1" destOrd="0" presId="urn:microsoft.com/office/officeart/2008/layout/LinedList"/>
    <dgm:cxn modelId="{90F90F90-1E54-4B93-A08A-95359B1ED2BF}" type="presParOf" srcId="{93848C0E-363B-4483-B36D-FE61AB8D48D6}" destId="{2FE339B5-B60A-48DF-AA0F-6B72971F89C6}" srcOrd="0" destOrd="0" presId="urn:microsoft.com/office/officeart/2008/layout/LinedList"/>
    <dgm:cxn modelId="{FA63EB11-704B-46CB-887D-BF5CF888EFA0}" type="presParOf" srcId="{93848C0E-363B-4483-B36D-FE61AB8D48D6}" destId="{666244C5-3695-4AD1-8D4C-1DB4685AC1B5}" srcOrd="1" destOrd="0" presId="urn:microsoft.com/office/officeart/2008/layout/LinedList"/>
    <dgm:cxn modelId="{1C5114A6-7CDB-48E2-920C-45A499B2660D}" type="presParOf" srcId="{D1FB8C16-C33C-44BD-AF9A-0BBB83D9B942}" destId="{C935C35B-7E80-47A2-958E-643319DC1E1C}" srcOrd="2" destOrd="0" presId="urn:microsoft.com/office/officeart/2008/layout/LinedList"/>
    <dgm:cxn modelId="{169DFEF8-832A-405A-950A-4C3B852FF598}" type="presParOf" srcId="{D1FB8C16-C33C-44BD-AF9A-0BBB83D9B942}" destId="{95852308-ADA5-4A5A-A32C-B40852E9E7A2}" srcOrd="3" destOrd="0" presId="urn:microsoft.com/office/officeart/2008/layout/LinedList"/>
    <dgm:cxn modelId="{71FC8330-D180-417A-9174-CB7065670BA7}" type="presParOf" srcId="{95852308-ADA5-4A5A-A32C-B40852E9E7A2}" destId="{715D1446-7EFD-4EEF-B80E-FEFBF430DD95}" srcOrd="0" destOrd="0" presId="urn:microsoft.com/office/officeart/2008/layout/LinedList"/>
    <dgm:cxn modelId="{1FD19B3A-E053-4843-A89E-19EBA356F3C6}" type="presParOf" srcId="{95852308-ADA5-4A5A-A32C-B40852E9E7A2}" destId="{CF97D1CA-EBD6-4E2D-A786-E635038A8F23}" srcOrd="1" destOrd="0" presId="urn:microsoft.com/office/officeart/2008/layout/LinedList"/>
    <dgm:cxn modelId="{2B9E6AC6-D598-480F-80D9-F4E18386629C}" type="presParOf" srcId="{D1FB8C16-C33C-44BD-AF9A-0BBB83D9B942}" destId="{3E49B183-BD2E-4DC1-A83A-7B818FE5E76C}" srcOrd="4" destOrd="0" presId="urn:microsoft.com/office/officeart/2008/layout/LinedList"/>
    <dgm:cxn modelId="{6331A2F5-A7D0-43F3-9131-95AFEC925CF6}" type="presParOf" srcId="{D1FB8C16-C33C-44BD-AF9A-0BBB83D9B942}" destId="{69F3EE86-83A5-415A-932E-AE37B89F62B7}" srcOrd="5" destOrd="0" presId="urn:microsoft.com/office/officeart/2008/layout/LinedList"/>
    <dgm:cxn modelId="{09656719-CBB7-4491-99F0-F531084E2133}" type="presParOf" srcId="{69F3EE86-83A5-415A-932E-AE37B89F62B7}" destId="{0EE43D00-B230-435E-B7BB-5EE349CB36C7}" srcOrd="0" destOrd="0" presId="urn:microsoft.com/office/officeart/2008/layout/LinedList"/>
    <dgm:cxn modelId="{5A5AF8B9-8BF6-4ECE-A523-FE1CE727C640}" type="presParOf" srcId="{69F3EE86-83A5-415A-932E-AE37B89F62B7}" destId="{124D4070-C219-4CCF-9C83-A8A9923A75E9}" srcOrd="1" destOrd="0" presId="urn:microsoft.com/office/officeart/2008/layout/LinedList"/>
    <dgm:cxn modelId="{1F9FEFD3-E55D-4221-AE2C-CF838C9CA3FE}" type="presParOf" srcId="{D1FB8C16-C33C-44BD-AF9A-0BBB83D9B942}" destId="{B775C942-F316-490F-A8D0-C6DECF5E1BB9}" srcOrd="6" destOrd="0" presId="urn:microsoft.com/office/officeart/2008/layout/LinedList"/>
    <dgm:cxn modelId="{4A925A36-3C22-4899-A2F3-3CE60EAF7D92}" type="presParOf" srcId="{D1FB8C16-C33C-44BD-AF9A-0BBB83D9B942}" destId="{5344D433-2E82-4E34-98B6-BA5043D10D2E}" srcOrd="7" destOrd="0" presId="urn:microsoft.com/office/officeart/2008/layout/LinedList"/>
    <dgm:cxn modelId="{6A8DAE49-BD5D-4082-BFAD-50E7E52751D4}" type="presParOf" srcId="{5344D433-2E82-4E34-98B6-BA5043D10D2E}" destId="{2729F0E5-12B1-4266-B4E5-D997D305AA85}" srcOrd="0" destOrd="0" presId="urn:microsoft.com/office/officeart/2008/layout/LinedList"/>
    <dgm:cxn modelId="{3C042B8C-A14F-49B1-AF7A-43C1DF22DC16}" type="presParOf" srcId="{5344D433-2E82-4E34-98B6-BA5043D10D2E}" destId="{A511C349-E88B-46BF-9EFA-80F410337E50}" srcOrd="1" destOrd="0" presId="urn:microsoft.com/office/officeart/2008/layout/LinedList"/>
    <dgm:cxn modelId="{5838D050-56C7-4111-87A1-89E3CCF53C5D}" type="presParOf" srcId="{D1FB8C16-C33C-44BD-AF9A-0BBB83D9B942}" destId="{7ED40A95-03C4-49AA-8976-312622D00015}" srcOrd="8" destOrd="0" presId="urn:microsoft.com/office/officeart/2008/layout/LinedList"/>
    <dgm:cxn modelId="{037DA3D6-A6B8-4805-9734-CFCD4AFE3D54}" type="presParOf" srcId="{D1FB8C16-C33C-44BD-AF9A-0BBB83D9B942}" destId="{2CA1CB12-6B45-4B3D-A1CB-39D1E7089629}" srcOrd="9" destOrd="0" presId="urn:microsoft.com/office/officeart/2008/layout/LinedList"/>
    <dgm:cxn modelId="{41BE0A90-BA0E-4E79-AE29-256CA9BA20CE}" type="presParOf" srcId="{2CA1CB12-6B45-4B3D-A1CB-39D1E7089629}" destId="{DD571DE0-254C-4A15-9557-7E931A8BAC0B}" srcOrd="0" destOrd="0" presId="urn:microsoft.com/office/officeart/2008/layout/LinedList"/>
    <dgm:cxn modelId="{025D735A-31EF-4D80-A49C-EBD94E8497FC}" type="presParOf" srcId="{2CA1CB12-6B45-4B3D-A1CB-39D1E7089629}" destId="{9CD15808-2F22-48F7-8909-755B16894A31}" srcOrd="1" destOrd="0" presId="urn:microsoft.com/office/officeart/2008/layout/LinedList"/>
    <dgm:cxn modelId="{AC4B0BC4-0DDB-4EFF-AF6B-8ADC758F0FE1}" type="presParOf" srcId="{D1FB8C16-C33C-44BD-AF9A-0BBB83D9B942}" destId="{73C12717-6BE8-4B7D-807E-0A63FAE8B0C9}" srcOrd="10" destOrd="0" presId="urn:microsoft.com/office/officeart/2008/layout/LinedList"/>
    <dgm:cxn modelId="{F7BC9591-A2A1-46FD-8841-42602771801E}" type="presParOf" srcId="{D1FB8C16-C33C-44BD-AF9A-0BBB83D9B942}" destId="{422BBC6C-704D-4C36-8C84-F90F8F2A4157}" srcOrd="11" destOrd="0" presId="urn:microsoft.com/office/officeart/2008/layout/LinedList"/>
    <dgm:cxn modelId="{F91C2269-31FF-44EA-868C-A5570A38A408}" type="presParOf" srcId="{422BBC6C-704D-4C36-8C84-F90F8F2A4157}" destId="{11D2689C-25DB-4D0F-AB6C-D7BF20C1D2C6}" srcOrd="0" destOrd="0" presId="urn:microsoft.com/office/officeart/2008/layout/LinedList"/>
    <dgm:cxn modelId="{98420552-0DD0-43E3-BADA-D63CF28FC440}" type="presParOf" srcId="{422BBC6C-704D-4C36-8C84-F90F8F2A4157}" destId="{7C158C34-1DF5-4A66-A802-8A34CD6B5CAC}" srcOrd="1" destOrd="0" presId="urn:microsoft.com/office/officeart/2008/layout/LinedList"/>
    <dgm:cxn modelId="{F3635CBA-A3B4-496B-B45F-BAFF3B599100}" type="presParOf" srcId="{D1FB8C16-C33C-44BD-AF9A-0BBB83D9B942}" destId="{30943419-9E14-4E89-8A88-78B130504AA6}" srcOrd="12" destOrd="0" presId="urn:microsoft.com/office/officeart/2008/layout/LinedList"/>
    <dgm:cxn modelId="{1A67E13D-EE71-49CD-BF08-DC9895CD922A}" type="presParOf" srcId="{D1FB8C16-C33C-44BD-AF9A-0BBB83D9B942}" destId="{F7278EC0-AF8D-4D3A-97EA-15FAC4BA95AA}" srcOrd="13" destOrd="0" presId="urn:microsoft.com/office/officeart/2008/layout/LinedList"/>
    <dgm:cxn modelId="{CE4A77D4-3EC8-4460-AD42-D97F782FB775}" type="presParOf" srcId="{F7278EC0-AF8D-4D3A-97EA-15FAC4BA95AA}" destId="{CB7227F1-2E1B-47F5-BCF2-057D34DB0F98}" srcOrd="0" destOrd="0" presId="urn:microsoft.com/office/officeart/2008/layout/LinedList"/>
    <dgm:cxn modelId="{66DE14B9-834A-45BC-B8FE-12EAC54A5FFA}" type="presParOf" srcId="{F7278EC0-AF8D-4D3A-97EA-15FAC4BA95AA}" destId="{1959676B-87A3-49E0-992C-A4D61878AD7C}" srcOrd="1" destOrd="0" presId="urn:microsoft.com/office/officeart/2008/layout/LinedList"/>
    <dgm:cxn modelId="{782320C3-F90A-4313-9F73-BB6EE8220F30}" type="presParOf" srcId="{D1FB8C16-C33C-44BD-AF9A-0BBB83D9B942}" destId="{A5A4B98C-00EF-489B-8F82-6A854680384D}" srcOrd="14" destOrd="0" presId="urn:microsoft.com/office/officeart/2008/layout/LinedList"/>
    <dgm:cxn modelId="{5D74412C-9AE0-4549-9F97-D042D2E0ED90}" type="presParOf" srcId="{D1FB8C16-C33C-44BD-AF9A-0BBB83D9B942}" destId="{05AD5632-D24D-484F-BD1C-87C99B95CA46}" srcOrd="15" destOrd="0" presId="urn:microsoft.com/office/officeart/2008/layout/LinedList"/>
    <dgm:cxn modelId="{3607CA0C-1A84-421C-9E10-6E98BB9FA8C1}" type="presParOf" srcId="{05AD5632-D24D-484F-BD1C-87C99B95CA46}" destId="{83E353F1-ADF7-410D-9270-70C45201FB94}" srcOrd="0" destOrd="0" presId="urn:microsoft.com/office/officeart/2008/layout/LinedList"/>
    <dgm:cxn modelId="{AAA183A4-514E-452A-9C0E-20197DDD38D6}" type="presParOf" srcId="{05AD5632-D24D-484F-BD1C-87C99B95CA46}" destId="{04D5DF2B-D4C4-4CE7-920D-B6EB88A94108}" srcOrd="1" destOrd="0" presId="urn:microsoft.com/office/officeart/2008/layout/LinedList"/>
    <dgm:cxn modelId="{13916558-CF6B-4152-8B03-C0C326DA84EA}" type="presParOf" srcId="{D1FB8C16-C33C-44BD-AF9A-0BBB83D9B942}" destId="{AC48D902-33FF-47F0-BF4A-647E5075A50E}" srcOrd="16" destOrd="0" presId="urn:microsoft.com/office/officeart/2008/layout/LinedList"/>
    <dgm:cxn modelId="{D58C874D-CD1B-4FAF-936A-CAD228BC4F32}" type="presParOf" srcId="{D1FB8C16-C33C-44BD-AF9A-0BBB83D9B942}" destId="{BD731F42-6FE2-47CD-9BB6-F1D1F7B6AFCB}" srcOrd="17" destOrd="0" presId="urn:microsoft.com/office/officeart/2008/layout/LinedList"/>
    <dgm:cxn modelId="{C2DD173C-D3CB-4333-8761-E2FE25D63AB0}" type="presParOf" srcId="{BD731F42-6FE2-47CD-9BB6-F1D1F7B6AFCB}" destId="{83114805-F1E5-4A3D-B78A-828E1B6AB390}" srcOrd="0" destOrd="0" presId="urn:microsoft.com/office/officeart/2008/layout/LinedList"/>
    <dgm:cxn modelId="{C9713647-9280-471B-85BA-5E5C7A474375}" type="presParOf" srcId="{BD731F42-6FE2-47CD-9BB6-F1D1F7B6AFCB}" destId="{A991C607-037A-4AA2-8AF3-8153B8AA00F7}" srcOrd="1" destOrd="0" presId="urn:microsoft.com/office/officeart/2008/layout/LinedList"/>
    <dgm:cxn modelId="{BD583E09-80FD-41CD-81D5-8BE8C50107CD}" type="presParOf" srcId="{D1FB8C16-C33C-44BD-AF9A-0BBB83D9B942}" destId="{F36AF7DF-81C9-444C-8AA8-A965B1EA11FD}" srcOrd="18" destOrd="0" presId="urn:microsoft.com/office/officeart/2008/layout/LinedList"/>
    <dgm:cxn modelId="{00BA7694-EA76-476C-8D67-BC8A1F312C69}" type="presParOf" srcId="{D1FB8C16-C33C-44BD-AF9A-0BBB83D9B942}" destId="{9DD1B427-ADFC-4505-8DAD-5EE93596F856}" srcOrd="19" destOrd="0" presId="urn:microsoft.com/office/officeart/2008/layout/LinedList"/>
    <dgm:cxn modelId="{9481F83A-C71D-4F40-A524-449CFF1DBEE3}" type="presParOf" srcId="{9DD1B427-ADFC-4505-8DAD-5EE93596F856}" destId="{0C9705C2-1E90-4156-884F-714FB0E9AC3B}" srcOrd="0" destOrd="0" presId="urn:microsoft.com/office/officeart/2008/layout/LinedList"/>
    <dgm:cxn modelId="{6CC4AD96-F96F-44A1-9C51-6950C9B6F12E}" type="presParOf" srcId="{9DD1B427-ADFC-4505-8DAD-5EE93596F856}" destId="{A80391BF-AEDB-48D3-BA2F-D043918308F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806DA6-6C30-485F-B6C6-3FF72853D93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4DC63B0-5248-4136-B36D-F10502FF9D33}">
      <dgm:prSet/>
      <dgm:spPr/>
      <dgm:t>
        <a:bodyPr/>
        <a:lstStyle/>
        <a:p>
          <a:r>
            <a:rPr lang="en-US"/>
            <a:t>The software requirements document is the official statement of what is required of the system developers</a:t>
          </a:r>
        </a:p>
      </dgm:t>
    </dgm:pt>
    <dgm:pt modelId="{2E225459-5F78-4CF5-87B5-91DA51434550}" type="parTrans" cxnId="{5E41EF41-FDDD-41C4-A038-24A3CA2FE841}">
      <dgm:prSet/>
      <dgm:spPr/>
      <dgm:t>
        <a:bodyPr/>
        <a:lstStyle/>
        <a:p>
          <a:endParaRPr lang="en-US"/>
        </a:p>
      </dgm:t>
    </dgm:pt>
    <dgm:pt modelId="{DDD2B7EB-89CA-4619-B4EF-05A2A48D0E17}" type="sibTrans" cxnId="{5E41EF41-FDDD-41C4-A038-24A3CA2FE841}">
      <dgm:prSet/>
      <dgm:spPr/>
      <dgm:t>
        <a:bodyPr/>
        <a:lstStyle/>
        <a:p>
          <a:endParaRPr lang="en-US"/>
        </a:p>
      </dgm:t>
    </dgm:pt>
    <dgm:pt modelId="{21BBE866-6F1F-4D44-AFE0-2D5F6FD47F57}">
      <dgm:prSet/>
      <dgm:spPr/>
      <dgm:t>
        <a:bodyPr/>
        <a:lstStyle/>
        <a:p>
          <a:r>
            <a:rPr lang="en-US"/>
            <a:t>Can include both a definition of user requirements and a specification of the system requirements</a:t>
          </a:r>
        </a:p>
      </dgm:t>
    </dgm:pt>
    <dgm:pt modelId="{46D87DAE-7946-4FC7-A6B3-67CC1AE1FED3}" type="parTrans" cxnId="{406A89D0-9D01-4612-87A3-96B88208BA5D}">
      <dgm:prSet/>
      <dgm:spPr/>
      <dgm:t>
        <a:bodyPr/>
        <a:lstStyle/>
        <a:p>
          <a:endParaRPr lang="en-US"/>
        </a:p>
      </dgm:t>
    </dgm:pt>
    <dgm:pt modelId="{DC27A45E-F7F7-412C-835D-43D19914B184}" type="sibTrans" cxnId="{406A89D0-9D01-4612-87A3-96B88208BA5D}">
      <dgm:prSet/>
      <dgm:spPr/>
      <dgm:t>
        <a:bodyPr/>
        <a:lstStyle/>
        <a:p>
          <a:endParaRPr lang="en-US"/>
        </a:p>
      </dgm:t>
    </dgm:pt>
    <dgm:pt modelId="{6BBEEBCD-53FF-4A13-95DB-1A0347E8C50D}">
      <dgm:prSet/>
      <dgm:spPr/>
      <dgm:t>
        <a:bodyPr/>
        <a:lstStyle/>
        <a:p>
          <a:r>
            <a:rPr lang="en-US"/>
            <a:t>It is NOT a design document. As far as possible, it should set of WHAT the system should do rather than HOW it should do it</a:t>
          </a:r>
        </a:p>
      </dgm:t>
    </dgm:pt>
    <dgm:pt modelId="{368D148A-BAA3-4676-A49C-C53EECF4150A}" type="parTrans" cxnId="{5E9C4867-BC1B-4CD1-BB00-037DB12C9AD6}">
      <dgm:prSet/>
      <dgm:spPr/>
      <dgm:t>
        <a:bodyPr/>
        <a:lstStyle/>
        <a:p>
          <a:endParaRPr lang="en-US"/>
        </a:p>
      </dgm:t>
    </dgm:pt>
    <dgm:pt modelId="{ED7CEC6F-BD15-40BA-898C-07CC96BC0900}" type="sibTrans" cxnId="{5E9C4867-BC1B-4CD1-BB00-037DB12C9AD6}">
      <dgm:prSet/>
      <dgm:spPr/>
      <dgm:t>
        <a:bodyPr/>
        <a:lstStyle/>
        <a:p>
          <a:endParaRPr lang="en-US"/>
        </a:p>
      </dgm:t>
    </dgm:pt>
    <dgm:pt modelId="{15DE7626-6E3A-4BBC-A804-D8D55C45D59B}" type="pres">
      <dgm:prSet presAssocID="{CF806DA6-6C30-485F-B6C6-3FF72853D93C}" presName="linear" presStyleCnt="0">
        <dgm:presLayoutVars>
          <dgm:animLvl val="lvl"/>
          <dgm:resizeHandles val="exact"/>
        </dgm:presLayoutVars>
      </dgm:prSet>
      <dgm:spPr/>
      <dgm:t>
        <a:bodyPr/>
        <a:lstStyle/>
        <a:p>
          <a:endParaRPr lang="en-US"/>
        </a:p>
      </dgm:t>
    </dgm:pt>
    <dgm:pt modelId="{C9A35FAF-9D6D-49CC-B9C9-1582772A3560}" type="pres">
      <dgm:prSet presAssocID="{74DC63B0-5248-4136-B36D-F10502FF9D33}" presName="parentText" presStyleLbl="node1" presStyleIdx="0" presStyleCnt="3">
        <dgm:presLayoutVars>
          <dgm:chMax val="0"/>
          <dgm:bulletEnabled val="1"/>
        </dgm:presLayoutVars>
      </dgm:prSet>
      <dgm:spPr/>
      <dgm:t>
        <a:bodyPr/>
        <a:lstStyle/>
        <a:p>
          <a:endParaRPr lang="en-US"/>
        </a:p>
      </dgm:t>
    </dgm:pt>
    <dgm:pt modelId="{779B1E20-4401-42AB-BD69-41C785885FDF}" type="pres">
      <dgm:prSet presAssocID="{DDD2B7EB-89CA-4619-B4EF-05A2A48D0E17}" presName="spacer" presStyleCnt="0"/>
      <dgm:spPr/>
    </dgm:pt>
    <dgm:pt modelId="{E667AEAA-2C03-4FCD-A2A5-A75045ACDFE1}" type="pres">
      <dgm:prSet presAssocID="{21BBE866-6F1F-4D44-AFE0-2D5F6FD47F57}" presName="parentText" presStyleLbl="node1" presStyleIdx="1" presStyleCnt="3">
        <dgm:presLayoutVars>
          <dgm:chMax val="0"/>
          <dgm:bulletEnabled val="1"/>
        </dgm:presLayoutVars>
      </dgm:prSet>
      <dgm:spPr/>
      <dgm:t>
        <a:bodyPr/>
        <a:lstStyle/>
        <a:p>
          <a:endParaRPr lang="en-US"/>
        </a:p>
      </dgm:t>
    </dgm:pt>
    <dgm:pt modelId="{42FAFDF8-589A-4DFD-BD73-A939CC46F597}" type="pres">
      <dgm:prSet presAssocID="{DC27A45E-F7F7-412C-835D-43D19914B184}" presName="spacer" presStyleCnt="0"/>
      <dgm:spPr/>
    </dgm:pt>
    <dgm:pt modelId="{B01B218E-0EF9-4BDC-AE7C-4A88E530FBD6}" type="pres">
      <dgm:prSet presAssocID="{6BBEEBCD-53FF-4A13-95DB-1A0347E8C50D}" presName="parentText" presStyleLbl="node1" presStyleIdx="2" presStyleCnt="3">
        <dgm:presLayoutVars>
          <dgm:chMax val="0"/>
          <dgm:bulletEnabled val="1"/>
        </dgm:presLayoutVars>
      </dgm:prSet>
      <dgm:spPr/>
      <dgm:t>
        <a:bodyPr/>
        <a:lstStyle/>
        <a:p>
          <a:endParaRPr lang="en-US"/>
        </a:p>
      </dgm:t>
    </dgm:pt>
  </dgm:ptLst>
  <dgm:cxnLst>
    <dgm:cxn modelId="{406A89D0-9D01-4612-87A3-96B88208BA5D}" srcId="{CF806DA6-6C30-485F-B6C6-3FF72853D93C}" destId="{21BBE866-6F1F-4D44-AFE0-2D5F6FD47F57}" srcOrd="1" destOrd="0" parTransId="{46D87DAE-7946-4FC7-A6B3-67CC1AE1FED3}" sibTransId="{DC27A45E-F7F7-412C-835D-43D19914B184}"/>
    <dgm:cxn modelId="{44ADF976-007E-4E76-9F33-2ED1A4437F0F}" type="presOf" srcId="{CF806DA6-6C30-485F-B6C6-3FF72853D93C}" destId="{15DE7626-6E3A-4BBC-A804-D8D55C45D59B}" srcOrd="0" destOrd="0" presId="urn:microsoft.com/office/officeart/2005/8/layout/vList2"/>
    <dgm:cxn modelId="{3EE9A7FA-8127-4FD1-B2AD-962DB42C65E0}" type="presOf" srcId="{6BBEEBCD-53FF-4A13-95DB-1A0347E8C50D}" destId="{B01B218E-0EF9-4BDC-AE7C-4A88E530FBD6}" srcOrd="0" destOrd="0" presId="urn:microsoft.com/office/officeart/2005/8/layout/vList2"/>
    <dgm:cxn modelId="{5E9C4867-BC1B-4CD1-BB00-037DB12C9AD6}" srcId="{CF806DA6-6C30-485F-B6C6-3FF72853D93C}" destId="{6BBEEBCD-53FF-4A13-95DB-1A0347E8C50D}" srcOrd="2" destOrd="0" parTransId="{368D148A-BAA3-4676-A49C-C53EECF4150A}" sibTransId="{ED7CEC6F-BD15-40BA-898C-07CC96BC0900}"/>
    <dgm:cxn modelId="{50E892BF-AC41-4EF8-B1B1-0866012D2EAE}" type="presOf" srcId="{74DC63B0-5248-4136-B36D-F10502FF9D33}" destId="{C9A35FAF-9D6D-49CC-B9C9-1582772A3560}" srcOrd="0" destOrd="0" presId="urn:microsoft.com/office/officeart/2005/8/layout/vList2"/>
    <dgm:cxn modelId="{EA6FC480-1BB8-44EF-8E49-BED1195835BC}" type="presOf" srcId="{21BBE866-6F1F-4D44-AFE0-2D5F6FD47F57}" destId="{E667AEAA-2C03-4FCD-A2A5-A75045ACDFE1}" srcOrd="0" destOrd="0" presId="urn:microsoft.com/office/officeart/2005/8/layout/vList2"/>
    <dgm:cxn modelId="{5E41EF41-FDDD-41C4-A038-24A3CA2FE841}" srcId="{CF806DA6-6C30-485F-B6C6-3FF72853D93C}" destId="{74DC63B0-5248-4136-B36D-F10502FF9D33}" srcOrd="0" destOrd="0" parTransId="{2E225459-5F78-4CF5-87B5-91DA51434550}" sibTransId="{DDD2B7EB-89CA-4619-B4EF-05A2A48D0E17}"/>
    <dgm:cxn modelId="{F970BB61-9DE3-43C4-B289-4A1DA52FAB4D}" type="presParOf" srcId="{15DE7626-6E3A-4BBC-A804-D8D55C45D59B}" destId="{C9A35FAF-9D6D-49CC-B9C9-1582772A3560}" srcOrd="0" destOrd="0" presId="urn:microsoft.com/office/officeart/2005/8/layout/vList2"/>
    <dgm:cxn modelId="{0B59CEEC-3B22-4220-9F5E-D93BDB1DB519}" type="presParOf" srcId="{15DE7626-6E3A-4BBC-A804-D8D55C45D59B}" destId="{779B1E20-4401-42AB-BD69-41C785885FDF}" srcOrd="1" destOrd="0" presId="urn:microsoft.com/office/officeart/2005/8/layout/vList2"/>
    <dgm:cxn modelId="{B14C953B-E33D-49C5-812A-7B8DF7BB00D8}" type="presParOf" srcId="{15DE7626-6E3A-4BBC-A804-D8D55C45D59B}" destId="{E667AEAA-2C03-4FCD-A2A5-A75045ACDFE1}" srcOrd="2" destOrd="0" presId="urn:microsoft.com/office/officeart/2005/8/layout/vList2"/>
    <dgm:cxn modelId="{EA7F52BE-8E37-472B-AE22-0CCC6A1E01FF}" type="presParOf" srcId="{15DE7626-6E3A-4BBC-A804-D8D55C45D59B}" destId="{42FAFDF8-589A-4DFD-BD73-A939CC46F597}" srcOrd="3" destOrd="0" presId="urn:microsoft.com/office/officeart/2005/8/layout/vList2"/>
    <dgm:cxn modelId="{978EE01D-20A4-46B6-8956-238F2140A391}" type="presParOf" srcId="{15DE7626-6E3A-4BBC-A804-D8D55C45D59B}" destId="{B01B218E-0EF9-4BDC-AE7C-4A88E530FBD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E24DC6-16E4-4BEA-9119-568E00958F0F}">
      <dsp:nvSpPr>
        <dsp:cNvPr id="0" name=""/>
        <dsp:cNvSpPr/>
      </dsp:nvSpPr>
      <dsp:spPr>
        <a:xfrm>
          <a:off x="0" y="689"/>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E339B5-B60A-48DF-AA0F-6B72971F89C6}">
      <dsp:nvSpPr>
        <dsp:cNvPr id="0" name=""/>
        <dsp:cNvSpPr/>
      </dsp:nvSpPr>
      <dsp:spPr>
        <a:xfrm>
          <a:off x="0" y="68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Unambiguous</a:t>
          </a:r>
        </a:p>
      </dsp:txBody>
      <dsp:txXfrm>
        <a:off x="0" y="689"/>
        <a:ext cx="6797675" cy="564853"/>
      </dsp:txXfrm>
    </dsp:sp>
    <dsp:sp modelId="{C935C35B-7E80-47A2-958E-643319DC1E1C}">
      <dsp:nvSpPr>
        <dsp:cNvPr id="0" name=""/>
        <dsp:cNvSpPr/>
      </dsp:nvSpPr>
      <dsp:spPr>
        <a:xfrm>
          <a:off x="0" y="565542"/>
          <a:ext cx="6797675" cy="0"/>
        </a:xfrm>
        <a:prstGeom prst="line">
          <a:avLst/>
        </a:prstGeom>
        <a:solidFill>
          <a:schemeClr val="accent2">
            <a:hueOff val="4338"/>
            <a:satOff val="-2986"/>
            <a:lumOff val="-763"/>
            <a:alphaOff val="0"/>
          </a:schemeClr>
        </a:solidFill>
        <a:ln w="15875" cap="flat" cmpd="sng" algn="ctr">
          <a:solidFill>
            <a:schemeClr val="accent2">
              <a:hueOff val="4338"/>
              <a:satOff val="-2986"/>
              <a:lumOff val="-7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5D1446-7EFD-4EEF-B80E-FEFBF430DD95}">
      <dsp:nvSpPr>
        <dsp:cNvPr id="0" name=""/>
        <dsp:cNvSpPr/>
      </dsp:nvSpPr>
      <dsp:spPr>
        <a:xfrm>
          <a:off x="0" y="56554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Testable (verifiable)</a:t>
          </a:r>
        </a:p>
      </dsp:txBody>
      <dsp:txXfrm>
        <a:off x="0" y="565542"/>
        <a:ext cx="6797675" cy="564853"/>
      </dsp:txXfrm>
    </dsp:sp>
    <dsp:sp modelId="{3E49B183-BD2E-4DC1-A83A-7B818FE5E76C}">
      <dsp:nvSpPr>
        <dsp:cNvPr id="0" name=""/>
        <dsp:cNvSpPr/>
      </dsp:nvSpPr>
      <dsp:spPr>
        <a:xfrm>
          <a:off x="0" y="1130396"/>
          <a:ext cx="6797675" cy="0"/>
        </a:xfrm>
        <a:prstGeom prst="line">
          <a:avLst/>
        </a:prstGeom>
        <a:solidFill>
          <a:schemeClr val="accent2">
            <a:hueOff val="8675"/>
            <a:satOff val="-5972"/>
            <a:lumOff val="-1525"/>
            <a:alphaOff val="0"/>
          </a:schemeClr>
        </a:solidFill>
        <a:ln w="15875" cap="flat" cmpd="sng" algn="ctr">
          <a:solidFill>
            <a:schemeClr val="accent2">
              <a:hueOff val="8675"/>
              <a:satOff val="-5972"/>
              <a:lumOff val="-15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E43D00-B230-435E-B7BB-5EE349CB36C7}">
      <dsp:nvSpPr>
        <dsp:cNvPr id="0" name=""/>
        <dsp:cNvSpPr/>
      </dsp:nvSpPr>
      <dsp:spPr>
        <a:xfrm>
          <a:off x="0" y="1130396"/>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Clear (concise, terse, simple, precise)</a:t>
          </a:r>
        </a:p>
      </dsp:txBody>
      <dsp:txXfrm>
        <a:off x="0" y="1130396"/>
        <a:ext cx="6797675" cy="564853"/>
      </dsp:txXfrm>
    </dsp:sp>
    <dsp:sp modelId="{B775C942-F316-490F-A8D0-C6DECF5E1BB9}">
      <dsp:nvSpPr>
        <dsp:cNvPr id="0" name=""/>
        <dsp:cNvSpPr/>
      </dsp:nvSpPr>
      <dsp:spPr>
        <a:xfrm>
          <a:off x="0" y="1695249"/>
          <a:ext cx="6797675" cy="0"/>
        </a:xfrm>
        <a:prstGeom prst="line">
          <a:avLst/>
        </a:prstGeom>
        <a:solidFill>
          <a:schemeClr val="accent2">
            <a:hueOff val="13013"/>
            <a:satOff val="-8959"/>
            <a:lumOff val="-2288"/>
            <a:alphaOff val="0"/>
          </a:schemeClr>
        </a:solidFill>
        <a:ln w="15875" cap="flat" cmpd="sng" algn="ctr">
          <a:solidFill>
            <a:schemeClr val="accent2">
              <a:hueOff val="13013"/>
              <a:satOff val="-8959"/>
              <a:lumOff val="-22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29F0E5-12B1-4266-B4E5-D997D305AA85}">
      <dsp:nvSpPr>
        <dsp:cNvPr id="0" name=""/>
        <dsp:cNvSpPr/>
      </dsp:nvSpPr>
      <dsp:spPr>
        <a:xfrm>
          <a:off x="0" y="169524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Correct</a:t>
          </a:r>
        </a:p>
      </dsp:txBody>
      <dsp:txXfrm>
        <a:off x="0" y="1695249"/>
        <a:ext cx="6797675" cy="564853"/>
      </dsp:txXfrm>
    </dsp:sp>
    <dsp:sp modelId="{7ED40A95-03C4-49AA-8976-312622D00015}">
      <dsp:nvSpPr>
        <dsp:cNvPr id="0" name=""/>
        <dsp:cNvSpPr/>
      </dsp:nvSpPr>
      <dsp:spPr>
        <a:xfrm>
          <a:off x="0" y="2260102"/>
          <a:ext cx="6797675" cy="0"/>
        </a:xfrm>
        <a:prstGeom prst="line">
          <a:avLst/>
        </a:prstGeom>
        <a:solidFill>
          <a:schemeClr val="accent2">
            <a:hueOff val="17350"/>
            <a:satOff val="-11945"/>
            <a:lumOff val="-3050"/>
            <a:alphaOff val="0"/>
          </a:schemeClr>
        </a:solidFill>
        <a:ln w="15875" cap="flat" cmpd="sng" algn="ctr">
          <a:solidFill>
            <a:schemeClr val="accent2">
              <a:hueOff val="17350"/>
              <a:satOff val="-11945"/>
              <a:lumOff val="-305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571DE0-254C-4A15-9557-7E931A8BAC0B}">
      <dsp:nvSpPr>
        <dsp:cNvPr id="0" name=""/>
        <dsp:cNvSpPr/>
      </dsp:nvSpPr>
      <dsp:spPr>
        <a:xfrm>
          <a:off x="0" y="226010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Understandable</a:t>
          </a:r>
        </a:p>
      </dsp:txBody>
      <dsp:txXfrm>
        <a:off x="0" y="2260102"/>
        <a:ext cx="6797675" cy="564853"/>
      </dsp:txXfrm>
    </dsp:sp>
    <dsp:sp modelId="{73C12717-6BE8-4B7D-807E-0A63FAE8B0C9}">
      <dsp:nvSpPr>
        <dsp:cNvPr id="0" name=""/>
        <dsp:cNvSpPr/>
      </dsp:nvSpPr>
      <dsp:spPr>
        <a:xfrm>
          <a:off x="0" y="2824956"/>
          <a:ext cx="6797675" cy="0"/>
        </a:xfrm>
        <a:prstGeom prst="line">
          <a:avLst/>
        </a:prstGeom>
        <a:solidFill>
          <a:schemeClr val="accent2">
            <a:hueOff val="21688"/>
            <a:satOff val="-14931"/>
            <a:lumOff val="-3813"/>
            <a:alphaOff val="0"/>
          </a:schemeClr>
        </a:solidFill>
        <a:ln w="15875" cap="flat" cmpd="sng" algn="ctr">
          <a:solidFill>
            <a:schemeClr val="accent2">
              <a:hueOff val="21688"/>
              <a:satOff val="-14931"/>
              <a:lumOff val="-381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2689C-25DB-4D0F-AB6C-D7BF20C1D2C6}">
      <dsp:nvSpPr>
        <dsp:cNvPr id="0" name=""/>
        <dsp:cNvSpPr/>
      </dsp:nvSpPr>
      <dsp:spPr>
        <a:xfrm>
          <a:off x="0" y="2824956"/>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Feasible (realistic, possible)</a:t>
          </a:r>
        </a:p>
      </dsp:txBody>
      <dsp:txXfrm>
        <a:off x="0" y="2824956"/>
        <a:ext cx="6797675" cy="564853"/>
      </dsp:txXfrm>
    </dsp:sp>
    <dsp:sp modelId="{30943419-9E14-4E89-8A88-78B130504AA6}">
      <dsp:nvSpPr>
        <dsp:cNvPr id="0" name=""/>
        <dsp:cNvSpPr/>
      </dsp:nvSpPr>
      <dsp:spPr>
        <a:xfrm>
          <a:off x="0" y="3389809"/>
          <a:ext cx="6797675" cy="0"/>
        </a:xfrm>
        <a:prstGeom prst="line">
          <a:avLst/>
        </a:prstGeom>
        <a:solidFill>
          <a:schemeClr val="accent2">
            <a:hueOff val="26025"/>
            <a:satOff val="-17917"/>
            <a:lumOff val="-4575"/>
            <a:alphaOff val="0"/>
          </a:schemeClr>
        </a:solidFill>
        <a:ln w="15875" cap="flat" cmpd="sng" algn="ctr">
          <a:solidFill>
            <a:schemeClr val="accent2">
              <a:hueOff val="26025"/>
              <a:satOff val="-17917"/>
              <a:lumOff val="-457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7227F1-2E1B-47F5-BCF2-057D34DB0F98}">
      <dsp:nvSpPr>
        <dsp:cNvPr id="0" name=""/>
        <dsp:cNvSpPr/>
      </dsp:nvSpPr>
      <dsp:spPr>
        <a:xfrm>
          <a:off x="0" y="338980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Independent</a:t>
          </a:r>
        </a:p>
      </dsp:txBody>
      <dsp:txXfrm>
        <a:off x="0" y="3389809"/>
        <a:ext cx="6797675" cy="564853"/>
      </dsp:txXfrm>
    </dsp:sp>
    <dsp:sp modelId="{A5A4B98C-00EF-489B-8F82-6A854680384D}">
      <dsp:nvSpPr>
        <dsp:cNvPr id="0" name=""/>
        <dsp:cNvSpPr/>
      </dsp:nvSpPr>
      <dsp:spPr>
        <a:xfrm>
          <a:off x="0" y="3954662"/>
          <a:ext cx="6797675" cy="0"/>
        </a:xfrm>
        <a:prstGeom prst="line">
          <a:avLst/>
        </a:prstGeom>
        <a:solidFill>
          <a:schemeClr val="accent2">
            <a:hueOff val="30363"/>
            <a:satOff val="-20904"/>
            <a:lumOff val="-5338"/>
            <a:alphaOff val="0"/>
          </a:schemeClr>
        </a:solidFill>
        <a:ln w="15875" cap="flat" cmpd="sng" algn="ctr">
          <a:solidFill>
            <a:schemeClr val="accent2">
              <a:hueOff val="30363"/>
              <a:satOff val="-20904"/>
              <a:lumOff val="-53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E353F1-ADF7-410D-9270-70C45201FB94}">
      <dsp:nvSpPr>
        <dsp:cNvPr id="0" name=""/>
        <dsp:cNvSpPr/>
      </dsp:nvSpPr>
      <dsp:spPr>
        <a:xfrm>
          <a:off x="0" y="395466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Atomic</a:t>
          </a:r>
        </a:p>
      </dsp:txBody>
      <dsp:txXfrm>
        <a:off x="0" y="3954662"/>
        <a:ext cx="6797675" cy="564853"/>
      </dsp:txXfrm>
    </dsp:sp>
    <dsp:sp modelId="{AC48D902-33FF-47F0-BF4A-647E5075A50E}">
      <dsp:nvSpPr>
        <dsp:cNvPr id="0" name=""/>
        <dsp:cNvSpPr/>
      </dsp:nvSpPr>
      <dsp:spPr>
        <a:xfrm>
          <a:off x="0" y="4519515"/>
          <a:ext cx="6797675" cy="0"/>
        </a:xfrm>
        <a:prstGeom prst="line">
          <a:avLst/>
        </a:prstGeom>
        <a:solidFill>
          <a:schemeClr val="accent2">
            <a:hueOff val="34700"/>
            <a:satOff val="-23890"/>
            <a:lumOff val="-6100"/>
            <a:alphaOff val="0"/>
          </a:schemeClr>
        </a:solidFill>
        <a:ln w="15875" cap="flat" cmpd="sng" algn="ctr">
          <a:solidFill>
            <a:schemeClr val="accent2">
              <a:hueOff val="34700"/>
              <a:satOff val="-23890"/>
              <a:lumOff val="-61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114805-F1E5-4A3D-B78A-828E1B6AB390}">
      <dsp:nvSpPr>
        <dsp:cNvPr id="0" name=""/>
        <dsp:cNvSpPr/>
      </dsp:nvSpPr>
      <dsp:spPr>
        <a:xfrm>
          <a:off x="0" y="4519515"/>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Necessary</a:t>
          </a:r>
        </a:p>
      </dsp:txBody>
      <dsp:txXfrm>
        <a:off x="0" y="4519515"/>
        <a:ext cx="6797675" cy="564853"/>
      </dsp:txXfrm>
    </dsp:sp>
    <dsp:sp modelId="{F36AF7DF-81C9-444C-8AA8-A965B1EA11FD}">
      <dsp:nvSpPr>
        <dsp:cNvPr id="0" name=""/>
        <dsp:cNvSpPr/>
      </dsp:nvSpPr>
      <dsp:spPr>
        <a:xfrm>
          <a:off x="0" y="5084369"/>
          <a:ext cx="6797675" cy="0"/>
        </a:xfrm>
        <a:prstGeom prst="line">
          <a:avLst/>
        </a:prstGeom>
        <a:solidFill>
          <a:schemeClr val="accent2">
            <a:hueOff val="39038"/>
            <a:satOff val="-26876"/>
            <a:lumOff val="-6863"/>
            <a:alphaOff val="0"/>
          </a:schemeClr>
        </a:solidFill>
        <a:ln w="15875" cap="flat" cmpd="sng" algn="ctr">
          <a:solidFill>
            <a:schemeClr val="accent2">
              <a:hueOff val="39038"/>
              <a:satOff val="-26876"/>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9705C2-1E90-4156-884F-714FB0E9AC3B}">
      <dsp:nvSpPr>
        <dsp:cNvPr id="0" name=""/>
        <dsp:cNvSpPr/>
      </dsp:nvSpPr>
      <dsp:spPr>
        <a:xfrm>
          <a:off x="0" y="508436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a:t>• Implementation free (abstract)</a:t>
          </a:r>
        </a:p>
      </dsp:txBody>
      <dsp:txXfrm>
        <a:off x="0" y="5084369"/>
        <a:ext cx="6797675" cy="5648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35FAF-9D6D-49CC-B9C9-1582772A3560}">
      <dsp:nvSpPr>
        <dsp:cNvPr id="0" name=""/>
        <dsp:cNvSpPr/>
      </dsp:nvSpPr>
      <dsp:spPr>
        <a:xfrm>
          <a:off x="0" y="349370"/>
          <a:ext cx="6797675" cy="159471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en-US" sz="2900" kern="1200"/>
            <a:t>The software requirements document is the official statement of what is required of the system developers</a:t>
          </a:r>
        </a:p>
      </dsp:txBody>
      <dsp:txXfrm>
        <a:off x="77847" y="427217"/>
        <a:ext cx="6641981" cy="1439016"/>
      </dsp:txXfrm>
    </dsp:sp>
    <dsp:sp modelId="{E667AEAA-2C03-4FCD-A2A5-A75045ACDFE1}">
      <dsp:nvSpPr>
        <dsp:cNvPr id="0" name=""/>
        <dsp:cNvSpPr/>
      </dsp:nvSpPr>
      <dsp:spPr>
        <a:xfrm>
          <a:off x="0" y="2027601"/>
          <a:ext cx="6797675" cy="1594710"/>
        </a:xfrm>
        <a:prstGeom prst="roundRect">
          <a:avLst/>
        </a:prstGeom>
        <a:solidFill>
          <a:schemeClr val="accent2">
            <a:hueOff val="19519"/>
            <a:satOff val="-13438"/>
            <a:lumOff val="-343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en-US" sz="2900" kern="1200"/>
            <a:t>Can include both a definition of user requirements and a specification of the system requirements</a:t>
          </a:r>
        </a:p>
      </dsp:txBody>
      <dsp:txXfrm>
        <a:off x="77847" y="2105448"/>
        <a:ext cx="6641981" cy="1439016"/>
      </dsp:txXfrm>
    </dsp:sp>
    <dsp:sp modelId="{B01B218E-0EF9-4BDC-AE7C-4A88E530FBD6}">
      <dsp:nvSpPr>
        <dsp:cNvPr id="0" name=""/>
        <dsp:cNvSpPr/>
      </dsp:nvSpPr>
      <dsp:spPr>
        <a:xfrm>
          <a:off x="0" y="3705831"/>
          <a:ext cx="6797675" cy="1594710"/>
        </a:xfrm>
        <a:prstGeom prst="roundRec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en-US" sz="2900" kern="1200"/>
            <a:t>It is NOT a design document. As far as possible, it should set of WHAT the system should do rather than HOW it should do it</a:t>
          </a:r>
        </a:p>
      </dsp:txBody>
      <dsp:txXfrm>
        <a:off x="77847" y="3783678"/>
        <a:ext cx="6641981" cy="143901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00ECE-482E-4EE5-A35E-776D8D2BFD49}"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7F71A9-D33B-4F1B-A245-19A6C38D3AA2}" type="slidenum">
              <a:rPr lang="en-US" smtClean="0"/>
              <a:t>‹#›</a:t>
            </a:fld>
            <a:endParaRPr lang="en-US" dirty="0"/>
          </a:p>
        </p:txBody>
      </p:sp>
    </p:spTree>
    <p:extLst>
      <p:ext uri="{BB962C8B-B14F-4D97-AF65-F5344CB8AC3E}">
        <p14:creationId xmlns:p14="http://schemas.microsoft.com/office/powerpoint/2010/main" val="149122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the requirement says </a:t>
            </a:r>
            <a:r>
              <a:rPr lang="en-US" b="1" dirty="0" smtClean="0"/>
              <a:t>text file</a:t>
            </a:r>
            <a:r>
              <a:rPr lang="en-US" dirty="0" smtClean="0"/>
              <a:t>, developers cannot use:</a:t>
            </a:r>
          </a:p>
          <a:p>
            <a:r>
              <a:rPr lang="en-US" dirty="0" smtClean="0"/>
              <a:t>relational database (MySQL, PostgreSQL)</a:t>
            </a:r>
          </a:p>
          <a:p>
            <a:r>
              <a:rPr lang="en-US" dirty="0" smtClean="0"/>
              <a:t>NoSQL database</a:t>
            </a:r>
          </a:p>
          <a:p>
            <a:r>
              <a:rPr lang="en-US" dirty="0" smtClean="0"/>
              <a:t>cloud object storage</a:t>
            </a:r>
          </a:p>
          <a:p>
            <a:r>
              <a:rPr lang="en-US" dirty="0" smtClean="0"/>
              <a:t>in-memory storage</a:t>
            </a:r>
          </a:p>
          <a:p>
            <a:r>
              <a:rPr lang="en-US" dirty="0" smtClean="0"/>
              <a:t>distributed storage systems</a:t>
            </a:r>
          </a:p>
          <a:p>
            <a:r>
              <a:rPr lang="en-US" dirty="0" smtClean="0"/>
              <a:t>So the requirement is </a:t>
            </a:r>
            <a:r>
              <a:rPr lang="en-US" b="1" dirty="0" smtClean="0"/>
              <a:t>constraining the architecture</a:t>
            </a:r>
            <a:r>
              <a:rPr lang="en-US" dirty="0" smtClean="0"/>
              <a:t>.</a:t>
            </a:r>
          </a:p>
          <a:p>
            <a:endParaRPr lang="en-US" dirty="0" smtClean="0"/>
          </a:p>
          <a:p>
            <a:r>
              <a:rPr lang="en-US" dirty="0" smtClean="0"/>
              <a:t>Requirements should state WHAT the system must do, not HOW it should be implemented.</a:t>
            </a:r>
            <a:endParaRPr lang="en-US" dirty="0"/>
          </a:p>
        </p:txBody>
      </p:sp>
      <p:sp>
        <p:nvSpPr>
          <p:cNvPr id="4" name="Slide Number Placeholder 3"/>
          <p:cNvSpPr>
            <a:spLocks noGrp="1"/>
          </p:cNvSpPr>
          <p:nvPr>
            <p:ph type="sldNum" sz="quarter" idx="10"/>
          </p:nvPr>
        </p:nvSpPr>
        <p:spPr/>
        <p:txBody>
          <a:bodyPr/>
          <a:lstStyle/>
          <a:p>
            <a:fld id="{6A7F71A9-D33B-4F1B-A245-19A6C38D3AA2}" type="slidenum">
              <a:rPr lang="en-US" smtClean="0"/>
              <a:t>14</a:t>
            </a:fld>
            <a:endParaRPr lang="en-US" dirty="0"/>
          </a:p>
        </p:txBody>
      </p:sp>
    </p:spTree>
    <p:extLst>
      <p:ext uri="{BB962C8B-B14F-4D97-AF65-F5344CB8AC3E}">
        <p14:creationId xmlns:p14="http://schemas.microsoft.com/office/powerpoint/2010/main" val="1903796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A7F71A9-D33B-4F1B-A245-19A6C38D3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7998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A7F71A9-D33B-4F1B-A245-19A6C38D3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5806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886AFC-4926-47E9-BF40-B265FB0F9286}"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dirty="0"/>
              <a:t>Iterative Project Management / 01 - Iterative and Incremental Development</a:t>
            </a:r>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629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156465-F39B-49E8-9E84-43E15FF50B28}"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dirty="0"/>
              <a:t>Iterative Project Management / 01 - Iterative and Incremental Development</a:t>
            </a:r>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3345285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701077-56F1-4C88-94FF-EAF84188B629}"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dirty="0"/>
              <a:t>Iterative Project Management / 01 - Iterative and Incremental Development</a:t>
            </a:r>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279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B728BE-16A6-4B91-8C3C-B27D5E808A63}" type="datetime1">
              <a:rPr lang="en-US" smtClean="0"/>
              <a:t>3/9/2026</a:t>
            </a:fld>
            <a:endParaRPr lang="en-US" dirty="0"/>
          </a:p>
        </p:txBody>
      </p:sp>
      <p:sp>
        <p:nvSpPr>
          <p:cNvPr id="6" name="Footer Placeholder 5"/>
          <p:cNvSpPr>
            <a:spLocks noGrp="1"/>
          </p:cNvSpPr>
          <p:nvPr>
            <p:ph type="ftr" sz="quarter" idx="11"/>
          </p:nvPr>
        </p:nvSpPr>
        <p:spPr/>
        <p:txBody>
          <a:bodyPr/>
          <a:lstStyle/>
          <a:p>
            <a:r>
              <a:rPr lang="en-US" dirty="0"/>
              <a:t>Iterative Project Management / 01 - Iterative and Incremental Development</a:t>
            </a:r>
          </a:p>
        </p:txBody>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2530415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8C0515-8C97-47F8-B9CD-14ADD0DC6226}" type="datetime1">
              <a:rPr lang="en-US" smtClean="0"/>
              <a:t>3/9/2026</a:t>
            </a:fld>
            <a:endParaRPr lang="en-US" dirty="0"/>
          </a:p>
        </p:txBody>
      </p:sp>
      <p:sp>
        <p:nvSpPr>
          <p:cNvPr id="8" name="Footer Placeholder 7"/>
          <p:cNvSpPr>
            <a:spLocks noGrp="1"/>
          </p:cNvSpPr>
          <p:nvPr>
            <p:ph type="ftr" sz="quarter" idx="11"/>
          </p:nvPr>
        </p:nvSpPr>
        <p:spPr/>
        <p:txBody>
          <a:bodyPr/>
          <a:lstStyle/>
          <a:p>
            <a:r>
              <a:rPr lang="en-US" dirty="0"/>
              <a:t>Iterative Project Management / 01 - Iterative and Incremental Development</a:t>
            </a:r>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246743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F95B12-44B3-4BF2-BA5B-EE788EB10E1D}" type="datetime1">
              <a:rPr lang="en-US" smtClean="0"/>
              <a:t>3/9/2026</a:t>
            </a:fld>
            <a:endParaRPr lang="en-US" dirty="0"/>
          </a:p>
        </p:txBody>
      </p:sp>
      <p:sp>
        <p:nvSpPr>
          <p:cNvPr id="4" name="Footer Placeholder 3"/>
          <p:cNvSpPr>
            <a:spLocks noGrp="1"/>
          </p:cNvSpPr>
          <p:nvPr>
            <p:ph type="ftr" sz="quarter" idx="11"/>
          </p:nvPr>
        </p:nvSpPr>
        <p:spPr/>
        <p:txBody>
          <a:bodyPr/>
          <a:lstStyle/>
          <a:p>
            <a:r>
              <a:rPr lang="en-US" dirty="0"/>
              <a:t>Iterative Project Management / 01 - Iterative and Incremental Development</a:t>
            </a:r>
          </a:p>
        </p:txBody>
      </p:sp>
      <p:sp>
        <p:nvSpPr>
          <p:cNvPr id="5" name="Slide Number Placeholder 4"/>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187323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791198A-5038-4663-AC72-63FE15808043}" type="datetime1">
              <a:rPr lang="en-US" smtClean="0"/>
              <a:t>3/9/2026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Iterative Project Management / 01 - Iterative and Incremental Development</a:t>
            </a:r>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1323304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AB17024-B75A-408C-B75C-154B21FCF501}" type="datetime1">
              <a:rPr lang="en-US" smtClean="0"/>
              <a:t>3/9/2026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Iterative Project Management / 01 - Iterative and Incremental Development</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A81361-66D7-4C6D-A462-B780D05B41E3}" type="slidenum">
              <a:rPr lang="en-US" smtClean="0"/>
              <a:t>‹#›</a:t>
            </a:fld>
            <a:endParaRPr lang="en-US" dirty="0"/>
          </a:p>
        </p:txBody>
      </p:sp>
    </p:spTree>
    <p:extLst>
      <p:ext uri="{BB962C8B-B14F-4D97-AF65-F5344CB8AC3E}">
        <p14:creationId xmlns:p14="http://schemas.microsoft.com/office/powerpoint/2010/main" val="178201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973D62-84E7-4F5F-82A5-C303F361EB07}" type="datetime1">
              <a:rPr lang="en-US" smtClean="0"/>
              <a:t>3/9/2026</a:t>
            </a:fld>
            <a:endParaRPr lang="en-US" dirty="0"/>
          </a:p>
        </p:txBody>
      </p:sp>
      <p:sp>
        <p:nvSpPr>
          <p:cNvPr id="6" name="Footer Placeholder 5"/>
          <p:cNvSpPr>
            <a:spLocks noGrp="1"/>
          </p:cNvSpPr>
          <p:nvPr>
            <p:ph type="ftr" sz="quarter" idx="11"/>
          </p:nvPr>
        </p:nvSpPr>
        <p:spPr/>
        <p:txBody>
          <a:bodyPr/>
          <a:lstStyle/>
          <a:p>
            <a:r>
              <a:rPr lang="en-US" dirty="0"/>
              <a:t>Iterative Project Management / 01 - Iterative and Incremental Development</a:t>
            </a:r>
          </a:p>
        </p:txBody>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1544316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946396-8583-4DB6-BD1A-E0DFEDCFC0E3}"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dirty="0"/>
              <a:t>Iterative Project Management / 01 - Iterative and Incremental Development</a:t>
            </a:r>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2179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1C9259-B4A2-4F09-A56E-B3C60C11676C}"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dirty="0"/>
              <a:t>Iterative Project Management / 01 - Iterative and Incremental Development</a:t>
            </a:r>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dirty="0"/>
          </a:p>
        </p:txBody>
      </p:sp>
    </p:spTree>
    <p:extLst>
      <p:ext uri="{BB962C8B-B14F-4D97-AF65-F5344CB8AC3E}">
        <p14:creationId xmlns:p14="http://schemas.microsoft.com/office/powerpoint/2010/main" val="2289568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0466C26-70DB-4EEE-8B90-47C4135B6269}" type="datetime1">
              <a:rPr lang="en-US" smtClean="0"/>
              <a:t>3/9/2026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Iterative Project Management / 01 - Iterative and Incremental Development</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A81361-66D7-4C6D-A462-B780D05B41E3}"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224753"/>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4029" y="2034249"/>
            <a:ext cx="10058400" cy="2268670"/>
          </a:xfrm>
        </p:spPr>
        <p:txBody>
          <a:bodyPr/>
          <a:lstStyle/>
          <a:p>
            <a:r>
              <a:rPr lang="en-US" dirty="0"/>
              <a:t>Fundamentals of </a:t>
            </a:r>
            <a:br>
              <a:rPr lang="en-US" dirty="0"/>
            </a:br>
            <a:r>
              <a:rPr lang="en-US" dirty="0"/>
              <a:t>Software Engineering </a:t>
            </a:r>
            <a:endParaRPr lang="en-GB" dirty="0"/>
          </a:p>
        </p:txBody>
      </p:sp>
      <p:sp>
        <p:nvSpPr>
          <p:cNvPr id="3" name="Subtitle 2"/>
          <p:cNvSpPr>
            <a:spLocks noGrp="1"/>
          </p:cNvSpPr>
          <p:nvPr>
            <p:ph type="subTitle" idx="1"/>
          </p:nvPr>
        </p:nvSpPr>
        <p:spPr>
          <a:xfrm>
            <a:off x="1064029" y="4549925"/>
            <a:ext cx="10058400" cy="1143000"/>
          </a:xfrm>
        </p:spPr>
        <p:txBody>
          <a:bodyPr/>
          <a:lstStyle/>
          <a:p>
            <a:r>
              <a:rPr lang="en-US"/>
              <a:t>Lecture 08: Writing Requirements</a:t>
            </a:r>
            <a:endParaRPr lang="en-GB" dirty="0"/>
          </a:p>
        </p:txBody>
      </p:sp>
      <p:sp>
        <p:nvSpPr>
          <p:cNvPr id="5" name="Slide Number Placeholder 4">
            <a:extLst>
              <a:ext uri="{FF2B5EF4-FFF2-40B4-BE49-F238E27FC236}">
                <a16:creationId xmlns:a16="http://schemas.microsoft.com/office/drawing/2014/main" id="{85B48BE4-3F2B-4D9A-97E6-499505F16EA4}"/>
              </a:ext>
            </a:extLst>
          </p:cNvPr>
          <p:cNvSpPr>
            <a:spLocks noGrp="1"/>
          </p:cNvSpPr>
          <p:nvPr>
            <p:ph type="sldNum" sz="quarter" idx="12"/>
          </p:nvPr>
        </p:nvSpPr>
        <p:spPr>
          <a:xfrm>
            <a:off x="9867207" y="7090721"/>
            <a:ext cx="1312025" cy="365125"/>
          </a:xfrm>
        </p:spPr>
        <p:txBody>
          <a:bodyPr/>
          <a:lstStyle/>
          <a:p>
            <a:fld id="{51A81361-66D7-4C6D-A462-B780D05B41E3}" type="slidenum">
              <a:rPr lang="en-US" smtClean="0"/>
              <a:t>1</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8629" y="103377"/>
            <a:ext cx="5029200" cy="1807369"/>
          </a:xfrm>
          <a:prstGeom prst="rect">
            <a:avLst/>
          </a:prstGeom>
        </p:spPr>
      </p:pic>
    </p:spTree>
    <p:extLst>
      <p:ext uri="{BB962C8B-B14F-4D97-AF65-F5344CB8AC3E}">
        <p14:creationId xmlns:p14="http://schemas.microsoft.com/office/powerpoint/2010/main" val="20162897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C0B2E1-0268-42EC-ABD3-94F81A05BC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D2256B4-48EA-40FC-BBC0-AA1EE6E008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3D44BCCA-102D-4A9D-B1E4-2450CAF0B05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8C6E698C-8155-4B8B-BDC9-B7299772B5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06FBAB-A42D-4B6C-8388-104F99868773}"/>
              </a:ext>
            </a:extLst>
          </p:cNvPr>
          <p:cNvSpPr>
            <a:spLocks noGrp="1"/>
          </p:cNvSpPr>
          <p:nvPr>
            <p:ph type="title"/>
          </p:nvPr>
        </p:nvSpPr>
        <p:spPr>
          <a:xfrm>
            <a:off x="965201" y="643467"/>
            <a:ext cx="6255026" cy="5054008"/>
          </a:xfrm>
        </p:spPr>
        <p:txBody>
          <a:bodyPr vert="horz" lIns="91440" tIns="45720" rIns="91440" bIns="45720" rtlCol="0" anchor="ctr">
            <a:normAutofit/>
          </a:bodyPr>
          <a:lstStyle/>
          <a:p>
            <a:pPr algn="r"/>
            <a:r>
              <a:rPr lang="en-US" sz="7400">
                <a:solidFill>
                  <a:schemeClr val="tx1">
                    <a:lumMod val="85000"/>
                    <a:lumOff val="15000"/>
                  </a:schemeClr>
                </a:solidFill>
              </a:rPr>
              <a:t>How to write GOOD REQUIREMENTS</a:t>
            </a:r>
          </a:p>
        </p:txBody>
      </p:sp>
      <p:cxnSp>
        <p:nvCxnSpPr>
          <p:cNvPr id="17" name="Straight Connector 16">
            <a:extLst>
              <a:ext uri="{FF2B5EF4-FFF2-40B4-BE49-F238E27FC236}">
                <a16:creationId xmlns:a16="http://schemas.microsoft.com/office/drawing/2014/main" id="{09525C9A-1972-4836-BA7A-706C946EF4D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391367"/>
            <a:ext cx="0" cy="355820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A549DE7-671D-4575-AF43-858FD99981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C22D9B36-9BE7-472B-8808-7E0D6810738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0942"/>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B2C25D27-EE52-45A0-8621-D7476D92DA48}"/>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2</a:t>
            </a:fld>
            <a:endPar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61654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5993E2-C02B-4335-ABA5-D8EC465551E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0B801A2-5622-4BE8-9AD2-C337A2CD00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D4C5402-111C-43A7-9218-C7AE326A64E1}"/>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Constraints of a Good requirement</a:t>
            </a:r>
          </a:p>
        </p:txBody>
      </p:sp>
      <p:sp>
        <p:nvSpPr>
          <p:cNvPr id="14" name="Rectangle 13">
            <a:extLst>
              <a:ext uri="{FF2B5EF4-FFF2-40B4-BE49-F238E27FC236}">
                <a16:creationId xmlns:a16="http://schemas.microsoft.com/office/drawing/2014/main" id="{B7AF614F-5BC3-4086-99F5-B87C5847A07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92697C5B-26B3-4409-A8F0-08975AA80D12}"/>
              </a:ext>
            </a:extLst>
          </p:cNvPr>
          <p:cNvSpPr>
            <a:spLocks noGrp="1"/>
          </p:cNvSpPr>
          <p:nvPr>
            <p:ph type="sldNum" sz="quarter" idx="12"/>
          </p:nvPr>
        </p:nvSpPr>
        <p:spPr>
          <a:xfrm>
            <a:off x="10123055" y="6459785"/>
            <a:ext cx="1089428" cy="365125"/>
          </a:xfrm>
        </p:spPr>
        <p:txBody>
          <a:bodyP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3</a:t>
            </a:fld>
            <a:endPar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0A5F6E21-5BB6-4364-9037-EBE6EE798184}"/>
              </a:ext>
            </a:extLst>
          </p:cNvPr>
          <p:cNvGraphicFramePr>
            <a:graphicFrameLocks noGrp="1"/>
          </p:cNvGraphicFramePr>
          <p:nvPr>
            <p:ph idx="1"/>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96460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5A1B47C8-47A0-4A88-8830-6DEA3B5DE39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3C0D2FA0-DC65-43F7-B269-AA80A7407F8F}"/>
              </a:ext>
            </a:extLst>
          </p:cNvPr>
          <p:cNvPicPr>
            <a:picLocks noGrp="1" noChangeAspect="1"/>
          </p:cNvPicPr>
          <p:nvPr>
            <p:ph idx="1"/>
          </p:nvPr>
        </p:nvPicPr>
        <p:blipFill>
          <a:blip r:embed="rId2"/>
          <a:stretch>
            <a:fillRect/>
          </a:stretch>
        </p:blipFill>
        <p:spPr>
          <a:xfrm>
            <a:off x="98836" y="1161690"/>
            <a:ext cx="7451849" cy="4471108"/>
          </a:xfrm>
          <a:prstGeom prst="rect">
            <a:avLst/>
          </a:prstGeom>
        </p:spPr>
      </p:pic>
      <p:sp>
        <p:nvSpPr>
          <p:cNvPr id="19" name="Rectangle 18">
            <a:extLst>
              <a:ext uri="{FF2B5EF4-FFF2-40B4-BE49-F238E27FC236}">
                <a16:creationId xmlns:a16="http://schemas.microsoft.com/office/drawing/2014/main" id="{984BBFDD-E720-4805-A9C8-129FBBF6DD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DB7E0BE-7155-4A03-BFB4-35619CD90F2D}"/>
              </a:ext>
            </a:extLst>
          </p:cNvPr>
          <p:cNvSpPr>
            <a:spLocks noGrp="1"/>
          </p:cNvSpPr>
          <p:nvPr>
            <p:ph type="title"/>
          </p:nvPr>
        </p:nvSpPr>
        <p:spPr>
          <a:xfrm>
            <a:off x="8096885" y="640080"/>
            <a:ext cx="3659246" cy="2926080"/>
          </a:xfrm>
        </p:spPr>
        <p:txBody>
          <a:bodyPr vert="horz" lIns="91440" tIns="45720" rIns="91440" bIns="45720" rtlCol="0" anchor="b">
            <a:normAutofit/>
          </a:bodyPr>
          <a:lstStyle/>
          <a:p>
            <a:r>
              <a:rPr lang="en-US" sz="4400">
                <a:solidFill>
                  <a:srgbClr val="FFFFFF"/>
                </a:solidFill>
              </a:rPr>
              <a:t>Writing a good requirement</a:t>
            </a:r>
          </a:p>
        </p:txBody>
      </p:sp>
      <p:sp>
        <p:nvSpPr>
          <p:cNvPr id="21" name="Rectangle 20">
            <a:extLst>
              <a:ext uri="{FF2B5EF4-FFF2-40B4-BE49-F238E27FC236}">
                <a16:creationId xmlns:a16="http://schemas.microsoft.com/office/drawing/2014/main" id="{5AC4BE46-4A77-42FE-9D15-065CDB2F84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4CBCDECA-5822-4B57-89DA-11EF1E8CE3B4}"/>
              </a:ext>
            </a:extLst>
          </p:cNvPr>
          <p:cNvSpPr>
            <a:spLocks noGrp="1"/>
          </p:cNvSpPr>
          <p:nvPr>
            <p:ph type="sldNum" sz="quarter" idx="12"/>
          </p:nvPr>
        </p:nvSpPr>
        <p:spPr>
          <a:xfrm>
            <a:off x="11030574" y="6459785"/>
            <a:ext cx="725557"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20340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4619D-36FB-4A52-AC66-9B44E4C54767}"/>
              </a:ext>
            </a:extLst>
          </p:cNvPr>
          <p:cNvSpPr>
            <a:spLocks noGrp="1"/>
          </p:cNvSpPr>
          <p:nvPr>
            <p:ph type="title"/>
          </p:nvPr>
        </p:nvSpPr>
        <p:spPr/>
        <p:txBody>
          <a:bodyPr/>
          <a:lstStyle/>
          <a:p>
            <a:r>
              <a:rPr lang="en-US" dirty="0"/>
              <a:t>Unambiguous</a:t>
            </a:r>
          </a:p>
        </p:txBody>
      </p:sp>
      <p:sp>
        <p:nvSpPr>
          <p:cNvPr id="3" name="Content Placeholder 2">
            <a:extLst>
              <a:ext uri="{FF2B5EF4-FFF2-40B4-BE49-F238E27FC236}">
                <a16:creationId xmlns:a16="http://schemas.microsoft.com/office/drawing/2014/main" id="{50002E34-E57E-426B-911C-0E412F5E99F7}"/>
              </a:ext>
            </a:extLst>
          </p:cNvPr>
          <p:cNvSpPr>
            <a:spLocks noGrp="1"/>
          </p:cNvSpPr>
          <p:nvPr>
            <p:ph idx="1"/>
          </p:nvPr>
        </p:nvSpPr>
        <p:spPr/>
        <p:txBody>
          <a:bodyPr>
            <a:normAutofit fontScale="92500" lnSpcReduction="20000"/>
          </a:bodyPr>
          <a:lstStyle/>
          <a:p>
            <a:r>
              <a:rPr lang="en-US" sz="1800" b="0" i="0" u="none" strike="noStrike" baseline="0" dirty="0">
                <a:solidFill>
                  <a:srgbClr val="000000"/>
                </a:solidFill>
                <a:latin typeface="Arial" panose="020B0604020202020204" pitchFamily="34" charset="0"/>
              </a:rPr>
              <a:t>•</a:t>
            </a:r>
            <a:r>
              <a:rPr lang="en-US" sz="1800" b="0" i="0" u="none" strike="noStrike" baseline="0" dirty="0">
                <a:solidFill>
                  <a:srgbClr val="000000"/>
                </a:solidFill>
                <a:latin typeface="Calibri" panose="020F0502020204030204" pitchFamily="34" charset="0"/>
              </a:rPr>
              <a:t>There should be only one way to interpret the requirement. Sometimes ambiguity is introduced by undefined acronyms:</a:t>
            </a:r>
          </a:p>
          <a:p>
            <a:r>
              <a:rPr lang="en-US" sz="1800" b="0" i="0" u="none" strike="noStrike" baseline="0" dirty="0">
                <a:solidFill>
                  <a:srgbClr val="000000"/>
                </a:solidFill>
                <a:latin typeface="Arial" panose="020B0604020202020204" pitchFamily="34" charset="0"/>
              </a:rPr>
              <a:t>•</a:t>
            </a:r>
            <a:r>
              <a:rPr lang="en-US" sz="1800" b="1" i="1" u="none" strike="noStrike" baseline="0" dirty="0">
                <a:solidFill>
                  <a:srgbClr val="000000"/>
                </a:solidFill>
                <a:latin typeface="Calibri" panose="020F0502020204030204" pitchFamily="34" charset="0"/>
              </a:rPr>
              <a:t>REQ1The system shall be implemented using ASP.</a:t>
            </a:r>
            <a:endParaRPr lang="en-US" sz="18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Arial" panose="020B0604020202020204" pitchFamily="34" charset="0"/>
              </a:rPr>
              <a:t>•</a:t>
            </a:r>
            <a:r>
              <a:rPr lang="en-US" sz="1800" b="0" i="0" u="none" strike="noStrike" baseline="0" dirty="0">
                <a:solidFill>
                  <a:srgbClr val="000000"/>
                </a:solidFill>
                <a:latin typeface="Calibri" panose="020F0502020204030204" pitchFamily="34" charset="0"/>
              </a:rPr>
              <a:t>Does ASP mean Active Server Pages or Application Service Provider? To fix this, we can mention a full name and provide an acronym in parentheses:</a:t>
            </a:r>
          </a:p>
          <a:p>
            <a:r>
              <a:rPr lang="en-US" sz="1800" b="0" i="0" u="none" strike="noStrike" baseline="0" dirty="0">
                <a:solidFill>
                  <a:srgbClr val="000000"/>
                </a:solidFill>
                <a:latin typeface="Arial" panose="020B0604020202020204" pitchFamily="34" charset="0"/>
              </a:rPr>
              <a:t>•</a:t>
            </a:r>
            <a:r>
              <a:rPr lang="en-US" sz="1800" b="1" i="1" u="none" strike="noStrike" baseline="0" dirty="0">
                <a:solidFill>
                  <a:srgbClr val="000000"/>
                </a:solidFill>
                <a:latin typeface="Calibri" panose="020F0502020204030204" pitchFamily="34" charset="0"/>
              </a:rPr>
              <a:t>REQ1The system shall be implemented using Active Server Pages (ASP).</a:t>
            </a:r>
            <a:endParaRPr lang="en-US" sz="18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Arial" panose="020B0604020202020204" pitchFamily="34" charset="0"/>
              </a:rPr>
              <a:t>•</a:t>
            </a:r>
            <a:r>
              <a:rPr lang="en-US" sz="1800" b="0" i="0" u="none" strike="noStrike" baseline="0" dirty="0">
                <a:solidFill>
                  <a:srgbClr val="000000"/>
                </a:solidFill>
                <a:latin typeface="Calibri" panose="020F0502020204030204" pitchFamily="34" charset="0"/>
              </a:rPr>
              <a:t>Here’s another example:</a:t>
            </a:r>
          </a:p>
          <a:p>
            <a:r>
              <a:rPr lang="en-US" sz="1800" b="0" i="0" u="none" strike="noStrike" baseline="0" dirty="0">
                <a:solidFill>
                  <a:srgbClr val="000000"/>
                </a:solidFill>
                <a:latin typeface="Arial" panose="020B0604020202020204" pitchFamily="34" charset="0"/>
              </a:rPr>
              <a:t>•</a:t>
            </a:r>
            <a:r>
              <a:rPr lang="en-US" sz="1800" b="1" i="1" u="none" strike="noStrike" baseline="0" dirty="0">
                <a:solidFill>
                  <a:srgbClr val="000000"/>
                </a:solidFill>
                <a:latin typeface="Calibri" panose="020F0502020204030204" pitchFamily="34" charset="0"/>
              </a:rPr>
              <a:t>REQ1The system shall not accept passwords longer than 15 characters.</a:t>
            </a:r>
            <a:endParaRPr lang="en-US" sz="18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Arial" panose="020B0604020202020204" pitchFamily="34" charset="0"/>
              </a:rPr>
              <a:t>•</a:t>
            </a:r>
            <a:r>
              <a:rPr lang="en-US" sz="1800" b="0" i="0" u="none" strike="noStrike" baseline="0" dirty="0">
                <a:solidFill>
                  <a:srgbClr val="000000"/>
                </a:solidFill>
                <a:latin typeface="Calibri" panose="020F0502020204030204" pitchFamily="34" charset="0"/>
              </a:rPr>
              <a:t>It is not clear what the system is supposed to do:</a:t>
            </a:r>
          </a:p>
          <a:p>
            <a:r>
              <a:rPr lang="en-US" sz="1800" b="0" i="0" u="none" strike="noStrike" baseline="0" dirty="0">
                <a:solidFill>
                  <a:srgbClr val="000000"/>
                </a:solidFill>
                <a:latin typeface="Arial" panose="020B0604020202020204" pitchFamily="34" charset="0"/>
              </a:rPr>
              <a:t>•</a:t>
            </a:r>
            <a:r>
              <a:rPr lang="en-US" sz="1800" b="1" i="0" u="none" strike="noStrike" baseline="0" dirty="0">
                <a:solidFill>
                  <a:srgbClr val="000000"/>
                </a:solidFill>
                <a:latin typeface="Calibri" panose="020F0502020204030204" pitchFamily="34" charset="0"/>
              </a:rPr>
              <a:t>The system shall not let the user enter more than 15 characters.</a:t>
            </a:r>
            <a:endParaRPr lang="en-US" sz="18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Arial" panose="020B0604020202020204" pitchFamily="34" charset="0"/>
              </a:rPr>
              <a:t>•</a:t>
            </a:r>
            <a:r>
              <a:rPr lang="en-US" sz="1800" b="1" i="0" u="none" strike="noStrike" baseline="0" dirty="0">
                <a:solidFill>
                  <a:srgbClr val="000000"/>
                </a:solidFill>
                <a:latin typeface="Calibri" panose="020F0502020204030204" pitchFamily="34" charset="0"/>
              </a:rPr>
              <a:t>The system shall truncate the entered string to 15 characters.</a:t>
            </a:r>
            <a:endParaRPr lang="en-US" sz="18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Arial" panose="020B0604020202020204" pitchFamily="34" charset="0"/>
              </a:rPr>
              <a:t>•</a:t>
            </a:r>
            <a:r>
              <a:rPr lang="en-US" sz="1800" b="1" i="0" u="none" strike="noStrike" baseline="0" dirty="0">
                <a:solidFill>
                  <a:srgbClr val="000000"/>
                </a:solidFill>
                <a:latin typeface="Calibri" panose="020F0502020204030204" pitchFamily="34" charset="0"/>
              </a:rPr>
              <a:t>The system shall display an error message if the user enters more than 15 characters.</a:t>
            </a:r>
            <a:endParaRPr lang="en-US" sz="1800" b="0" i="0" u="none" strike="noStrike" baseline="0" dirty="0">
              <a:solidFill>
                <a:srgbClr val="000000"/>
              </a:solidFill>
              <a:latin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3F48AA4A-2EA2-4BB3-9B1E-42854FD7293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25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arn(inVertical)">
                                      <p:cBhvr>
                                        <p:cTn id="19" dur="500"/>
                                        <p:tgtEl>
                                          <p:spTgt spid="3">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arn(inVertical)">
                                      <p:cBhvr>
                                        <p:cTn id="22" dur="500"/>
                                        <p:tgtEl>
                                          <p:spTgt spid="3">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barn(inVertical)">
                                      <p:cBhvr>
                                        <p:cTn id="25" dur="500"/>
                                        <p:tgtEl>
                                          <p:spTgt spid="3">
                                            <p:txEl>
                                              <p:pRg st="8" end="8"/>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barn(inVertical)">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C6ADD-69D9-451C-BBAD-9FB10BAD6394}"/>
              </a:ext>
            </a:extLst>
          </p:cNvPr>
          <p:cNvSpPr>
            <a:spLocks noGrp="1"/>
          </p:cNvSpPr>
          <p:nvPr>
            <p:ph type="title"/>
          </p:nvPr>
        </p:nvSpPr>
        <p:spPr/>
        <p:txBody>
          <a:bodyPr/>
          <a:lstStyle/>
          <a:p>
            <a:r>
              <a:rPr lang="en-US" dirty="0"/>
              <a:t>Testable (Verifiable)</a:t>
            </a:r>
          </a:p>
        </p:txBody>
      </p:sp>
      <p:sp>
        <p:nvSpPr>
          <p:cNvPr id="3" name="Content Placeholder 2">
            <a:extLst>
              <a:ext uri="{FF2B5EF4-FFF2-40B4-BE49-F238E27FC236}">
                <a16:creationId xmlns:a16="http://schemas.microsoft.com/office/drawing/2014/main" id="{7A7693BA-6106-4096-9AC0-AAFEFAB0D8AE}"/>
              </a:ext>
            </a:extLst>
          </p:cNvPr>
          <p:cNvSpPr>
            <a:spLocks noGrp="1"/>
          </p:cNvSpPr>
          <p:nvPr>
            <p:ph idx="1"/>
          </p:nvPr>
        </p:nvSpPr>
        <p:spPr/>
        <p:txBody>
          <a:bodyPr>
            <a:normAutofit/>
          </a:bodyPr>
          <a:lstStyle/>
          <a:p>
            <a:r>
              <a:rPr lang="en-US" sz="2400" b="0" i="0" u="none" strike="noStrike" baseline="0" dirty="0">
                <a:solidFill>
                  <a:srgbClr val="000000"/>
                </a:solidFill>
                <a:latin typeface="Arial" panose="020B0604020202020204" pitchFamily="34" charset="0"/>
              </a:rPr>
              <a:t>•</a:t>
            </a:r>
            <a:r>
              <a:rPr lang="en-US" sz="2400" b="0" i="1" u="none" strike="noStrike" baseline="0" dirty="0">
                <a:solidFill>
                  <a:srgbClr val="000000"/>
                </a:solidFill>
                <a:latin typeface="Calibri" panose="020F0502020204030204" pitchFamily="34" charset="0"/>
              </a:rPr>
              <a:t>The system shall resist concurrent usage by many users.</a:t>
            </a:r>
            <a:endParaRPr lang="en-US" sz="2400" b="0" i="0" u="none" strike="noStrike" baseline="0" dirty="0">
              <a:solidFill>
                <a:srgbClr val="000000"/>
              </a:solidFill>
              <a:latin typeface="Calibri" panose="020F0502020204030204" pitchFamily="34" charset="0"/>
            </a:endParaRP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What number should be considered “many”—10, 100, 1,000?</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Some words can make a requirement untestable</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Some adjectives: robust, safe, accurate, effective, efficient, expandable, flexible, maintainable, reliable, user-friendly, adequate</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Some adverbs and adverbial phrases: quickly, safely, in a timely manner</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Nonspecific words or acronyms: etc., and/or, TBD</a:t>
            </a:r>
          </a:p>
          <a:p>
            <a:endParaRPr lang="en-US" sz="2800" dirty="0"/>
          </a:p>
        </p:txBody>
      </p:sp>
      <p:sp>
        <p:nvSpPr>
          <p:cNvPr id="4" name="Slide Number Placeholder 3">
            <a:extLst>
              <a:ext uri="{FF2B5EF4-FFF2-40B4-BE49-F238E27FC236}">
                <a16:creationId xmlns:a16="http://schemas.microsoft.com/office/drawing/2014/main" id="{2D470134-BA27-4BA5-88E9-86934E6EF38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906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arn(inVertical)">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6FF3-60AA-4ED7-B182-1B0002644221}"/>
              </a:ext>
            </a:extLst>
          </p:cNvPr>
          <p:cNvSpPr>
            <a:spLocks noGrp="1"/>
          </p:cNvSpPr>
          <p:nvPr>
            <p:ph type="title"/>
          </p:nvPr>
        </p:nvSpPr>
        <p:spPr/>
        <p:txBody>
          <a:bodyPr/>
          <a:lstStyle/>
          <a:p>
            <a:r>
              <a:rPr lang="en-US" dirty="0"/>
              <a:t>Clear (Concise, Terse, Simple, Precise)</a:t>
            </a:r>
          </a:p>
        </p:txBody>
      </p:sp>
      <p:sp>
        <p:nvSpPr>
          <p:cNvPr id="3" name="Content Placeholder 2">
            <a:extLst>
              <a:ext uri="{FF2B5EF4-FFF2-40B4-BE49-F238E27FC236}">
                <a16:creationId xmlns:a16="http://schemas.microsoft.com/office/drawing/2014/main" id="{6B3534B0-158F-49B3-800F-A68E8E2CA407}"/>
              </a:ext>
            </a:extLst>
          </p:cNvPr>
          <p:cNvSpPr>
            <a:spLocks noGrp="1"/>
          </p:cNvSpPr>
          <p:nvPr>
            <p:ph idx="1"/>
          </p:nvPr>
        </p:nvSpPr>
        <p:spPr/>
        <p:txBody>
          <a:bodyPr>
            <a:normAutofit/>
          </a:bodyPr>
          <a:lstStyle/>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Requirements should not contain unnecessary verbiage or information. They should be stated clearly and simply:</a:t>
            </a:r>
          </a:p>
          <a:p>
            <a:r>
              <a:rPr lang="en-US" sz="2400" b="0" i="0" u="none" strike="noStrike" baseline="0" dirty="0">
                <a:solidFill>
                  <a:srgbClr val="000000"/>
                </a:solidFill>
                <a:latin typeface="Arial" panose="020B0604020202020204" pitchFamily="34" charset="0"/>
              </a:rPr>
              <a:t>•</a:t>
            </a:r>
            <a:r>
              <a:rPr lang="en-US" sz="2400" b="0" i="1" u="none" strike="noStrike" baseline="0" dirty="0">
                <a:solidFill>
                  <a:srgbClr val="000000"/>
                </a:solidFill>
                <a:latin typeface="Calibri" panose="020F0502020204030204" pitchFamily="34" charset="0"/>
              </a:rPr>
              <a:t>REQ1Sometimes the user will enter Airport Code, which the system will understand, but sometimes the closest city may replace it, so the user does not need to know what the airport code is, and it will still be understood by the system.</a:t>
            </a:r>
            <a:endParaRPr lang="en-US" sz="2400" b="0" i="0" u="none" strike="noStrike" baseline="0" dirty="0">
              <a:solidFill>
                <a:srgbClr val="000000"/>
              </a:solidFill>
              <a:latin typeface="Calibri" panose="020F0502020204030204" pitchFamily="34" charset="0"/>
            </a:endParaRP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This sentence may be replaced by a simpler one:</a:t>
            </a:r>
          </a:p>
          <a:p>
            <a:r>
              <a:rPr lang="en-US" sz="2400" b="0" i="0" u="none" strike="noStrike" baseline="0" dirty="0">
                <a:solidFill>
                  <a:srgbClr val="000000"/>
                </a:solidFill>
                <a:latin typeface="Arial" panose="020B0604020202020204" pitchFamily="34" charset="0"/>
              </a:rPr>
              <a:t>•</a:t>
            </a:r>
            <a:r>
              <a:rPr lang="en-US" sz="2400" b="0" i="1" u="none" strike="noStrike" baseline="0" dirty="0">
                <a:solidFill>
                  <a:srgbClr val="000000"/>
                </a:solidFill>
                <a:latin typeface="Calibri" panose="020F0502020204030204" pitchFamily="34" charset="0"/>
              </a:rPr>
              <a:t>REQ1The system shall identify the airport based on either an Airport Code or a City Name.</a:t>
            </a:r>
            <a:endParaRPr lang="en-US" sz="2400" b="0" i="0" u="none" strike="noStrike" baseline="0" dirty="0">
              <a:solidFill>
                <a:srgbClr val="000000"/>
              </a:solidFill>
              <a:latin typeface="Calibri" panose="020F0502020204030204" pitchFamily="34" charset="0"/>
            </a:endParaRPr>
          </a:p>
          <a:p>
            <a:endParaRPr lang="en-US" sz="2800" dirty="0"/>
          </a:p>
        </p:txBody>
      </p:sp>
      <p:sp>
        <p:nvSpPr>
          <p:cNvPr id="4" name="Slide Number Placeholder 3">
            <a:extLst>
              <a:ext uri="{FF2B5EF4-FFF2-40B4-BE49-F238E27FC236}">
                <a16:creationId xmlns:a16="http://schemas.microsoft.com/office/drawing/2014/main" id="{4C0E48C0-494F-4E53-B601-2D76965B6E1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345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72F7-FC44-49E7-AFD8-A5CDEE7ABBAD}"/>
              </a:ext>
            </a:extLst>
          </p:cNvPr>
          <p:cNvSpPr>
            <a:spLocks noGrp="1"/>
          </p:cNvSpPr>
          <p:nvPr>
            <p:ph type="title"/>
          </p:nvPr>
        </p:nvSpPr>
        <p:spPr/>
        <p:txBody>
          <a:bodyPr/>
          <a:lstStyle/>
          <a:p>
            <a:r>
              <a:rPr lang="en-US" dirty="0"/>
              <a:t>Correct</a:t>
            </a:r>
          </a:p>
        </p:txBody>
      </p:sp>
      <p:sp>
        <p:nvSpPr>
          <p:cNvPr id="3" name="Content Placeholder 2">
            <a:extLst>
              <a:ext uri="{FF2B5EF4-FFF2-40B4-BE49-F238E27FC236}">
                <a16:creationId xmlns:a16="http://schemas.microsoft.com/office/drawing/2014/main" id="{B33C9752-7A8D-48D7-88DC-E638A81E7D3F}"/>
              </a:ext>
            </a:extLst>
          </p:cNvPr>
          <p:cNvSpPr>
            <a:spLocks noGrp="1"/>
          </p:cNvSpPr>
          <p:nvPr>
            <p:ph idx="1"/>
          </p:nvPr>
        </p:nvSpPr>
        <p:spPr/>
        <p:txBody>
          <a:bodyPr>
            <a:normAutofit/>
          </a:bodyPr>
          <a:lstStyle/>
          <a:p>
            <a:pPr algn="l"/>
            <a:endParaRPr lang="en-US" sz="2800" b="0" i="0" u="none" strike="noStrike" baseline="0" dirty="0">
              <a:solidFill>
                <a:srgbClr val="000000"/>
              </a:solidFill>
              <a:latin typeface="Arial" panose="020B060402020202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If a requirement contains facts, these facts should be true:</a:t>
            </a: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REQ1Car rental prices shall show all applicable taxes (including 6% state tax).</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 tax depends on the state, so the provided 6% figure is incorrect.</a:t>
            </a:r>
          </a:p>
          <a:p>
            <a:endParaRPr lang="en-US" sz="3200" dirty="0"/>
          </a:p>
        </p:txBody>
      </p:sp>
      <p:sp>
        <p:nvSpPr>
          <p:cNvPr id="4" name="Slide Number Placeholder 3">
            <a:extLst>
              <a:ext uri="{FF2B5EF4-FFF2-40B4-BE49-F238E27FC236}">
                <a16:creationId xmlns:a16="http://schemas.microsoft.com/office/drawing/2014/main" id="{EEEA3751-F2A9-4512-A1D7-3B956CA5C80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127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1860-7D1A-4159-8750-A3DFC2C20DD1}"/>
              </a:ext>
            </a:extLst>
          </p:cNvPr>
          <p:cNvSpPr>
            <a:spLocks noGrp="1"/>
          </p:cNvSpPr>
          <p:nvPr>
            <p:ph type="title"/>
          </p:nvPr>
        </p:nvSpPr>
        <p:spPr/>
        <p:txBody>
          <a:bodyPr/>
          <a:lstStyle/>
          <a:p>
            <a:r>
              <a:rPr lang="en-US" dirty="0"/>
              <a:t>Understandable </a:t>
            </a:r>
          </a:p>
        </p:txBody>
      </p:sp>
      <p:sp>
        <p:nvSpPr>
          <p:cNvPr id="3" name="Content Placeholder 2">
            <a:extLst>
              <a:ext uri="{FF2B5EF4-FFF2-40B4-BE49-F238E27FC236}">
                <a16:creationId xmlns:a16="http://schemas.microsoft.com/office/drawing/2014/main" id="{D86CC0F9-F18C-4C10-A50F-4A34A17D2FC0}"/>
              </a:ext>
            </a:extLst>
          </p:cNvPr>
          <p:cNvSpPr>
            <a:spLocks noGrp="1"/>
          </p:cNvSpPr>
          <p:nvPr>
            <p:ph idx="1"/>
          </p:nvPr>
        </p:nvSpPr>
        <p:spPr/>
        <p:txBody>
          <a:bodyPr>
            <a:normAutofit/>
          </a:bodyPr>
          <a:lstStyle/>
          <a:p>
            <a:pPr algn="just"/>
            <a:endParaRPr lang="en-US" sz="3600" b="0" i="0" u="none" strike="noStrike" baseline="0" dirty="0">
              <a:solidFill>
                <a:srgbClr val="000000"/>
              </a:solidFill>
              <a:latin typeface="Arial" panose="020B0604020202020204" pitchFamily="34" charset="0"/>
            </a:endParaRPr>
          </a:p>
          <a:p>
            <a:pPr algn="just"/>
            <a:r>
              <a:rPr lang="en-US" sz="3600" b="0" i="0" u="none" strike="noStrike" baseline="0" dirty="0">
                <a:solidFill>
                  <a:srgbClr val="000000"/>
                </a:solidFill>
                <a:latin typeface="Arial" panose="020B0604020202020204" pitchFamily="34" charset="0"/>
              </a:rPr>
              <a:t>•</a:t>
            </a:r>
            <a:r>
              <a:rPr lang="en-US" sz="3600" b="0" i="0" u="none" strike="noStrike" baseline="0" dirty="0">
                <a:solidFill>
                  <a:srgbClr val="000000"/>
                </a:solidFill>
                <a:latin typeface="Calibri" panose="020F0502020204030204" pitchFamily="34" charset="0"/>
              </a:rPr>
              <a:t>Requirements should be grammatically correct and written in a consistent style. Standard conventions should be used. The word “shall” should be used instead of “will,” “must,” or “may.”</a:t>
            </a:r>
          </a:p>
          <a:p>
            <a:pPr algn="just"/>
            <a:endParaRPr lang="en-US" sz="4000" dirty="0"/>
          </a:p>
        </p:txBody>
      </p:sp>
      <p:sp>
        <p:nvSpPr>
          <p:cNvPr id="4" name="Slide Number Placeholder 3">
            <a:extLst>
              <a:ext uri="{FF2B5EF4-FFF2-40B4-BE49-F238E27FC236}">
                <a16:creationId xmlns:a16="http://schemas.microsoft.com/office/drawing/2014/main" id="{F6091336-C44A-47E3-A6A9-C2A89FE3347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4623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1741B-90B1-4FCF-917A-01D5EF8608DD}"/>
              </a:ext>
            </a:extLst>
          </p:cNvPr>
          <p:cNvSpPr>
            <a:spLocks noGrp="1"/>
          </p:cNvSpPr>
          <p:nvPr>
            <p:ph type="title"/>
          </p:nvPr>
        </p:nvSpPr>
        <p:spPr/>
        <p:txBody>
          <a:bodyPr/>
          <a:lstStyle/>
          <a:p>
            <a:r>
              <a:rPr lang="en-US" dirty="0"/>
              <a:t>Feasible (Realistic, Possible)</a:t>
            </a:r>
          </a:p>
        </p:txBody>
      </p:sp>
      <p:sp>
        <p:nvSpPr>
          <p:cNvPr id="3" name="Content Placeholder 2">
            <a:extLst>
              <a:ext uri="{FF2B5EF4-FFF2-40B4-BE49-F238E27FC236}">
                <a16:creationId xmlns:a16="http://schemas.microsoft.com/office/drawing/2014/main" id="{98EB8FB4-C275-4EF1-BCF1-CE15FE9FA502}"/>
              </a:ext>
            </a:extLst>
          </p:cNvPr>
          <p:cNvSpPr>
            <a:spLocks noGrp="1"/>
          </p:cNvSpPr>
          <p:nvPr>
            <p:ph idx="1"/>
          </p:nvPr>
        </p:nvSpPr>
        <p:spPr/>
        <p:txBody>
          <a:bodyPr>
            <a:normAutofit/>
          </a:bodyPr>
          <a:lstStyle/>
          <a:p>
            <a:pPr algn="l"/>
            <a:endParaRPr lang="en-US" sz="3200" b="0" i="0" u="none" strike="noStrike" baseline="0" dirty="0">
              <a:solidFill>
                <a:srgbClr val="000000"/>
              </a:solidFill>
              <a:latin typeface="Arial" panose="020B0604020202020204" pitchFamily="34" charset="0"/>
            </a:endParaRPr>
          </a:p>
          <a:p>
            <a:r>
              <a:rPr lang="en-US" sz="3200" b="0" i="0" u="none" strike="noStrike" baseline="0" dirty="0">
                <a:solidFill>
                  <a:srgbClr val="000000"/>
                </a:solidFill>
                <a:latin typeface="Arial" panose="020B0604020202020204" pitchFamily="34" charset="0"/>
              </a:rPr>
              <a:t>•</a:t>
            </a:r>
            <a:r>
              <a:rPr lang="en-US" sz="3200" b="0" i="0" u="none" strike="noStrike" baseline="0" dirty="0">
                <a:solidFill>
                  <a:srgbClr val="000000"/>
                </a:solidFill>
                <a:latin typeface="Calibri" panose="020F0502020204030204" pitchFamily="34" charset="0"/>
              </a:rPr>
              <a:t>The requirement should be doable within existing constraints such as time, money, and available resources:</a:t>
            </a:r>
          </a:p>
          <a:p>
            <a:r>
              <a:rPr lang="en-US" sz="3200" b="0" i="0" u="none" strike="noStrike" baseline="0" dirty="0">
                <a:solidFill>
                  <a:srgbClr val="000000"/>
                </a:solidFill>
                <a:latin typeface="Arial" panose="020B0604020202020204" pitchFamily="34" charset="0"/>
              </a:rPr>
              <a:t>•</a:t>
            </a:r>
            <a:r>
              <a:rPr lang="en-US" sz="3200" b="0" i="1" u="none" strike="noStrike" baseline="0" dirty="0">
                <a:solidFill>
                  <a:srgbClr val="000000"/>
                </a:solidFill>
                <a:latin typeface="Calibri" panose="020F0502020204030204" pitchFamily="34" charset="0"/>
              </a:rPr>
              <a:t>REQ1The system shall have a natural language interface that will understand commands given in English language.</a:t>
            </a:r>
            <a:endParaRPr lang="en-US" sz="3200" b="0" i="0" u="none" strike="noStrike" baseline="0" dirty="0">
              <a:solidFill>
                <a:srgbClr val="000000"/>
              </a:solidFill>
              <a:latin typeface="Calibri" panose="020F0502020204030204" pitchFamily="34" charset="0"/>
            </a:endParaRPr>
          </a:p>
          <a:p>
            <a:r>
              <a:rPr lang="en-US" sz="3200" b="0" i="0" u="none" strike="noStrike" baseline="0" dirty="0">
                <a:solidFill>
                  <a:srgbClr val="000000"/>
                </a:solidFill>
                <a:latin typeface="Arial" panose="020B0604020202020204" pitchFamily="34" charset="0"/>
              </a:rPr>
              <a:t>•</a:t>
            </a:r>
            <a:r>
              <a:rPr lang="en-US" sz="3200" b="0" i="0" u="none" strike="noStrike" baseline="0" dirty="0">
                <a:solidFill>
                  <a:srgbClr val="000000"/>
                </a:solidFill>
                <a:latin typeface="Calibri" panose="020F0502020204030204" pitchFamily="34" charset="0"/>
              </a:rPr>
              <a:t>This requirement may be not feasible within a short span of development time.</a:t>
            </a:r>
          </a:p>
          <a:p>
            <a:endParaRPr lang="en-US" sz="3600" dirty="0"/>
          </a:p>
        </p:txBody>
      </p:sp>
      <p:sp>
        <p:nvSpPr>
          <p:cNvPr id="4" name="Slide Number Placeholder 3">
            <a:extLst>
              <a:ext uri="{FF2B5EF4-FFF2-40B4-BE49-F238E27FC236}">
                <a16:creationId xmlns:a16="http://schemas.microsoft.com/office/drawing/2014/main" id="{0DA2758D-A4CD-4963-B055-B8FEC04EB84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070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D6700-9EB7-4FA2-A0A6-37C282C0571B}"/>
              </a:ext>
            </a:extLst>
          </p:cNvPr>
          <p:cNvSpPr>
            <a:spLocks noGrp="1"/>
          </p:cNvSpPr>
          <p:nvPr>
            <p:ph type="title"/>
          </p:nvPr>
        </p:nvSpPr>
        <p:spPr/>
        <p:txBody>
          <a:bodyPr/>
          <a:lstStyle/>
          <a:p>
            <a:r>
              <a:rPr lang="en-US" dirty="0"/>
              <a:t>Independent</a:t>
            </a:r>
          </a:p>
        </p:txBody>
      </p:sp>
      <p:sp>
        <p:nvSpPr>
          <p:cNvPr id="3" name="Content Placeholder 2">
            <a:extLst>
              <a:ext uri="{FF2B5EF4-FFF2-40B4-BE49-F238E27FC236}">
                <a16:creationId xmlns:a16="http://schemas.microsoft.com/office/drawing/2014/main" id="{4F7CC4D1-DCBD-4452-B2A1-DD3E62BA9240}"/>
              </a:ext>
            </a:extLst>
          </p:cNvPr>
          <p:cNvSpPr>
            <a:spLocks noGrp="1"/>
          </p:cNvSpPr>
          <p:nvPr>
            <p:ph idx="1"/>
          </p:nvPr>
        </p:nvSpPr>
        <p:spPr/>
        <p:txBody>
          <a:bodyPr>
            <a:normAutofit lnSpcReduction="10000"/>
          </a:bodyPr>
          <a:lstStyle/>
          <a:p>
            <a:pPr algn="l"/>
            <a:endParaRPr lang="en-US" sz="2800" b="0" i="0" u="none" strike="noStrike" baseline="0" dirty="0">
              <a:solidFill>
                <a:srgbClr val="000000"/>
              </a:solidFill>
              <a:latin typeface="Arial" panose="020B060402020202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To understand the requirement, there should not be a need to know any other requirement:</a:t>
            </a: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REQ1The list of available flights shall include flight numbers, departure time, and arrival time for every leg of a flight.</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REQ2It should be sorted by price.</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 word “It” in the second sentence refers to the previous requirement. However, if the order of the requirements changes, this requirement will not be understandable.</a:t>
            </a:r>
          </a:p>
          <a:p>
            <a:endParaRPr lang="en-US" sz="3200" dirty="0"/>
          </a:p>
        </p:txBody>
      </p:sp>
      <p:sp>
        <p:nvSpPr>
          <p:cNvPr id="4" name="Slide Number Placeholder 3">
            <a:extLst>
              <a:ext uri="{FF2B5EF4-FFF2-40B4-BE49-F238E27FC236}">
                <a16:creationId xmlns:a16="http://schemas.microsoft.com/office/drawing/2014/main" id="{1FFD78DE-A004-4F91-982D-C214CB0379F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02962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6A569-4254-4172-892B-80A5DEDB4D38}"/>
              </a:ext>
            </a:extLst>
          </p:cNvPr>
          <p:cNvSpPr>
            <a:spLocks noGrp="1"/>
          </p:cNvSpPr>
          <p:nvPr>
            <p:ph type="title"/>
          </p:nvPr>
        </p:nvSpPr>
        <p:spPr/>
        <p:txBody>
          <a:bodyPr/>
          <a:lstStyle/>
          <a:p>
            <a:r>
              <a:rPr lang="en-US" dirty="0"/>
              <a:t>Atomic</a:t>
            </a:r>
          </a:p>
        </p:txBody>
      </p:sp>
      <p:sp>
        <p:nvSpPr>
          <p:cNvPr id="3" name="Content Placeholder 2">
            <a:extLst>
              <a:ext uri="{FF2B5EF4-FFF2-40B4-BE49-F238E27FC236}">
                <a16:creationId xmlns:a16="http://schemas.microsoft.com/office/drawing/2014/main" id="{F302144C-E908-469B-96DD-EC6120861EA3}"/>
              </a:ext>
            </a:extLst>
          </p:cNvPr>
          <p:cNvSpPr>
            <a:spLocks noGrp="1"/>
          </p:cNvSpPr>
          <p:nvPr>
            <p:ph idx="1"/>
          </p:nvPr>
        </p:nvSpPr>
        <p:spPr/>
        <p:txBody>
          <a:bodyPr>
            <a:normAutofit fontScale="92500" lnSpcReduction="10000"/>
          </a:bodyPr>
          <a:lstStyle/>
          <a:p>
            <a:pPr algn="l"/>
            <a:endParaRPr lang="en-US" sz="3200" b="0" i="0" u="none" strike="noStrike" baseline="0" dirty="0">
              <a:solidFill>
                <a:srgbClr val="000000"/>
              </a:solidFill>
              <a:latin typeface="Arial" panose="020B0604020202020204" pitchFamily="34" charset="0"/>
            </a:endParaRPr>
          </a:p>
          <a:p>
            <a:r>
              <a:rPr lang="en-US" sz="3200" b="0" i="0" u="none" strike="noStrike" baseline="0" dirty="0">
                <a:solidFill>
                  <a:srgbClr val="000000"/>
                </a:solidFill>
                <a:latin typeface="Arial" panose="020B0604020202020204" pitchFamily="34" charset="0"/>
              </a:rPr>
              <a:t>•</a:t>
            </a:r>
            <a:r>
              <a:rPr lang="en-US" sz="3200" b="0" i="0" u="none" strike="noStrike" baseline="0" dirty="0">
                <a:solidFill>
                  <a:srgbClr val="000000"/>
                </a:solidFill>
                <a:latin typeface="Calibri" panose="020F0502020204030204" pitchFamily="34" charset="0"/>
              </a:rPr>
              <a:t>The requirement should contain a single traceable element:</a:t>
            </a:r>
          </a:p>
          <a:p>
            <a:r>
              <a:rPr lang="en-US" sz="3200" b="0" i="0" u="none" strike="noStrike" baseline="0" dirty="0">
                <a:solidFill>
                  <a:srgbClr val="000000"/>
                </a:solidFill>
                <a:latin typeface="Arial" panose="020B0604020202020204" pitchFamily="34" charset="0"/>
              </a:rPr>
              <a:t>•</a:t>
            </a:r>
            <a:r>
              <a:rPr lang="en-US" sz="3200" b="0" i="1" u="none" strike="noStrike" baseline="0" dirty="0">
                <a:solidFill>
                  <a:srgbClr val="000000"/>
                </a:solidFill>
                <a:latin typeface="Calibri" panose="020F0502020204030204" pitchFamily="34" charset="0"/>
              </a:rPr>
              <a:t>REQ1The system shall provide the opportunity to book the flight, purchase a ticket, reserve a hotel room, reserve a car, and provide information about attractions.</a:t>
            </a:r>
            <a:endParaRPr lang="en-US" sz="3200" b="0" i="0" u="none" strike="noStrike" baseline="0" dirty="0">
              <a:solidFill>
                <a:srgbClr val="000000"/>
              </a:solidFill>
              <a:latin typeface="Calibri" panose="020F0502020204030204" pitchFamily="34" charset="0"/>
            </a:endParaRPr>
          </a:p>
          <a:p>
            <a:r>
              <a:rPr lang="en-US" sz="3200" b="0" i="0" u="none" strike="noStrike" baseline="0" dirty="0">
                <a:solidFill>
                  <a:srgbClr val="000000"/>
                </a:solidFill>
                <a:latin typeface="Arial" panose="020B0604020202020204" pitchFamily="34" charset="0"/>
              </a:rPr>
              <a:t>•</a:t>
            </a:r>
            <a:r>
              <a:rPr lang="en-US" sz="3200" b="0" i="0" u="none" strike="noStrike" baseline="0" dirty="0">
                <a:solidFill>
                  <a:srgbClr val="000000"/>
                </a:solidFill>
                <a:latin typeface="Calibri" panose="020F0502020204030204" pitchFamily="34" charset="0"/>
              </a:rPr>
              <a:t>This requirement combines five atomic requirements, which makes traceability very difficult. Sentences including the words “and” or “but” should be reviewed to see if they can be broken into atomic requirements.</a:t>
            </a:r>
          </a:p>
          <a:p>
            <a:endParaRPr lang="en-US" sz="3600" dirty="0"/>
          </a:p>
        </p:txBody>
      </p:sp>
      <p:sp>
        <p:nvSpPr>
          <p:cNvPr id="4" name="Slide Number Placeholder 3">
            <a:extLst>
              <a:ext uri="{FF2B5EF4-FFF2-40B4-BE49-F238E27FC236}">
                <a16:creationId xmlns:a16="http://schemas.microsoft.com/office/drawing/2014/main" id="{C687AF74-5114-46A8-B815-522F77501E4F}"/>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12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8304-FDA1-4672-A2AD-95D1A59E1A40}"/>
              </a:ext>
            </a:extLst>
          </p:cNvPr>
          <p:cNvSpPr>
            <a:spLocks noGrp="1"/>
          </p:cNvSpPr>
          <p:nvPr>
            <p:ph type="title"/>
          </p:nvPr>
        </p:nvSpPr>
        <p:spPr/>
        <p:txBody>
          <a:bodyPr/>
          <a:lstStyle/>
          <a:p>
            <a:r>
              <a:rPr lang="en-US" dirty="0"/>
              <a:t>Necessary</a:t>
            </a:r>
          </a:p>
        </p:txBody>
      </p:sp>
      <p:sp>
        <p:nvSpPr>
          <p:cNvPr id="3" name="Content Placeholder 2">
            <a:extLst>
              <a:ext uri="{FF2B5EF4-FFF2-40B4-BE49-F238E27FC236}">
                <a16:creationId xmlns:a16="http://schemas.microsoft.com/office/drawing/2014/main" id="{347EA76C-57D6-4988-A95F-01E75B47CE06}"/>
              </a:ext>
            </a:extLst>
          </p:cNvPr>
          <p:cNvSpPr>
            <a:spLocks noGrp="1"/>
          </p:cNvSpPr>
          <p:nvPr>
            <p:ph idx="1"/>
          </p:nvPr>
        </p:nvSpPr>
        <p:spPr/>
        <p:txBody>
          <a:bodyPr>
            <a:normAutofit fontScale="92500" lnSpcReduction="20000"/>
          </a:bodyPr>
          <a:lstStyle/>
          <a:p>
            <a:pPr algn="l"/>
            <a:endParaRPr lang="en-US" sz="2400" b="0" i="0" u="none" strike="noStrike" baseline="0" dirty="0">
              <a:solidFill>
                <a:srgbClr val="000000"/>
              </a:solidFill>
              <a:latin typeface="Arial" panose="020B0604020202020204" pitchFamily="34" charset="0"/>
            </a:endParaRP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A requirement is unnecessary if None of the stakeholders needs the requirement. Or Removing the requirement will not affect the system.</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An example of a requirement that is not needed by a stakeholder is a requirement that is added by developers and designers </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For example, the fact that a developer thinks that users would like a feature that displays a map of the airport and he knows how to implement it is not a valid reason to add this requirement.</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An example of a requirement that can be removed because it does not provide any new information might look like the following:</a:t>
            </a:r>
          </a:p>
          <a:p>
            <a:r>
              <a:rPr lang="en-US" sz="2400" b="0" i="0" u="none" strike="noStrike" baseline="0" dirty="0">
                <a:solidFill>
                  <a:srgbClr val="000000"/>
                </a:solidFill>
                <a:latin typeface="Arial" panose="020B0604020202020204" pitchFamily="34" charset="0"/>
              </a:rPr>
              <a:t>•</a:t>
            </a:r>
            <a:r>
              <a:rPr lang="en-US" sz="2400" b="0" i="1" u="none" strike="noStrike" baseline="0" dirty="0">
                <a:solidFill>
                  <a:srgbClr val="000000"/>
                </a:solidFill>
                <a:latin typeface="Calibri" panose="020F0502020204030204" pitchFamily="34" charset="0"/>
              </a:rPr>
              <a:t>REQ1All requirements specified in the Vision document shall be implemented and tested.</a:t>
            </a:r>
            <a:endParaRPr lang="en-US" sz="2400" b="0" i="0" u="none" strike="noStrike" baseline="0" dirty="0">
              <a:solidFill>
                <a:srgbClr val="000000"/>
              </a:solidFill>
              <a:latin typeface="Calibri" panose="020F0502020204030204" pitchFamily="34" charset="0"/>
            </a:endParaRPr>
          </a:p>
          <a:p>
            <a:endParaRPr lang="en-US" sz="2800" dirty="0"/>
          </a:p>
        </p:txBody>
      </p:sp>
      <p:sp>
        <p:nvSpPr>
          <p:cNvPr id="4" name="Slide Number Placeholder 3">
            <a:extLst>
              <a:ext uri="{FF2B5EF4-FFF2-40B4-BE49-F238E27FC236}">
                <a16:creationId xmlns:a16="http://schemas.microsoft.com/office/drawing/2014/main" id="{3E22D419-E04A-44ED-AE17-35B0FB96E48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42721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082C8-45E5-4302-8DED-87B77CC597C6}"/>
              </a:ext>
            </a:extLst>
          </p:cNvPr>
          <p:cNvSpPr>
            <a:spLocks noGrp="1"/>
          </p:cNvSpPr>
          <p:nvPr>
            <p:ph type="title"/>
          </p:nvPr>
        </p:nvSpPr>
        <p:spPr/>
        <p:txBody>
          <a:bodyPr/>
          <a:lstStyle/>
          <a:p>
            <a:r>
              <a:rPr lang="en-US" dirty="0"/>
              <a:t>Implementation free (Abstract)</a:t>
            </a:r>
          </a:p>
        </p:txBody>
      </p:sp>
      <p:sp>
        <p:nvSpPr>
          <p:cNvPr id="3" name="Content Placeholder 2">
            <a:extLst>
              <a:ext uri="{FF2B5EF4-FFF2-40B4-BE49-F238E27FC236}">
                <a16:creationId xmlns:a16="http://schemas.microsoft.com/office/drawing/2014/main" id="{0CD6217F-7B13-40D3-A110-EE3A2FF6BEA4}"/>
              </a:ext>
            </a:extLst>
          </p:cNvPr>
          <p:cNvSpPr>
            <a:spLocks noGrp="1"/>
          </p:cNvSpPr>
          <p:nvPr>
            <p:ph idx="1"/>
          </p:nvPr>
        </p:nvSpPr>
        <p:spPr/>
        <p:txBody>
          <a:bodyPr>
            <a:normAutofit/>
          </a:bodyPr>
          <a:lstStyle/>
          <a:p>
            <a:pPr algn="l"/>
            <a:endParaRPr lang="en-US" sz="2800" b="0" i="0" u="none" strike="noStrike" baseline="0" dirty="0">
              <a:solidFill>
                <a:srgbClr val="000000"/>
              </a:solidFill>
              <a:latin typeface="Arial" panose="020B060402020202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Requirements should not contain unnecessary design and implementation information:</a:t>
            </a: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REQ1Content information shall be stored in a text file.</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How the information is stored is transparent to the user and should be the designer’s or architect’s decision.</a:t>
            </a:r>
          </a:p>
          <a:p>
            <a:endParaRPr lang="en-US" sz="3200" dirty="0"/>
          </a:p>
        </p:txBody>
      </p:sp>
      <p:sp>
        <p:nvSpPr>
          <p:cNvPr id="4" name="Slide Number Placeholder 3">
            <a:extLst>
              <a:ext uri="{FF2B5EF4-FFF2-40B4-BE49-F238E27FC236}">
                <a16:creationId xmlns:a16="http://schemas.microsoft.com/office/drawing/2014/main" id="{FC547A75-93D9-4059-9F7B-CFB2542AC93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6683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4561-3058-4216-8C42-AF212735437B}"/>
              </a:ext>
            </a:extLst>
          </p:cNvPr>
          <p:cNvSpPr>
            <a:spLocks noGrp="1"/>
          </p:cNvSpPr>
          <p:nvPr>
            <p:ph type="title"/>
          </p:nvPr>
        </p:nvSpPr>
        <p:spPr/>
        <p:txBody>
          <a:bodyPr/>
          <a:lstStyle/>
          <a:p>
            <a:r>
              <a:rPr lang="en-US" dirty="0"/>
              <a:t>Consistent</a:t>
            </a:r>
          </a:p>
        </p:txBody>
      </p:sp>
      <p:sp>
        <p:nvSpPr>
          <p:cNvPr id="3" name="Content Placeholder 2">
            <a:extLst>
              <a:ext uri="{FF2B5EF4-FFF2-40B4-BE49-F238E27FC236}">
                <a16:creationId xmlns:a16="http://schemas.microsoft.com/office/drawing/2014/main" id="{9AA89ED2-A3FC-4660-85BB-ECBBC1DCDC75}"/>
              </a:ext>
            </a:extLst>
          </p:cNvPr>
          <p:cNvSpPr>
            <a:spLocks noGrp="1"/>
          </p:cNvSpPr>
          <p:nvPr>
            <p:ph idx="1"/>
          </p:nvPr>
        </p:nvSpPr>
        <p:spPr/>
        <p:txBody>
          <a:bodyPr>
            <a:normAutofit fontScale="92500" lnSpcReduction="20000"/>
          </a:bodyPr>
          <a:lstStyle/>
          <a:p>
            <a:pPr algn="l"/>
            <a:endParaRPr lang="en-US" sz="2800" b="0" i="0" u="none" strike="noStrike" baseline="0" dirty="0">
              <a:solidFill>
                <a:srgbClr val="000000"/>
              </a:solidFill>
              <a:latin typeface="Arial" panose="020B060402020202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There should not be any conflicts between the requirements. Conflicts may be direct or indirect. Direct conflicts occur when, in the same situation, different behavior is expected:</a:t>
            </a: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REQ1Dates shall be displayed in the mm/dd/</a:t>
            </a:r>
            <a:r>
              <a:rPr lang="en-US" sz="2800" b="0" i="1" u="none" strike="noStrike" baseline="0" dirty="0" err="1">
                <a:solidFill>
                  <a:srgbClr val="000000"/>
                </a:solidFill>
                <a:latin typeface="Calibri" panose="020F0502020204030204" pitchFamily="34" charset="0"/>
              </a:rPr>
              <a:t>yyyy</a:t>
            </a:r>
            <a:r>
              <a:rPr lang="en-US" sz="2800" b="0" i="1" u="none" strike="noStrike" baseline="0" dirty="0">
                <a:solidFill>
                  <a:srgbClr val="000000"/>
                </a:solidFill>
                <a:latin typeface="Calibri" panose="020F0502020204030204" pitchFamily="34" charset="0"/>
              </a:rPr>
              <a:t> format.</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REQ2Dates shall be displayed in the dd/mm/</a:t>
            </a:r>
            <a:r>
              <a:rPr lang="en-US" sz="2800" b="0" i="1" u="none" strike="noStrike" baseline="0" dirty="0" err="1">
                <a:solidFill>
                  <a:srgbClr val="000000"/>
                </a:solidFill>
                <a:latin typeface="Calibri" panose="020F0502020204030204" pitchFamily="34" charset="0"/>
              </a:rPr>
              <a:t>yyyy</a:t>
            </a:r>
            <a:r>
              <a:rPr lang="en-US" sz="2800" b="0" i="1" u="none" strike="noStrike" baseline="0" dirty="0">
                <a:solidFill>
                  <a:srgbClr val="000000"/>
                </a:solidFill>
                <a:latin typeface="Calibri" panose="020F0502020204030204" pitchFamily="34" charset="0"/>
              </a:rPr>
              <a:t> format.</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REQ1For users in the U.S., dates shall be displayed in the mm/dd/</a:t>
            </a:r>
            <a:r>
              <a:rPr lang="en-US" sz="2800" b="0" i="1" u="none" strike="noStrike" baseline="0" dirty="0" err="1">
                <a:solidFill>
                  <a:srgbClr val="000000"/>
                </a:solidFill>
                <a:latin typeface="Calibri" panose="020F0502020204030204" pitchFamily="34" charset="0"/>
              </a:rPr>
              <a:t>yyyy</a:t>
            </a:r>
            <a:r>
              <a:rPr lang="en-US" sz="2800" b="0" i="1" u="none" strike="noStrike" baseline="0" dirty="0">
                <a:solidFill>
                  <a:srgbClr val="000000"/>
                </a:solidFill>
                <a:latin typeface="Calibri" panose="020F0502020204030204" pitchFamily="34" charset="0"/>
              </a:rPr>
              <a:t> format.</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REQ2For users in France, dates shall be displayed in the dd/mm/</a:t>
            </a:r>
            <a:r>
              <a:rPr lang="en-US" sz="2800" b="0" i="1" u="none" strike="noStrike" baseline="0" dirty="0" err="1">
                <a:solidFill>
                  <a:srgbClr val="000000"/>
                </a:solidFill>
                <a:latin typeface="Calibri" panose="020F0502020204030204" pitchFamily="34" charset="0"/>
              </a:rPr>
              <a:t>yyyy</a:t>
            </a:r>
            <a:r>
              <a:rPr lang="en-US" sz="2800" b="0" i="1" u="none" strike="noStrike" baseline="0" dirty="0">
                <a:solidFill>
                  <a:srgbClr val="000000"/>
                </a:solidFill>
                <a:latin typeface="Calibri" panose="020F0502020204030204" pitchFamily="34" charset="0"/>
              </a:rPr>
              <a:t> format.</a:t>
            </a:r>
            <a:endParaRPr lang="en-US" sz="2800" b="0" i="0" u="none" strike="noStrike" baseline="0" dirty="0">
              <a:solidFill>
                <a:srgbClr val="000000"/>
              </a:solidFill>
              <a:latin typeface="Calibri" panose="020F0502020204030204" pitchFamily="34" charset="0"/>
            </a:endParaRPr>
          </a:p>
          <a:p>
            <a:endParaRPr lang="en-US" sz="3200" dirty="0"/>
          </a:p>
        </p:txBody>
      </p:sp>
      <p:sp>
        <p:nvSpPr>
          <p:cNvPr id="4" name="Slide Number Placeholder 3">
            <a:extLst>
              <a:ext uri="{FF2B5EF4-FFF2-40B4-BE49-F238E27FC236}">
                <a16:creationId xmlns:a16="http://schemas.microsoft.com/office/drawing/2014/main" id="{215EC969-80D2-44C5-818D-D4887AB98CA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46362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0FC7-EAD6-4338-A086-627E9FF708CD}"/>
              </a:ext>
            </a:extLst>
          </p:cNvPr>
          <p:cNvSpPr>
            <a:spLocks noGrp="1"/>
          </p:cNvSpPr>
          <p:nvPr>
            <p:ph type="title"/>
          </p:nvPr>
        </p:nvSpPr>
        <p:spPr/>
        <p:txBody>
          <a:bodyPr/>
          <a:lstStyle/>
          <a:p>
            <a:r>
              <a:rPr lang="en-US" dirty="0"/>
              <a:t>Nonredundant</a:t>
            </a:r>
          </a:p>
        </p:txBody>
      </p:sp>
      <p:sp>
        <p:nvSpPr>
          <p:cNvPr id="3" name="Content Placeholder 2">
            <a:extLst>
              <a:ext uri="{FF2B5EF4-FFF2-40B4-BE49-F238E27FC236}">
                <a16:creationId xmlns:a16="http://schemas.microsoft.com/office/drawing/2014/main" id="{166EA4BD-F525-4A5B-9BBC-8D51C7C18434}"/>
              </a:ext>
            </a:extLst>
          </p:cNvPr>
          <p:cNvSpPr>
            <a:spLocks noGrp="1"/>
          </p:cNvSpPr>
          <p:nvPr>
            <p:ph idx="1"/>
          </p:nvPr>
        </p:nvSpPr>
        <p:spPr/>
        <p:txBody>
          <a:bodyPr>
            <a:normAutofit lnSpcReduction="10000"/>
          </a:bodyPr>
          <a:lstStyle/>
          <a:p>
            <a:pPr algn="l"/>
            <a:endParaRPr lang="en-US" sz="2800" b="0" i="0" u="none" strike="noStrike" baseline="0" dirty="0">
              <a:solidFill>
                <a:srgbClr val="000000"/>
              </a:solidFill>
              <a:latin typeface="Arial" panose="020B060402020202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Each requirement should be expressed only once and should not overlap with another requirement:</a:t>
            </a: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REQ1A calendar shall be available to help with entering the flight date.</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1" u="none" strike="noStrike" baseline="0" dirty="0">
                <a:solidFill>
                  <a:srgbClr val="000000"/>
                </a:solidFill>
                <a:latin typeface="Calibri" panose="020F0502020204030204" pitchFamily="34" charset="0"/>
              </a:rPr>
              <a:t>REQ2The system shall display a pop-up calendar when entering any date.</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 first requirement (related to only the flight date) is a subset of the second one (related to any date entered by the user).</a:t>
            </a:r>
          </a:p>
          <a:p>
            <a:endParaRPr lang="en-US" sz="3200" dirty="0"/>
          </a:p>
        </p:txBody>
      </p:sp>
      <p:sp>
        <p:nvSpPr>
          <p:cNvPr id="4" name="Slide Number Placeholder 3">
            <a:extLst>
              <a:ext uri="{FF2B5EF4-FFF2-40B4-BE49-F238E27FC236}">
                <a16:creationId xmlns:a16="http://schemas.microsoft.com/office/drawing/2014/main" id="{3523DB5F-A75F-48A5-818F-D7FCDEF304E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25113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EAC25-3349-497E-BCBB-0BE96FDB4ECB}"/>
              </a:ext>
            </a:extLst>
          </p:cNvPr>
          <p:cNvSpPr>
            <a:spLocks noGrp="1"/>
          </p:cNvSpPr>
          <p:nvPr>
            <p:ph type="title"/>
          </p:nvPr>
        </p:nvSpPr>
        <p:spPr/>
        <p:txBody>
          <a:bodyPr/>
          <a:lstStyle/>
          <a:p>
            <a:r>
              <a:rPr lang="en-US" dirty="0"/>
              <a:t>Complete</a:t>
            </a:r>
          </a:p>
        </p:txBody>
      </p:sp>
      <p:sp>
        <p:nvSpPr>
          <p:cNvPr id="3" name="Content Placeholder 2">
            <a:extLst>
              <a:ext uri="{FF2B5EF4-FFF2-40B4-BE49-F238E27FC236}">
                <a16:creationId xmlns:a16="http://schemas.microsoft.com/office/drawing/2014/main" id="{F72086C2-36E2-4DDF-BECB-5DF11731D81A}"/>
              </a:ext>
            </a:extLst>
          </p:cNvPr>
          <p:cNvSpPr>
            <a:spLocks noGrp="1"/>
          </p:cNvSpPr>
          <p:nvPr>
            <p:ph idx="1"/>
          </p:nvPr>
        </p:nvSpPr>
        <p:spPr/>
        <p:txBody>
          <a:bodyPr>
            <a:normAutofit fontScale="92500"/>
          </a:bodyPr>
          <a:lstStyle/>
          <a:p>
            <a:pPr algn="l"/>
            <a:endParaRPr lang="en-US" sz="2400" b="0" i="0" u="none" strike="noStrike" baseline="0" dirty="0">
              <a:solidFill>
                <a:srgbClr val="000000"/>
              </a:solidFill>
              <a:latin typeface="Arial" panose="020B0604020202020204" pitchFamily="34" charset="0"/>
            </a:endParaRP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A requirement should be specified for all conditions that can occur:</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REQ1 A destination country does not need to be displayed for flights within the U.S.</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REQ2 For overseas flights, the system shall display a destination country.</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What about flights to Canada and Mexico? They are neither “within the U.S.” </a:t>
            </a:r>
            <a:r>
              <a:rPr lang="en-US" sz="2400" b="0" i="0" u="none" strike="noStrike" baseline="0" dirty="0" err="1">
                <a:solidFill>
                  <a:srgbClr val="000000"/>
                </a:solidFill>
                <a:latin typeface="Calibri" panose="020F0502020204030204" pitchFamily="34" charset="0"/>
              </a:rPr>
              <a:t>nor“overseas</a:t>
            </a:r>
            <a:r>
              <a:rPr lang="en-US" sz="2400" b="0" i="0" u="none" strike="noStrike" baseline="0" dirty="0">
                <a:solidFill>
                  <a:srgbClr val="000000"/>
                </a:solidFill>
                <a:latin typeface="Calibri" panose="020F0502020204030204" pitchFamily="34" charset="0"/>
              </a:rPr>
              <a:t>.”</a:t>
            </a:r>
          </a:p>
          <a:p>
            <a:r>
              <a:rPr lang="en-US" sz="2400" b="0" i="0" u="none" strike="noStrike" baseline="0" dirty="0">
                <a:solidFill>
                  <a:srgbClr val="000000"/>
                </a:solidFill>
                <a:latin typeface="Arial" panose="020B0604020202020204" pitchFamily="34" charset="0"/>
              </a:rPr>
              <a:t>•</a:t>
            </a:r>
            <a:r>
              <a:rPr lang="en-US" sz="2400" b="0" i="0" u="none" strike="noStrike" baseline="0" dirty="0">
                <a:solidFill>
                  <a:srgbClr val="000000"/>
                </a:solidFill>
                <a:latin typeface="Calibri" panose="020F0502020204030204" pitchFamily="34" charset="0"/>
              </a:rPr>
              <a:t>All applicable requirements should be specified. This is the toughest condition to be checked. There is really no way to be sure that all the requirements are captured and that one week before the production date one of the stakeholders won’t say, “I forgot to mention that I need one more feature in the application.”</a:t>
            </a:r>
          </a:p>
          <a:p>
            <a:endParaRPr lang="en-US" sz="2800" dirty="0"/>
          </a:p>
        </p:txBody>
      </p:sp>
      <p:sp>
        <p:nvSpPr>
          <p:cNvPr id="4" name="Slide Number Placeholder 3">
            <a:extLst>
              <a:ext uri="{FF2B5EF4-FFF2-40B4-BE49-F238E27FC236}">
                <a16:creationId xmlns:a16="http://schemas.microsoft.com/office/drawing/2014/main" id="{751402E6-C512-4EF9-99FF-C10B9E3DBDC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6093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B3E3-9E51-4B87-A1D3-83C3DFEBA052}"/>
              </a:ext>
            </a:extLst>
          </p:cNvPr>
          <p:cNvSpPr>
            <a:spLocks noGrp="1"/>
          </p:cNvSpPr>
          <p:nvPr>
            <p:ph type="title"/>
          </p:nvPr>
        </p:nvSpPr>
        <p:spPr/>
        <p:txBody>
          <a:bodyPr/>
          <a:lstStyle/>
          <a:p>
            <a:r>
              <a:rPr lang="en-US" dirty="0"/>
              <a:t>Conflicts</a:t>
            </a:r>
          </a:p>
        </p:txBody>
      </p:sp>
      <p:sp>
        <p:nvSpPr>
          <p:cNvPr id="3" name="Content Placeholder 2">
            <a:extLst>
              <a:ext uri="{FF2B5EF4-FFF2-40B4-BE49-F238E27FC236}">
                <a16:creationId xmlns:a16="http://schemas.microsoft.com/office/drawing/2014/main" id="{91BD8CEA-23B4-4075-81F8-B433398100CA}"/>
              </a:ext>
            </a:extLst>
          </p:cNvPr>
          <p:cNvSpPr>
            <a:spLocks noGrp="1"/>
          </p:cNvSpPr>
          <p:nvPr>
            <p:ph idx="1"/>
          </p:nvPr>
        </p:nvSpPr>
        <p:spPr/>
        <p:txBody>
          <a:bodyPr>
            <a:normAutofit fontScale="92500"/>
          </a:bodyPr>
          <a:lstStyle/>
          <a:p>
            <a:pPr algn="l"/>
            <a:endParaRPr lang="en-US" sz="2800" b="0" i="0" u="none" strike="noStrike" baseline="0" dirty="0">
              <a:solidFill>
                <a:srgbClr val="000000"/>
              </a:solidFill>
              <a:latin typeface="Arial" panose="020B0604020202020204" pitchFamily="34" charset="0"/>
            </a:endParaRP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Conflicts between different nonfunctional requirements are common in</a:t>
            </a: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complex systems, Spacecraft system</a:t>
            </a: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–To minimize weight, the number of separate chips in the system should be minimized</a:t>
            </a: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–To minimize power consumption, lower power chips should be used</a:t>
            </a:r>
          </a:p>
          <a:p>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–However, using low power chips may mean that more chips have to be used. Which is the most critical requirement? </a:t>
            </a:r>
          </a:p>
          <a:p>
            <a:endParaRPr lang="en-US" sz="3200" dirty="0"/>
          </a:p>
        </p:txBody>
      </p:sp>
      <p:sp>
        <p:nvSpPr>
          <p:cNvPr id="4" name="Slide Number Placeholder 3">
            <a:extLst>
              <a:ext uri="{FF2B5EF4-FFF2-40B4-BE49-F238E27FC236}">
                <a16:creationId xmlns:a16="http://schemas.microsoft.com/office/drawing/2014/main" id="{5200D70A-EB02-42F1-A601-3C7A6C490CF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8856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C0B2E1-0268-42EC-ABD3-94F81A05BCB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D2256B4-48EA-40FC-BBC0-AA1EE6E008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3D44BCCA-102D-4A9D-B1E4-2450CAF0B05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8C6E698C-8155-4B8B-BDC9-B7299772B5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0CCB71-9EF3-451D-8D7F-8AB04D9914C6}"/>
              </a:ext>
            </a:extLst>
          </p:cNvPr>
          <p:cNvSpPr>
            <a:spLocks noGrp="1"/>
          </p:cNvSpPr>
          <p:nvPr>
            <p:ph type="title"/>
          </p:nvPr>
        </p:nvSpPr>
        <p:spPr>
          <a:xfrm>
            <a:off x="5220928" y="965200"/>
            <a:ext cx="5999002" cy="4927600"/>
          </a:xfrm>
        </p:spPr>
        <p:txBody>
          <a:bodyPr vert="horz" lIns="91440" tIns="45720" rIns="91440" bIns="45720" rtlCol="0" anchor="ctr">
            <a:normAutofit/>
          </a:bodyPr>
          <a:lstStyle/>
          <a:p>
            <a:r>
              <a:rPr lang="en-US" sz="8000">
                <a:solidFill>
                  <a:schemeClr val="tx2"/>
                </a:solidFill>
              </a:rPr>
              <a:t>Requirement Document </a:t>
            </a:r>
          </a:p>
        </p:txBody>
      </p:sp>
      <p:sp>
        <p:nvSpPr>
          <p:cNvPr id="17" name="Rectangle 16">
            <a:extLst>
              <a:ext uri="{FF2B5EF4-FFF2-40B4-BE49-F238E27FC236}">
                <a16:creationId xmlns:a16="http://schemas.microsoft.com/office/drawing/2014/main" id="{0EEF5601-A8BC-411D-AA64-3E79320BA1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33209156-242F-4B26-8D07-CEB2B68A9F9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AA4FC8D5-F8D8-4284-9A3E-1743D8918E65}"/>
              </a:ext>
            </a:extLst>
          </p:cNvPr>
          <p:cNvSpPr>
            <a:spLocks noGrp="1"/>
          </p:cNvSpPr>
          <p:nvPr>
            <p:ph type="sldNum" sz="quarter" idx="12"/>
          </p:nvPr>
        </p:nvSpPr>
        <p:spPr>
          <a:xfrm>
            <a:off x="10383078" y="6459785"/>
            <a:ext cx="829405" cy="365125"/>
          </a:xfrm>
        </p:spPr>
        <p:txBody>
          <a:bodyPr vert="horz" lIns="91440" tIns="45720" rIns="91440" bIns="45720" rtlCol="0" anchor="ct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19</a:t>
            </a:fld>
            <a:endPar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15644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5993E2-C02B-4335-ABA5-D8EC465551E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0B801A2-5622-4BE8-9AD2-C337A2CD00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F88FF72-636D-4741-99B0-23B57A03970E}"/>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The software requirements document</a:t>
            </a:r>
          </a:p>
        </p:txBody>
      </p:sp>
      <p:sp>
        <p:nvSpPr>
          <p:cNvPr id="14" name="Rectangle 13">
            <a:extLst>
              <a:ext uri="{FF2B5EF4-FFF2-40B4-BE49-F238E27FC236}">
                <a16:creationId xmlns:a16="http://schemas.microsoft.com/office/drawing/2014/main" id="{B7AF614F-5BC3-4086-99F5-B87C5847A07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D8FED37C-8B97-4ADB-A721-AD34F0CC1A91}"/>
              </a:ext>
            </a:extLst>
          </p:cNvPr>
          <p:cNvSpPr>
            <a:spLocks noGrp="1"/>
          </p:cNvSpPr>
          <p:nvPr>
            <p:ph type="sldNum" sz="quarter" idx="12"/>
          </p:nvPr>
        </p:nvSpPr>
        <p:spPr>
          <a:xfrm>
            <a:off x="10123055" y="6459785"/>
            <a:ext cx="1089428" cy="365125"/>
          </a:xfrm>
        </p:spPr>
        <p:txBody>
          <a:bodyP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20</a:t>
            </a:fld>
            <a:endPar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46933752-083A-45D9-B8B6-70B59C5E020E}"/>
              </a:ext>
            </a:extLst>
          </p:cNvPr>
          <p:cNvGraphicFramePr>
            <a:graphicFrameLocks noGrp="1"/>
          </p:cNvGraphicFramePr>
          <p:nvPr>
            <p:ph idx="1"/>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06587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C43C-0EAD-4441-B273-E4E385A868A2}"/>
              </a:ext>
            </a:extLst>
          </p:cNvPr>
          <p:cNvSpPr>
            <a:spLocks noGrp="1"/>
          </p:cNvSpPr>
          <p:nvPr>
            <p:ph type="title"/>
          </p:nvPr>
        </p:nvSpPr>
        <p:spPr/>
        <p:txBody>
          <a:bodyPr/>
          <a:lstStyle/>
          <a:p>
            <a:r>
              <a:rPr lang="en-US" dirty="0"/>
              <a:t>Requirements and design</a:t>
            </a:r>
          </a:p>
        </p:txBody>
      </p:sp>
      <p:sp>
        <p:nvSpPr>
          <p:cNvPr id="3" name="Content Placeholder 2">
            <a:extLst>
              <a:ext uri="{FF2B5EF4-FFF2-40B4-BE49-F238E27FC236}">
                <a16:creationId xmlns:a16="http://schemas.microsoft.com/office/drawing/2014/main" id="{E62B2F2F-552B-4491-BDDB-AD5E6486731D}"/>
              </a:ext>
            </a:extLst>
          </p:cNvPr>
          <p:cNvSpPr>
            <a:spLocks noGrp="1"/>
          </p:cNvSpPr>
          <p:nvPr>
            <p:ph idx="1"/>
          </p:nvPr>
        </p:nvSpPr>
        <p:spPr/>
        <p:txBody>
          <a:bodyPr>
            <a:normAutofit/>
          </a:bodyPr>
          <a:lstStyle/>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In principle, requirements should state </a:t>
            </a:r>
            <a:r>
              <a:rPr lang="en-US" sz="2400" b="0" i="0" u="none" strike="noStrike" baseline="0" dirty="0">
                <a:solidFill>
                  <a:srgbClr val="FF0000"/>
                </a:solidFill>
                <a:latin typeface="Arial" panose="020B0604020202020204" pitchFamily="34" charset="0"/>
              </a:rPr>
              <a:t>what</a:t>
            </a:r>
            <a:r>
              <a:rPr lang="en-US" sz="2400" b="0" i="0" u="none" strike="noStrike" baseline="0" dirty="0">
                <a:solidFill>
                  <a:srgbClr val="000000"/>
                </a:solidFill>
                <a:latin typeface="Arial" panose="020B0604020202020204" pitchFamily="34" charset="0"/>
              </a:rPr>
              <a:t> the system should do and the design should describe </a:t>
            </a:r>
            <a:r>
              <a:rPr lang="en-US" sz="2400" b="0" i="0" u="none" strike="noStrike" baseline="0" dirty="0">
                <a:solidFill>
                  <a:srgbClr val="FF0000"/>
                </a:solidFill>
                <a:latin typeface="Arial" panose="020B0604020202020204" pitchFamily="34" charset="0"/>
              </a:rPr>
              <a:t>how</a:t>
            </a:r>
            <a:r>
              <a:rPr lang="en-US" sz="2400" b="0" i="0" u="none" strike="noStrike" baseline="0" dirty="0">
                <a:solidFill>
                  <a:srgbClr val="000000"/>
                </a:solidFill>
                <a:latin typeface="Arial" panose="020B0604020202020204" pitchFamily="34" charset="0"/>
              </a:rPr>
              <a:t> it does this.</a:t>
            </a: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In practice, requirements and design are inseparable</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A system architecture may be designed to structure the requirements;</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The system may inter-operate with other systems that generate design requirements;</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The use of a specific architecture to satisfy non-functional requirements may be a domain requirement.</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This may be the consequence of a regulatory requirement.</a:t>
            </a:r>
          </a:p>
        </p:txBody>
      </p:sp>
      <p:sp>
        <p:nvSpPr>
          <p:cNvPr id="4" name="Slide Number Placeholder 3">
            <a:extLst>
              <a:ext uri="{FF2B5EF4-FFF2-40B4-BE49-F238E27FC236}">
                <a16:creationId xmlns:a16="http://schemas.microsoft.com/office/drawing/2014/main" id="{BD155C61-81AB-4886-AF8B-A0C8A873697F}"/>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753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3FB8-3632-4625-8411-AD0845902B66}"/>
              </a:ext>
            </a:extLst>
          </p:cNvPr>
          <p:cNvSpPr>
            <a:spLocks noGrp="1"/>
          </p:cNvSpPr>
          <p:nvPr>
            <p:ph type="title"/>
          </p:nvPr>
        </p:nvSpPr>
        <p:spPr/>
        <p:txBody>
          <a:bodyPr/>
          <a:lstStyle/>
          <a:p>
            <a:r>
              <a:rPr lang="en-US" dirty="0"/>
              <a:t>Agile methods and requirements</a:t>
            </a:r>
          </a:p>
        </p:txBody>
      </p:sp>
      <p:sp>
        <p:nvSpPr>
          <p:cNvPr id="3" name="Content Placeholder 2">
            <a:extLst>
              <a:ext uri="{FF2B5EF4-FFF2-40B4-BE49-F238E27FC236}">
                <a16:creationId xmlns:a16="http://schemas.microsoft.com/office/drawing/2014/main" id="{B5A02BDC-B0FB-44C6-8638-17950948037A}"/>
              </a:ext>
            </a:extLst>
          </p:cNvPr>
          <p:cNvSpPr>
            <a:spLocks noGrp="1"/>
          </p:cNvSpPr>
          <p:nvPr>
            <p:ph idx="1"/>
          </p:nvPr>
        </p:nvSpPr>
        <p:spPr/>
        <p:txBody>
          <a:bodyPr>
            <a:normAutofit/>
          </a:bodyPr>
          <a:lstStyle/>
          <a:p>
            <a:pPr algn="just"/>
            <a:r>
              <a:rPr lang="en-US" sz="2800" dirty="0"/>
              <a:t>Many agile methods argue that producing a </a:t>
            </a:r>
            <a:r>
              <a:rPr lang="en-US" sz="2800" b="1" dirty="0"/>
              <a:t>requirements document is a waste of time </a:t>
            </a:r>
            <a:r>
              <a:rPr lang="en-US" sz="2800" dirty="0"/>
              <a:t>as requirements change so quickly</a:t>
            </a:r>
          </a:p>
          <a:p>
            <a:pPr algn="just"/>
            <a:r>
              <a:rPr lang="en-US" sz="2800" dirty="0"/>
              <a:t>The document is therefore always out of date</a:t>
            </a:r>
          </a:p>
          <a:p>
            <a:pPr algn="just"/>
            <a:r>
              <a:rPr lang="en-US" sz="2800" dirty="0"/>
              <a:t>Methods such as XP use incremental requirements engineering and express requirements as ‘ user stories ’ (discussed in Chapter)</a:t>
            </a:r>
          </a:p>
          <a:p>
            <a:pPr algn="just"/>
            <a:r>
              <a:rPr lang="en-US" sz="2800" dirty="0"/>
              <a:t>This is practical for business systems but problematic for systems that require a lot of pre delivery analysis (e.g. critical systems) or systems developed by several teams</a:t>
            </a:r>
          </a:p>
        </p:txBody>
      </p:sp>
      <p:sp>
        <p:nvSpPr>
          <p:cNvPr id="4" name="Slide Number Placeholder 3">
            <a:extLst>
              <a:ext uri="{FF2B5EF4-FFF2-40B4-BE49-F238E27FC236}">
                <a16:creationId xmlns:a16="http://schemas.microsoft.com/office/drawing/2014/main" id="{2F11B429-8017-4407-A284-00222F5C7DF1}"/>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0942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FA4CD5CB-D209-4D70-8CA4-629731C592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BC57DA-1A0F-4142-973E-BC7A2AD562F8}"/>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4600">
                <a:solidFill>
                  <a:schemeClr val="tx1">
                    <a:lumMod val="85000"/>
                    <a:lumOff val="15000"/>
                  </a:schemeClr>
                </a:solidFill>
              </a:rPr>
              <a:t>Users of a requirements document</a:t>
            </a:r>
          </a:p>
        </p:txBody>
      </p:sp>
      <p:pic>
        <p:nvPicPr>
          <p:cNvPr id="6" name="Content Placeholder 5">
            <a:extLst>
              <a:ext uri="{FF2B5EF4-FFF2-40B4-BE49-F238E27FC236}">
                <a16:creationId xmlns:a16="http://schemas.microsoft.com/office/drawing/2014/main" id="{D5092054-FB94-4299-A5C9-29AEA0B3F9BB}"/>
              </a:ext>
            </a:extLst>
          </p:cNvPr>
          <p:cNvPicPr>
            <a:picLocks noGrp="1" noChangeAspect="1"/>
          </p:cNvPicPr>
          <p:nvPr>
            <p:ph idx="1"/>
          </p:nvPr>
        </p:nvPicPr>
        <p:blipFill>
          <a:blip r:embed="rId3"/>
          <a:stretch>
            <a:fillRect/>
          </a:stretch>
        </p:blipFill>
        <p:spPr>
          <a:xfrm>
            <a:off x="1630017" y="103566"/>
            <a:ext cx="4903305" cy="6148345"/>
          </a:xfrm>
          <a:prstGeom prst="rect">
            <a:avLst/>
          </a:prstGeom>
        </p:spPr>
      </p:pic>
      <p:cxnSp>
        <p:nvCxnSpPr>
          <p:cNvPr id="19" name="Straight Connector 18">
            <a:extLst>
              <a:ext uri="{FF2B5EF4-FFF2-40B4-BE49-F238E27FC236}">
                <a16:creationId xmlns:a16="http://schemas.microsoft.com/office/drawing/2014/main" id="{5C6A2BAE-B461-4B55-8E1F-0722ABDD139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4C27B90-DF2B-4D00-BA07-18ED774CD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593ACC25-C262-417A-8AA9-0641C772BDB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50FD34E7-C584-4533-8639-F76D771EF7D4}"/>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90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79CEC-470D-4201-99A7-2477AF068842}"/>
              </a:ext>
            </a:extLst>
          </p:cNvPr>
          <p:cNvSpPr>
            <a:spLocks noGrp="1"/>
          </p:cNvSpPr>
          <p:nvPr>
            <p:ph type="title"/>
          </p:nvPr>
        </p:nvSpPr>
        <p:spPr/>
        <p:txBody>
          <a:bodyPr/>
          <a:lstStyle/>
          <a:p>
            <a:r>
              <a:rPr lang="en-US" dirty="0"/>
              <a:t>The structure of a requirements</a:t>
            </a:r>
            <a:br>
              <a:rPr lang="en-US" dirty="0"/>
            </a:br>
            <a:r>
              <a:rPr lang="en-US" dirty="0"/>
              <a:t>document</a:t>
            </a:r>
          </a:p>
        </p:txBody>
      </p:sp>
      <p:pic>
        <p:nvPicPr>
          <p:cNvPr id="6" name="Content Placeholder 5">
            <a:extLst>
              <a:ext uri="{FF2B5EF4-FFF2-40B4-BE49-F238E27FC236}">
                <a16:creationId xmlns:a16="http://schemas.microsoft.com/office/drawing/2014/main" id="{312D91D4-28E6-4D8B-BEF3-DBEF893A3B30}"/>
              </a:ext>
            </a:extLst>
          </p:cNvPr>
          <p:cNvPicPr>
            <a:picLocks noGrp="1" noChangeAspect="1"/>
          </p:cNvPicPr>
          <p:nvPr>
            <p:ph idx="1"/>
          </p:nvPr>
        </p:nvPicPr>
        <p:blipFill>
          <a:blip r:embed="rId2"/>
          <a:stretch>
            <a:fillRect/>
          </a:stretch>
        </p:blipFill>
        <p:spPr>
          <a:xfrm>
            <a:off x="2204678" y="1874312"/>
            <a:ext cx="7782644" cy="4448520"/>
          </a:xfrm>
        </p:spPr>
      </p:pic>
      <p:sp>
        <p:nvSpPr>
          <p:cNvPr id="4" name="Slide Number Placeholder 3">
            <a:extLst>
              <a:ext uri="{FF2B5EF4-FFF2-40B4-BE49-F238E27FC236}">
                <a16:creationId xmlns:a16="http://schemas.microsoft.com/office/drawing/2014/main" id="{28100930-E7C1-4C8E-BAAB-1C4666B4DE6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6210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E5754-AE2F-48F9-A54C-CF86C430F1FB}"/>
              </a:ext>
            </a:extLst>
          </p:cNvPr>
          <p:cNvSpPr>
            <a:spLocks noGrp="1"/>
          </p:cNvSpPr>
          <p:nvPr>
            <p:ph type="title"/>
          </p:nvPr>
        </p:nvSpPr>
        <p:spPr/>
        <p:txBody>
          <a:bodyPr/>
          <a:lstStyle/>
          <a:p>
            <a:r>
              <a:rPr lang="en-US" dirty="0"/>
              <a:t>The structure of a requirements</a:t>
            </a:r>
            <a:br>
              <a:rPr lang="en-US" dirty="0"/>
            </a:br>
            <a:r>
              <a:rPr lang="en-US" dirty="0"/>
              <a:t>document</a:t>
            </a:r>
          </a:p>
        </p:txBody>
      </p:sp>
      <p:pic>
        <p:nvPicPr>
          <p:cNvPr id="6" name="Content Placeholder 5">
            <a:extLst>
              <a:ext uri="{FF2B5EF4-FFF2-40B4-BE49-F238E27FC236}">
                <a16:creationId xmlns:a16="http://schemas.microsoft.com/office/drawing/2014/main" id="{9B7519F5-1B41-4627-A5B1-DBD3BE5C77BF}"/>
              </a:ext>
            </a:extLst>
          </p:cNvPr>
          <p:cNvPicPr>
            <a:picLocks noGrp="1" noChangeAspect="1"/>
          </p:cNvPicPr>
          <p:nvPr>
            <p:ph idx="1"/>
          </p:nvPr>
        </p:nvPicPr>
        <p:blipFill>
          <a:blip r:embed="rId2"/>
          <a:stretch>
            <a:fillRect/>
          </a:stretch>
        </p:blipFill>
        <p:spPr>
          <a:xfrm>
            <a:off x="2224115" y="1874312"/>
            <a:ext cx="7804729" cy="4448520"/>
          </a:xfrm>
        </p:spPr>
      </p:pic>
      <p:sp>
        <p:nvSpPr>
          <p:cNvPr id="4" name="Slide Number Placeholder 3">
            <a:extLst>
              <a:ext uri="{FF2B5EF4-FFF2-40B4-BE49-F238E27FC236}">
                <a16:creationId xmlns:a16="http://schemas.microsoft.com/office/drawing/2014/main" id="{2375DDD7-F480-41E4-A496-CD888672ED7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1023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1B58E-3B65-4A01-A276-975AB2CF8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AAC67C3-831B-4AB1-A259-DFB839CAFA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EFFB5BC-30E3-4F9D-8F20-EB7A278938F8}"/>
              </a:ext>
            </a:extLst>
          </p:cNvPr>
          <p:cNvSpPr>
            <a:spLocks noGrp="1"/>
          </p:cNvSpPr>
          <p:nvPr>
            <p:ph type="title"/>
          </p:nvPr>
        </p:nvSpPr>
        <p:spPr>
          <a:xfrm>
            <a:off x="492370" y="605896"/>
            <a:ext cx="3084844" cy="5646208"/>
          </a:xfrm>
        </p:spPr>
        <p:txBody>
          <a:bodyPr anchor="ctr">
            <a:normAutofit/>
          </a:bodyPr>
          <a:lstStyle/>
          <a:p>
            <a:r>
              <a:rPr lang="en-US" sz="3600" dirty="0">
                <a:solidFill>
                  <a:srgbClr val="FFFFFF"/>
                </a:solidFill>
              </a:rPr>
              <a:t>Requirement's specification</a:t>
            </a:r>
          </a:p>
        </p:txBody>
      </p:sp>
      <p:sp>
        <p:nvSpPr>
          <p:cNvPr id="13" name="Rectangle 12">
            <a:extLst>
              <a:ext uri="{FF2B5EF4-FFF2-40B4-BE49-F238E27FC236}">
                <a16:creationId xmlns:a16="http://schemas.microsoft.com/office/drawing/2014/main" id="{054B3F04-9EAC-45C0-B3CE-0387EEA10A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B495087-FEC0-49CA-825F-62D864534F1B}"/>
              </a:ext>
            </a:extLst>
          </p:cNvPr>
          <p:cNvSpPr>
            <a:spLocks noGrp="1"/>
          </p:cNvSpPr>
          <p:nvPr>
            <p:ph idx="1"/>
          </p:nvPr>
        </p:nvSpPr>
        <p:spPr>
          <a:xfrm>
            <a:off x="4742016" y="605896"/>
            <a:ext cx="6413663" cy="5646208"/>
          </a:xfrm>
        </p:spPr>
        <p:txBody>
          <a:bodyPr anchor="ctr">
            <a:normAutofit/>
          </a:bodyPr>
          <a:lstStyle/>
          <a:p>
            <a:pPr>
              <a:buFont typeface="Wingdings" panose="05000000000000000000" pitchFamily="2" charset="2"/>
              <a:buChar char="q"/>
            </a:pPr>
            <a:r>
              <a:rPr lang="en-US" dirty="0"/>
              <a:t>The process of writing down the user and system requirements in a requirements document</a:t>
            </a:r>
          </a:p>
          <a:p>
            <a:pPr>
              <a:buFont typeface="Wingdings" panose="05000000000000000000" pitchFamily="2" charset="2"/>
              <a:buChar char="q"/>
            </a:pPr>
            <a:r>
              <a:rPr lang="en-US" b="1" dirty="0"/>
              <a:t>User requirements </a:t>
            </a:r>
            <a:r>
              <a:rPr lang="en-US" dirty="0"/>
              <a:t>have to be understandable by end users and customers who do not have a technical background</a:t>
            </a:r>
          </a:p>
          <a:p>
            <a:pPr>
              <a:buFont typeface="Wingdings" panose="05000000000000000000" pitchFamily="2" charset="2"/>
              <a:buChar char="q"/>
            </a:pPr>
            <a:r>
              <a:rPr lang="en-US" b="1" dirty="0"/>
              <a:t>System requirements </a:t>
            </a:r>
            <a:r>
              <a:rPr lang="en-US" dirty="0"/>
              <a:t>are more detailed requirements and may include more technical information</a:t>
            </a:r>
          </a:p>
          <a:p>
            <a:pPr>
              <a:buFont typeface="Wingdings" panose="05000000000000000000" pitchFamily="2" charset="2"/>
              <a:buChar char="q"/>
            </a:pPr>
            <a:r>
              <a:rPr lang="en-US" dirty="0"/>
              <a:t>The requirements may be part of a contract for the system development</a:t>
            </a:r>
          </a:p>
          <a:p>
            <a:pPr>
              <a:buFont typeface="Wingdings" panose="05000000000000000000" pitchFamily="2" charset="2"/>
              <a:buChar char="q"/>
            </a:pPr>
            <a:r>
              <a:rPr lang="en-US" dirty="0"/>
              <a:t>It is therefore important that these are as complete as possible</a:t>
            </a:r>
          </a:p>
        </p:txBody>
      </p:sp>
      <p:sp>
        <p:nvSpPr>
          <p:cNvPr id="4" name="Slide Number Placeholder 3">
            <a:extLst>
              <a:ext uri="{FF2B5EF4-FFF2-40B4-BE49-F238E27FC236}">
                <a16:creationId xmlns:a16="http://schemas.microsoft.com/office/drawing/2014/main" id="{D3B2BD68-4815-4719-80B7-4C2031DCCA15}"/>
              </a:ext>
            </a:extLst>
          </p:cNvPr>
          <p:cNvSpPr>
            <a:spLocks noGrp="1"/>
          </p:cNvSpPr>
          <p:nvPr>
            <p:ph type="sldNum" sz="quarter" idx="12"/>
          </p:nvPr>
        </p:nvSpPr>
        <p:spPr>
          <a:xfrm>
            <a:off x="10123055" y="6459785"/>
            <a:ext cx="1089428" cy="365125"/>
          </a:xfrm>
        </p:spPr>
        <p:txBody>
          <a:bodyP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26</a:t>
            </a:fld>
            <a:endParaRPr kumimoji="0" lang="en-US" sz="1050" b="0" i="0" u="none" strike="noStrike" kern="1200" cap="none" spc="0" normalizeH="0" baseline="0" noProof="0">
              <a:ln>
                <a:noFill/>
              </a:ln>
              <a:solidFill>
                <a:srgbClr val="63705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367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FA4CD5CB-D209-4D70-8CA4-629731C592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C31BE6-F212-457F-940F-E9FAD8ECC9D8}"/>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4600">
                <a:solidFill>
                  <a:schemeClr val="tx1">
                    <a:lumMod val="85000"/>
                    <a:lumOff val="15000"/>
                  </a:schemeClr>
                </a:solidFill>
              </a:rPr>
              <a:t>Ways of writing a system requirements</a:t>
            </a:r>
            <a:br>
              <a:rPr lang="en-US" sz="4600">
                <a:solidFill>
                  <a:schemeClr val="tx1">
                    <a:lumMod val="85000"/>
                    <a:lumOff val="15000"/>
                  </a:schemeClr>
                </a:solidFill>
              </a:rPr>
            </a:br>
            <a:r>
              <a:rPr lang="en-US" sz="4600">
                <a:solidFill>
                  <a:schemeClr val="tx1">
                    <a:lumMod val="85000"/>
                    <a:lumOff val="15000"/>
                  </a:schemeClr>
                </a:solidFill>
              </a:rPr>
              <a:t>specification</a:t>
            </a:r>
          </a:p>
        </p:txBody>
      </p:sp>
      <p:pic>
        <p:nvPicPr>
          <p:cNvPr id="6" name="Content Placeholder 5">
            <a:extLst>
              <a:ext uri="{FF2B5EF4-FFF2-40B4-BE49-F238E27FC236}">
                <a16:creationId xmlns:a16="http://schemas.microsoft.com/office/drawing/2014/main" id="{547387B3-5CD4-4C3C-9245-9AD72494AC4E}"/>
              </a:ext>
            </a:extLst>
          </p:cNvPr>
          <p:cNvPicPr>
            <a:picLocks noGrp="1" noChangeAspect="1"/>
          </p:cNvPicPr>
          <p:nvPr>
            <p:ph idx="1"/>
          </p:nvPr>
        </p:nvPicPr>
        <p:blipFill>
          <a:blip r:embed="rId3"/>
          <a:stretch>
            <a:fillRect/>
          </a:stretch>
        </p:blipFill>
        <p:spPr>
          <a:xfrm>
            <a:off x="37617" y="1076213"/>
            <a:ext cx="7508599" cy="4542702"/>
          </a:xfrm>
          <a:prstGeom prst="rect">
            <a:avLst/>
          </a:prstGeom>
        </p:spPr>
      </p:pic>
      <p:cxnSp>
        <p:nvCxnSpPr>
          <p:cNvPr id="19" name="Straight Connector 18">
            <a:extLst>
              <a:ext uri="{FF2B5EF4-FFF2-40B4-BE49-F238E27FC236}">
                <a16:creationId xmlns:a16="http://schemas.microsoft.com/office/drawing/2014/main" id="{5C6A2BAE-B461-4B55-8E1F-0722ABDD139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4C27B90-DF2B-4D00-BA07-18ED774CD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593ACC25-C262-417A-8AA9-0641C772BDB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E4ABE8C3-D4E3-4779-8CC4-A97FCC0757AC}"/>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27</a:t>
            </a:fld>
            <a:endPar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8155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17F7-34F6-4F23-929A-363F2AD734FD}"/>
              </a:ext>
            </a:extLst>
          </p:cNvPr>
          <p:cNvSpPr>
            <a:spLocks noGrp="1"/>
          </p:cNvSpPr>
          <p:nvPr>
            <p:ph type="title"/>
          </p:nvPr>
        </p:nvSpPr>
        <p:spPr/>
        <p:txBody>
          <a:bodyPr/>
          <a:lstStyle/>
          <a:p>
            <a:r>
              <a:rPr lang="en-US" dirty="0"/>
              <a:t>Natural language specification</a:t>
            </a:r>
          </a:p>
        </p:txBody>
      </p:sp>
      <p:sp>
        <p:nvSpPr>
          <p:cNvPr id="3" name="Content Placeholder 2">
            <a:extLst>
              <a:ext uri="{FF2B5EF4-FFF2-40B4-BE49-F238E27FC236}">
                <a16:creationId xmlns:a16="http://schemas.microsoft.com/office/drawing/2014/main" id="{CFA08ED0-E884-4B7D-AA83-F74D1D3D1447}"/>
              </a:ext>
            </a:extLst>
          </p:cNvPr>
          <p:cNvSpPr>
            <a:spLocks noGrp="1"/>
          </p:cNvSpPr>
          <p:nvPr>
            <p:ph idx="1"/>
          </p:nvPr>
        </p:nvSpPr>
        <p:spPr/>
        <p:txBody>
          <a:bodyPr>
            <a:normAutofit/>
          </a:bodyPr>
          <a:lstStyle/>
          <a:p>
            <a:pPr marL="0" indent="0">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Requirements are written as natural language sentences supplemented by diagrams and tables</a:t>
            </a:r>
          </a:p>
          <a:p>
            <a:pPr marL="0" indent="0">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Used for writing requirements because it is expressive, intuitive and universal. This means that the requirements  can be understood by users and customers.</a:t>
            </a:r>
          </a:p>
          <a:p>
            <a:endParaRPr lang="en-US" sz="3600" dirty="0"/>
          </a:p>
        </p:txBody>
      </p:sp>
      <p:sp>
        <p:nvSpPr>
          <p:cNvPr id="4" name="Slide Number Placeholder 3">
            <a:extLst>
              <a:ext uri="{FF2B5EF4-FFF2-40B4-BE49-F238E27FC236}">
                <a16:creationId xmlns:a16="http://schemas.microsoft.com/office/drawing/2014/main" id="{5A046B7C-771B-4734-8391-C0D7D8892CB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4980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D631A-3A2F-4ADA-900F-5449CCFB4251}"/>
              </a:ext>
            </a:extLst>
          </p:cNvPr>
          <p:cNvSpPr>
            <a:spLocks noGrp="1"/>
          </p:cNvSpPr>
          <p:nvPr>
            <p:ph type="title"/>
          </p:nvPr>
        </p:nvSpPr>
        <p:spPr/>
        <p:txBody>
          <a:bodyPr/>
          <a:lstStyle/>
          <a:p>
            <a:r>
              <a:rPr lang="en-US" dirty="0"/>
              <a:t>Guidelines for writing requirements</a:t>
            </a:r>
          </a:p>
        </p:txBody>
      </p:sp>
      <p:sp>
        <p:nvSpPr>
          <p:cNvPr id="3" name="Content Placeholder 2">
            <a:extLst>
              <a:ext uri="{FF2B5EF4-FFF2-40B4-BE49-F238E27FC236}">
                <a16:creationId xmlns:a16="http://schemas.microsoft.com/office/drawing/2014/main" id="{D78A6458-C529-45B6-A988-4412E013D2EA}"/>
              </a:ext>
            </a:extLst>
          </p:cNvPr>
          <p:cNvSpPr>
            <a:spLocks noGrp="1"/>
          </p:cNvSpPr>
          <p:nvPr>
            <p:ph idx="1"/>
          </p:nvPr>
        </p:nvSpPr>
        <p:spPr/>
        <p:txBody>
          <a:bodyPr>
            <a:normAutofit/>
          </a:bodyPr>
          <a:lstStyle/>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Create a standard format and use it for all requirements</a:t>
            </a: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Use language in a consistent way. Use </a:t>
            </a:r>
            <a:r>
              <a:rPr lang="en-US" sz="2400" b="1" i="0" u="sng" strike="noStrike" baseline="0" dirty="0">
                <a:solidFill>
                  <a:srgbClr val="000000"/>
                </a:solidFill>
                <a:latin typeface="Arial" panose="020B0604020202020204" pitchFamily="34" charset="0"/>
              </a:rPr>
              <a:t>shall</a:t>
            </a:r>
            <a:r>
              <a:rPr lang="en-US" sz="2400" b="0" i="0" u="none" strike="noStrike" baseline="0" dirty="0">
                <a:solidFill>
                  <a:srgbClr val="000000"/>
                </a:solidFill>
                <a:latin typeface="Arial" panose="020B0604020202020204" pitchFamily="34" charset="0"/>
              </a:rPr>
              <a:t> for mandatory requirements, </a:t>
            </a:r>
            <a:r>
              <a:rPr lang="en-US" sz="2400" b="1" i="0" u="sng" strike="noStrike" baseline="0" dirty="0">
                <a:solidFill>
                  <a:srgbClr val="000000"/>
                </a:solidFill>
                <a:latin typeface="Arial" panose="020B0604020202020204" pitchFamily="34" charset="0"/>
              </a:rPr>
              <a:t>should</a:t>
            </a:r>
            <a:r>
              <a:rPr lang="en-US" sz="2400" b="0" i="0" u="none" strike="noStrike" baseline="0" dirty="0">
                <a:solidFill>
                  <a:srgbClr val="000000"/>
                </a:solidFill>
                <a:latin typeface="Arial" panose="020B0604020202020204" pitchFamily="34" charset="0"/>
              </a:rPr>
              <a:t> for desirable requirements.</a:t>
            </a: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Use text highlighting to identify key parts of the requirement</a:t>
            </a: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Avoid the use of computer jargon</a:t>
            </a: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Include an explanation (rationale) of why a requirement is necessary</a:t>
            </a:r>
          </a:p>
          <a:p>
            <a:endParaRPr lang="en-US" sz="2800" dirty="0"/>
          </a:p>
        </p:txBody>
      </p:sp>
      <p:sp>
        <p:nvSpPr>
          <p:cNvPr id="4" name="Slide Number Placeholder 3">
            <a:extLst>
              <a:ext uri="{FF2B5EF4-FFF2-40B4-BE49-F238E27FC236}">
                <a16:creationId xmlns:a16="http://schemas.microsoft.com/office/drawing/2014/main" id="{02B16C48-483E-431B-B882-2EBF86A401D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2733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F1C7-C144-4575-AD50-0853FB02FD21}"/>
              </a:ext>
            </a:extLst>
          </p:cNvPr>
          <p:cNvSpPr>
            <a:spLocks noGrp="1"/>
          </p:cNvSpPr>
          <p:nvPr>
            <p:ph type="title"/>
          </p:nvPr>
        </p:nvSpPr>
        <p:spPr/>
        <p:txBody>
          <a:bodyPr/>
          <a:lstStyle/>
          <a:p>
            <a:r>
              <a:rPr lang="en-US" dirty="0"/>
              <a:t>Problems with natural language</a:t>
            </a:r>
          </a:p>
        </p:txBody>
      </p:sp>
      <p:sp>
        <p:nvSpPr>
          <p:cNvPr id="3" name="Content Placeholder 2">
            <a:extLst>
              <a:ext uri="{FF2B5EF4-FFF2-40B4-BE49-F238E27FC236}">
                <a16:creationId xmlns:a16="http://schemas.microsoft.com/office/drawing/2014/main" id="{173C84A0-220C-4767-85E8-681CAA2432D8}"/>
              </a:ext>
            </a:extLst>
          </p:cNvPr>
          <p:cNvSpPr>
            <a:spLocks noGrp="1"/>
          </p:cNvSpPr>
          <p:nvPr>
            <p:ph idx="1"/>
          </p:nvPr>
        </p:nvSpPr>
        <p:spPr/>
        <p:txBody>
          <a:bodyPr>
            <a:normAutofit/>
          </a:bodyPr>
          <a:lstStyle/>
          <a:p>
            <a:pPr marL="0" indent="0">
              <a:buNone/>
            </a:pPr>
            <a:r>
              <a:rPr lang="en-US" sz="2400" b="1" i="0" u="none" strike="noStrike" baseline="0" dirty="0">
                <a:solidFill>
                  <a:srgbClr val="000000"/>
                </a:solidFill>
                <a:latin typeface="Wingdings" panose="05000000000000000000" pitchFamily="2" charset="2"/>
              </a:rPr>
              <a:t></a:t>
            </a:r>
            <a:r>
              <a:rPr lang="en-US" sz="2400" b="1" i="0" u="none" strike="noStrike" baseline="0" dirty="0">
                <a:solidFill>
                  <a:srgbClr val="000000"/>
                </a:solidFill>
                <a:latin typeface="Arial" panose="020B0604020202020204" pitchFamily="34" charset="0"/>
              </a:rPr>
              <a:t>Lack of clarity </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Precision is difficult without making the document difficult to read.</a:t>
            </a:r>
          </a:p>
          <a:p>
            <a:pPr marL="0" indent="0">
              <a:buNone/>
            </a:pPr>
            <a:r>
              <a:rPr lang="en-US" sz="2400" b="1" i="0" u="none" strike="noStrike" baseline="0" dirty="0">
                <a:solidFill>
                  <a:srgbClr val="000000"/>
                </a:solidFill>
                <a:latin typeface="Wingdings" panose="05000000000000000000" pitchFamily="2" charset="2"/>
              </a:rPr>
              <a:t></a:t>
            </a:r>
            <a:r>
              <a:rPr lang="en-US" sz="2400" b="1" i="0" u="none" strike="noStrike" baseline="0" dirty="0">
                <a:solidFill>
                  <a:srgbClr val="000000"/>
                </a:solidFill>
                <a:latin typeface="Arial" panose="020B0604020202020204" pitchFamily="34" charset="0"/>
              </a:rPr>
              <a:t>Requirements confusion</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Functional and non-functional requirements tend to be mixed-up.</a:t>
            </a:r>
          </a:p>
          <a:p>
            <a:pPr marL="0" indent="0">
              <a:buNone/>
            </a:pPr>
            <a:r>
              <a:rPr lang="en-US" sz="2400" b="0" i="0" u="none" strike="noStrike" baseline="0" dirty="0">
                <a:solidFill>
                  <a:srgbClr val="000000"/>
                </a:solidFill>
                <a:latin typeface="Wingdings" panose="05000000000000000000" pitchFamily="2" charset="2"/>
              </a:rPr>
              <a:t></a:t>
            </a:r>
            <a:r>
              <a:rPr lang="en-US" sz="2400" b="1" i="0" u="none" strike="noStrike" baseline="0" dirty="0">
                <a:solidFill>
                  <a:srgbClr val="000000"/>
                </a:solidFill>
                <a:latin typeface="Arial" panose="020B0604020202020204" pitchFamily="34" charset="0"/>
              </a:rPr>
              <a:t>Requirements amalgamation</a:t>
            </a:r>
          </a:p>
          <a:p>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Several different requirements may be expressed together.</a:t>
            </a:r>
          </a:p>
          <a:p>
            <a:endParaRPr lang="en-US" sz="2800" dirty="0"/>
          </a:p>
        </p:txBody>
      </p:sp>
      <p:sp>
        <p:nvSpPr>
          <p:cNvPr id="4" name="Slide Number Placeholder 3">
            <a:extLst>
              <a:ext uri="{FF2B5EF4-FFF2-40B4-BE49-F238E27FC236}">
                <a16:creationId xmlns:a16="http://schemas.microsoft.com/office/drawing/2014/main" id="{C6253C2B-48B0-47BC-8707-410B5B46E53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265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9F3C3-C7BA-470A-BC8A-3080F41644AF}"/>
              </a:ext>
            </a:extLst>
          </p:cNvPr>
          <p:cNvSpPr>
            <a:spLocks noGrp="1"/>
          </p:cNvSpPr>
          <p:nvPr>
            <p:ph type="title"/>
          </p:nvPr>
        </p:nvSpPr>
        <p:spPr/>
        <p:txBody>
          <a:bodyPr/>
          <a:lstStyle/>
          <a:p>
            <a:r>
              <a:rPr lang="en-US" dirty="0"/>
              <a:t>Example requirements for the insulin</a:t>
            </a:r>
            <a:br>
              <a:rPr lang="en-US" dirty="0"/>
            </a:br>
            <a:r>
              <a:rPr lang="en-US" dirty="0"/>
              <a:t>pump software system</a:t>
            </a:r>
          </a:p>
        </p:txBody>
      </p:sp>
      <p:pic>
        <p:nvPicPr>
          <p:cNvPr id="6" name="Content Placeholder 5">
            <a:extLst>
              <a:ext uri="{FF2B5EF4-FFF2-40B4-BE49-F238E27FC236}">
                <a16:creationId xmlns:a16="http://schemas.microsoft.com/office/drawing/2014/main" id="{6F6D51DE-A735-4D80-96A8-8E494562662C}"/>
              </a:ext>
            </a:extLst>
          </p:cNvPr>
          <p:cNvPicPr>
            <a:picLocks noGrp="1" noChangeAspect="1"/>
          </p:cNvPicPr>
          <p:nvPr>
            <p:ph idx="1"/>
          </p:nvPr>
        </p:nvPicPr>
        <p:blipFill>
          <a:blip r:embed="rId2"/>
          <a:stretch>
            <a:fillRect/>
          </a:stretch>
        </p:blipFill>
        <p:spPr>
          <a:xfrm>
            <a:off x="1967884" y="1866459"/>
            <a:ext cx="8256232" cy="4464226"/>
          </a:xfrm>
        </p:spPr>
      </p:pic>
      <p:sp>
        <p:nvSpPr>
          <p:cNvPr id="4" name="Slide Number Placeholder 3">
            <a:extLst>
              <a:ext uri="{FF2B5EF4-FFF2-40B4-BE49-F238E27FC236}">
                <a16:creationId xmlns:a16="http://schemas.microsoft.com/office/drawing/2014/main" id="{06714118-DE9D-4ED6-8142-290A833FB61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2436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D30D6-B36B-4991-A3C3-F57CD0100DEF}"/>
              </a:ext>
            </a:extLst>
          </p:cNvPr>
          <p:cNvSpPr>
            <a:spLocks noGrp="1"/>
          </p:cNvSpPr>
          <p:nvPr>
            <p:ph type="title"/>
          </p:nvPr>
        </p:nvSpPr>
        <p:spPr/>
        <p:txBody>
          <a:bodyPr/>
          <a:lstStyle/>
          <a:p>
            <a:r>
              <a:rPr lang="en-US" dirty="0"/>
              <a:t>Tabular specification</a:t>
            </a:r>
          </a:p>
        </p:txBody>
      </p:sp>
      <p:sp>
        <p:nvSpPr>
          <p:cNvPr id="3" name="Content Placeholder 2">
            <a:extLst>
              <a:ext uri="{FF2B5EF4-FFF2-40B4-BE49-F238E27FC236}">
                <a16:creationId xmlns:a16="http://schemas.microsoft.com/office/drawing/2014/main" id="{859B5CB5-DF3D-4268-BCA2-0CE91F47763F}"/>
              </a:ext>
            </a:extLst>
          </p:cNvPr>
          <p:cNvSpPr>
            <a:spLocks noGrp="1"/>
          </p:cNvSpPr>
          <p:nvPr>
            <p:ph idx="1"/>
          </p:nvPr>
        </p:nvSpPr>
        <p:spPr/>
        <p:txBody>
          <a:bodyPr>
            <a:normAutofit/>
          </a:bodyPr>
          <a:lstStyle/>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Used to supplement natural language</a:t>
            </a:r>
          </a:p>
          <a:p>
            <a:pPr marL="0" indent="0">
              <a:buNone/>
            </a:pPr>
            <a:endParaRPr lang="en-US" sz="2400" b="0" i="0" u="none" strike="noStrike" baseline="0" dirty="0">
              <a:solidFill>
                <a:srgbClr val="000000"/>
              </a:solidFill>
              <a:latin typeface="Wingdings" panose="05000000000000000000" pitchFamily="2" charset="2"/>
            </a:endParaRP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Particularly useful when you have to define a number of possible alternative courses of action</a:t>
            </a:r>
          </a:p>
          <a:p>
            <a:pPr marL="0" indent="0">
              <a:buNone/>
            </a:pPr>
            <a:endParaRPr lang="en-US" sz="2400" b="0" i="0" u="none" strike="noStrike" baseline="0" dirty="0">
              <a:solidFill>
                <a:srgbClr val="000000"/>
              </a:solidFill>
              <a:latin typeface="Wingdings" panose="05000000000000000000" pitchFamily="2" charset="2"/>
            </a:endParaRPr>
          </a:p>
          <a:p>
            <a:pPr marL="0" indent="0">
              <a:buNone/>
            </a:pPr>
            <a:r>
              <a:rPr lang="en-US" sz="2400" b="0" i="0" u="none" strike="noStrike" baseline="0" dirty="0">
                <a:solidFill>
                  <a:srgbClr val="000000"/>
                </a:solidFill>
                <a:latin typeface="Wingdings" panose="05000000000000000000" pitchFamily="2" charset="2"/>
              </a:rPr>
              <a:t></a:t>
            </a:r>
            <a:r>
              <a:rPr lang="en-US" sz="2400" b="0" i="0" u="none" strike="noStrike" baseline="0" dirty="0">
                <a:solidFill>
                  <a:srgbClr val="000000"/>
                </a:solidFill>
                <a:latin typeface="Arial" panose="020B0604020202020204" pitchFamily="34" charset="0"/>
              </a:rPr>
              <a:t>For example, the insulin pump systems bases its computations on the rate of change of blood sugar level and the tabular specification explains how to calculate the insulin requirement for different scenarios</a:t>
            </a:r>
          </a:p>
          <a:p>
            <a:endParaRPr lang="en-US" sz="2800" dirty="0"/>
          </a:p>
        </p:txBody>
      </p:sp>
      <p:sp>
        <p:nvSpPr>
          <p:cNvPr id="4" name="Slide Number Placeholder 3">
            <a:extLst>
              <a:ext uri="{FF2B5EF4-FFF2-40B4-BE49-F238E27FC236}">
                <a16:creationId xmlns:a16="http://schemas.microsoft.com/office/drawing/2014/main" id="{98EEA43F-3DEC-4B3E-873A-39D869EB400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0564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4B9D3-3391-4B63-984B-766612757582}"/>
              </a:ext>
            </a:extLst>
          </p:cNvPr>
          <p:cNvSpPr>
            <a:spLocks noGrp="1"/>
          </p:cNvSpPr>
          <p:nvPr>
            <p:ph type="title"/>
          </p:nvPr>
        </p:nvSpPr>
        <p:spPr/>
        <p:txBody>
          <a:bodyPr/>
          <a:lstStyle/>
          <a:p>
            <a:r>
              <a:rPr lang="en-US" dirty="0"/>
              <a:t>Tabular specification of computation for</a:t>
            </a:r>
            <a:br>
              <a:rPr lang="en-US" dirty="0"/>
            </a:br>
            <a:r>
              <a:rPr lang="en-US" dirty="0"/>
              <a:t>an insulin pump</a:t>
            </a:r>
          </a:p>
        </p:txBody>
      </p:sp>
      <p:pic>
        <p:nvPicPr>
          <p:cNvPr id="6" name="Content Placeholder 5">
            <a:extLst>
              <a:ext uri="{FF2B5EF4-FFF2-40B4-BE49-F238E27FC236}">
                <a16:creationId xmlns:a16="http://schemas.microsoft.com/office/drawing/2014/main" id="{9D3E5790-28FE-431B-B784-F3D78089E7F2}"/>
              </a:ext>
            </a:extLst>
          </p:cNvPr>
          <p:cNvPicPr>
            <a:picLocks noGrp="1" noChangeAspect="1"/>
          </p:cNvPicPr>
          <p:nvPr>
            <p:ph idx="1"/>
          </p:nvPr>
        </p:nvPicPr>
        <p:blipFill>
          <a:blip r:embed="rId2"/>
          <a:stretch>
            <a:fillRect/>
          </a:stretch>
        </p:blipFill>
        <p:spPr>
          <a:xfrm>
            <a:off x="2459882" y="1846263"/>
            <a:ext cx="7332562" cy="4022725"/>
          </a:xfrm>
        </p:spPr>
      </p:pic>
      <p:sp>
        <p:nvSpPr>
          <p:cNvPr id="4" name="Slide Number Placeholder 3">
            <a:extLst>
              <a:ext uri="{FF2B5EF4-FFF2-40B4-BE49-F238E27FC236}">
                <a16:creationId xmlns:a16="http://schemas.microsoft.com/office/drawing/2014/main" id="{A56AB62C-FD4A-405A-BCB5-3128AF5231F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2928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E399-EFE2-49AA-BA59-4B5E869CDA68}"/>
              </a:ext>
            </a:extLst>
          </p:cNvPr>
          <p:cNvSpPr>
            <a:spLocks noGrp="1"/>
          </p:cNvSpPr>
          <p:nvPr>
            <p:ph type="title"/>
          </p:nvPr>
        </p:nvSpPr>
        <p:spPr/>
        <p:txBody>
          <a:bodyPr/>
          <a:lstStyle/>
          <a:p>
            <a:r>
              <a:rPr lang="en-US" dirty="0"/>
              <a:t>Structured specifications</a:t>
            </a:r>
          </a:p>
        </p:txBody>
      </p:sp>
      <p:sp>
        <p:nvSpPr>
          <p:cNvPr id="3" name="Content Placeholder 2">
            <a:extLst>
              <a:ext uri="{FF2B5EF4-FFF2-40B4-BE49-F238E27FC236}">
                <a16:creationId xmlns:a16="http://schemas.microsoft.com/office/drawing/2014/main" id="{72D87F24-1694-4ADC-B0ED-19AD86ADB88B}"/>
              </a:ext>
            </a:extLst>
          </p:cNvPr>
          <p:cNvSpPr>
            <a:spLocks noGrp="1"/>
          </p:cNvSpPr>
          <p:nvPr>
            <p:ph idx="1"/>
          </p:nvPr>
        </p:nvSpPr>
        <p:spPr/>
        <p:txBody>
          <a:bodyPr>
            <a:normAutofit/>
          </a:bodyPr>
          <a:lstStyle/>
          <a:p>
            <a:pPr marL="0" indent="0" algn="just">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An approach to writing requirements where the freedom of the requirements writer is limited and requirements are written in a standard way</a:t>
            </a:r>
          </a:p>
          <a:p>
            <a:pPr algn="just"/>
            <a:endParaRPr lang="en-US" sz="3200" b="0" i="0" u="none" strike="noStrike" baseline="0" dirty="0">
              <a:solidFill>
                <a:srgbClr val="000000"/>
              </a:solidFill>
              <a:latin typeface="Wingdings" panose="05000000000000000000" pitchFamily="2" charset="2"/>
            </a:endParaRPr>
          </a:p>
          <a:p>
            <a:pPr marL="0" indent="0" algn="just">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This works well for some types of requirements, e.g. requirements for embedded control system but is sometimes too rigid for writing business system requirements</a:t>
            </a:r>
          </a:p>
          <a:p>
            <a:pPr algn="just"/>
            <a:endParaRPr lang="en-US" sz="3600" dirty="0"/>
          </a:p>
        </p:txBody>
      </p:sp>
      <p:sp>
        <p:nvSpPr>
          <p:cNvPr id="4" name="Slide Number Placeholder 3">
            <a:extLst>
              <a:ext uri="{FF2B5EF4-FFF2-40B4-BE49-F238E27FC236}">
                <a16:creationId xmlns:a16="http://schemas.microsoft.com/office/drawing/2014/main" id="{279C7AFA-7F6A-462B-BEEC-23B268248B0F}"/>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3127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02C94-4821-4852-A8A1-A1407E26EBCB}"/>
              </a:ext>
            </a:extLst>
          </p:cNvPr>
          <p:cNvSpPr>
            <a:spLocks noGrp="1"/>
          </p:cNvSpPr>
          <p:nvPr>
            <p:ph type="title"/>
          </p:nvPr>
        </p:nvSpPr>
        <p:spPr/>
        <p:txBody>
          <a:bodyPr/>
          <a:lstStyle/>
          <a:p>
            <a:r>
              <a:rPr lang="en-US" dirty="0"/>
              <a:t>A structured specification of a</a:t>
            </a:r>
            <a:br>
              <a:rPr lang="en-US" dirty="0"/>
            </a:br>
            <a:r>
              <a:rPr lang="en-US" dirty="0"/>
              <a:t>requirement for an insulin pump</a:t>
            </a:r>
          </a:p>
        </p:txBody>
      </p:sp>
      <p:pic>
        <p:nvPicPr>
          <p:cNvPr id="6" name="Content Placeholder 5">
            <a:extLst>
              <a:ext uri="{FF2B5EF4-FFF2-40B4-BE49-F238E27FC236}">
                <a16:creationId xmlns:a16="http://schemas.microsoft.com/office/drawing/2014/main" id="{68A30CE7-939D-4205-AB3B-8AFB9EF58CB1}"/>
              </a:ext>
            </a:extLst>
          </p:cNvPr>
          <p:cNvPicPr>
            <a:picLocks noGrp="1" noChangeAspect="1"/>
          </p:cNvPicPr>
          <p:nvPr>
            <p:ph idx="1"/>
          </p:nvPr>
        </p:nvPicPr>
        <p:blipFill>
          <a:blip r:embed="rId2"/>
          <a:stretch>
            <a:fillRect/>
          </a:stretch>
        </p:blipFill>
        <p:spPr>
          <a:xfrm>
            <a:off x="1952598" y="1916819"/>
            <a:ext cx="8286804" cy="4303359"/>
          </a:xfrm>
        </p:spPr>
      </p:pic>
      <p:sp>
        <p:nvSpPr>
          <p:cNvPr id="4" name="Slide Number Placeholder 3">
            <a:extLst>
              <a:ext uri="{FF2B5EF4-FFF2-40B4-BE49-F238E27FC236}">
                <a16:creationId xmlns:a16="http://schemas.microsoft.com/office/drawing/2014/main" id="{50C05539-6799-45E1-92EB-FEDEC6AB946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318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6A7F-C418-4AB4-A789-E7CF5A38102B}"/>
              </a:ext>
            </a:extLst>
          </p:cNvPr>
          <p:cNvSpPr>
            <a:spLocks noGrp="1"/>
          </p:cNvSpPr>
          <p:nvPr>
            <p:ph type="title"/>
          </p:nvPr>
        </p:nvSpPr>
        <p:spPr/>
        <p:txBody>
          <a:bodyPr/>
          <a:lstStyle/>
          <a:p>
            <a:r>
              <a:rPr lang="en-US" dirty="0"/>
              <a:t>A structured specification of a</a:t>
            </a:r>
            <a:br>
              <a:rPr lang="en-US" dirty="0"/>
            </a:br>
            <a:r>
              <a:rPr lang="en-US" dirty="0"/>
              <a:t>requirement for an insulin pump</a:t>
            </a:r>
          </a:p>
        </p:txBody>
      </p:sp>
      <p:pic>
        <p:nvPicPr>
          <p:cNvPr id="6" name="Content Placeholder 5">
            <a:extLst>
              <a:ext uri="{FF2B5EF4-FFF2-40B4-BE49-F238E27FC236}">
                <a16:creationId xmlns:a16="http://schemas.microsoft.com/office/drawing/2014/main" id="{C2AD5745-EB03-4639-8B3B-7D22DC3EF611}"/>
              </a:ext>
            </a:extLst>
          </p:cNvPr>
          <p:cNvPicPr>
            <a:picLocks noGrp="1" noChangeAspect="1"/>
          </p:cNvPicPr>
          <p:nvPr>
            <p:ph idx="1"/>
          </p:nvPr>
        </p:nvPicPr>
        <p:blipFill rotWithShape="1">
          <a:blip r:embed="rId2"/>
          <a:srcRect b="3999"/>
          <a:stretch/>
        </p:blipFill>
        <p:spPr>
          <a:xfrm>
            <a:off x="3211689" y="1768770"/>
            <a:ext cx="5729111" cy="4554483"/>
          </a:xfrm>
        </p:spPr>
      </p:pic>
      <p:sp>
        <p:nvSpPr>
          <p:cNvPr id="4" name="Slide Number Placeholder 3">
            <a:extLst>
              <a:ext uri="{FF2B5EF4-FFF2-40B4-BE49-F238E27FC236}">
                <a16:creationId xmlns:a16="http://schemas.microsoft.com/office/drawing/2014/main" id="{1D416094-2BAC-489F-80EF-F4FAA9CAD00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858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952AD-C1CA-446E-AE9C-A5A7136B0713}"/>
              </a:ext>
            </a:extLst>
          </p:cNvPr>
          <p:cNvSpPr>
            <a:spLocks noGrp="1"/>
          </p:cNvSpPr>
          <p:nvPr>
            <p:ph type="title"/>
          </p:nvPr>
        </p:nvSpPr>
        <p:spPr/>
        <p:txBody>
          <a:bodyPr/>
          <a:lstStyle/>
          <a:p>
            <a:r>
              <a:rPr lang="en-US" dirty="0"/>
              <a:t>Form based specifications</a:t>
            </a:r>
          </a:p>
        </p:txBody>
      </p:sp>
      <p:sp>
        <p:nvSpPr>
          <p:cNvPr id="3" name="Content Placeholder 2">
            <a:extLst>
              <a:ext uri="{FF2B5EF4-FFF2-40B4-BE49-F238E27FC236}">
                <a16:creationId xmlns:a16="http://schemas.microsoft.com/office/drawing/2014/main" id="{5903DF43-4994-43F4-A3D9-A8EFFCD4DF81}"/>
              </a:ext>
            </a:extLst>
          </p:cNvPr>
          <p:cNvSpPr>
            <a:spLocks noGrp="1"/>
          </p:cNvSpPr>
          <p:nvPr>
            <p:ph idx="1"/>
          </p:nvPr>
        </p:nvSpPr>
        <p:spPr/>
        <p:txBody>
          <a:bodyPr>
            <a:normAutofit/>
          </a:bodyPr>
          <a:lstStyle/>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Definition of the function or entity</a:t>
            </a:r>
          </a:p>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Description of inputs and where they come from</a:t>
            </a:r>
          </a:p>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Description of outputs and where they go to</a:t>
            </a:r>
          </a:p>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Information about the information needed for the computation and other entities used</a:t>
            </a:r>
          </a:p>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Description of the action to be taken</a:t>
            </a:r>
          </a:p>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Pre and post conditions (if appropriate)</a:t>
            </a:r>
          </a:p>
          <a:p>
            <a:r>
              <a:rPr lang="en-US" b="0" i="0" u="none" strike="noStrike" baseline="0" dirty="0">
                <a:solidFill>
                  <a:srgbClr val="000000"/>
                </a:solidFill>
                <a:latin typeface="Wingdings" panose="05000000000000000000" pitchFamily="2" charset="2"/>
              </a:rPr>
              <a:t></a:t>
            </a:r>
            <a:r>
              <a:rPr lang="en-US" b="0" i="0" u="none" strike="noStrike" baseline="0" dirty="0">
                <a:solidFill>
                  <a:srgbClr val="000000"/>
                </a:solidFill>
                <a:latin typeface="Arial" panose="020B0604020202020204" pitchFamily="34" charset="0"/>
              </a:rPr>
              <a:t>The side effects (if any) of the function</a:t>
            </a:r>
          </a:p>
          <a:p>
            <a:endParaRPr lang="en-US" sz="2400" dirty="0"/>
          </a:p>
        </p:txBody>
      </p:sp>
      <p:sp>
        <p:nvSpPr>
          <p:cNvPr id="4" name="Slide Number Placeholder 3">
            <a:extLst>
              <a:ext uri="{FF2B5EF4-FFF2-40B4-BE49-F238E27FC236}">
                <a16:creationId xmlns:a16="http://schemas.microsoft.com/office/drawing/2014/main" id="{3C302AB5-5606-409A-941E-D45090F2328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2702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C8D2C1-DA83-420D-9635-D52CE066B5D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434F74C9-6A0B-409E-AD1C-45B58BE91B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F5486A9D-1265-4B57-91E6-68E666B978B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Dumbbells on a gym floor">
            <a:extLst>
              <a:ext uri="{FF2B5EF4-FFF2-40B4-BE49-F238E27FC236}">
                <a16:creationId xmlns:a16="http://schemas.microsoft.com/office/drawing/2014/main" id="{79EE5BDF-CC73-401C-93B2-1CE0695EA87C}"/>
              </a:ext>
            </a:extLst>
          </p:cNvPr>
          <p:cNvPicPr>
            <a:picLocks noChangeAspect="1"/>
          </p:cNvPicPr>
          <p:nvPr/>
        </p:nvPicPr>
        <p:blipFill rotWithShape="1">
          <a:blip r:embed="rId2">
            <a:alphaModFix amt="35000"/>
          </a:blip>
          <a:srcRect b="15094"/>
          <a:stretch/>
        </p:blipFill>
        <p:spPr>
          <a:xfrm>
            <a:off x="20" y="10"/>
            <a:ext cx="12191980" cy="6857990"/>
          </a:xfrm>
          <a:prstGeom prst="rect">
            <a:avLst/>
          </a:prstGeom>
        </p:spPr>
      </p:pic>
      <p:sp>
        <p:nvSpPr>
          <p:cNvPr id="2" name="Title 1">
            <a:extLst>
              <a:ext uri="{FF2B5EF4-FFF2-40B4-BE49-F238E27FC236}">
                <a16:creationId xmlns:a16="http://schemas.microsoft.com/office/drawing/2014/main" id="{CD2B1E3F-8FF8-43D4-90EC-F14E9D8EA267}"/>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dirty="0">
                <a:solidFill>
                  <a:srgbClr val="FFFFFF"/>
                </a:solidFill>
              </a:rPr>
              <a:t>Exercise</a:t>
            </a:r>
          </a:p>
        </p:txBody>
      </p:sp>
      <p:cxnSp>
        <p:nvCxnSpPr>
          <p:cNvPr id="16" name="Straight Connector 15">
            <a:extLst>
              <a:ext uri="{FF2B5EF4-FFF2-40B4-BE49-F238E27FC236}">
                <a16:creationId xmlns:a16="http://schemas.microsoft.com/office/drawing/2014/main" id="{4071767D-5FF7-4508-B8B7-BB60FF3AB25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4E89C94-E462-4566-A15A-32835FD68BC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E25F4A20-71FB-4A26-92E2-89DED49264C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39D2C35E-7AD5-43D9-9A87-468983349C0C}"/>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7129293"/>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BBC63-0CAA-42AB-8145-FA5C096798F2}"/>
              </a:ext>
            </a:extLst>
          </p:cNvPr>
          <p:cNvSpPr>
            <a:spLocks noGrp="1"/>
          </p:cNvSpPr>
          <p:nvPr>
            <p:ph type="title"/>
          </p:nvPr>
        </p:nvSpPr>
        <p:spPr>
          <a:xfrm>
            <a:off x="1097279" y="286603"/>
            <a:ext cx="10115203" cy="1450757"/>
          </a:xfrm>
        </p:spPr>
        <p:txBody>
          <a:bodyPr/>
          <a:lstStyle/>
          <a:p>
            <a:r>
              <a:rPr lang="en-US" b="1" dirty="0"/>
              <a:t>Identify Function and Non-Function Requirements</a:t>
            </a:r>
          </a:p>
        </p:txBody>
      </p:sp>
      <p:sp>
        <p:nvSpPr>
          <p:cNvPr id="3" name="Content Placeholder 2">
            <a:extLst>
              <a:ext uri="{FF2B5EF4-FFF2-40B4-BE49-F238E27FC236}">
                <a16:creationId xmlns:a16="http://schemas.microsoft.com/office/drawing/2014/main" id="{3CB662F9-BF4E-446B-B59F-845E7F4516C3}"/>
              </a:ext>
            </a:extLst>
          </p:cNvPr>
          <p:cNvSpPr>
            <a:spLocks noGrp="1"/>
          </p:cNvSpPr>
          <p:nvPr>
            <p:ph idx="1"/>
          </p:nvPr>
        </p:nvSpPr>
        <p:spPr/>
        <p:txBody>
          <a:bodyPr>
            <a:normAutofit fontScale="92500" lnSpcReduction="20000"/>
          </a:bodyPr>
          <a:lstStyle/>
          <a:p>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The software automatically validates customers against the ABC Contact Management System</a:t>
            </a:r>
          </a:p>
          <a:p>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FR</a:t>
            </a:r>
          </a:p>
          <a:p>
            <a:r>
              <a:rPr lang="en-US" sz="4000" b="0" i="0" dirty="0">
                <a:solidFill>
                  <a:srgbClr val="000000"/>
                </a:solidFill>
                <a:effectLst/>
                <a:latin typeface="Calibri" panose="020F0502020204030204" pitchFamily="34" charset="0"/>
              </a:rPr>
              <a:t/>
            </a:r>
            <a:br>
              <a:rPr lang="en-US" sz="4000" b="0" i="0" dirty="0">
                <a:solidFill>
                  <a:srgbClr val="000000"/>
                </a:solidFill>
                <a:effectLst/>
                <a:latin typeface="Calibri" panose="020F0502020204030204" pitchFamily="34" charset="0"/>
              </a:rPr>
            </a:br>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Employees never allowed to update their salary information. Such attempt should be reported to the security administrator.</a:t>
            </a:r>
          </a:p>
          <a:p>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NFR</a:t>
            </a:r>
            <a:r>
              <a:rPr lang="en-US" sz="4400" dirty="0"/>
              <a:t> </a:t>
            </a:r>
          </a:p>
        </p:txBody>
      </p:sp>
      <p:sp>
        <p:nvSpPr>
          <p:cNvPr id="4" name="Slide Number Placeholder 3">
            <a:extLst>
              <a:ext uri="{FF2B5EF4-FFF2-40B4-BE49-F238E27FC236}">
                <a16:creationId xmlns:a16="http://schemas.microsoft.com/office/drawing/2014/main" id="{3B5D76C9-B046-4BAD-BB83-F38F0FCC9B2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042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63EA2D-EE8B-4531-90A8-B7D412BE9950}"/>
              </a:ext>
            </a:extLst>
          </p:cNvPr>
          <p:cNvSpPr>
            <a:spLocks noGrp="1"/>
          </p:cNvSpPr>
          <p:nvPr>
            <p:ph idx="1"/>
          </p:nvPr>
        </p:nvSpPr>
        <p:spPr>
          <a:xfrm>
            <a:off x="1097280" y="282222"/>
            <a:ext cx="10325686" cy="5586872"/>
          </a:xfrm>
        </p:spPr>
        <p:txBody>
          <a:bodyPr>
            <a:noAutofit/>
          </a:bodyPr>
          <a:lstStyle/>
          <a:p>
            <a:r>
              <a:rPr lang="en-US" sz="3200" b="0" i="0" dirty="0">
                <a:solidFill>
                  <a:srgbClr val="000000"/>
                </a:solidFill>
                <a:effectLst/>
                <a:latin typeface="ArialMT"/>
              </a:rPr>
              <a:t>• </a:t>
            </a:r>
            <a:r>
              <a:rPr lang="en-US" sz="3200" b="0" i="0" dirty="0">
                <a:solidFill>
                  <a:srgbClr val="000000"/>
                </a:solidFill>
                <a:effectLst/>
                <a:latin typeface="Calibri" panose="020F0502020204030204" pitchFamily="34" charset="0"/>
              </a:rPr>
              <a:t>Users must change the initially assigned login password immediately after the first successful login. Moreover, the initial should never be reused.</a:t>
            </a:r>
          </a:p>
          <a:p>
            <a:r>
              <a:rPr lang="en-US" sz="3200" b="0" i="0" dirty="0">
                <a:solidFill>
                  <a:srgbClr val="000000"/>
                </a:solidFill>
                <a:effectLst/>
                <a:latin typeface="ArialMT"/>
              </a:rPr>
              <a:t>• </a:t>
            </a:r>
            <a:r>
              <a:rPr lang="en-US" sz="3200" b="0" i="0" dirty="0">
                <a:solidFill>
                  <a:srgbClr val="000000"/>
                </a:solidFill>
                <a:effectLst/>
                <a:latin typeface="Calibri" panose="020F0502020204030204" pitchFamily="34" charset="0"/>
              </a:rPr>
              <a:t>NFR</a:t>
            </a:r>
          </a:p>
          <a:p>
            <a:r>
              <a:rPr lang="en-US" sz="3200" b="0" i="0" dirty="0">
                <a:solidFill>
                  <a:srgbClr val="000000"/>
                </a:solidFill>
                <a:effectLst/>
                <a:latin typeface="ArialMT"/>
              </a:rPr>
              <a:t>• </a:t>
            </a:r>
            <a:r>
              <a:rPr lang="en-US" sz="3200" b="0" i="0" dirty="0">
                <a:solidFill>
                  <a:srgbClr val="000000"/>
                </a:solidFill>
                <a:effectLst/>
                <a:latin typeface="Calibri" panose="020F0502020204030204" pitchFamily="34" charset="0"/>
              </a:rPr>
              <a:t>The software system should be integrated with banking API</a:t>
            </a:r>
          </a:p>
          <a:p>
            <a:r>
              <a:rPr lang="en-US" sz="3200" b="0" i="0" dirty="0">
                <a:solidFill>
                  <a:srgbClr val="000000"/>
                </a:solidFill>
                <a:effectLst/>
                <a:latin typeface="ArialMT"/>
              </a:rPr>
              <a:t>• </a:t>
            </a:r>
            <a:r>
              <a:rPr lang="en-US" sz="3200" b="0" i="0" dirty="0">
                <a:solidFill>
                  <a:srgbClr val="000000"/>
                </a:solidFill>
                <a:effectLst/>
                <a:latin typeface="Calibri" panose="020F0502020204030204" pitchFamily="34" charset="0"/>
              </a:rPr>
              <a:t>FR</a:t>
            </a:r>
          </a:p>
          <a:p>
            <a:r>
              <a:rPr lang="en-US" sz="3200" b="0" i="0" dirty="0">
                <a:solidFill>
                  <a:srgbClr val="000000"/>
                </a:solidFill>
                <a:effectLst/>
                <a:latin typeface="ArialMT"/>
              </a:rPr>
              <a:t>• </a:t>
            </a:r>
            <a:r>
              <a:rPr lang="en-US" sz="3200" b="0" i="0" dirty="0">
                <a:solidFill>
                  <a:srgbClr val="000000"/>
                </a:solidFill>
                <a:effectLst/>
                <a:latin typeface="Calibri" panose="020F0502020204030204" pitchFamily="34" charset="0"/>
              </a:rPr>
              <a:t>Every unsuccessful attempt by a user to access an item of data shall be recorded on an audit trail.</a:t>
            </a:r>
          </a:p>
          <a:p>
            <a:r>
              <a:rPr lang="en-US" sz="3200" b="0" i="0" dirty="0">
                <a:solidFill>
                  <a:srgbClr val="000000"/>
                </a:solidFill>
                <a:effectLst/>
                <a:latin typeface="ArialMT"/>
              </a:rPr>
              <a:t>• </a:t>
            </a:r>
            <a:r>
              <a:rPr lang="en-US" sz="3200" b="0" i="0" dirty="0">
                <a:solidFill>
                  <a:srgbClr val="000000"/>
                </a:solidFill>
                <a:effectLst/>
                <a:latin typeface="Calibri" panose="020F0502020204030204" pitchFamily="34" charset="0"/>
              </a:rPr>
              <a:t>NFR</a:t>
            </a:r>
            <a:r>
              <a:rPr lang="en-US" sz="3600" dirty="0"/>
              <a:t> </a:t>
            </a:r>
            <a:br>
              <a:rPr lang="en-US" sz="3600" dirty="0"/>
            </a:br>
            <a:endParaRPr lang="en-US" sz="3600" dirty="0"/>
          </a:p>
        </p:txBody>
      </p:sp>
      <p:sp>
        <p:nvSpPr>
          <p:cNvPr id="4" name="Slide Number Placeholder 3">
            <a:extLst>
              <a:ext uri="{FF2B5EF4-FFF2-40B4-BE49-F238E27FC236}">
                <a16:creationId xmlns:a16="http://schemas.microsoft.com/office/drawing/2014/main" id="{EA7FB891-EC85-4FA0-94D8-CABAB1B57AB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44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C652D-5BEC-4057-B83D-6F4949541F23}"/>
              </a:ext>
            </a:extLst>
          </p:cNvPr>
          <p:cNvSpPr>
            <a:spLocks noGrp="1"/>
          </p:cNvSpPr>
          <p:nvPr>
            <p:ph idx="1"/>
          </p:nvPr>
        </p:nvSpPr>
        <p:spPr>
          <a:xfrm>
            <a:off x="1097280" y="1873956"/>
            <a:ext cx="10058400" cy="3995138"/>
          </a:xfrm>
        </p:spPr>
        <p:txBody>
          <a:bodyPr>
            <a:normAutofit fontScale="92500"/>
          </a:bodyPr>
          <a:lstStyle/>
          <a:p>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The software should be portable. So moving from one OS to other OS does not create any problem.</a:t>
            </a:r>
          </a:p>
          <a:p>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NFR</a:t>
            </a:r>
          </a:p>
          <a:p>
            <a:r>
              <a:rPr lang="en-US" sz="4000" b="0" i="0" dirty="0">
                <a:solidFill>
                  <a:srgbClr val="000000"/>
                </a:solidFill>
                <a:effectLst/>
                <a:latin typeface="ArialMT"/>
              </a:rPr>
              <a:t>• </a:t>
            </a:r>
            <a:r>
              <a:rPr lang="en-US" sz="4000" b="0" i="0" dirty="0">
                <a:solidFill>
                  <a:srgbClr val="000000"/>
                </a:solidFill>
                <a:effectLst/>
                <a:latin typeface="Calibri" panose="020F0502020204030204" pitchFamily="34" charset="0"/>
              </a:rPr>
              <a:t>The software system should pass </a:t>
            </a:r>
            <a:r>
              <a:rPr lang="en-US" sz="4000" b="0" i="0" dirty="0">
                <a:solidFill>
                  <a:srgbClr val="0000FF"/>
                </a:solidFill>
                <a:effectLst/>
                <a:latin typeface="Calibri" panose="020F0502020204030204" pitchFamily="34" charset="0"/>
              </a:rPr>
              <a:t>Section 508 </a:t>
            </a:r>
            <a:r>
              <a:rPr lang="en-US" sz="4000" b="0" i="0" dirty="0">
                <a:solidFill>
                  <a:srgbClr val="000000"/>
                </a:solidFill>
                <a:effectLst/>
                <a:latin typeface="Calibri" panose="020F0502020204030204" pitchFamily="34" charset="0"/>
              </a:rPr>
              <a:t>accessibility requirement.</a:t>
            </a:r>
          </a:p>
          <a:p>
            <a:r>
              <a:rPr lang="en-US" sz="4000" b="0" i="0" dirty="0">
                <a:solidFill>
                  <a:srgbClr val="000000"/>
                </a:solidFill>
                <a:effectLst/>
                <a:latin typeface="ArialMT"/>
              </a:rPr>
              <a:t>• N</a:t>
            </a:r>
            <a:r>
              <a:rPr lang="en-US" sz="4000" b="0" i="0" dirty="0">
                <a:solidFill>
                  <a:srgbClr val="000000"/>
                </a:solidFill>
                <a:effectLst/>
                <a:latin typeface="Calibri" panose="020F0502020204030204" pitchFamily="34" charset="0"/>
              </a:rPr>
              <a:t>FR</a:t>
            </a:r>
          </a:p>
        </p:txBody>
      </p:sp>
      <p:sp>
        <p:nvSpPr>
          <p:cNvPr id="4" name="Slide Number Placeholder 3">
            <a:extLst>
              <a:ext uri="{FF2B5EF4-FFF2-40B4-BE49-F238E27FC236}">
                <a16:creationId xmlns:a16="http://schemas.microsoft.com/office/drawing/2014/main" id="{3DBFE42C-C055-4F55-A74B-82FA6427B53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40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D4B4D-1717-4611-82B3-5D1D9EBC284E}"/>
              </a:ext>
            </a:extLst>
          </p:cNvPr>
          <p:cNvSpPr>
            <a:spLocks noGrp="1"/>
          </p:cNvSpPr>
          <p:nvPr>
            <p:ph idx="1"/>
          </p:nvPr>
        </p:nvSpPr>
        <p:spPr>
          <a:xfrm>
            <a:off x="1097280" y="632178"/>
            <a:ext cx="10058400" cy="5236916"/>
          </a:xfrm>
        </p:spPr>
        <p:txBody>
          <a:bodyPr>
            <a:normAutofit fontScale="92500" lnSpcReduction="20000"/>
          </a:bodyPr>
          <a:lstStyle/>
          <a:p>
            <a:r>
              <a:rPr lang="en-US" sz="3600" b="0" i="0" dirty="0">
                <a:solidFill>
                  <a:srgbClr val="000000"/>
                </a:solidFill>
                <a:effectLst/>
                <a:latin typeface="ArialMT"/>
              </a:rPr>
              <a:t>• </a:t>
            </a:r>
            <a:r>
              <a:rPr lang="en-US" sz="3600" b="0" i="0" dirty="0">
                <a:solidFill>
                  <a:srgbClr val="000000"/>
                </a:solidFill>
                <a:effectLst/>
                <a:latin typeface="Calibri" panose="020F0502020204030204" pitchFamily="34" charset="0"/>
              </a:rPr>
              <a:t>The background color for all windows in the application will be blue and have a hexadecimal RGB color value of 0x0000FF.</a:t>
            </a:r>
          </a:p>
          <a:p>
            <a:r>
              <a:rPr lang="en-US" sz="3600" b="0" i="0" dirty="0">
                <a:solidFill>
                  <a:srgbClr val="000000"/>
                </a:solidFill>
                <a:effectLst/>
                <a:latin typeface="ArialMT"/>
              </a:rPr>
              <a:t>• </a:t>
            </a:r>
            <a:r>
              <a:rPr lang="en-US" sz="3600" b="0" i="0" dirty="0">
                <a:solidFill>
                  <a:srgbClr val="000000"/>
                </a:solidFill>
                <a:effectLst/>
                <a:latin typeface="Calibri" panose="020F0502020204030204" pitchFamily="34" charset="0"/>
              </a:rPr>
              <a:t>FR</a:t>
            </a:r>
          </a:p>
          <a:p>
            <a:r>
              <a:rPr lang="en-US" sz="3600" b="0" i="0" dirty="0">
                <a:solidFill>
                  <a:srgbClr val="000000"/>
                </a:solidFill>
                <a:effectLst/>
                <a:latin typeface="ArialMT"/>
              </a:rPr>
              <a:t>• </a:t>
            </a:r>
            <a:r>
              <a:rPr lang="en-US" sz="3600" b="0" i="0" dirty="0">
                <a:solidFill>
                  <a:srgbClr val="000000"/>
                </a:solidFill>
                <a:effectLst/>
                <a:latin typeface="Calibri" panose="020F0502020204030204" pitchFamily="34" charset="0"/>
              </a:rPr>
              <a:t>A website should be capable enough to handle 20 million users with affecting its performance</a:t>
            </a:r>
          </a:p>
          <a:p>
            <a:r>
              <a:rPr lang="en-US" sz="3600" b="0" i="0" dirty="0">
                <a:solidFill>
                  <a:srgbClr val="000000"/>
                </a:solidFill>
                <a:effectLst/>
                <a:latin typeface="ArialMT"/>
              </a:rPr>
              <a:t>• </a:t>
            </a:r>
            <a:r>
              <a:rPr lang="en-US" sz="3600" b="0" i="0" dirty="0">
                <a:solidFill>
                  <a:srgbClr val="000000"/>
                </a:solidFill>
                <a:effectLst/>
                <a:latin typeface="Calibri" panose="020F0502020204030204" pitchFamily="34" charset="0"/>
              </a:rPr>
              <a:t>NFR</a:t>
            </a:r>
          </a:p>
          <a:p>
            <a:r>
              <a:rPr lang="en-US" sz="3600" b="0" i="0" dirty="0">
                <a:solidFill>
                  <a:srgbClr val="000000"/>
                </a:solidFill>
                <a:effectLst/>
                <a:latin typeface="ArialMT"/>
              </a:rPr>
              <a:t>• </a:t>
            </a:r>
            <a:r>
              <a:rPr lang="en-US" sz="3600" b="0" i="0" dirty="0">
                <a:solidFill>
                  <a:srgbClr val="000000"/>
                </a:solidFill>
                <a:effectLst/>
                <a:latin typeface="Calibri" panose="020F0502020204030204" pitchFamily="34" charset="0"/>
              </a:rPr>
              <a:t>The Sales system should allow users to record customers sales</a:t>
            </a:r>
          </a:p>
          <a:p>
            <a:r>
              <a:rPr lang="en-US" sz="3600" b="0" i="0" dirty="0">
                <a:solidFill>
                  <a:srgbClr val="000000"/>
                </a:solidFill>
                <a:effectLst/>
                <a:latin typeface="ArialMT"/>
              </a:rPr>
              <a:t>• </a:t>
            </a:r>
            <a:r>
              <a:rPr lang="en-US" sz="3600" b="0" i="0" dirty="0">
                <a:solidFill>
                  <a:srgbClr val="000000"/>
                </a:solidFill>
                <a:effectLst/>
                <a:latin typeface="Calibri" panose="020F0502020204030204" pitchFamily="34" charset="0"/>
              </a:rPr>
              <a:t>FR</a:t>
            </a:r>
            <a:r>
              <a:rPr lang="en-US" sz="4000" dirty="0"/>
              <a:t> </a:t>
            </a:r>
            <a:br>
              <a:rPr lang="en-US" sz="4000" dirty="0"/>
            </a:br>
            <a:endParaRPr lang="en-US" sz="4000" dirty="0"/>
          </a:p>
        </p:txBody>
      </p:sp>
      <p:sp>
        <p:nvSpPr>
          <p:cNvPr id="4" name="Slide Number Placeholder 3">
            <a:extLst>
              <a:ext uri="{FF2B5EF4-FFF2-40B4-BE49-F238E27FC236}">
                <a16:creationId xmlns:a16="http://schemas.microsoft.com/office/drawing/2014/main" id="{36F301FB-DCC7-4F24-BE0C-2502CE782A4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9254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01241A-C584-4537-B5B6-6074687C0EF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43</a:t>
            </a:fld>
            <a:endPar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4">
            <a:extLst>
              <a:ext uri="{FF2B5EF4-FFF2-40B4-BE49-F238E27FC236}">
                <a16:creationId xmlns:a16="http://schemas.microsoft.com/office/drawing/2014/main" id="{D7CDDA7D-FFA6-40E7-8EA3-E368CF0DC4CE}"/>
              </a:ext>
            </a:extLst>
          </p:cNvPr>
          <p:cNvGraphicFramePr>
            <a:graphicFrameLocks noGrp="1"/>
          </p:cNvGraphicFramePr>
          <p:nvPr>
            <p:ph idx="1"/>
          </p:nvPr>
        </p:nvGraphicFramePr>
        <p:xfrm>
          <a:off x="717451" y="621458"/>
          <a:ext cx="10663311" cy="5397520"/>
        </p:xfrm>
        <a:graphic>
          <a:graphicData uri="http://schemas.openxmlformats.org/drawingml/2006/table">
            <a:tbl>
              <a:tblPr/>
              <a:tblGrid>
                <a:gridCol w="1948393">
                  <a:extLst>
                    <a:ext uri="{9D8B030D-6E8A-4147-A177-3AD203B41FA5}">
                      <a16:colId xmlns:a16="http://schemas.microsoft.com/office/drawing/2014/main" val="3809982227"/>
                    </a:ext>
                  </a:extLst>
                </a:gridCol>
                <a:gridCol w="4411130">
                  <a:extLst>
                    <a:ext uri="{9D8B030D-6E8A-4147-A177-3AD203B41FA5}">
                      <a16:colId xmlns:a16="http://schemas.microsoft.com/office/drawing/2014/main" val="1766325590"/>
                    </a:ext>
                  </a:extLst>
                </a:gridCol>
                <a:gridCol w="4303788">
                  <a:extLst>
                    <a:ext uri="{9D8B030D-6E8A-4147-A177-3AD203B41FA5}">
                      <a16:colId xmlns:a16="http://schemas.microsoft.com/office/drawing/2014/main" val="3927683739"/>
                    </a:ext>
                  </a:extLst>
                </a:gridCol>
              </a:tblGrid>
              <a:tr h="282099">
                <a:tc>
                  <a:txBody>
                    <a:bodyPr/>
                    <a:lstStyle/>
                    <a:p>
                      <a:pPr algn="l" fontAlgn="ctr">
                        <a:spcBef>
                          <a:spcPts val="0"/>
                        </a:spcBef>
                        <a:spcAft>
                          <a:spcPts val="0"/>
                        </a:spcAft>
                      </a:pPr>
                      <a:r>
                        <a:rPr lang="en-US" sz="2000" b="1" i="0" u="none" strike="noStrike" dirty="0">
                          <a:effectLst/>
                          <a:latin typeface="Arial" panose="020B0604020202020204" pitchFamily="34" charset="0"/>
                        </a:rPr>
                        <a:t>Parameters</a:t>
                      </a:r>
                      <a:endParaRPr lang="en-US" sz="2000" b="0" i="0" u="none" strike="noStrike" dirty="0">
                        <a:effectLst/>
                        <a:latin typeface="Arial" panose="020B0604020202020204" pitchFamily="34" charset="0"/>
                      </a:endParaRPr>
                    </a:p>
                  </a:txBody>
                  <a:tcPr marL="58738" marR="58738" marT="29369" marB="29369">
                    <a:lnL>
                      <a:noFill/>
                    </a:lnL>
                    <a:lnR>
                      <a:noFill/>
                    </a:lnR>
                    <a:lnT>
                      <a:noFill/>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1" i="0" u="none" strike="noStrike">
                          <a:effectLst/>
                          <a:latin typeface="Arial" panose="020B0604020202020204" pitchFamily="34" charset="0"/>
                        </a:rPr>
                        <a:t>Functional Requirement</a:t>
                      </a:r>
                      <a:endParaRPr lang="en-US" sz="2000" b="0" i="0" u="none" strike="noStrike">
                        <a:effectLst/>
                        <a:latin typeface="Arial" panose="020B0604020202020204" pitchFamily="34" charset="0"/>
                      </a:endParaRPr>
                    </a:p>
                  </a:txBody>
                  <a:tcPr marL="58738" marR="58738" marT="29369" marB="29369">
                    <a:lnL>
                      <a:noFill/>
                    </a:lnL>
                    <a:lnR>
                      <a:noFill/>
                    </a:lnR>
                    <a:lnT>
                      <a:noFill/>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1" i="0" u="none" strike="noStrike">
                          <a:effectLst/>
                          <a:latin typeface="Arial" panose="020B0604020202020204" pitchFamily="34" charset="0"/>
                        </a:rPr>
                        <a:t>Non-Functional Requirement</a:t>
                      </a:r>
                      <a:endParaRPr lang="en-US" sz="2000" b="0" i="0" u="none" strike="noStrike">
                        <a:effectLst/>
                        <a:latin typeface="Arial" panose="020B0604020202020204" pitchFamily="34" charset="0"/>
                      </a:endParaRPr>
                    </a:p>
                  </a:txBody>
                  <a:tcPr marL="58738" marR="58738" marT="29369" marB="29369">
                    <a:lnL>
                      <a:noFill/>
                    </a:lnL>
                    <a:lnR>
                      <a:noFill/>
                    </a:lnR>
                    <a:lnT>
                      <a:noFill/>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11049383"/>
                  </a:ext>
                </a:extLst>
              </a:tr>
              <a:tr h="294331">
                <a:tc>
                  <a:txBody>
                    <a:bodyPr/>
                    <a:lstStyle/>
                    <a:p>
                      <a:pPr algn="l" fontAlgn="ctr">
                        <a:spcBef>
                          <a:spcPts val="0"/>
                        </a:spcBef>
                        <a:spcAft>
                          <a:spcPts val="0"/>
                        </a:spcAft>
                      </a:pPr>
                      <a:r>
                        <a:rPr lang="en-US" sz="2000" b="0" i="0" u="none" strike="noStrike" dirty="0">
                          <a:effectLst/>
                          <a:latin typeface="Arial" panose="020B0604020202020204" pitchFamily="34" charset="0"/>
                        </a:rPr>
                        <a:t>What it is</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Verb</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Attributes</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514062466"/>
                  </a:ext>
                </a:extLst>
              </a:tr>
              <a:tr h="282099">
                <a:tc>
                  <a:txBody>
                    <a:bodyPr/>
                    <a:lstStyle/>
                    <a:p>
                      <a:pPr algn="l" fontAlgn="ctr">
                        <a:spcBef>
                          <a:spcPts val="0"/>
                        </a:spcBef>
                        <a:spcAft>
                          <a:spcPts val="0"/>
                        </a:spcAft>
                      </a:pPr>
                      <a:r>
                        <a:rPr lang="en-US" sz="2000" b="0" i="0" u="none" strike="noStrike" dirty="0">
                          <a:effectLst/>
                          <a:latin typeface="Arial" panose="020B0604020202020204" pitchFamily="34" charset="0"/>
                        </a:rPr>
                        <a:t>End-result</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Product feature</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Product properties</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84936146"/>
                  </a:ext>
                </a:extLst>
              </a:tr>
              <a:tr h="334104">
                <a:tc>
                  <a:txBody>
                    <a:bodyPr/>
                    <a:lstStyle/>
                    <a:p>
                      <a:pPr algn="l" fontAlgn="ctr">
                        <a:spcBef>
                          <a:spcPts val="0"/>
                        </a:spcBef>
                        <a:spcAft>
                          <a:spcPts val="0"/>
                        </a:spcAft>
                      </a:pPr>
                      <a:r>
                        <a:rPr lang="en-US" sz="2000" b="0" i="0" u="none" strike="noStrike" dirty="0">
                          <a:effectLst/>
                          <a:latin typeface="Arial" panose="020B0604020202020204" pitchFamily="34" charset="0"/>
                        </a:rPr>
                        <a:t>Capturing</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Easy to capture</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Hard to capture</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432198296"/>
                  </a:ext>
                </a:extLst>
              </a:tr>
              <a:tr h="509436">
                <a:tc>
                  <a:txBody>
                    <a:bodyPr/>
                    <a:lstStyle/>
                    <a:p>
                      <a:pPr algn="l" fontAlgn="ctr">
                        <a:spcBef>
                          <a:spcPts val="0"/>
                        </a:spcBef>
                        <a:spcAft>
                          <a:spcPts val="0"/>
                        </a:spcAft>
                      </a:pPr>
                      <a:r>
                        <a:rPr lang="en-US" sz="2000" b="0" i="0" u="none" strike="noStrike">
                          <a:effectLst/>
                          <a:latin typeface="Arial" panose="020B0604020202020204" pitchFamily="34" charset="0"/>
                        </a:rPr>
                        <a:t>Objective</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Helps you verify the functionality of the software.</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a:effectLst/>
                          <a:latin typeface="Arial" panose="020B0604020202020204" pitchFamily="34" charset="0"/>
                        </a:rPr>
                        <a:t>Helps you to verify the performance of the software.</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22012051"/>
                  </a:ext>
                </a:extLst>
              </a:tr>
              <a:tr h="282099">
                <a:tc>
                  <a:txBody>
                    <a:bodyPr/>
                    <a:lstStyle/>
                    <a:p>
                      <a:pPr algn="l" fontAlgn="ctr">
                        <a:spcBef>
                          <a:spcPts val="0"/>
                        </a:spcBef>
                        <a:spcAft>
                          <a:spcPts val="0"/>
                        </a:spcAft>
                      </a:pPr>
                      <a:r>
                        <a:rPr lang="en-US" sz="2000" b="0" i="0" u="none" strike="noStrike">
                          <a:effectLst/>
                          <a:latin typeface="Arial" panose="020B0604020202020204" pitchFamily="34" charset="0"/>
                        </a:rPr>
                        <a:t>Area of focus</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Focus on user requirement</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a:effectLst/>
                          <a:latin typeface="Arial" panose="020B0604020202020204" pitchFamily="34" charset="0"/>
                        </a:rPr>
                        <a:t>Concentrates on the user's expectation.</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518077203"/>
                  </a:ext>
                </a:extLst>
              </a:tr>
              <a:tr h="282099">
                <a:tc>
                  <a:txBody>
                    <a:bodyPr/>
                    <a:lstStyle/>
                    <a:p>
                      <a:pPr algn="l" fontAlgn="ctr">
                        <a:spcBef>
                          <a:spcPts val="0"/>
                        </a:spcBef>
                        <a:spcAft>
                          <a:spcPts val="0"/>
                        </a:spcAft>
                      </a:pPr>
                      <a:r>
                        <a:rPr lang="en-US" sz="2000" b="0" i="0" u="none" strike="noStrike">
                          <a:effectLst/>
                          <a:latin typeface="Arial" panose="020B0604020202020204" pitchFamily="34" charset="0"/>
                        </a:rPr>
                        <a:t>Documentation</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Describe what the product does</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Describes how the product works</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48360500"/>
                  </a:ext>
                </a:extLst>
              </a:tr>
              <a:tr h="509436">
                <a:tc>
                  <a:txBody>
                    <a:bodyPr/>
                    <a:lstStyle/>
                    <a:p>
                      <a:pPr algn="l" fontAlgn="ctr">
                        <a:spcBef>
                          <a:spcPts val="0"/>
                        </a:spcBef>
                        <a:spcAft>
                          <a:spcPts val="0"/>
                        </a:spcAft>
                      </a:pPr>
                      <a:r>
                        <a:rPr lang="en-US" sz="2000" b="0" i="0" u="none" strike="noStrike">
                          <a:effectLst/>
                          <a:latin typeface="Arial" panose="020B0604020202020204" pitchFamily="34" charset="0"/>
                        </a:rPr>
                        <a:t>Type of Testing</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Functional Testing like System, Integration, End to End, API testing, etc.</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Non-Functional Testing like Performance, Stress, Usability, Security testing, etc.</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754406453"/>
                  </a:ext>
                </a:extLst>
              </a:tr>
              <a:tr h="509436">
                <a:tc>
                  <a:txBody>
                    <a:bodyPr/>
                    <a:lstStyle/>
                    <a:p>
                      <a:pPr algn="l" fontAlgn="ctr">
                        <a:spcBef>
                          <a:spcPts val="0"/>
                        </a:spcBef>
                        <a:spcAft>
                          <a:spcPts val="0"/>
                        </a:spcAft>
                      </a:pPr>
                      <a:r>
                        <a:rPr lang="en-US" sz="2000" b="0" i="0" u="none" strike="noStrike">
                          <a:effectLst/>
                          <a:latin typeface="Arial" panose="020B0604020202020204" pitchFamily="34" charset="0"/>
                        </a:rPr>
                        <a:t>Test Execution</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Test Execution is done before non-functional testing.</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2000" b="0" i="0" u="none" strike="noStrike" dirty="0">
                          <a:effectLst/>
                          <a:latin typeface="Arial" panose="020B0604020202020204" pitchFamily="34" charset="0"/>
                        </a:rPr>
                        <a:t>After the functional testing</a:t>
                      </a:r>
                    </a:p>
                  </a:txBody>
                  <a:tcPr marL="58738" marR="58738" marT="29369" marB="29369">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69799720"/>
                  </a:ext>
                </a:extLst>
              </a:tr>
              <a:tr h="601678">
                <a:tc>
                  <a:txBody>
                    <a:bodyPr/>
                    <a:lstStyle/>
                    <a:p>
                      <a:pPr algn="l" fontAlgn="ctr">
                        <a:spcBef>
                          <a:spcPts val="0"/>
                        </a:spcBef>
                        <a:spcAft>
                          <a:spcPts val="0"/>
                        </a:spcAft>
                      </a:pPr>
                      <a:r>
                        <a:rPr lang="en-US" sz="2000" b="0" i="0" u="none" strike="noStrike">
                          <a:effectLst/>
                          <a:latin typeface="Arial" panose="020B0604020202020204" pitchFamily="34" charset="0"/>
                        </a:rPr>
                        <a:t>Product Info</a:t>
                      </a:r>
                    </a:p>
                  </a:txBody>
                  <a:tcPr marL="58738" marR="58738" marT="29369" marB="29369">
                    <a:lnL>
                      <a:noFill/>
                    </a:lnL>
                    <a:lnR>
                      <a:noFill/>
                    </a:lnR>
                    <a:lnT w="9525"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Product Features</a:t>
                      </a:r>
                    </a:p>
                  </a:txBody>
                  <a:tcPr marL="58738" marR="58738" marT="29369" marB="29369">
                    <a:lnL>
                      <a:noFill/>
                    </a:lnL>
                    <a:lnR>
                      <a:noFill/>
                    </a:lnR>
                    <a:lnT w="9525"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spcBef>
                          <a:spcPts val="0"/>
                        </a:spcBef>
                        <a:spcAft>
                          <a:spcPts val="0"/>
                        </a:spcAft>
                      </a:pPr>
                      <a:r>
                        <a:rPr lang="en-US" sz="2000" b="0" i="0" u="none" strike="noStrike" dirty="0">
                          <a:effectLst/>
                          <a:latin typeface="Arial" panose="020B0604020202020204" pitchFamily="34" charset="0"/>
                        </a:rPr>
                        <a:t>Product Properties</a:t>
                      </a:r>
                    </a:p>
                  </a:txBody>
                  <a:tcPr marL="58738" marR="58738" marT="29369" marB="29369">
                    <a:lnL>
                      <a:noFill/>
                    </a:lnL>
                    <a:lnR>
                      <a:noFill/>
                    </a:lnR>
                    <a:lnT w="9525"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920480601"/>
                  </a:ext>
                </a:extLst>
              </a:tr>
            </a:tbl>
          </a:graphicData>
        </a:graphic>
      </p:graphicFrame>
    </p:spTree>
    <p:extLst>
      <p:ext uri="{BB962C8B-B14F-4D97-AF65-F5344CB8AC3E}">
        <p14:creationId xmlns:p14="http://schemas.microsoft.com/office/powerpoint/2010/main" val="2086461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p:spPr>
      </p:pic>
      <p:sp>
        <p:nvSpPr>
          <p:cNvPr id="3" name="Slide Number Placeholder 2">
            <a:extLst>
              <a:ext uri="{FF2B5EF4-FFF2-40B4-BE49-F238E27FC236}">
                <a16:creationId xmlns:a16="http://schemas.microsoft.com/office/drawing/2014/main" id="{A41273A4-DCF5-44D5-9424-0C64C55405A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0062262"/>
      </p:ext>
    </p:extLst>
  </p:cSld>
  <p:clrMapOvr>
    <a:masterClrMapping/>
  </p:clrMapOvr>
  <p:transition>
    <p:fade/>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1447</TotalTime>
  <Words>2303</Words>
  <Application>Microsoft Office PowerPoint</Application>
  <PresentationFormat>Widescreen</PresentationFormat>
  <Paragraphs>274</Paragraphs>
  <Slides>44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ArialMT</vt:lpstr>
      <vt:lpstr>Calibri</vt:lpstr>
      <vt:lpstr>Calibri Light</vt:lpstr>
      <vt:lpstr>Wingdings</vt:lpstr>
      <vt:lpstr>Retrospect</vt:lpstr>
      <vt:lpstr>Fundamentals of  Software Engineering </vt:lpstr>
      <vt:lpstr>How to write GOOD REQUIREMENTS</vt:lpstr>
      <vt:lpstr>Constraints of a Good requirement</vt:lpstr>
      <vt:lpstr>Writing a good requirement</vt:lpstr>
      <vt:lpstr>Unambiguous</vt:lpstr>
      <vt:lpstr>Testable (Verifiable)</vt:lpstr>
      <vt:lpstr>Clear (Concise, Terse, Simple, Precise)</vt:lpstr>
      <vt:lpstr>Correct</vt:lpstr>
      <vt:lpstr>Understandable </vt:lpstr>
      <vt:lpstr>Feasible (Realistic, Possible)</vt:lpstr>
      <vt:lpstr>Independent</vt:lpstr>
      <vt:lpstr>Atomic</vt:lpstr>
      <vt:lpstr>Necessary</vt:lpstr>
      <vt:lpstr>Implementation free (Abstract)</vt:lpstr>
      <vt:lpstr>Consistent</vt:lpstr>
      <vt:lpstr>Nonredundant</vt:lpstr>
      <vt:lpstr>Complete</vt:lpstr>
      <vt:lpstr>Conflicts</vt:lpstr>
      <vt:lpstr>Requirement Document </vt:lpstr>
      <vt:lpstr>The software requirements document</vt:lpstr>
      <vt:lpstr>Requirements and design</vt:lpstr>
      <vt:lpstr>Agile methods and requirements</vt:lpstr>
      <vt:lpstr>Users of a requirements document</vt:lpstr>
      <vt:lpstr>The structure of a requirements document</vt:lpstr>
      <vt:lpstr>The structure of a requirements document</vt:lpstr>
      <vt:lpstr>Requirement's specification</vt:lpstr>
      <vt:lpstr>Ways of writing a system requirements specification</vt:lpstr>
      <vt:lpstr>Natural language specification</vt:lpstr>
      <vt:lpstr>Guidelines for writing requirements</vt:lpstr>
      <vt:lpstr>Problems with natural language</vt:lpstr>
      <vt:lpstr>Example requirements for the insulin pump software system</vt:lpstr>
      <vt:lpstr>Tabular specification</vt:lpstr>
      <vt:lpstr>Tabular specification of computation for an insulin pump</vt:lpstr>
      <vt:lpstr>Structured specifications</vt:lpstr>
      <vt:lpstr>A structured specification of a requirement for an insulin pump</vt:lpstr>
      <vt:lpstr>A structured specification of a requirement for an insulin pump</vt:lpstr>
      <vt:lpstr>Form based specifications</vt:lpstr>
      <vt:lpstr>Exercise</vt:lpstr>
      <vt:lpstr>Identify Function and Non-Function Requirements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Software Engineering</dc:title>
  <dc:creator>Bilal Khalid Dar</dc:creator>
  <cp:lastModifiedBy>Furqan Nasir</cp:lastModifiedBy>
  <cp:revision>142</cp:revision>
  <dcterms:created xsi:type="dcterms:W3CDTF">2021-03-01T16:42:46Z</dcterms:created>
  <dcterms:modified xsi:type="dcterms:W3CDTF">2026-03-10T03:38:31Z</dcterms:modified>
</cp:coreProperties>
</file>