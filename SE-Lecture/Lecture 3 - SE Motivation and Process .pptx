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1"/>
    <p:sldMasterId id="2147483775" r:id="rId2"/>
  </p:sldMasterIdLst>
  <p:notesMasterIdLst>
    <p:notesMasterId r:id="rId31"/>
  </p:notesMasterIdLst>
  <p:sldIdLst>
    <p:sldId id="325" r:id="rId3"/>
    <p:sldId id="358" r:id="rId4"/>
    <p:sldId id="330" r:id="rId5"/>
    <p:sldId id="331" r:id="rId6"/>
    <p:sldId id="332" r:id="rId7"/>
    <p:sldId id="333" r:id="rId8"/>
    <p:sldId id="334" r:id="rId9"/>
    <p:sldId id="359" r:id="rId10"/>
    <p:sldId id="335" r:id="rId11"/>
    <p:sldId id="350" r:id="rId12"/>
    <p:sldId id="351" r:id="rId13"/>
    <p:sldId id="336" r:id="rId14"/>
    <p:sldId id="337" r:id="rId15"/>
    <p:sldId id="294" r:id="rId16"/>
    <p:sldId id="295" r:id="rId17"/>
    <p:sldId id="297" r:id="rId18"/>
    <p:sldId id="298" r:id="rId19"/>
    <p:sldId id="352" r:id="rId20"/>
    <p:sldId id="353" r:id="rId21"/>
    <p:sldId id="354" r:id="rId22"/>
    <p:sldId id="296" r:id="rId23"/>
    <p:sldId id="302" r:id="rId24"/>
    <p:sldId id="303" r:id="rId25"/>
    <p:sldId id="304" r:id="rId26"/>
    <p:sldId id="305" r:id="rId27"/>
    <p:sldId id="306" r:id="rId28"/>
    <p:sldId id="307" r:id="rId29"/>
    <p:sldId id="277"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371" autoAdjust="0"/>
  </p:normalViewPr>
  <p:slideViewPr>
    <p:cSldViewPr snapToGrid="0">
      <p:cViewPr varScale="1">
        <p:scale>
          <a:sx n="61" d="100"/>
          <a:sy n="61" d="100"/>
        </p:scale>
        <p:origin x="84" y="8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00ECE-482E-4EE5-A35E-776D8D2BFD49}" type="datetimeFigureOut">
              <a:rPr lang="en-US" smtClean="0"/>
              <a:t>1/25/2026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7F71A9-D33B-4F1B-A245-19A6C38D3AA2}" type="slidenum">
              <a:rPr lang="en-US" smtClean="0"/>
              <a:t>‹#›</a:t>
            </a:fld>
            <a:endParaRPr lang="en-US"/>
          </a:p>
        </p:txBody>
      </p:sp>
    </p:spTree>
    <p:extLst>
      <p:ext uri="{BB962C8B-B14F-4D97-AF65-F5344CB8AC3E}">
        <p14:creationId xmlns:p14="http://schemas.microsoft.com/office/powerpoint/2010/main" val="149122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The main difference between system software and application software is that </a:t>
            </a:r>
            <a:r>
              <a:rPr lang="en-US" b="1" i="0" dirty="0">
                <a:solidFill>
                  <a:srgbClr val="202124"/>
                </a:solidFill>
                <a:effectLst/>
                <a:latin typeface="arial" panose="020B0604020202020204" pitchFamily="34" charset="0"/>
              </a:rPr>
              <a:t>system software are primarily designed to manage system-based resources and operations and acts as an interface between application software and computer hardware</a:t>
            </a:r>
            <a:r>
              <a:rPr lang="en-US" b="0" i="0" dirty="0">
                <a:solidFill>
                  <a:srgbClr val="202124"/>
                </a:solidFill>
                <a:effectLst/>
                <a:latin typeface="arial" panose="020B0604020202020204" pitchFamily="34" charset="0"/>
              </a:rPr>
              <a:t>, while application software are primarily designed to help users perform ...</a:t>
            </a:r>
            <a:endParaRPr lang="en-US" dirty="0"/>
          </a:p>
        </p:txBody>
      </p:sp>
      <p:sp>
        <p:nvSpPr>
          <p:cNvPr id="4" name="Slide Number Placeholder 3"/>
          <p:cNvSpPr>
            <a:spLocks noGrp="1"/>
          </p:cNvSpPr>
          <p:nvPr>
            <p:ph type="sldNum" sz="quarter" idx="5"/>
          </p:nvPr>
        </p:nvSpPr>
        <p:spPr/>
        <p:txBody>
          <a:bodyPr/>
          <a:lstStyle/>
          <a:p>
            <a:fld id="{6A7F71A9-D33B-4F1B-A245-19A6C38D3AA2}" type="slidenum">
              <a:rPr lang="en-US" smtClean="0"/>
              <a:t>3</a:t>
            </a:fld>
            <a:endParaRPr lang="en-US"/>
          </a:p>
        </p:txBody>
      </p:sp>
    </p:spTree>
    <p:extLst>
      <p:ext uri="{BB962C8B-B14F-4D97-AF65-F5344CB8AC3E}">
        <p14:creationId xmlns:p14="http://schemas.microsoft.com/office/powerpoint/2010/main" val="1358139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AI software type: Activate</a:t>
            </a:r>
            <a:r>
              <a:rPr lang="en-US" baseline="0" dirty="0" smtClean="0"/>
              <a:t> the service to send SMS on Entry and Exit of Motorway, to detects frauds etc.</a:t>
            </a:r>
          </a:p>
          <a:p>
            <a:r>
              <a:rPr lang="en-US" baseline="0" dirty="0" smtClean="0"/>
              <a:t>Business Software: SAP, </a:t>
            </a:r>
            <a:r>
              <a:rPr lang="en-US" baseline="0" dirty="0" err="1" smtClean="0"/>
              <a:t>OracleApps</a:t>
            </a:r>
            <a:r>
              <a:rPr lang="en-US" baseline="0" dirty="0" smtClean="0"/>
              <a:t>, </a:t>
            </a:r>
            <a:r>
              <a:rPr lang="en-US" baseline="0" dirty="0" err="1" smtClean="0"/>
              <a:t>PeachTree</a:t>
            </a:r>
            <a:r>
              <a:rPr lang="en-US" baseline="0" dirty="0" smtClean="0"/>
              <a:t> (accounting)</a:t>
            </a:r>
            <a:endParaRPr lang="en-US" dirty="0"/>
          </a:p>
        </p:txBody>
      </p:sp>
      <p:sp>
        <p:nvSpPr>
          <p:cNvPr id="4" name="Slide Number Placeholder 3"/>
          <p:cNvSpPr>
            <a:spLocks noGrp="1"/>
          </p:cNvSpPr>
          <p:nvPr>
            <p:ph type="sldNum" sz="quarter" idx="10"/>
          </p:nvPr>
        </p:nvSpPr>
        <p:spPr/>
        <p:txBody>
          <a:bodyPr/>
          <a:lstStyle/>
          <a:p>
            <a:fld id="{6A7F71A9-D33B-4F1B-A245-19A6C38D3AA2}" type="slidenum">
              <a:rPr lang="en-US" smtClean="0"/>
              <a:t>4</a:t>
            </a:fld>
            <a:endParaRPr lang="en-US"/>
          </a:p>
        </p:txBody>
      </p:sp>
    </p:spTree>
    <p:extLst>
      <p:ext uri="{BB962C8B-B14F-4D97-AF65-F5344CB8AC3E}">
        <p14:creationId xmlns:p14="http://schemas.microsoft.com/office/powerpoint/2010/main" val="665073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Many industrial organizations rely on a Supervisory Control and Data Acquisition (SCADA) system. It helps operators access actionable data and manage equipment. SCADA is a powerful control system that is </a:t>
            </a:r>
            <a:r>
              <a:rPr lang="en-US" b="1" i="0" dirty="0">
                <a:solidFill>
                  <a:srgbClr val="202124"/>
                </a:solidFill>
                <a:effectLst/>
                <a:latin typeface="arial" panose="020B0604020202020204" pitchFamily="34" charset="0"/>
              </a:rPr>
              <a:t>designed to collect, analyze, and visualize data from industrial equipment</a:t>
            </a:r>
          </a:p>
          <a:p>
            <a:endParaRPr lang="en-US" b="1" i="0" dirty="0">
              <a:solidFill>
                <a:srgbClr val="202124"/>
              </a:solidFill>
              <a:effectLst/>
              <a:latin typeface="arial" panose="020B0604020202020204" pitchFamily="34" charset="0"/>
            </a:endParaRPr>
          </a:p>
          <a:p>
            <a:r>
              <a:rPr lang="en-US" b="0" i="0" dirty="0">
                <a:solidFill>
                  <a:srgbClr val="202124"/>
                </a:solidFill>
                <a:effectLst/>
                <a:latin typeface="arial" panose="020B0604020202020204" pitchFamily="34" charset="0"/>
              </a:rPr>
              <a:t>An RTU (</a:t>
            </a:r>
            <a:r>
              <a:rPr lang="en-US" b="1" i="0" dirty="0">
                <a:solidFill>
                  <a:srgbClr val="202124"/>
                </a:solidFill>
                <a:effectLst/>
                <a:latin typeface="arial" panose="020B0604020202020204" pitchFamily="34" charset="0"/>
              </a:rPr>
              <a:t>remote terminal unit</a:t>
            </a:r>
            <a:r>
              <a:rPr lang="en-US" b="0" i="0" dirty="0">
                <a:solidFill>
                  <a:srgbClr val="202124"/>
                </a:solidFill>
                <a:effectLst/>
                <a:latin typeface="arial" panose="020B0604020202020204" pitchFamily="34" charset="0"/>
              </a:rPr>
              <a:t>) interfaces the sensors to the SCADA Master Station or Communications Network. RTUs provide telemetry information and some local control facilities. </a:t>
            </a:r>
            <a:endParaRPr lang="en-US" dirty="0"/>
          </a:p>
        </p:txBody>
      </p:sp>
      <p:sp>
        <p:nvSpPr>
          <p:cNvPr id="4" name="Slide Number Placeholder 3"/>
          <p:cNvSpPr>
            <a:spLocks noGrp="1"/>
          </p:cNvSpPr>
          <p:nvPr>
            <p:ph type="sldNum" sz="quarter" idx="5"/>
          </p:nvPr>
        </p:nvSpPr>
        <p:spPr/>
        <p:txBody>
          <a:bodyPr/>
          <a:lstStyle/>
          <a:p>
            <a:fld id="{6A7F71A9-D33B-4F1B-A245-19A6C38D3AA2}" type="slidenum">
              <a:rPr lang="en-US" smtClean="0"/>
              <a:t>7</a:t>
            </a:fld>
            <a:endParaRPr lang="en-US"/>
          </a:p>
        </p:txBody>
      </p:sp>
    </p:spTree>
    <p:extLst>
      <p:ext uri="{BB962C8B-B14F-4D97-AF65-F5344CB8AC3E}">
        <p14:creationId xmlns:p14="http://schemas.microsoft.com/office/powerpoint/2010/main" val="1780293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Stackholders</a:t>
            </a:r>
            <a:r>
              <a:rPr lang="en-US" dirty="0" smtClean="0"/>
              <a:t>: Client/ customer, End users, Managers</a:t>
            </a:r>
          </a:p>
          <a:p>
            <a:endParaRPr lang="en-US" dirty="0" smtClean="0"/>
          </a:p>
          <a:p>
            <a:r>
              <a:rPr lang="en-US" dirty="0" smtClean="0"/>
              <a:t>Software Process or LC: Set of activities of tasks, to develop</a:t>
            </a:r>
            <a:r>
              <a:rPr lang="en-US" baseline="0" dirty="0" smtClean="0"/>
              <a:t> software application. All activities are managed under timelines, budget and resources called Milestones.</a:t>
            </a:r>
          </a:p>
          <a:p>
            <a:r>
              <a:rPr lang="en-US" baseline="0" dirty="0" smtClean="0"/>
              <a:t>Generic activities are </a:t>
            </a:r>
            <a:r>
              <a:rPr lang="en-US" baseline="0" dirty="0" err="1" smtClean="0"/>
              <a:t>Req</a:t>
            </a:r>
            <a:r>
              <a:rPr lang="en-US" baseline="0" dirty="0" smtClean="0"/>
              <a:t>, Spec, Design (System &amp; Software), Development, validations and evolutions.</a:t>
            </a:r>
            <a:endParaRPr lang="en-US" dirty="0" smtClean="0"/>
          </a:p>
          <a:p>
            <a:endParaRPr lang="en-US" dirty="0"/>
          </a:p>
        </p:txBody>
      </p:sp>
      <p:sp>
        <p:nvSpPr>
          <p:cNvPr id="4" name="Slide Number Placeholder 3"/>
          <p:cNvSpPr>
            <a:spLocks noGrp="1"/>
          </p:cNvSpPr>
          <p:nvPr>
            <p:ph type="sldNum" sz="quarter" idx="10"/>
          </p:nvPr>
        </p:nvSpPr>
        <p:spPr/>
        <p:txBody>
          <a:bodyPr/>
          <a:lstStyle/>
          <a:p>
            <a:fld id="{6A7F71A9-D33B-4F1B-A245-19A6C38D3AA2}" type="slidenum">
              <a:rPr lang="en-US" smtClean="0"/>
              <a:t>9</a:t>
            </a:fld>
            <a:endParaRPr lang="en-US"/>
          </a:p>
        </p:txBody>
      </p:sp>
    </p:spTree>
    <p:extLst>
      <p:ext uri="{BB962C8B-B14F-4D97-AF65-F5344CB8AC3E}">
        <p14:creationId xmlns:p14="http://schemas.microsoft.com/office/powerpoint/2010/main" val="3336704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175178-E535-49E5-A20C-E7942B6C6FFB}"/>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576053B-BF94-411B-B655-14789F03FB0E}"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97" name="Rectangle 1">
            <a:extLst>
              <a:ext uri="{FF2B5EF4-FFF2-40B4-BE49-F238E27FC236}">
                <a16:creationId xmlns:a16="http://schemas.microsoft.com/office/drawing/2014/main" id="{0ADEC59F-9215-4915-8483-96DF6337C906}"/>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8" name="Rectangle 2">
            <a:extLst>
              <a:ext uri="{FF2B5EF4-FFF2-40B4-BE49-F238E27FC236}">
                <a16:creationId xmlns:a16="http://schemas.microsoft.com/office/drawing/2014/main" id="{AE471831-6E93-4B77-8A00-578F5B05FFA3}"/>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t>UI</a:t>
            </a:r>
            <a:r>
              <a:rPr lang="en-US" altLang="en-US" baseline="0" dirty="0" smtClean="0"/>
              <a:t> shows status: Yes or Not, may have several assumptions, visibility in terms of understanding is not clear</a:t>
            </a:r>
          </a:p>
          <a:p>
            <a:r>
              <a:rPr lang="en-US" altLang="en-US" baseline="0" dirty="0" smtClean="0"/>
              <a:t>Data saved in two tables may increase risks and increase invisibility.</a:t>
            </a:r>
            <a:endParaRPr lang="en-US" altLang="en-US" dirty="0"/>
          </a:p>
        </p:txBody>
      </p:sp>
    </p:spTree>
    <p:extLst>
      <p:ext uri="{BB962C8B-B14F-4D97-AF65-F5344CB8AC3E}">
        <p14:creationId xmlns:p14="http://schemas.microsoft.com/office/powerpoint/2010/main" val="3468659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1D00B5-243D-4B30-8A70-648B1B9D639F}"/>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8465D1-7173-4E0C-A0B6-225693059C53}"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21" name="Rectangle 1">
            <a:extLst>
              <a:ext uri="{FF2B5EF4-FFF2-40B4-BE49-F238E27FC236}">
                <a16:creationId xmlns:a16="http://schemas.microsoft.com/office/drawing/2014/main" id="{F56541FA-FEB5-4498-A115-F1A4E7186DB5}"/>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2" name="Rectangle 2">
            <a:extLst>
              <a:ext uri="{FF2B5EF4-FFF2-40B4-BE49-F238E27FC236}">
                <a16:creationId xmlns:a16="http://schemas.microsoft.com/office/drawing/2014/main" id="{6E9CE997-77B6-4F50-BFF4-350335C2B4AE}"/>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439868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Software Process or LC: Set of activities of tasks, to develop</a:t>
            </a:r>
            <a:r>
              <a:rPr lang="en-US" baseline="0" dirty="0" smtClean="0"/>
              <a:t> software application. All activities are managed under timelines, budget and resources called Milestones.</a:t>
            </a:r>
          </a:p>
          <a:p>
            <a:r>
              <a:rPr lang="en-US" baseline="0" dirty="0" smtClean="0"/>
              <a:t>Generic activities are </a:t>
            </a:r>
            <a:r>
              <a:rPr lang="en-US" baseline="0" dirty="0" err="1" smtClean="0"/>
              <a:t>Req</a:t>
            </a:r>
            <a:r>
              <a:rPr lang="en-US" baseline="0" dirty="0" smtClean="0"/>
              <a:t>, Spec, Design (System &amp; Software), Development, validations and evolutions.</a:t>
            </a:r>
            <a:endParaRPr lang="en-US" dirty="0"/>
          </a:p>
        </p:txBody>
      </p:sp>
      <p:sp>
        <p:nvSpPr>
          <p:cNvPr id="4" name="Slide Number Placeholder 3"/>
          <p:cNvSpPr>
            <a:spLocks noGrp="1"/>
          </p:cNvSpPr>
          <p:nvPr>
            <p:ph type="sldNum" sz="quarter" idx="10"/>
          </p:nvPr>
        </p:nvSpPr>
        <p:spPr/>
        <p:txBody>
          <a:bodyPr/>
          <a:lstStyle/>
          <a:p>
            <a:fld id="{6A7F71A9-D33B-4F1B-A245-19A6C38D3AA2}" type="slidenum">
              <a:rPr lang="en-US" smtClean="0"/>
              <a:t>13</a:t>
            </a:fld>
            <a:endParaRPr lang="en-US"/>
          </a:p>
        </p:txBody>
      </p:sp>
    </p:spTree>
    <p:extLst>
      <p:ext uri="{BB962C8B-B14F-4D97-AF65-F5344CB8AC3E}">
        <p14:creationId xmlns:p14="http://schemas.microsoft.com/office/powerpoint/2010/main" val="2169059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730406E-9713-4E27-A77E-215151EBED11}"/>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F32BC8D-BF75-470F-B95D-25ECE5F6271D}"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745" name="Rectangle 1">
            <a:extLst>
              <a:ext uri="{FF2B5EF4-FFF2-40B4-BE49-F238E27FC236}">
                <a16:creationId xmlns:a16="http://schemas.microsoft.com/office/drawing/2014/main" id="{34B7B662-32E5-4AC6-827C-B70A1CB87E3C}"/>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6" name="Rectangle 2">
            <a:extLst>
              <a:ext uri="{FF2B5EF4-FFF2-40B4-BE49-F238E27FC236}">
                <a16:creationId xmlns:a16="http://schemas.microsoft.com/office/drawing/2014/main" id="{2BCBFD31-7AD3-4643-B6B9-68A4F6C48EAB}"/>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altLang="en-US" dirty="0" smtClean="0"/>
              <a:t>SDLC (Micro Project) can be software system used to manage</a:t>
            </a:r>
            <a:r>
              <a:rPr lang="en-US" altLang="en-US" baseline="0" dirty="0" smtClean="0"/>
              <a:t> tokens/ tickets and financial modules works under</a:t>
            </a:r>
            <a:r>
              <a:rPr lang="en-US" altLang="en-US" dirty="0" smtClean="0"/>
              <a:t> Macro Project Metro Bus Service</a:t>
            </a:r>
            <a:endParaRPr lang="en-US" altLang="en-US" dirty="0"/>
          </a:p>
        </p:txBody>
      </p:sp>
    </p:spTree>
    <p:extLst>
      <p:ext uri="{BB962C8B-B14F-4D97-AF65-F5344CB8AC3E}">
        <p14:creationId xmlns:p14="http://schemas.microsoft.com/office/powerpoint/2010/main" val="1475166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F179CE-2E4F-4480-AF94-AFC462B87BDA}"/>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6C8C244-493C-4B06-AE07-87E17D7F8B7E}"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69" name="Rectangle 1">
            <a:extLst>
              <a:ext uri="{FF2B5EF4-FFF2-40B4-BE49-F238E27FC236}">
                <a16:creationId xmlns:a16="http://schemas.microsoft.com/office/drawing/2014/main" id="{103D566A-FD72-4877-8502-4048C45E89F7}"/>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0" name="Rectangle 2">
            <a:extLst>
              <a:ext uri="{FF2B5EF4-FFF2-40B4-BE49-F238E27FC236}">
                <a16:creationId xmlns:a16="http://schemas.microsoft.com/office/drawing/2014/main" id="{C357B76C-F522-4087-926E-F525F2866172}"/>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163775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06792D8-5432-45AC-AC9E-0C842EC96D4C}"/>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28E8-41E5-4D12-A65B-2AB4A94BE372}"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817" name="Rectangle 1">
            <a:extLst>
              <a:ext uri="{FF2B5EF4-FFF2-40B4-BE49-F238E27FC236}">
                <a16:creationId xmlns:a16="http://schemas.microsoft.com/office/drawing/2014/main" id="{43C0342B-2057-4C29-BB29-C165243FAA55}"/>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18" name="Rectangle 2">
            <a:extLst>
              <a:ext uri="{FF2B5EF4-FFF2-40B4-BE49-F238E27FC236}">
                <a16:creationId xmlns:a16="http://schemas.microsoft.com/office/drawing/2014/main" id="{0351B528-BD38-49BC-B29F-6027DE708196}"/>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903061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AAF8EF9-4117-487C-BC9E-D9323F82DE56}"/>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C65DA61-4CDA-4D68-9EB5-E65EB414E5D4}"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841" name="Rectangle 1">
            <a:extLst>
              <a:ext uri="{FF2B5EF4-FFF2-40B4-BE49-F238E27FC236}">
                <a16:creationId xmlns:a16="http://schemas.microsoft.com/office/drawing/2014/main" id="{6D304F45-4130-4599-AD9B-A1ACE9CE1879}"/>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2" name="Rectangle 2">
            <a:extLst>
              <a:ext uri="{FF2B5EF4-FFF2-40B4-BE49-F238E27FC236}">
                <a16:creationId xmlns:a16="http://schemas.microsoft.com/office/drawing/2014/main" id="{99609FFE-CAE9-4697-9CF3-A3C63C747ED5}"/>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2870242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7B3661-61B5-4977-9F1E-E86389796A0A}"/>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AD17F6F-3B31-4843-AE4E-46CEC212ECDC}"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65" name="Rectangle 1">
            <a:extLst>
              <a:ext uri="{FF2B5EF4-FFF2-40B4-BE49-F238E27FC236}">
                <a16:creationId xmlns:a16="http://schemas.microsoft.com/office/drawing/2014/main" id="{9E1FB0D1-B829-4645-A857-1F2596F13C11}"/>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6" name="Rectangle 2">
            <a:extLst>
              <a:ext uri="{FF2B5EF4-FFF2-40B4-BE49-F238E27FC236}">
                <a16:creationId xmlns:a16="http://schemas.microsoft.com/office/drawing/2014/main" id="{2D6082FC-37DA-4468-AD08-1C908BEA9AE6}"/>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674040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0CA14E9-47B7-48F2-94D2-FB53802838D6}"/>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4E3778D-499C-4876-95DF-556018E66FCC}"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89" name="Rectangle 1">
            <a:extLst>
              <a:ext uri="{FF2B5EF4-FFF2-40B4-BE49-F238E27FC236}">
                <a16:creationId xmlns:a16="http://schemas.microsoft.com/office/drawing/2014/main" id="{B444D2F6-A0D5-4C4F-A83F-6082CE0CAF93}"/>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7890" name="Rectangle 2">
            <a:extLst>
              <a:ext uri="{FF2B5EF4-FFF2-40B4-BE49-F238E27FC236}">
                <a16:creationId xmlns:a16="http://schemas.microsoft.com/office/drawing/2014/main" id="{FB1392A5-C3DA-4DED-86AD-8DBAF80E07E8}"/>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014650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2506517-EEFD-461C-A4B9-147F125B6B49}"/>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4529930-BF5E-45E3-A47A-8E2A74760A47}"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913" name="Rectangle 1">
            <a:extLst>
              <a:ext uri="{FF2B5EF4-FFF2-40B4-BE49-F238E27FC236}">
                <a16:creationId xmlns:a16="http://schemas.microsoft.com/office/drawing/2014/main" id="{C7A75597-EF73-45B9-8AE3-442516F53897}"/>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4" name="Rectangle 2">
            <a:extLst>
              <a:ext uri="{FF2B5EF4-FFF2-40B4-BE49-F238E27FC236}">
                <a16:creationId xmlns:a16="http://schemas.microsoft.com/office/drawing/2014/main" id="{AD7758B6-5AFF-4CC0-B04E-2E881B2FD86A}"/>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957360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227274-C42A-46C0-A163-BABCA405E446}"/>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CF67222-F386-433B-BFA6-A752311E2282}"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793" name="Rectangle 1">
            <a:extLst>
              <a:ext uri="{FF2B5EF4-FFF2-40B4-BE49-F238E27FC236}">
                <a16:creationId xmlns:a16="http://schemas.microsoft.com/office/drawing/2014/main" id="{BC865583-EDD8-4AD4-8193-090FEBB13254}"/>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Rectangle 2">
            <a:extLst>
              <a:ext uri="{FF2B5EF4-FFF2-40B4-BE49-F238E27FC236}">
                <a16:creationId xmlns:a16="http://schemas.microsoft.com/office/drawing/2014/main" id="{DD0C9D1C-2526-4C5C-B76C-CEE0DA6A7E19}"/>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extLst>
      <p:ext uri="{BB962C8B-B14F-4D97-AF65-F5344CB8AC3E}">
        <p14:creationId xmlns:p14="http://schemas.microsoft.com/office/powerpoint/2010/main" val="701756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112D8-0335-44E4-827C-2823F470029A}"/>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5E19163-1628-488B-99A8-74850E117061}"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37" name="Rectangle 1">
            <a:extLst>
              <a:ext uri="{FF2B5EF4-FFF2-40B4-BE49-F238E27FC236}">
                <a16:creationId xmlns:a16="http://schemas.microsoft.com/office/drawing/2014/main" id="{F449742E-B73B-4B26-80C8-0266FE3CB974}"/>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9938" name="Rectangle 2">
            <a:extLst>
              <a:ext uri="{FF2B5EF4-FFF2-40B4-BE49-F238E27FC236}">
                <a16:creationId xmlns:a16="http://schemas.microsoft.com/office/drawing/2014/main" id="{E32AE43C-655D-4126-AA5A-72C145114F36}"/>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86147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2DDC35-C1B7-44FB-A609-F95164456C48}"/>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0BEE733-141C-4E25-BD89-96C895BC7B0D}"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61" name="Rectangle 1">
            <a:extLst>
              <a:ext uri="{FF2B5EF4-FFF2-40B4-BE49-F238E27FC236}">
                <a16:creationId xmlns:a16="http://schemas.microsoft.com/office/drawing/2014/main" id="{7947577D-40F1-4F91-BFE3-FCCCC66FC251}"/>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2" name="Rectangle 2">
            <a:extLst>
              <a:ext uri="{FF2B5EF4-FFF2-40B4-BE49-F238E27FC236}">
                <a16:creationId xmlns:a16="http://schemas.microsoft.com/office/drawing/2014/main" id="{F804A6CE-E5C8-4F0D-A6D1-89D1B105F57A}"/>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864958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EC26154-7345-46FB-A74A-730959813CFF}"/>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0C7C2B7-5E43-4DDE-9629-2FDE9BD01A37}"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985" name="Rectangle 1">
            <a:extLst>
              <a:ext uri="{FF2B5EF4-FFF2-40B4-BE49-F238E27FC236}">
                <a16:creationId xmlns:a16="http://schemas.microsoft.com/office/drawing/2014/main" id="{D5FBEE41-0F5F-48C4-B0A6-3F49393AAFE3}"/>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986" name="Rectangle 2">
            <a:extLst>
              <a:ext uri="{FF2B5EF4-FFF2-40B4-BE49-F238E27FC236}">
                <a16:creationId xmlns:a16="http://schemas.microsoft.com/office/drawing/2014/main" id="{D2AA48F5-F430-4241-8928-D26A09436A87}"/>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517002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F37EAB-6C94-4C08-B83B-6A3C6A73ABDA}"/>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D8C8A5-B783-4EAB-9C68-CEE94701D5BF}"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009" name="Rectangle 1">
            <a:extLst>
              <a:ext uri="{FF2B5EF4-FFF2-40B4-BE49-F238E27FC236}">
                <a16:creationId xmlns:a16="http://schemas.microsoft.com/office/drawing/2014/main" id="{A42DDDD0-9EB1-4A1F-B74E-75243A53CF62}"/>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0" name="Rectangle 2">
            <a:extLst>
              <a:ext uri="{FF2B5EF4-FFF2-40B4-BE49-F238E27FC236}">
                <a16:creationId xmlns:a16="http://schemas.microsoft.com/office/drawing/2014/main" id="{9244BF93-F0B3-419A-88BC-C9213D7CBF24}"/>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403533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B88C3C-FE9C-4FC5-870F-18BC6B093EA3}"/>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60F674F-B028-41E5-A736-8FAD452ADC71}"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033" name="Rectangle 1">
            <a:extLst>
              <a:ext uri="{FF2B5EF4-FFF2-40B4-BE49-F238E27FC236}">
                <a16:creationId xmlns:a16="http://schemas.microsoft.com/office/drawing/2014/main" id="{EC44FD4A-F202-4044-9A09-8C86AA5FB151}"/>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4034" name="Rectangle 2">
            <a:extLst>
              <a:ext uri="{FF2B5EF4-FFF2-40B4-BE49-F238E27FC236}">
                <a16:creationId xmlns:a16="http://schemas.microsoft.com/office/drawing/2014/main" id="{66C129FE-422F-443D-80CA-4B529FD69F79}"/>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extLst>
      <p:ext uri="{BB962C8B-B14F-4D97-AF65-F5344CB8AC3E}">
        <p14:creationId xmlns:p14="http://schemas.microsoft.com/office/powerpoint/2010/main" val="7518658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9FDF7E-042C-4738-9055-1D62979828D3}"/>
              </a:ext>
            </a:extLst>
          </p:cNvPr>
          <p:cNvSpPr>
            <a:spLocks noGrp="1" noChangeArrowheads="1"/>
          </p:cNvSpPr>
          <p:nvPr>
            <p:ph type="sldNum"/>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2CF2723-C7F7-4193-BB9F-C38C19EC899A}"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057" name="Rectangle 1">
            <a:extLst>
              <a:ext uri="{FF2B5EF4-FFF2-40B4-BE49-F238E27FC236}">
                <a16:creationId xmlns:a16="http://schemas.microsoft.com/office/drawing/2014/main" id="{437770DA-0C74-4F6A-A51B-B4A1B9569532}"/>
              </a:ext>
            </a:extLst>
          </p:cNvPr>
          <p:cNvSpPr txBox="1">
            <a:spLocks noGrp="1" noRot="1" noChangeAspect="1" noChangeArrowheads="1"/>
          </p:cNvSpPr>
          <p:nvPr>
            <p:ph type="sldImg"/>
          </p:nvPr>
        </p:nvSpPr>
        <p:spPr bwMode="auto">
          <a:xfrm>
            <a:off x="217488" y="812800"/>
            <a:ext cx="7123112" cy="400843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58" name="Rectangle 2">
            <a:extLst>
              <a:ext uri="{FF2B5EF4-FFF2-40B4-BE49-F238E27FC236}">
                <a16:creationId xmlns:a16="http://schemas.microsoft.com/office/drawing/2014/main" id="{FF21BA97-BCAA-4E89-AC59-DE967247B715}"/>
              </a:ext>
            </a:extLst>
          </p:cNvPr>
          <p:cNvSpPr txBox="1">
            <a:spLocks noGrp="1" noChangeArrowheads="1"/>
          </p:cNvSpPr>
          <p:nvPr>
            <p:ph type="body" idx="1"/>
          </p:nvPr>
        </p:nvSpPr>
        <p:spPr bwMode="auto">
          <a:xfrm>
            <a:off x="755650" y="5078413"/>
            <a:ext cx="6048375" cy="48117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153090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DC30E916-0C04-46A4-8DF2-CF3446D0190D}" type="datetime1">
              <a:rPr lang="en-US" smtClean="0"/>
              <a:t>1/25/2026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2553079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C992D-49B2-4955-AAC3-C51C62027736}"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415489645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EED23F-B93E-4E28-AE14-BBAC6E3EE240}"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1072726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9C992D-49B2-4955-AAC3-C51C62027736}" type="datetime1">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379602430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9C992D-49B2-4955-AAC3-C51C62027736}" type="datetime1">
              <a:rPr lang="en-US" smtClean="0"/>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409196134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76DAA1-ED4C-41DF-90B5-DB307ABE85CF}" type="datetime1">
              <a:rPr lang="en-US" smtClean="0"/>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2692062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5DC48D-6D42-4443-A16B-F6978702C3CA}" type="datetime1">
              <a:rPr lang="en-US" smtClean="0"/>
              <a:t>1/25/2026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1780437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9C992D-49B2-4955-AAC3-C51C62027736}" type="datetime1">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263741424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E22F14-8128-4E1C-8723-76E0586227D9}" type="datetime1">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3806279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9C992D-49B2-4955-AAC3-C51C62027736}" type="datetime1">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255859225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C9C992D-49B2-4955-AAC3-C51C62027736}"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51983405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C9C992D-49B2-4955-AAC3-C51C62027736}"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368523115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9C992D-49B2-4955-AAC3-C51C62027736}"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162074832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C9C992D-49B2-4955-AAC3-C51C62027736}" type="datetime1">
              <a:rPr lang="en-US" smtClean="0"/>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229941849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C9C992D-49B2-4955-AAC3-C51C62027736}" type="datetime1">
              <a:rPr lang="en-US" smtClean="0"/>
              <a:t>1/25/2026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260307920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C9C992D-49B2-4955-AAC3-C51C62027736}"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270710422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C9C992D-49B2-4955-AAC3-C51C62027736}"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1705321000"/>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30E916-0C04-46A4-8DF2-CF3446D0190D}"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68883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C992D-49B2-4955-AAC3-C51C62027736}"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1206841198"/>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EED23F-B93E-4E28-AE14-BBAC6E3EE240}"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5755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9C992D-49B2-4955-AAC3-C51C62027736}" type="datetime1">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4086799139"/>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9C992D-49B2-4955-AAC3-C51C62027736}" type="datetime1">
              <a:rPr lang="en-US" smtClean="0"/>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4274179891"/>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76DAA1-ED4C-41DF-90B5-DB307ABE85CF}" type="datetime1">
              <a:rPr lang="en-US" smtClean="0"/>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10067559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D5DC48D-6D42-4443-A16B-F6978702C3CA}" type="datetime1">
              <a:rPr lang="en-US" smtClean="0"/>
              <a:t>1/25/2026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13638049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C9C992D-49B2-4955-AAC3-C51C62027736}" type="datetime1">
              <a:rPr lang="en-US" smtClean="0"/>
              <a:t>1/25/2026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A81361-66D7-4C6D-A462-B780D05B41E3}" type="slidenum">
              <a:rPr lang="en-US" smtClean="0"/>
              <a:t>‹#›</a:t>
            </a:fld>
            <a:endParaRPr lang="en-US"/>
          </a:p>
        </p:txBody>
      </p:sp>
    </p:spTree>
    <p:extLst>
      <p:ext uri="{BB962C8B-B14F-4D97-AF65-F5344CB8AC3E}">
        <p14:creationId xmlns:p14="http://schemas.microsoft.com/office/powerpoint/2010/main" val="2800958543"/>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E22F14-8128-4E1C-8723-76E0586227D9}" type="datetime1">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1307866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C992D-49B2-4955-AAC3-C51C62027736}"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3446658490"/>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C992D-49B2-4955-AAC3-C51C62027736}" type="datetime1">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1361-66D7-4C6D-A462-B780D05B41E3}" type="slidenum">
              <a:rPr lang="en-US" smtClean="0"/>
              <a:t>‹#›</a:t>
            </a:fld>
            <a:endParaRPr lang="en-US"/>
          </a:p>
        </p:txBody>
      </p:sp>
    </p:spTree>
    <p:extLst>
      <p:ext uri="{BB962C8B-B14F-4D97-AF65-F5344CB8AC3E}">
        <p14:creationId xmlns:p14="http://schemas.microsoft.com/office/powerpoint/2010/main" val="227164709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C9C992D-49B2-4955-AAC3-C51C62027736}" type="datetime1">
              <a:rPr lang="en-US" smtClean="0"/>
              <a:t>1/25/2026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1A81361-66D7-4C6D-A462-B780D05B41E3}" type="slidenum">
              <a:rPr lang="en-US" smtClean="0"/>
              <a:t>‹#›</a:t>
            </a:fld>
            <a:endParaRPr lang="en-US"/>
          </a:p>
        </p:txBody>
      </p:sp>
    </p:spTree>
    <p:extLst>
      <p:ext uri="{BB962C8B-B14F-4D97-AF65-F5344CB8AC3E}">
        <p14:creationId xmlns:p14="http://schemas.microsoft.com/office/powerpoint/2010/main" val="316387600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C9C992D-49B2-4955-AAC3-C51C62027736}" type="datetime1">
              <a:rPr lang="en-US" smtClean="0"/>
              <a:t>1/25/2026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A81361-66D7-4C6D-A462-B780D05B41E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656287"/>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AAA502-5435-489E-9538-3A40E6C714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33999" y="4550229"/>
            <a:ext cx="10909073" cy="1057655"/>
          </a:xfrm>
        </p:spPr>
        <p:txBody>
          <a:bodyPr>
            <a:normAutofit/>
          </a:bodyPr>
          <a:lstStyle/>
          <a:p>
            <a:r>
              <a:rPr lang="en-US" sz="3300" dirty="0"/>
              <a:t>Fundamentals of  Software Engineering </a:t>
            </a:r>
            <a:endParaRPr lang="en-GB" sz="3300" dirty="0"/>
          </a:p>
        </p:txBody>
      </p:sp>
      <p:sp>
        <p:nvSpPr>
          <p:cNvPr id="3" name="Subtitle 2"/>
          <p:cNvSpPr>
            <a:spLocks noGrp="1"/>
          </p:cNvSpPr>
          <p:nvPr>
            <p:ph type="subTitle" idx="1"/>
          </p:nvPr>
        </p:nvSpPr>
        <p:spPr>
          <a:xfrm>
            <a:off x="633999" y="5727515"/>
            <a:ext cx="10925101" cy="515477"/>
          </a:xfrm>
        </p:spPr>
        <p:txBody>
          <a:bodyPr>
            <a:normAutofit/>
          </a:bodyPr>
          <a:lstStyle/>
          <a:p>
            <a:r>
              <a:rPr lang="en-US" sz="2000" dirty="0">
                <a:solidFill>
                  <a:schemeClr val="tx1">
                    <a:lumMod val="85000"/>
                    <a:lumOff val="15000"/>
                  </a:schemeClr>
                </a:solidFill>
              </a:rPr>
              <a:t>Lecture 3: Software application types and Software Processes</a:t>
            </a:r>
            <a:endParaRPr lang="en-GB" sz="2000" dirty="0">
              <a:solidFill>
                <a:schemeClr val="tx1">
                  <a:lumMod val="85000"/>
                  <a:lumOff val="15000"/>
                </a:schemeClr>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457" y="640080"/>
            <a:ext cx="10007606" cy="3602736"/>
          </a:xfrm>
          <a:prstGeom prst="rect">
            <a:avLst/>
          </a:prstGeom>
        </p:spPr>
      </p:pic>
      <p:cxnSp>
        <p:nvCxnSpPr>
          <p:cNvPr id="12" name="Straight Connector 11">
            <a:extLst>
              <a:ext uri="{FF2B5EF4-FFF2-40B4-BE49-F238E27FC236}">
                <a16:creationId xmlns:a16="http://schemas.microsoft.com/office/drawing/2014/main" id="{C9AC0290-4702-4519-B0F4-C2A46880997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E42378B-2E28-4810-8421-7A473A40E37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a:extLst>
              <a:ext uri="{FF2B5EF4-FFF2-40B4-BE49-F238E27FC236}">
                <a16:creationId xmlns:a16="http://schemas.microsoft.com/office/drawing/2014/main" id="{0D91DD17-237F-4811-BC0E-128EB1BD7CF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Slide Number Placeholder 4">
            <a:extLst>
              <a:ext uri="{FF2B5EF4-FFF2-40B4-BE49-F238E27FC236}">
                <a16:creationId xmlns:a16="http://schemas.microsoft.com/office/drawing/2014/main" id="{85B48BE4-3F2B-4D9A-97E6-499505F16EA4}"/>
              </a:ext>
            </a:extLst>
          </p:cNvPr>
          <p:cNvSpPr>
            <a:spLocks noGrp="1"/>
          </p:cNvSpPr>
          <p:nvPr>
            <p:ph type="sldNum" sz="quarter" idx="12"/>
          </p:nvPr>
        </p:nvSpPr>
        <p:spPr>
          <a:xfrm>
            <a:off x="9900458" y="6459785"/>
            <a:ext cx="1312025" cy="365125"/>
          </a:xfrm>
        </p:spPr>
        <p:txBody>
          <a:bodyPr>
            <a:normAutofit/>
          </a:bodyPr>
          <a:lstStyle/>
          <a:p>
            <a:pPr marL="0" marR="0" lvl="0" indent="0" defTabSz="457200" rtl="0" eaLnBrk="1" fontAlgn="auto" latinLnBrk="0" hangingPunct="1">
              <a:spcBef>
                <a:spcPts val="0"/>
              </a:spcBef>
              <a:spcAft>
                <a:spcPts val="600"/>
              </a:spcAft>
              <a:buClrTx/>
              <a:buSzTx/>
              <a:buFontTx/>
              <a:buNone/>
              <a:tabLst/>
              <a:defRPr/>
            </a:pPr>
            <a:fld id="{51A81361-66D7-4C6D-A462-B780D05B41E3}" type="slidenum">
              <a:rPr kumimoji="0" lang="en-US" b="0" i="0" u="none" strike="noStrike" kern="1200" cap="none" spc="0" normalizeH="0" baseline="0" noProof="0">
                <a:ln>
                  <a:noFill/>
                </a:ln>
                <a:effectLst/>
                <a:uLnTx/>
                <a:uFillTx/>
                <a:latin typeface="Century Gothic" panose="020B0502020202020204"/>
                <a:ea typeface="+mn-ea"/>
                <a:cs typeface="+mn-cs"/>
              </a:rPr>
              <a:pPr marL="0" marR="0" lvl="0" indent="0" defTabSz="457200" rtl="0" eaLnBrk="1" fontAlgn="auto" latinLnBrk="0" hangingPunct="1">
                <a:spcBef>
                  <a:spcPts val="0"/>
                </a:spcBef>
                <a:spcAft>
                  <a:spcPts val="600"/>
                </a:spcAft>
                <a:buClrTx/>
                <a:buSzTx/>
                <a:buFontTx/>
                <a:buNone/>
                <a:tabLst/>
                <a:defRPr/>
              </a:pPr>
              <a:t>1</a:t>
            </a:fld>
            <a:endParaRPr kumimoji="0" lang="en-US" b="0" i="0" u="none" strike="noStrike" kern="1200" cap="none" spc="0" normalizeH="0" baseline="0" noProof="0">
              <a:ln>
                <a:noFill/>
              </a:ln>
              <a:effectLst/>
              <a:uLnTx/>
              <a:uFillTx/>
              <a:latin typeface="Century Gothic" panose="020B0502020202020204"/>
              <a:ea typeface="+mn-ea"/>
              <a:cs typeface="+mn-cs"/>
            </a:endParaRPr>
          </a:p>
        </p:txBody>
      </p:sp>
    </p:spTree>
    <p:extLst>
      <p:ext uri="{BB962C8B-B14F-4D97-AF65-F5344CB8AC3E}">
        <p14:creationId xmlns:p14="http://schemas.microsoft.com/office/powerpoint/2010/main" val="3988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C8D2C1-DA83-420D-9635-D52CE066B5D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434F74C9-6A0B-409E-AD1C-45B58BE91B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F5486A9D-1265-4B57-91E6-68E666B978B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0AA6468-80AC-4DDF-9CFB-C7A9507E203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9F95F32B-E679-4718-89AC-13B98B426D96}"/>
              </a:ext>
            </a:extLst>
          </p:cNvPr>
          <p:cNvSpPr>
            <a:spLocks noGrp="1"/>
          </p:cNvSpPr>
          <p:nvPr>
            <p:ph type="title"/>
          </p:nvPr>
        </p:nvSpPr>
        <p:spPr>
          <a:xfrm>
            <a:off x="457200" y="640080"/>
            <a:ext cx="3659246" cy="2926080"/>
          </a:xfrm>
        </p:spPr>
        <p:txBody>
          <a:bodyPr vert="horz" lIns="91440" tIns="45720" rIns="91440" bIns="45720" rtlCol="0" anchor="b">
            <a:normAutofit/>
          </a:bodyPr>
          <a:lstStyle/>
          <a:p>
            <a:r>
              <a:rPr lang="en-US" sz="4400">
                <a:solidFill>
                  <a:srgbClr val="FFFFFF"/>
                </a:solidFill>
              </a:rPr>
              <a:t>Types of Software Application</a:t>
            </a:r>
          </a:p>
        </p:txBody>
      </p:sp>
      <p:sp>
        <p:nvSpPr>
          <p:cNvPr id="4" name="Slide Number Placeholder 3">
            <a:extLst>
              <a:ext uri="{FF2B5EF4-FFF2-40B4-BE49-F238E27FC236}">
                <a16:creationId xmlns:a16="http://schemas.microsoft.com/office/drawing/2014/main" id="{F48F6E2F-859F-4CB6-AEC6-A8096B6500D8}"/>
              </a:ext>
            </a:extLst>
          </p:cNvPr>
          <p:cNvSpPr>
            <a:spLocks noGrp="1"/>
          </p:cNvSpPr>
          <p:nvPr>
            <p:ph type="sldNum" sz="quarter" idx="12"/>
          </p:nvPr>
        </p:nvSpPr>
        <p:spPr>
          <a:xfrm>
            <a:off x="486810" y="6459785"/>
            <a:ext cx="725557" cy="365125"/>
          </a:xfrm>
        </p:spPr>
        <p:txBody>
          <a:bodyPr vert="horz" lIns="91440" tIns="45720" rIns="91440" bIns="45720" rtlCol="0" anchor="ctr">
            <a:normAutofit/>
          </a:bodyPr>
          <a:lstStyle/>
          <a:p>
            <a:pPr algn="l" defTabSz="914400">
              <a:spcAft>
                <a:spcPts val="600"/>
              </a:spcAft>
            </a:pPr>
            <a:fld id="{51A81361-66D7-4C6D-A462-B780D05B41E3}" type="slidenum">
              <a:rPr lang="en-US" smtClean="0"/>
              <a:pPr algn="l" defTabSz="914400">
                <a:spcAft>
                  <a:spcPts val="600"/>
                </a:spcAft>
              </a:pPr>
              <a:t>2</a:t>
            </a:fld>
            <a:endParaRPr lang="en-US"/>
          </a:p>
        </p:txBody>
      </p:sp>
      <p:pic>
        <p:nvPicPr>
          <p:cNvPr id="6" name="Picture 5" descr="Person writing on a notepad">
            <a:extLst>
              <a:ext uri="{FF2B5EF4-FFF2-40B4-BE49-F238E27FC236}">
                <a16:creationId xmlns:a16="http://schemas.microsoft.com/office/drawing/2014/main" id="{BA8E7CF3-A7E6-49BC-85D0-BE66C8D20C3D}"/>
              </a:ext>
            </a:extLst>
          </p:cNvPr>
          <p:cNvPicPr>
            <a:picLocks noChangeAspect="1"/>
          </p:cNvPicPr>
          <p:nvPr/>
        </p:nvPicPr>
        <p:blipFill rotWithShape="1">
          <a:blip r:embed="rId2"/>
          <a:srcRect l="10056" r="2671"/>
          <a:stretch/>
        </p:blipFill>
        <p:spPr>
          <a:xfrm>
            <a:off x="4639733" y="10"/>
            <a:ext cx="7552266" cy="6857990"/>
          </a:xfrm>
          <a:prstGeom prst="rect">
            <a:avLst/>
          </a:prstGeom>
        </p:spPr>
      </p:pic>
      <p:sp>
        <p:nvSpPr>
          <p:cNvPr id="18" name="Rectangle 17">
            <a:extLst>
              <a:ext uri="{FF2B5EF4-FFF2-40B4-BE49-F238E27FC236}">
                <a16:creationId xmlns:a16="http://schemas.microsoft.com/office/drawing/2014/main" id="{4AB900CC-5074-4746-A1A4-AF640455BD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5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845800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10">
            <a:extLst>
              <a:ext uri="{FF2B5EF4-FFF2-40B4-BE49-F238E27FC236}">
                <a16:creationId xmlns:a16="http://schemas.microsoft.com/office/drawing/2014/main" id="{4E4490D0-3672-446A-AC12-B4830333BD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12">
            <a:extLst>
              <a:ext uri="{FF2B5EF4-FFF2-40B4-BE49-F238E27FC236}">
                <a16:creationId xmlns:a16="http://schemas.microsoft.com/office/drawing/2014/main" id="{39CB82C2-DF65-4EC1-8280-F201D50F57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7" name="Straight Connector 14">
            <a:extLst>
              <a:ext uri="{FF2B5EF4-FFF2-40B4-BE49-F238E27FC236}">
                <a16:creationId xmlns:a16="http://schemas.microsoft.com/office/drawing/2014/main" id="{7E1D4427-852B-4B37-8E76-0E9F1810BA2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8" name="Rectangle 16">
            <a:extLst>
              <a:ext uri="{FF2B5EF4-FFF2-40B4-BE49-F238E27FC236}">
                <a16:creationId xmlns:a16="http://schemas.microsoft.com/office/drawing/2014/main" id="{C4AAA502-5435-489E-9538-3A40E6C714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A615FD-A0C0-4E11-BAD7-74DA026F84F3}"/>
              </a:ext>
            </a:extLst>
          </p:cNvPr>
          <p:cNvSpPr>
            <a:spLocks noGrp="1"/>
          </p:cNvSpPr>
          <p:nvPr>
            <p:ph type="title"/>
          </p:nvPr>
        </p:nvSpPr>
        <p:spPr>
          <a:xfrm>
            <a:off x="633999" y="4550229"/>
            <a:ext cx="10909073" cy="1057655"/>
          </a:xfrm>
        </p:spPr>
        <p:txBody>
          <a:bodyPr vert="horz" lIns="91440" tIns="45720" rIns="91440" bIns="45720" rtlCol="0" anchor="b">
            <a:normAutofit/>
          </a:bodyPr>
          <a:lstStyle/>
          <a:p>
            <a:r>
              <a:rPr lang="en-US" sz="6000" b="0" i="0">
                <a:solidFill>
                  <a:schemeClr val="tx1">
                    <a:lumMod val="85000"/>
                    <a:lumOff val="15000"/>
                  </a:schemeClr>
                </a:solidFill>
              </a:rPr>
              <a:t>Types of Software </a:t>
            </a:r>
          </a:p>
        </p:txBody>
      </p:sp>
      <p:pic>
        <p:nvPicPr>
          <p:cNvPr id="6" name="Content Placeholder 5">
            <a:extLst>
              <a:ext uri="{FF2B5EF4-FFF2-40B4-BE49-F238E27FC236}">
                <a16:creationId xmlns:a16="http://schemas.microsoft.com/office/drawing/2014/main" id="{979BA149-B056-4372-BEAA-843C5BDEC812}"/>
              </a:ext>
            </a:extLst>
          </p:cNvPr>
          <p:cNvPicPr>
            <a:picLocks noGrp="1" noChangeAspect="1"/>
          </p:cNvPicPr>
          <p:nvPr>
            <p:ph idx="1"/>
          </p:nvPr>
        </p:nvPicPr>
        <p:blipFill>
          <a:blip r:embed="rId3"/>
          <a:stretch>
            <a:fillRect/>
          </a:stretch>
        </p:blipFill>
        <p:spPr>
          <a:xfrm>
            <a:off x="1378881" y="216402"/>
            <a:ext cx="9704297" cy="4536760"/>
          </a:xfrm>
          <a:prstGeom prst="rect">
            <a:avLst/>
          </a:prstGeom>
        </p:spPr>
      </p:pic>
      <p:cxnSp>
        <p:nvCxnSpPr>
          <p:cNvPr id="29" name="Straight Connector 18">
            <a:extLst>
              <a:ext uri="{FF2B5EF4-FFF2-40B4-BE49-F238E27FC236}">
                <a16:creationId xmlns:a16="http://schemas.microsoft.com/office/drawing/2014/main" id="{C9AC0290-4702-4519-B0F4-C2A46880997B}"/>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30" name="Rectangle 20">
            <a:extLst>
              <a:ext uri="{FF2B5EF4-FFF2-40B4-BE49-F238E27FC236}">
                <a16:creationId xmlns:a16="http://schemas.microsoft.com/office/drawing/2014/main" id="{DE42378B-2E28-4810-8421-7A473A40E37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22">
            <a:extLst>
              <a:ext uri="{FF2B5EF4-FFF2-40B4-BE49-F238E27FC236}">
                <a16:creationId xmlns:a16="http://schemas.microsoft.com/office/drawing/2014/main" id="{0D91DD17-237F-4811-BC0E-128EB1BD7CF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6F9EB623-E5A9-4154-8D26-31572C221AD0}"/>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R="0" lvl="0" indent="0" defTabSz="914400" fontAlgn="auto">
              <a:spcBef>
                <a:spcPts val="0"/>
              </a:spcBef>
              <a:spcAft>
                <a:spcPts val="600"/>
              </a:spcAft>
              <a:buClrTx/>
              <a:buSzTx/>
              <a:buFontTx/>
              <a:buNone/>
              <a:tabLst/>
              <a:defRPr/>
            </a:pPr>
            <a:fld id="{51A81361-66D7-4C6D-A462-B780D05B41E3}" type="slidenum">
              <a:rPr kumimoji="0" lang="en-US" b="0" i="0" u="none" strike="noStrike" cap="none" spc="0" normalizeH="0" baseline="0" noProof="0">
                <a:ln>
                  <a:noFill/>
                </a:ln>
                <a:effectLst/>
                <a:uLnTx/>
                <a:uFillTx/>
              </a:rPr>
              <a:pPr marR="0" lvl="0" indent="0" defTabSz="914400" fontAlgn="auto">
                <a:spcBef>
                  <a:spcPts val="0"/>
                </a:spcBef>
                <a:spcAft>
                  <a:spcPts val="600"/>
                </a:spcAft>
                <a:buClrTx/>
                <a:buSzTx/>
                <a:buFontTx/>
                <a:buNone/>
                <a:tabLst/>
                <a:defRPr/>
              </a:pPr>
              <a:t>3</a:t>
            </a:fld>
            <a:endParaRPr kumimoji="0" lang="en-US" b="0" i="0" u="none" strike="noStrike" cap="none" spc="0" normalizeH="0" baseline="0" noProof="0">
              <a:ln>
                <a:noFill/>
              </a:ln>
              <a:effectLst/>
              <a:uLnTx/>
              <a:uFillTx/>
            </a:endParaRPr>
          </a:p>
        </p:txBody>
      </p:sp>
    </p:spTree>
    <p:extLst>
      <p:ext uri="{BB962C8B-B14F-4D97-AF65-F5344CB8AC3E}">
        <p14:creationId xmlns:p14="http://schemas.microsoft.com/office/powerpoint/2010/main" val="5175541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12">
            <a:extLst>
              <a:ext uri="{FF2B5EF4-FFF2-40B4-BE49-F238E27FC236}">
                <a16:creationId xmlns:a16="http://schemas.microsoft.com/office/drawing/2014/main" id="{39CB82C2-DF65-4EC1-8280-F201D50F57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5" name="Straight Connector 14">
            <a:extLst>
              <a:ext uri="{FF2B5EF4-FFF2-40B4-BE49-F238E27FC236}">
                <a16:creationId xmlns:a16="http://schemas.microsoft.com/office/drawing/2014/main" id="{7E1D4427-852B-4B37-8E76-0E9F1810BA2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FA4CD5CB-D209-4D70-8CA4-629731C5921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FF54F-681E-42C6-8761-8849F923598D}"/>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5600" b="0" i="0">
                <a:solidFill>
                  <a:schemeClr val="tx1">
                    <a:lumMod val="85000"/>
                    <a:lumOff val="15000"/>
                  </a:schemeClr>
                </a:solidFill>
              </a:rPr>
              <a:t>Software Application Types</a:t>
            </a:r>
          </a:p>
        </p:txBody>
      </p:sp>
      <p:pic>
        <p:nvPicPr>
          <p:cNvPr id="6" name="Content Placeholder 5" descr="Diagram&#10;&#10;Description automatically generated">
            <a:extLst>
              <a:ext uri="{FF2B5EF4-FFF2-40B4-BE49-F238E27FC236}">
                <a16:creationId xmlns:a16="http://schemas.microsoft.com/office/drawing/2014/main" id="{297C0F5B-F0E5-42B5-B5AB-10D206421E75}"/>
              </a:ext>
            </a:extLst>
          </p:cNvPr>
          <p:cNvPicPr>
            <a:picLocks noGrp="1" noChangeAspect="1"/>
          </p:cNvPicPr>
          <p:nvPr>
            <p:ph idx="1"/>
          </p:nvPr>
        </p:nvPicPr>
        <p:blipFill>
          <a:blip r:embed="rId3"/>
          <a:stretch>
            <a:fillRect/>
          </a:stretch>
        </p:blipFill>
        <p:spPr>
          <a:xfrm>
            <a:off x="1231115" y="640081"/>
            <a:ext cx="5717985" cy="5054156"/>
          </a:xfrm>
          <a:prstGeom prst="rect">
            <a:avLst/>
          </a:prstGeom>
        </p:spPr>
      </p:pic>
      <p:cxnSp>
        <p:nvCxnSpPr>
          <p:cNvPr id="9" name="Straight Connector 18">
            <a:extLst>
              <a:ext uri="{FF2B5EF4-FFF2-40B4-BE49-F238E27FC236}">
                <a16:creationId xmlns:a16="http://schemas.microsoft.com/office/drawing/2014/main" id="{5C6A2BAE-B461-4B55-8E1F-0722ABDD139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B4C27B90-DF2B-4D00-BA07-18ED774CD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a:extLst>
              <a:ext uri="{FF2B5EF4-FFF2-40B4-BE49-F238E27FC236}">
                <a16:creationId xmlns:a16="http://schemas.microsoft.com/office/drawing/2014/main" id="{593ACC25-C262-417A-8AA9-0641C772BDB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DA44A1F0-7588-404D-8D00-7EFF4F27134C}"/>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R="0" lvl="0" indent="0" defTabSz="914400" fontAlgn="auto">
              <a:spcBef>
                <a:spcPts val="0"/>
              </a:spcBef>
              <a:spcAft>
                <a:spcPts val="600"/>
              </a:spcAft>
              <a:buClrTx/>
              <a:buSzTx/>
              <a:buFontTx/>
              <a:buNone/>
              <a:tabLst/>
              <a:defRPr/>
            </a:pPr>
            <a:fld id="{51A81361-66D7-4C6D-A462-B780D05B41E3}" type="slidenum">
              <a:rPr kumimoji="0" lang="en-US" b="0" i="0" u="none" strike="noStrike" cap="none" spc="0" normalizeH="0" baseline="0" noProof="0">
                <a:ln>
                  <a:noFill/>
                </a:ln>
                <a:effectLst/>
                <a:uLnTx/>
                <a:uFillTx/>
              </a:rPr>
              <a:pPr marR="0" lvl="0" indent="0" defTabSz="914400" fontAlgn="auto">
                <a:spcBef>
                  <a:spcPts val="0"/>
                </a:spcBef>
                <a:spcAft>
                  <a:spcPts val="600"/>
                </a:spcAft>
                <a:buClrTx/>
                <a:buSzTx/>
                <a:buFontTx/>
                <a:buNone/>
                <a:tabLst/>
                <a:defRPr/>
              </a:pPr>
              <a:t>4</a:t>
            </a:fld>
            <a:endParaRPr kumimoji="0" lang="en-US" b="0" i="0" u="none" strike="noStrike" cap="none" spc="0" normalizeH="0" baseline="0" noProof="0">
              <a:ln>
                <a:noFill/>
              </a:ln>
              <a:effectLst/>
              <a:uLnTx/>
              <a:uFillTx/>
            </a:endParaRPr>
          </a:p>
        </p:txBody>
      </p:sp>
    </p:spTree>
    <p:extLst>
      <p:ext uri="{BB962C8B-B14F-4D97-AF65-F5344CB8AC3E}">
        <p14:creationId xmlns:p14="http://schemas.microsoft.com/office/powerpoint/2010/main" val="38629180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41B58E-3B65-4A01-A276-975AB2CF8A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AAC67C3-831B-4AB1-A259-DFB839CAFAF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B8A9A3D-532C-4CE2-AD5A-09EE01A0BFC6}"/>
              </a:ext>
            </a:extLst>
          </p:cNvPr>
          <p:cNvSpPr>
            <a:spLocks noGrp="1"/>
          </p:cNvSpPr>
          <p:nvPr>
            <p:ph type="title"/>
          </p:nvPr>
        </p:nvSpPr>
        <p:spPr>
          <a:xfrm>
            <a:off x="492370" y="605896"/>
            <a:ext cx="3084844" cy="5646208"/>
          </a:xfrm>
        </p:spPr>
        <p:txBody>
          <a:bodyPr anchor="ctr">
            <a:normAutofit/>
          </a:bodyPr>
          <a:lstStyle/>
          <a:p>
            <a:r>
              <a:rPr lang="en-US" sz="3600">
                <a:solidFill>
                  <a:srgbClr val="FFFFFF"/>
                </a:solidFill>
              </a:rPr>
              <a:t>Software Application types</a:t>
            </a:r>
          </a:p>
        </p:txBody>
      </p:sp>
      <p:sp>
        <p:nvSpPr>
          <p:cNvPr id="13" name="Rectangle 12">
            <a:extLst>
              <a:ext uri="{FF2B5EF4-FFF2-40B4-BE49-F238E27FC236}">
                <a16:creationId xmlns:a16="http://schemas.microsoft.com/office/drawing/2014/main" id="{054B3F04-9EAC-45C0-B3CE-0387EEA10A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ABABA40E-A114-4800-B658-D0C2CC56C81F}"/>
              </a:ext>
            </a:extLst>
          </p:cNvPr>
          <p:cNvSpPr>
            <a:spLocks noGrp="1"/>
          </p:cNvSpPr>
          <p:nvPr>
            <p:ph idx="1"/>
          </p:nvPr>
        </p:nvSpPr>
        <p:spPr>
          <a:xfrm>
            <a:off x="4742016" y="605896"/>
            <a:ext cx="6827132" cy="5646208"/>
          </a:xfrm>
        </p:spPr>
        <p:txBody>
          <a:bodyPr anchor="ctr">
            <a:normAutofit/>
          </a:bodyPr>
          <a:lstStyle/>
          <a:p>
            <a:r>
              <a:rPr lang="en-US" sz="2800" dirty="0"/>
              <a:t>Stand-alone applications </a:t>
            </a:r>
          </a:p>
          <a:p>
            <a:pPr lvl="1"/>
            <a:r>
              <a:rPr lang="en-US" sz="2400" dirty="0"/>
              <a:t>These are application systems that run on a local computer, such as a PC. do not need to be connected to a network. </a:t>
            </a:r>
            <a:r>
              <a:rPr lang="en-US" sz="2400" dirty="0" smtClean="0"/>
              <a:t>MS Office, Compiler etc.</a:t>
            </a:r>
            <a:endParaRPr lang="en-US" sz="2400" dirty="0"/>
          </a:p>
          <a:p>
            <a:r>
              <a:rPr lang="en-US" sz="2800" dirty="0"/>
              <a:t>Interactive transaction-based applications </a:t>
            </a:r>
          </a:p>
          <a:p>
            <a:pPr lvl="1"/>
            <a:r>
              <a:rPr lang="en-US" sz="2400" dirty="0"/>
              <a:t>Applications that execute on a remote computer and are accessed by users from their own PCs. web applications such as e-commerce applications. </a:t>
            </a:r>
          </a:p>
          <a:p>
            <a:r>
              <a:rPr lang="en-US" sz="2800" dirty="0"/>
              <a:t>Embedded control systems </a:t>
            </a:r>
          </a:p>
          <a:p>
            <a:pPr lvl="1"/>
            <a:r>
              <a:rPr lang="en-US" sz="2400" dirty="0"/>
              <a:t>These are software control systems that control and manage hardware devices</a:t>
            </a:r>
            <a:r>
              <a:rPr lang="en-US" sz="2400" dirty="0" smtClean="0"/>
              <a:t>. Mouse, Network drivers etc. </a:t>
            </a:r>
            <a:endParaRPr lang="en-US" sz="2400" dirty="0"/>
          </a:p>
        </p:txBody>
      </p:sp>
      <p:sp>
        <p:nvSpPr>
          <p:cNvPr id="4" name="Slide Number Placeholder 3">
            <a:extLst>
              <a:ext uri="{FF2B5EF4-FFF2-40B4-BE49-F238E27FC236}">
                <a16:creationId xmlns:a16="http://schemas.microsoft.com/office/drawing/2014/main" id="{7E3B9CE8-5AAA-4B73-8769-610978205923}"/>
              </a:ext>
            </a:extLst>
          </p:cNvPr>
          <p:cNvSpPr>
            <a:spLocks noGrp="1"/>
          </p:cNvSpPr>
          <p:nvPr>
            <p:ph type="sldNum" sz="quarter" idx="12"/>
          </p:nvPr>
        </p:nvSpPr>
        <p:spPr>
          <a:xfrm>
            <a:off x="10123055" y="6459785"/>
            <a:ext cx="1089428" cy="365125"/>
          </a:xfrm>
        </p:spPr>
        <p:txBody>
          <a:bodyPr>
            <a:normAutofit/>
          </a:bodyPr>
          <a:lstStyle/>
          <a:p>
            <a:pPr marL="0" marR="0" lvl="0" indent="0" defTabSz="457200" rtl="0" eaLnBrk="1" fontAlgn="auto" latinLnBrk="0" hangingPunct="1">
              <a:spcBef>
                <a:spcPts val="0"/>
              </a:spcBef>
              <a:spcAft>
                <a:spcPts val="600"/>
              </a:spcAft>
              <a:buClrTx/>
              <a:buSzTx/>
              <a:buFontTx/>
              <a:buNone/>
              <a:tabLst/>
              <a:defRPr/>
            </a:pPr>
            <a:fld id="{51A81361-66D7-4C6D-A462-B780D05B41E3}" type="slidenum">
              <a:rPr kumimoji="0" lang="en-US" b="0" i="0" u="none" strike="noStrike" kern="1200" cap="none" spc="0" normalizeH="0" baseline="0" noProof="0">
                <a:ln>
                  <a:noFill/>
                </a:ln>
                <a:solidFill>
                  <a:schemeClr val="tx2"/>
                </a:solidFill>
                <a:effectLst/>
                <a:uLnTx/>
                <a:uFillTx/>
                <a:latin typeface="Century Gothic" panose="020B0502020202020204"/>
                <a:ea typeface="+mn-ea"/>
                <a:cs typeface="+mn-cs"/>
              </a:rPr>
              <a:pPr marL="0" marR="0" lvl="0" indent="0" defTabSz="457200" rtl="0" eaLnBrk="1" fontAlgn="auto" latinLnBrk="0" hangingPunct="1">
                <a:spcBef>
                  <a:spcPts val="0"/>
                </a:spcBef>
                <a:spcAft>
                  <a:spcPts val="600"/>
                </a:spcAft>
                <a:buClrTx/>
                <a:buSzTx/>
                <a:buFontTx/>
                <a:buNone/>
                <a:tabLst/>
                <a:defRPr/>
              </a:pPr>
              <a:t>5</a:t>
            </a:fld>
            <a:endParaRPr kumimoji="0" lang="en-US" b="0" i="0" u="none" strike="noStrike" kern="1200" cap="none" spc="0" normalizeH="0" baseline="0" noProof="0">
              <a:ln>
                <a:noFill/>
              </a:ln>
              <a:solidFill>
                <a:schemeClr val="tx2"/>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784687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41B58E-3B65-4A01-A276-975AB2CF8A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AAC67C3-831B-4AB1-A259-DFB839CAFAF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6D6BC4C-A060-4D6C-B914-3351B5BF84E0}"/>
              </a:ext>
            </a:extLst>
          </p:cNvPr>
          <p:cNvSpPr>
            <a:spLocks noGrp="1"/>
          </p:cNvSpPr>
          <p:nvPr>
            <p:ph type="title"/>
          </p:nvPr>
        </p:nvSpPr>
        <p:spPr>
          <a:xfrm>
            <a:off x="492370" y="605896"/>
            <a:ext cx="3084844" cy="5646208"/>
          </a:xfrm>
        </p:spPr>
        <p:txBody>
          <a:bodyPr anchor="ctr">
            <a:normAutofit/>
          </a:bodyPr>
          <a:lstStyle/>
          <a:p>
            <a:r>
              <a:rPr lang="en-US" sz="3600">
                <a:solidFill>
                  <a:srgbClr val="FFFFFF"/>
                </a:solidFill>
              </a:rPr>
              <a:t>Application types</a:t>
            </a:r>
          </a:p>
        </p:txBody>
      </p:sp>
      <p:sp>
        <p:nvSpPr>
          <p:cNvPr id="13" name="Rectangle 12">
            <a:extLst>
              <a:ext uri="{FF2B5EF4-FFF2-40B4-BE49-F238E27FC236}">
                <a16:creationId xmlns:a16="http://schemas.microsoft.com/office/drawing/2014/main" id="{054B3F04-9EAC-45C0-B3CE-0387EEA10A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F9755BCE-950E-47EA-AC72-D264A517219C}"/>
              </a:ext>
            </a:extLst>
          </p:cNvPr>
          <p:cNvSpPr>
            <a:spLocks noGrp="1"/>
          </p:cNvSpPr>
          <p:nvPr>
            <p:ph idx="1"/>
          </p:nvPr>
        </p:nvSpPr>
        <p:spPr>
          <a:xfrm>
            <a:off x="4742016" y="605896"/>
            <a:ext cx="6413663" cy="5646208"/>
          </a:xfrm>
        </p:spPr>
        <p:txBody>
          <a:bodyPr anchor="ctr">
            <a:normAutofit lnSpcReduction="10000"/>
          </a:bodyPr>
          <a:lstStyle/>
          <a:p>
            <a:pPr algn="just"/>
            <a:r>
              <a:rPr lang="en-US" sz="3200" dirty="0"/>
              <a:t>Batch processing systems </a:t>
            </a:r>
          </a:p>
          <a:p>
            <a:pPr lvl="1" algn="just"/>
            <a:r>
              <a:rPr lang="en-US" sz="2800" dirty="0"/>
              <a:t>These are business systems that are designed to process data in large batches. </a:t>
            </a:r>
            <a:r>
              <a:rPr lang="en-US" sz="2800" dirty="0" err="1"/>
              <a:t>E.g</a:t>
            </a:r>
            <a:r>
              <a:rPr lang="en-US" sz="2800" dirty="0"/>
              <a:t> Credit card companies process </a:t>
            </a:r>
            <a:r>
              <a:rPr lang="en-US" sz="2800" dirty="0" smtClean="0"/>
              <a:t>bill, generate payroll, generate SMS for clients.</a:t>
            </a:r>
            <a:endParaRPr lang="en-US" sz="2800" dirty="0"/>
          </a:p>
          <a:p>
            <a:pPr algn="just"/>
            <a:r>
              <a:rPr lang="en-US" sz="3200" dirty="0"/>
              <a:t>Entertainment systems </a:t>
            </a:r>
          </a:p>
          <a:p>
            <a:pPr lvl="1" algn="just"/>
            <a:r>
              <a:rPr lang="en-US" sz="2800" dirty="0"/>
              <a:t>Media players etc. </a:t>
            </a:r>
          </a:p>
          <a:p>
            <a:pPr algn="just"/>
            <a:r>
              <a:rPr lang="en-US" sz="3200" dirty="0"/>
              <a:t>Systems for modeling and simulation </a:t>
            </a:r>
          </a:p>
          <a:p>
            <a:pPr lvl="1" algn="just"/>
            <a:r>
              <a:rPr lang="en-US" sz="2800" dirty="0"/>
              <a:t>These are systems that are developed by scientists and engineers to model physical processes or situations, which include many, separate, interacting objects. </a:t>
            </a:r>
            <a:r>
              <a:rPr lang="en-US" sz="2800" dirty="0" smtClean="0"/>
              <a:t>CASE, System Arch, Visio etc.</a:t>
            </a:r>
            <a:endParaRPr lang="en-US" sz="2800" dirty="0"/>
          </a:p>
        </p:txBody>
      </p:sp>
      <p:sp>
        <p:nvSpPr>
          <p:cNvPr id="4" name="Slide Number Placeholder 3">
            <a:extLst>
              <a:ext uri="{FF2B5EF4-FFF2-40B4-BE49-F238E27FC236}">
                <a16:creationId xmlns:a16="http://schemas.microsoft.com/office/drawing/2014/main" id="{EB2ADCB9-F529-47F4-A352-53EB25503E4E}"/>
              </a:ext>
            </a:extLst>
          </p:cNvPr>
          <p:cNvSpPr>
            <a:spLocks noGrp="1"/>
          </p:cNvSpPr>
          <p:nvPr>
            <p:ph type="sldNum" sz="quarter" idx="12"/>
          </p:nvPr>
        </p:nvSpPr>
        <p:spPr>
          <a:xfrm>
            <a:off x="10123055" y="6459785"/>
            <a:ext cx="1089428" cy="365125"/>
          </a:xfrm>
        </p:spPr>
        <p:txBody>
          <a:bodyPr>
            <a:normAutofit/>
          </a:bodyPr>
          <a:lstStyle/>
          <a:p>
            <a:pPr marL="0" marR="0" lvl="0" indent="0" defTabSz="457200" rtl="0" eaLnBrk="1" fontAlgn="auto" latinLnBrk="0" hangingPunct="1">
              <a:spcBef>
                <a:spcPts val="0"/>
              </a:spcBef>
              <a:spcAft>
                <a:spcPts val="600"/>
              </a:spcAft>
              <a:buClrTx/>
              <a:buSzTx/>
              <a:buFontTx/>
              <a:buNone/>
              <a:tabLst/>
              <a:defRPr/>
            </a:pPr>
            <a:fld id="{51A81361-66D7-4C6D-A462-B780D05B41E3}" type="slidenum">
              <a:rPr kumimoji="0" lang="en-US" b="0" i="0" u="none" strike="noStrike" kern="1200" cap="none" spc="0" normalizeH="0" baseline="0" noProof="0">
                <a:ln>
                  <a:noFill/>
                </a:ln>
                <a:solidFill>
                  <a:schemeClr val="tx2"/>
                </a:solidFill>
                <a:effectLst/>
                <a:uLnTx/>
                <a:uFillTx/>
                <a:latin typeface="Century Gothic" panose="020B0502020202020204"/>
                <a:ea typeface="+mn-ea"/>
                <a:cs typeface="+mn-cs"/>
              </a:rPr>
              <a:pPr marL="0" marR="0" lvl="0" indent="0" defTabSz="457200" rtl="0" eaLnBrk="1" fontAlgn="auto" latinLnBrk="0" hangingPunct="1">
                <a:spcBef>
                  <a:spcPts val="0"/>
                </a:spcBef>
                <a:spcAft>
                  <a:spcPts val="600"/>
                </a:spcAft>
                <a:buClrTx/>
                <a:buSzTx/>
                <a:buFontTx/>
                <a:buNone/>
                <a:tabLst/>
                <a:defRPr/>
              </a:pPr>
              <a:t>6</a:t>
            </a:fld>
            <a:endParaRPr kumimoji="0" lang="en-US" b="0" i="0" u="none" strike="noStrike" kern="1200" cap="none" spc="0" normalizeH="0" baseline="0" noProof="0">
              <a:ln>
                <a:noFill/>
              </a:ln>
              <a:solidFill>
                <a:schemeClr val="tx2"/>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734941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41B58E-3B65-4A01-A276-975AB2CF8A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AAC67C3-831B-4AB1-A259-DFB839CAFAF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4C5D603-2D6F-4323-9770-24553AC8C3B7}"/>
              </a:ext>
            </a:extLst>
          </p:cNvPr>
          <p:cNvSpPr>
            <a:spLocks noGrp="1"/>
          </p:cNvSpPr>
          <p:nvPr>
            <p:ph type="title"/>
          </p:nvPr>
        </p:nvSpPr>
        <p:spPr>
          <a:xfrm>
            <a:off x="492370" y="605896"/>
            <a:ext cx="3084844" cy="5646208"/>
          </a:xfrm>
        </p:spPr>
        <p:txBody>
          <a:bodyPr anchor="ctr">
            <a:normAutofit/>
          </a:bodyPr>
          <a:lstStyle/>
          <a:p>
            <a:r>
              <a:rPr lang="en-US" sz="3600">
                <a:solidFill>
                  <a:srgbClr val="FFFFFF"/>
                </a:solidFill>
              </a:rPr>
              <a:t>Application types</a:t>
            </a:r>
          </a:p>
        </p:txBody>
      </p:sp>
      <p:sp>
        <p:nvSpPr>
          <p:cNvPr id="13" name="Rectangle 12">
            <a:extLst>
              <a:ext uri="{FF2B5EF4-FFF2-40B4-BE49-F238E27FC236}">
                <a16:creationId xmlns:a16="http://schemas.microsoft.com/office/drawing/2014/main" id="{054B3F04-9EAC-45C0-B3CE-0387EEA10A0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3A5BA8E6-9C8A-4D25-8D2C-FC65EC6F6BB3}"/>
              </a:ext>
            </a:extLst>
          </p:cNvPr>
          <p:cNvSpPr>
            <a:spLocks noGrp="1"/>
          </p:cNvSpPr>
          <p:nvPr>
            <p:ph idx="1"/>
          </p:nvPr>
        </p:nvSpPr>
        <p:spPr>
          <a:xfrm>
            <a:off x="4742016" y="605896"/>
            <a:ext cx="6413663" cy="5646208"/>
          </a:xfrm>
        </p:spPr>
        <p:txBody>
          <a:bodyPr anchor="ctr">
            <a:normAutofit/>
          </a:bodyPr>
          <a:lstStyle/>
          <a:p>
            <a:r>
              <a:rPr lang="en-US" sz="3200" dirty="0"/>
              <a:t>Data collection systems </a:t>
            </a:r>
          </a:p>
          <a:p>
            <a:pPr lvl="1"/>
            <a:r>
              <a:rPr lang="en-US" sz="2800" dirty="0"/>
              <a:t>These are systems that collect data from their environment using a set of sensors and send that data to other systems for processing. e.g. RTU in </a:t>
            </a:r>
            <a:r>
              <a:rPr lang="en-US" sz="2800" dirty="0">
                <a:solidFill>
                  <a:srgbClr val="202124"/>
                </a:solidFill>
                <a:latin typeface="arial" panose="020B0604020202020204" pitchFamily="34" charset="0"/>
              </a:rPr>
              <a:t>Supervisory Control and Data Acquisition (SCADA)</a:t>
            </a:r>
            <a:r>
              <a:rPr lang="en-US" sz="2800" dirty="0" smtClean="0"/>
              <a:t> </a:t>
            </a:r>
            <a:r>
              <a:rPr lang="en-US" sz="2800" dirty="0"/>
              <a:t>systems </a:t>
            </a:r>
          </a:p>
          <a:p>
            <a:r>
              <a:rPr lang="en-US" sz="3200" dirty="0"/>
              <a:t>Systems of systems </a:t>
            </a:r>
          </a:p>
          <a:p>
            <a:pPr lvl="1"/>
            <a:r>
              <a:rPr lang="en-US" sz="2800" dirty="0"/>
              <a:t>These are systems that are composed of a number of other software systems. e.g. Electric/power grid systems</a:t>
            </a:r>
          </a:p>
        </p:txBody>
      </p:sp>
      <p:sp>
        <p:nvSpPr>
          <p:cNvPr id="4" name="Slide Number Placeholder 3">
            <a:extLst>
              <a:ext uri="{FF2B5EF4-FFF2-40B4-BE49-F238E27FC236}">
                <a16:creationId xmlns:a16="http://schemas.microsoft.com/office/drawing/2014/main" id="{A1559DF8-F647-41E3-BDF4-9FAE7DE7EC06}"/>
              </a:ext>
            </a:extLst>
          </p:cNvPr>
          <p:cNvSpPr>
            <a:spLocks noGrp="1"/>
          </p:cNvSpPr>
          <p:nvPr>
            <p:ph type="sldNum" sz="quarter" idx="12"/>
          </p:nvPr>
        </p:nvSpPr>
        <p:spPr>
          <a:xfrm>
            <a:off x="10123055" y="6459785"/>
            <a:ext cx="1089428" cy="365125"/>
          </a:xfrm>
        </p:spPr>
        <p:txBody>
          <a:bodyPr>
            <a:normAutofit/>
          </a:bodyPr>
          <a:lstStyle/>
          <a:p>
            <a:pPr marL="0" marR="0" lvl="0" indent="0" defTabSz="457200" rtl="0" eaLnBrk="1" fontAlgn="auto" latinLnBrk="0" hangingPunct="1">
              <a:spcBef>
                <a:spcPts val="0"/>
              </a:spcBef>
              <a:spcAft>
                <a:spcPts val="600"/>
              </a:spcAft>
              <a:buClrTx/>
              <a:buSzTx/>
              <a:buFontTx/>
              <a:buNone/>
              <a:tabLst/>
              <a:defRPr/>
            </a:pPr>
            <a:fld id="{51A81361-66D7-4C6D-A462-B780D05B41E3}" type="slidenum">
              <a:rPr kumimoji="0" lang="en-US" b="0" i="0" u="none" strike="noStrike" kern="1200" cap="none" spc="0" normalizeH="0" baseline="0" noProof="0">
                <a:ln>
                  <a:noFill/>
                </a:ln>
                <a:solidFill>
                  <a:schemeClr val="tx2"/>
                </a:solidFill>
                <a:effectLst/>
                <a:uLnTx/>
                <a:uFillTx/>
                <a:latin typeface="Century Gothic" panose="020B0502020202020204"/>
                <a:ea typeface="+mn-ea"/>
                <a:cs typeface="+mn-cs"/>
              </a:rPr>
              <a:pPr marL="0" marR="0" lvl="0" indent="0" defTabSz="457200" rtl="0" eaLnBrk="1" fontAlgn="auto" latinLnBrk="0" hangingPunct="1">
                <a:spcBef>
                  <a:spcPts val="0"/>
                </a:spcBef>
                <a:spcAft>
                  <a:spcPts val="600"/>
                </a:spcAft>
                <a:buClrTx/>
                <a:buSzTx/>
                <a:buFontTx/>
                <a:buNone/>
                <a:tabLst/>
                <a:defRPr/>
              </a:pPr>
              <a:t>7</a:t>
            </a:fld>
            <a:endParaRPr kumimoji="0" lang="en-US" b="0" i="0" u="none" strike="noStrike" kern="1200" cap="none" spc="0" normalizeH="0" baseline="0" noProof="0">
              <a:ln>
                <a:noFill/>
              </a:ln>
              <a:solidFill>
                <a:schemeClr val="tx2"/>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2280863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C8D2C1-DA83-420D-9635-D52CE066B5D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434F74C9-6A0B-409E-AD1C-45B58BE91B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F5486A9D-1265-4B57-91E6-68E666B978B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Script de computador num ecrã">
            <a:extLst>
              <a:ext uri="{FF2B5EF4-FFF2-40B4-BE49-F238E27FC236}">
                <a16:creationId xmlns:a16="http://schemas.microsoft.com/office/drawing/2014/main" id="{0DE0F047-B8ED-47DA-B498-14691847EE86}"/>
              </a:ext>
            </a:extLst>
          </p:cNvPr>
          <p:cNvPicPr>
            <a:picLocks noChangeAspect="1"/>
          </p:cNvPicPr>
          <p:nvPr/>
        </p:nvPicPr>
        <p:blipFill rotWithShape="1">
          <a:blip r:embed="rId2">
            <a:duotone>
              <a:prstClr val="black"/>
              <a:schemeClr val="tx2">
                <a:tint val="45000"/>
                <a:satMod val="400000"/>
              </a:schemeClr>
            </a:duotone>
            <a:alphaModFix amt="40000"/>
          </a:blip>
          <a:srcRect t="5981" b="9750"/>
          <a:stretch/>
        </p:blipFill>
        <p:spPr>
          <a:xfrm>
            <a:off x="20" y="10"/>
            <a:ext cx="12191980" cy="6857991"/>
          </a:xfrm>
          <a:prstGeom prst="rect">
            <a:avLst/>
          </a:prstGeom>
        </p:spPr>
      </p:pic>
      <p:sp>
        <p:nvSpPr>
          <p:cNvPr id="2" name="Title 1">
            <a:extLst>
              <a:ext uri="{FF2B5EF4-FFF2-40B4-BE49-F238E27FC236}">
                <a16:creationId xmlns:a16="http://schemas.microsoft.com/office/drawing/2014/main" id="{5BA70A7C-ECC7-4B19-89CA-EDBFB034480A}"/>
              </a:ext>
            </a:extLst>
          </p:cNvPr>
          <p:cNvSpPr>
            <a:spLocks noGrp="1"/>
          </p:cNvSpPr>
          <p:nvPr>
            <p:ph type="title"/>
          </p:nvPr>
        </p:nvSpPr>
        <p:spPr>
          <a:xfrm>
            <a:off x="1097280" y="758952"/>
            <a:ext cx="10058400" cy="3566160"/>
          </a:xfrm>
        </p:spPr>
        <p:txBody>
          <a:bodyPr vert="horz" lIns="91440" tIns="45720" rIns="91440" bIns="45720" rtlCol="0" anchor="b">
            <a:normAutofit/>
          </a:bodyPr>
          <a:lstStyle/>
          <a:p>
            <a:r>
              <a:rPr lang="en-US" sz="8000" dirty="0">
                <a:solidFill>
                  <a:schemeClr val="tx1">
                    <a:lumMod val="85000"/>
                    <a:lumOff val="15000"/>
                  </a:schemeClr>
                </a:solidFill>
              </a:rPr>
              <a:t>Software Processes </a:t>
            </a:r>
          </a:p>
        </p:txBody>
      </p:sp>
      <p:cxnSp>
        <p:nvCxnSpPr>
          <p:cNvPr id="16" name="Straight Connector 15">
            <a:extLst>
              <a:ext uri="{FF2B5EF4-FFF2-40B4-BE49-F238E27FC236}">
                <a16:creationId xmlns:a16="http://schemas.microsoft.com/office/drawing/2014/main" id="{E6E50488-8E5E-4E36-9763-092234CAED4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80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9E780F8-2452-4595-A281-E594BA83DB0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A917F44A-7774-4C79-BEDC-0CC73C8C0E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300F1ACB-E95A-4224-AB0B-10E0CE7CDDBE}"/>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914400">
              <a:spcAft>
                <a:spcPts val="600"/>
              </a:spcAft>
            </a:pPr>
            <a:fld id="{51A81361-66D7-4C6D-A462-B780D05B41E3}" type="slidenum">
              <a:rPr lang="en-US" smtClean="0"/>
              <a:pPr defTabSz="914400">
                <a:spcAft>
                  <a:spcPts val="600"/>
                </a:spcAft>
              </a:pPr>
              <a:t>8</a:t>
            </a:fld>
            <a:endParaRPr lang="en-US"/>
          </a:p>
        </p:txBody>
      </p:sp>
    </p:spTree>
    <p:extLst>
      <p:ext uri="{BB962C8B-B14F-4D97-AF65-F5344CB8AC3E}">
        <p14:creationId xmlns:p14="http://schemas.microsoft.com/office/powerpoint/2010/main" val="769090840"/>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24FEB-6FC0-4B55-BCFD-5CD339DFAE0C}"/>
              </a:ext>
            </a:extLst>
          </p:cNvPr>
          <p:cNvSpPr>
            <a:spLocks noGrp="1"/>
          </p:cNvSpPr>
          <p:nvPr>
            <p:ph type="title"/>
          </p:nvPr>
        </p:nvSpPr>
        <p:spPr/>
        <p:txBody>
          <a:bodyPr/>
          <a:lstStyle/>
          <a:p>
            <a:r>
              <a:rPr lang="en-US" dirty="0"/>
              <a:t>What is a software process?</a:t>
            </a:r>
          </a:p>
        </p:txBody>
      </p:sp>
      <p:sp>
        <p:nvSpPr>
          <p:cNvPr id="3" name="Content Placeholder 2">
            <a:extLst>
              <a:ext uri="{FF2B5EF4-FFF2-40B4-BE49-F238E27FC236}">
                <a16:creationId xmlns:a16="http://schemas.microsoft.com/office/drawing/2014/main" id="{6106B58C-F561-4D16-92A5-964AB477B11A}"/>
              </a:ext>
            </a:extLst>
          </p:cNvPr>
          <p:cNvSpPr>
            <a:spLocks noGrp="1"/>
          </p:cNvSpPr>
          <p:nvPr>
            <p:ph idx="1"/>
          </p:nvPr>
        </p:nvSpPr>
        <p:spPr/>
        <p:txBody>
          <a:bodyPr>
            <a:normAutofit lnSpcReduction="10000"/>
          </a:bodyPr>
          <a:lstStyle/>
          <a:p>
            <a:r>
              <a:rPr lang="en-US" sz="2800" dirty="0"/>
              <a:t>A set of activities whose goal is the development or evolution of software </a:t>
            </a:r>
          </a:p>
          <a:p>
            <a:endParaRPr lang="en-US" sz="2800" dirty="0"/>
          </a:p>
          <a:p>
            <a:r>
              <a:rPr lang="en-US" sz="2800" dirty="0"/>
              <a:t>Generic activities in all software processes are: </a:t>
            </a:r>
          </a:p>
          <a:p>
            <a:pPr lvl="1"/>
            <a:r>
              <a:rPr lang="en-US" sz="2600" dirty="0"/>
              <a:t> Specification - what the system should do and its development constraints </a:t>
            </a:r>
          </a:p>
          <a:p>
            <a:pPr lvl="1"/>
            <a:r>
              <a:rPr lang="en-US" sz="2600" dirty="0"/>
              <a:t> Design and Development - production of the software system </a:t>
            </a:r>
          </a:p>
          <a:p>
            <a:pPr lvl="1"/>
            <a:r>
              <a:rPr lang="en-US" sz="2600" dirty="0"/>
              <a:t> Validation - checking that the software is what the customer wants </a:t>
            </a:r>
          </a:p>
          <a:p>
            <a:pPr lvl="1"/>
            <a:r>
              <a:rPr lang="en-US" sz="2600" dirty="0"/>
              <a:t> Evolution - changing the software in response to changing demands</a:t>
            </a:r>
          </a:p>
        </p:txBody>
      </p:sp>
      <p:sp>
        <p:nvSpPr>
          <p:cNvPr id="4" name="Slide Number Placeholder 3">
            <a:extLst>
              <a:ext uri="{FF2B5EF4-FFF2-40B4-BE49-F238E27FC236}">
                <a16:creationId xmlns:a16="http://schemas.microsoft.com/office/drawing/2014/main" id="{65D041EF-8503-42F5-B6D1-1728001977CC}"/>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2800" b="0" i="0" u="none" strike="noStrike" kern="1200" cap="none" spc="0" normalizeH="0" baseline="0" noProof="0" smtClean="0">
                <a:ln>
                  <a:noFill/>
                </a:ln>
                <a:solidFill>
                  <a:prstClr val="white"/>
                </a:solidFill>
                <a:effectLst/>
                <a:uLnTx/>
                <a:uFillTx/>
                <a:latin typeface="Century Gothic" panose="020B0502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9</a:t>
            </a:fld>
            <a:endParaRPr kumimoji="0" lang="en-US" sz="2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61048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11973C2-EB8B-452A-A698-4A252FD3AE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4" name="Rectangle 73">
            <a:extLst>
              <a:ext uri="{FF2B5EF4-FFF2-40B4-BE49-F238E27FC236}">
                <a16:creationId xmlns:a16="http://schemas.microsoft.com/office/drawing/2014/main" id="{10162E77-11AD-44A7-84EC-40C59EEFBD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7" name="Rectangle 1">
            <a:extLst>
              <a:ext uri="{FF2B5EF4-FFF2-40B4-BE49-F238E27FC236}">
                <a16:creationId xmlns:a16="http://schemas.microsoft.com/office/drawing/2014/main" id="{44C25ADE-E3CB-48CD-8741-0B95756D771A}"/>
              </a:ext>
            </a:extLst>
          </p:cNvPr>
          <p:cNvSpPr>
            <a:spLocks noGrp="1" noChangeArrowheads="1"/>
          </p:cNvSpPr>
          <p:nvPr>
            <p:ph type="title"/>
          </p:nvPr>
        </p:nvSpPr>
        <p:spPr>
          <a:xfrm>
            <a:off x="5181601" y="634946"/>
            <a:ext cx="6368142" cy="1450757"/>
          </a:xfrm>
        </p:spPr>
        <p:txBody>
          <a:bodyPr vert="horz" lIns="91440" tIns="35206" rIns="91440" bIns="45720" rtlCol="0">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a:t>Software Process</a:t>
            </a:r>
          </a:p>
        </p:txBody>
      </p:sp>
      <p:pic>
        <p:nvPicPr>
          <p:cNvPr id="4100" name="Picture 4099" descr="Person watching empty phone">
            <a:extLst>
              <a:ext uri="{FF2B5EF4-FFF2-40B4-BE49-F238E27FC236}">
                <a16:creationId xmlns:a16="http://schemas.microsoft.com/office/drawing/2014/main" id="{B5D1DCF0-0A85-46BE-B945-1DCA7C07F377}"/>
              </a:ext>
            </a:extLst>
          </p:cNvPr>
          <p:cNvPicPr>
            <a:picLocks noChangeAspect="1"/>
          </p:cNvPicPr>
          <p:nvPr/>
        </p:nvPicPr>
        <p:blipFill rotWithShape="1">
          <a:blip r:embed="rId3"/>
          <a:srcRect l="42968" r="11811" b="1"/>
          <a:stretch/>
        </p:blipFill>
        <p:spPr>
          <a:xfrm>
            <a:off x="20" y="-12128"/>
            <a:ext cx="4654276" cy="6870127"/>
          </a:xfrm>
          <a:prstGeom prst="rect">
            <a:avLst/>
          </a:prstGeom>
        </p:spPr>
      </p:pic>
      <p:cxnSp>
        <p:nvCxnSpPr>
          <p:cNvPr id="76" name="Straight Connector 75">
            <a:extLst>
              <a:ext uri="{FF2B5EF4-FFF2-40B4-BE49-F238E27FC236}">
                <a16:creationId xmlns:a16="http://schemas.microsoft.com/office/drawing/2014/main" id="{5AB158E9-1B40-4CD6-95F0-95CA11DF7B7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4098" name="Rectangle 2">
            <a:extLst>
              <a:ext uri="{FF2B5EF4-FFF2-40B4-BE49-F238E27FC236}">
                <a16:creationId xmlns:a16="http://schemas.microsoft.com/office/drawing/2014/main" id="{A4E57B5B-F5AC-4716-B820-8CA0DCBA2782}"/>
              </a:ext>
            </a:extLst>
          </p:cNvPr>
          <p:cNvSpPr>
            <a:spLocks noGrp="1" noChangeArrowheads="1"/>
          </p:cNvSpPr>
          <p:nvPr>
            <p:ph idx="1"/>
          </p:nvPr>
        </p:nvSpPr>
        <p:spPr>
          <a:xfrm>
            <a:off x="5181601" y="2198914"/>
            <a:ext cx="6368142" cy="3670180"/>
          </a:xfrm>
        </p:spPr>
        <p:txBody>
          <a:bodyPr>
            <a:normAutofit/>
          </a:bodyPr>
          <a:lstStyle/>
          <a:p>
            <a:pPr marL="391729" indent="-293797">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sz="2800" dirty="0"/>
              <a:t>Fundamental Assumption:</a:t>
            </a:r>
          </a:p>
          <a:p>
            <a:pPr marL="391729" indent="-293797">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GB" altLang="en-US" sz="2800" dirty="0"/>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sz="2800" dirty="0">
                <a:cs typeface="Arial" panose="020B0604020202020204" pitchFamily="34" charset="0"/>
              </a:rPr>
              <a:t>Good processes lead to good software</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sz="2800" dirty="0">
                <a:cs typeface="Arial" panose="020B0604020202020204" pitchFamily="34" charset="0"/>
              </a:rPr>
              <a:t>Good processes reduce risk</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sz="2800" dirty="0">
                <a:cs typeface="Arial" panose="020B0604020202020204" pitchFamily="34" charset="0"/>
              </a:rPr>
              <a:t>Good processes enhance visibility </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sz="2800" dirty="0">
                <a:cs typeface="Arial" panose="020B0604020202020204" pitchFamily="34" charset="0"/>
              </a:rPr>
              <a:t>Good processes enable teamwork</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11973C2-EB8B-452A-A698-4A252FD3AE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4" name="Rectangle 73">
            <a:extLst>
              <a:ext uri="{FF2B5EF4-FFF2-40B4-BE49-F238E27FC236}">
                <a16:creationId xmlns:a16="http://schemas.microsoft.com/office/drawing/2014/main" id="{10162E77-11AD-44A7-84EC-40C59EEFBD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1" name="Rectangle 1">
            <a:extLst>
              <a:ext uri="{FF2B5EF4-FFF2-40B4-BE49-F238E27FC236}">
                <a16:creationId xmlns:a16="http://schemas.microsoft.com/office/drawing/2014/main" id="{744537E0-50E5-4109-8FEA-CF8D0BDD962C}"/>
              </a:ext>
            </a:extLst>
          </p:cNvPr>
          <p:cNvSpPr>
            <a:spLocks noGrp="1" noChangeArrowheads="1"/>
          </p:cNvSpPr>
          <p:nvPr>
            <p:ph type="title"/>
          </p:nvPr>
        </p:nvSpPr>
        <p:spPr>
          <a:xfrm>
            <a:off x="5181601" y="634946"/>
            <a:ext cx="6368142" cy="1450757"/>
          </a:xfrm>
        </p:spPr>
        <p:txBody>
          <a:bodyPr vert="horz" lIns="91440" tIns="35206" rIns="91440" bIns="45720" rtlCol="0">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a:t>Variety of Software Processes</a:t>
            </a:r>
          </a:p>
        </p:txBody>
      </p:sp>
      <p:pic>
        <p:nvPicPr>
          <p:cNvPr id="5124" name="Picture 5123" descr="Computer script on a screen">
            <a:extLst>
              <a:ext uri="{FF2B5EF4-FFF2-40B4-BE49-F238E27FC236}">
                <a16:creationId xmlns:a16="http://schemas.microsoft.com/office/drawing/2014/main" id="{556E491B-D825-4E88-9B08-89D70EDFF5D2}"/>
              </a:ext>
            </a:extLst>
          </p:cNvPr>
          <p:cNvPicPr>
            <a:picLocks noChangeAspect="1"/>
          </p:cNvPicPr>
          <p:nvPr/>
        </p:nvPicPr>
        <p:blipFill rotWithShape="1">
          <a:blip r:embed="rId3"/>
          <a:srcRect l="7503" r="47277" b="1"/>
          <a:stretch/>
        </p:blipFill>
        <p:spPr>
          <a:xfrm>
            <a:off x="20" y="-12128"/>
            <a:ext cx="4654276" cy="6870127"/>
          </a:xfrm>
          <a:prstGeom prst="rect">
            <a:avLst/>
          </a:prstGeom>
        </p:spPr>
      </p:pic>
      <p:cxnSp>
        <p:nvCxnSpPr>
          <p:cNvPr id="76" name="Straight Connector 75">
            <a:extLst>
              <a:ext uri="{FF2B5EF4-FFF2-40B4-BE49-F238E27FC236}">
                <a16:creationId xmlns:a16="http://schemas.microsoft.com/office/drawing/2014/main" id="{5AB158E9-1B40-4CD6-95F0-95CA11DF7B7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122" name="Rectangle 2">
            <a:extLst>
              <a:ext uri="{FF2B5EF4-FFF2-40B4-BE49-F238E27FC236}">
                <a16:creationId xmlns:a16="http://schemas.microsoft.com/office/drawing/2014/main" id="{5B43996A-E95C-4AF0-82A3-2A0893CD0CEF}"/>
              </a:ext>
            </a:extLst>
          </p:cNvPr>
          <p:cNvSpPr>
            <a:spLocks noGrp="1" noChangeArrowheads="1"/>
          </p:cNvSpPr>
          <p:nvPr>
            <p:ph idx="1"/>
          </p:nvPr>
        </p:nvSpPr>
        <p:spPr>
          <a:xfrm>
            <a:off x="5181601" y="2198914"/>
            <a:ext cx="6368142" cy="3670180"/>
          </a:xfrm>
        </p:spPr>
        <p:txBody>
          <a:bodyPr>
            <a:normAutofit lnSpcReduction="10000"/>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800" dirty="0">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800" dirty="0">
                <a:cs typeface="Arial" panose="020B0604020202020204" pitchFamily="34" charset="0"/>
              </a:rPr>
              <a:t>Software products are very varied...</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800" dirty="0">
                <a:cs typeface="Arial" panose="020B0604020202020204" pitchFamily="34" charset="0"/>
              </a:rPr>
              <a:t>Therefore, there is no standard process for all software engineering projects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800" dirty="0">
                <a:cs typeface="Arial" panose="020B0604020202020204" pitchFamily="34" charset="0"/>
              </a:rPr>
              <a:t>BUT successful software development projects all need to address similar issues.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800" dirty="0">
                <a:cs typeface="Arial" panose="020B0604020202020204" pitchFamily="34" charset="0"/>
              </a:rPr>
              <a:t>This creates a number of process steps that should be part of all software projects.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AA90A-1341-4D80-AF88-468608A24FFC}"/>
              </a:ext>
            </a:extLst>
          </p:cNvPr>
          <p:cNvSpPr>
            <a:spLocks noGrp="1"/>
          </p:cNvSpPr>
          <p:nvPr>
            <p:ph type="title"/>
          </p:nvPr>
        </p:nvSpPr>
        <p:spPr/>
        <p:txBody>
          <a:bodyPr/>
          <a:lstStyle/>
          <a:p>
            <a:r>
              <a:rPr lang="en-US" dirty="0"/>
              <a:t>What is a software process model?</a:t>
            </a:r>
          </a:p>
        </p:txBody>
      </p:sp>
      <p:sp>
        <p:nvSpPr>
          <p:cNvPr id="3" name="Content Placeholder 2">
            <a:extLst>
              <a:ext uri="{FF2B5EF4-FFF2-40B4-BE49-F238E27FC236}">
                <a16:creationId xmlns:a16="http://schemas.microsoft.com/office/drawing/2014/main" id="{5AF0B685-C4CE-42B5-8AED-6BF73CC18637}"/>
              </a:ext>
            </a:extLst>
          </p:cNvPr>
          <p:cNvSpPr>
            <a:spLocks noGrp="1"/>
          </p:cNvSpPr>
          <p:nvPr>
            <p:ph idx="1"/>
          </p:nvPr>
        </p:nvSpPr>
        <p:spPr>
          <a:xfrm>
            <a:off x="1097280" y="1737360"/>
            <a:ext cx="10058400" cy="4548029"/>
          </a:xfrm>
        </p:spPr>
        <p:txBody>
          <a:bodyPr>
            <a:normAutofit lnSpcReduction="10000"/>
          </a:bodyPr>
          <a:lstStyle/>
          <a:p>
            <a:r>
              <a:rPr lang="en-US" sz="2400" dirty="0"/>
              <a:t>A simplified representation of a software process, presented from a specific perspective </a:t>
            </a:r>
          </a:p>
          <a:p>
            <a:r>
              <a:rPr lang="en-US" sz="2400" dirty="0"/>
              <a:t>Examples of process perspectives are </a:t>
            </a:r>
          </a:p>
          <a:p>
            <a:pPr lvl="1"/>
            <a:r>
              <a:rPr lang="en-US" sz="2000" dirty="0"/>
              <a:t>Workflow perspective - sequence of activities </a:t>
            </a:r>
          </a:p>
          <a:p>
            <a:pPr lvl="1"/>
            <a:r>
              <a:rPr lang="en-US" sz="2000" dirty="0"/>
              <a:t>Data-flow perspective - information flow </a:t>
            </a:r>
          </a:p>
          <a:p>
            <a:pPr lvl="1"/>
            <a:r>
              <a:rPr lang="en-US" sz="2000" dirty="0"/>
              <a:t>Role/action perspective - who does what</a:t>
            </a:r>
          </a:p>
          <a:p>
            <a:pPr marL="0" indent="0">
              <a:buNone/>
            </a:pPr>
            <a:r>
              <a:rPr lang="en-US" sz="2400" dirty="0"/>
              <a:t>Generic process models</a:t>
            </a:r>
          </a:p>
          <a:p>
            <a:pPr marL="0" indent="0">
              <a:buNone/>
            </a:pPr>
            <a:r>
              <a:rPr lang="en-US" sz="2400" dirty="0"/>
              <a:t>•Waterfall </a:t>
            </a:r>
          </a:p>
          <a:p>
            <a:pPr marL="0" indent="0">
              <a:buNone/>
            </a:pPr>
            <a:r>
              <a:rPr lang="en-US" sz="2400" dirty="0"/>
              <a:t>•Evolutionary development </a:t>
            </a:r>
          </a:p>
          <a:p>
            <a:pPr marL="0" indent="0">
              <a:buNone/>
            </a:pPr>
            <a:r>
              <a:rPr lang="en-US" sz="2400" dirty="0"/>
              <a:t>•Formal transformation </a:t>
            </a:r>
          </a:p>
          <a:p>
            <a:pPr marL="0" indent="0">
              <a:buNone/>
            </a:pPr>
            <a:r>
              <a:rPr lang="en-US" sz="2400" dirty="0"/>
              <a:t>•Integration from reusable components </a:t>
            </a:r>
          </a:p>
        </p:txBody>
      </p:sp>
      <p:sp>
        <p:nvSpPr>
          <p:cNvPr id="4" name="Slide Number Placeholder 3">
            <a:extLst>
              <a:ext uri="{FF2B5EF4-FFF2-40B4-BE49-F238E27FC236}">
                <a16:creationId xmlns:a16="http://schemas.microsoft.com/office/drawing/2014/main" id="{EDBF75A5-C4B3-4E70-BE10-2AAED13B2F6A}"/>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2800" b="0" i="0" u="none" strike="noStrike" kern="1200" cap="none" spc="0" normalizeH="0" baseline="0" noProof="0" smtClean="0">
                <a:ln>
                  <a:noFill/>
                </a:ln>
                <a:solidFill>
                  <a:prstClr val="white"/>
                </a:solidFill>
                <a:effectLst/>
                <a:uLnTx/>
                <a:uFillTx/>
                <a:latin typeface="Century Gothic" panose="020B0502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12</a:t>
            </a:fld>
            <a:endParaRPr kumimoji="0" lang="en-US" sz="2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4051917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39CB82C2-DF65-4EC1-8280-F201D50F57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5" name="Straight Connector 14">
            <a:extLst>
              <a:ext uri="{FF2B5EF4-FFF2-40B4-BE49-F238E27FC236}">
                <a16:creationId xmlns:a16="http://schemas.microsoft.com/office/drawing/2014/main" id="{7E1D4427-852B-4B37-8E76-0E9F1810BA2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FA4CD5CB-D209-4D70-8CA4-629731C5921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C726B5-685D-46B1-814D-1E4D496429CA}"/>
              </a:ext>
            </a:extLst>
          </p:cNvPr>
          <p:cNvSpPr>
            <a:spLocks noGrp="1"/>
          </p:cNvSpPr>
          <p:nvPr>
            <p:ph type="title"/>
          </p:nvPr>
        </p:nvSpPr>
        <p:spPr>
          <a:xfrm>
            <a:off x="8141110" y="639097"/>
            <a:ext cx="3401961" cy="3686015"/>
          </a:xfrm>
        </p:spPr>
        <p:txBody>
          <a:bodyPr vert="horz" lIns="91440" tIns="45720" rIns="91440" bIns="45720" rtlCol="0" anchor="b">
            <a:normAutofit/>
          </a:bodyPr>
          <a:lstStyle/>
          <a:p>
            <a:r>
              <a:rPr lang="en-US" sz="6600" b="0" i="0">
                <a:solidFill>
                  <a:schemeClr val="tx1">
                    <a:lumMod val="85000"/>
                    <a:lumOff val="15000"/>
                  </a:schemeClr>
                </a:solidFill>
              </a:rPr>
              <a:t>Software Lifecycle Activities</a:t>
            </a:r>
          </a:p>
        </p:txBody>
      </p:sp>
      <p:pic>
        <p:nvPicPr>
          <p:cNvPr id="6" name="Content Placeholder 5" descr="Diagram&#10;&#10;Description automatically generated">
            <a:extLst>
              <a:ext uri="{FF2B5EF4-FFF2-40B4-BE49-F238E27FC236}">
                <a16:creationId xmlns:a16="http://schemas.microsoft.com/office/drawing/2014/main" id="{F29E7CF1-9CA7-4A1E-8775-FCAC5DD408F4}"/>
              </a:ext>
            </a:extLst>
          </p:cNvPr>
          <p:cNvPicPr>
            <a:picLocks noGrp="1" noChangeAspect="1"/>
          </p:cNvPicPr>
          <p:nvPr>
            <p:ph idx="1"/>
          </p:nvPr>
        </p:nvPicPr>
        <p:blipFill>
          <a:blip r:embed="rId3"/>
          <a:stretch>
            <a:fillRect/>
          </a:stretch>
        </p:blipFill>
        <p:spPr>
          <a:xfrm>
            <a:off x="633999" y="1170562"/>
            <a:ext cx="6912217" cy="4060926"/>
          </a:xfrm>
          <a:prstGeom prst="rect">
            <a:avLst/>
          </a:prstGeom>
        </p:spPr>
      </p:pic>
      <p:cxnSp>
        <p:nvCxnSpPr>
          <p:cNvPr id="19" name="Straight Connector 18">
            <a:extLst>
              <a:ext uri="{FF2B5EF4-FFF2-40B4-BE49-F238E27FC236}">
                <a16:creationId xmlns:a16="http://schemas.microsoft.com/office/drawing/2014/main" id="{5C6A2BAE-B461-4B55-8E1F-0722ABDD139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B4C27B90-DF2B-4D00-BA07-18ED774CD2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a:extLst>
              <a:ext uri="{FF2B5EF4-FFF2-40B4-BE49-F238E27FC236}">
                <a16:creationId xmlns:a16="http://schemas.microsoft.com/office/drawing/2014/main" id="{593ACC25-C262-417A-8AA9-0641C772BDB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6562A592-DA80-4942-B438-FFC0E1FA2203}"/>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marR="0" lvl="0" indent="0" defTabSz="914400" fontAlgn="auto">
              <a:spcBef>
                <a:spcPts val="0"/>
              </a:spcBef>
              <a:spcAft>
                <a:spcPts val="600"/>
              </a:spcAft>
              <a:buClrTx/>
              <a:buSzTx/>
              <a:buFontTx/>
              <a:buNone/>
              <a:tabLst/>
              <a:defRPr/>
            </a:pPr>
            <a:fld id="{51A81361-66D7-4C6D-A462-B780D05B41E3}" type="slidenum">
              <a:rPr kumimoji="0" lang="en-US" b="0" i="0" u="none" strike="noStrike" cap="none" spc="0" normalizeH="0" baseline="0" noProof="0">
                <a:ln>
                  <a:noFill/>
                </a:ln>
                <a:effectLst/>
                <a:uLnTx/>
                <a:uFillTx/>
              </a:rPr>
              <a:pPr marR="0" lvl="0" indent="0" defTabSz="914400" fontAlgn="auto">
                <a:spcBef>
                  <a:spcPts val="0"/>
                </a:spcBef>
                <a:spcAft>
                  <a:spcPts val="600"/>
                </a:spcAft>
                <a:buClrTx/>
                <a:buSzTx/>
                <a:buFontTx/>
                <a:buNone/>
                <a:tabLst/>
                <a:defRPr/>
              </a:pPr>
              <a:t>13</a:t>
            </a:fld>
            <a:endParaRPr kumimoji="0" lang="en-US" b="0" i="0" u="none" strike="noStrike" cap="none" spc="0" normalizeH="0" baseline="0" noProof="0">
              <a:ln>
                <a:noFill/>
              </a:ln>
              <a:effectLst/>
              <a:uLnTx/>
              <a:uFillTx/>
            </a:endParaRPr>
          </a:p>
        </p:txBody>
      </p:sp>
    </p:spTree>
    <p:extLst>
      <p:ext uri="{BB962C8B-B14F-4D97-AF65-F5344CB8AC3E}">
        <p14:creationId xmlns:p14="http://schemas.microsoft.com/office/powerpoint/2010/main" val="29316854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7BB81935-5F32-4668-A132-F66ACE79B895}"/>
              </a:ext>
            </a:extLst>
          </p:cNvPr>
          <p:cNvSpPr>
            <a:spLocks noGrp="1" noChangeArrowheads="1"/>
          </p:cNvSpPr>
          <p:nvPr>
            <p:ph type="title"/>
          </p:nvPr>
        </p:nvSpPr>
        <p:spPr>
          <a:xfrm>
            <a:off x="1980049" y="273629"/>
            <a:ext cx="8229024" cy="1144921"/>
          </a:xfrm>
          <a:ln/>
        </p:spPr>
        <p:txBody>
          <a:bodyPr vert="horz" lIns="91440" tIns="35206" rIns="91440" bIns="45720" rtlCol="0" anchor="b">
            <a:normAutofit fontScale="90000"/>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dirty="0">
                <a:solidFill>
                  <a:srgbClr val="800000"/>
                </a:solidFill>
              </a:rPr>
              <a:t>Basic Process Steps in all Software Development</a:t>
            </a:r>
          </a:p>
        </p:txBody>
      </p:sp>
      <p:sp>
        <p:nvSpPr>
          <p:cNvPr id="6146" name="Rectangle 2">
            <a:extLst>
              <a:ext uri="{FF2B5EF4-FFF2-40B4-BE49-F238E27FC236}">
                <a16:creationId xmlns:a16="http://schemas.microsoft.com/office/drawing/2014/main" id="{D5BD2E2B-7498-40C3-AEA0-9C50B9731BA3}"/>
              </a:ext>
            </a:extLst>
          </p:cNvPr>
          <p:cNvSpPr>
            <a:spLocks noGrp="1" noChangeArrowheads="1"/>
          </p:cNvSpPr>
          <p:nvPr>
            <p:ph type="body" idx="1"/>
          </p:nvPr>
        </p:nvSpPr>
        <p:spPr>
          <a:xfrm>
            <a:off x="1980049" y="1821361"/>
            <a:ext cx="8229024" cy="4309363"/>
          </a:xfrm>
          <a:ln/>
        </p:spPr>
        <p:txBody>
          <a:bodyPr vert="horz" lIns="0" tIns="22403" rIns="0" bIns="45720" rtlCol="0">
            <a:normAutofit fontScale="92500" lnSpcReduction="10000"/>
          </a:bodyPr>
          <a:lstStyle/>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solidFill>
                  <a:srgbClr val="2B4C7F"/>
                </a:solidFill>
                <a:cs typeface="Arial" panose="020B0604020202020204" pitchFamily="34" charset="0"/>
              </a:rPr>
              <a:t>Feasibility </a:t>
            </a:r>
            <a:r>
              <a:rPr lang="en-GB" altLang="en-US" sz="2540" dirty="0">
                <a:cs typeface="Arial" panose="020B0604020202020204" pitchFamily="34" charset="0"/>
              </a:rPr>
              <a:t>and planning</a:t>
            </a:r>
          </a:p>
          <a:p>
            <a:pPr marL="391729" indent="-293797">
              <a:buClrTx/>
              <a:buSzTx/>
              <a:buNone/>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endParaRPr lang="en-GB" altLang="en-US" sz="2540" dirty="0">
              <a:cs typeface="Arial" panose="020B0604020202020204" pitchFamily="34" charset="0"/>
            </a:endParaRP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solidFill>
                  <a:srgbClr val="2B4C7F"/>
                </a:solidFill>
                <a:cs typeface="Arial" panose="020B0604020202020204" pitchFamily="34" charset="0"/>
              </a:rPr>
              <a:t>Requirements</a:t>
            </a: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cs typeface="Arial" panose="020B0604020202020204" pitchFamily="34" charset="0"/>
              </a:rPr>
              <a:t>System and program </a:t>
            </a:r>
            <a:r>
              <a:rPr lang="en-GB" altLang="en-US" sz="2540" dirty="0">
                <a:solidFill>
                  <a:srgbClr val="2B4C7F"/>
                </a:solidFill>
                <a:cs typeface="Arial" panose="020B0604020202020204" pitchFamily="34" charset="0"/>
              </a:rPr>
              <a:t>design</a:t>
            </a: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solidFill>
                  <a:srgbClr val="2B4C7F"/>
                </a:solidFill>
                <a:cs typeface="Arial" panose="020B0604020202020204" pitchFamily="34" charset="0"/>
              </a:rPr>
              <a:t>Implementation</a:t>
            </a: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solidFill>
                  <a:srgbClr val="2B4C7F"/>
                </a:solidFill>
                <a:cs typeface="Arial" panose="020B0604020202020204" pitchFamily="34" charset="0"/>
              </a:rPr>
              <a:t>Acceptance </a:t>
            </a:r>
            <a:r>
              <a:rPr lang="en-GB" altLang="en-US" sz="2540" dirty="0">
                <a:cs typeface="Arial" panose="020B0604020202020204" pitchFamily="34" charset="0"/>
              </a:rPr>
              <a:t>and release</a:t>
            </a:r>
          </a:p>
          <a:p>
            <a:pPr marL="391729" indent="-293797">
              <a:buSzPct val="45000"/>
              <a:buNone/>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endParaRPr lang="en-GB" altLang="en-US" sz="2540" dirty="0">
              <a:cs typeface="Arial" panose="020B0604020202020204" pitchFamily="34" charset="0"/>
            </a:endParaRP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cs typeface="Arial" panose="020B0604020202020204" pitchFamily="34" charset="0"/>
              </a:rPr>
              <a:t>Operation and </a:t>
            </a:r>
            <a:r>
              <a:rPr lang="en-GB" altLang="en-US" sz="2540" dirty="0">
                <a:solidFill>
                  <a:srgbClr val="004586"/>
                </a:solidFill>
                <a:cs typeface="Arial" panose="020B0604020202020204" pitchFamily="34" charset="0"/>
              </a:rPr>
              <a:t>maintenance</a:t>
            </a:r>
          </a:p>
          <a:p>
            <a:pPr marL="391729" indent="-293797">
              <a:buClrTx/>
              <a:buSzTx/>
              <a:buNone/>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359" dirty="0">
                <a:solidFill>
                  <a:srgbClr val="800000"/>
                </a:solidFill>
                <a:cs typeface="Arial" panose="020B0604020202020204" pitchFamily="34" charset="0"/>
              </a:rPr>
              <a:t>It is essential to distinguish among these process steps and to be clear which you are </a:t>
            </a:r>
            <a:r>
              <a:rPr lang="en-GB" altLang="en-US" sz="2359" dirty="0" err="1">
                <a:solidFill>
                  <a:srgbClr val="800000"/>
                </a:solidFill>
                <a:cs typeface="Arial" panose="020B0604020202020204" pitchFamily="34" charset="0"/>
              </a:rPr>
              <a:t>are</a:t>
            </a:r>
            <a:r>
              <a:rPr lang="en-GB" altLang="en-US" sz="2359" dirty="0">
                <a:solidFill>
                  <a:srgbClr val="800000"/>
                </a:solidFill>
                <a:cs typeface="Arial" panose="020B0604020202020204" pitchFamily="34" charset="0"/>
              </a:rPr>
              <a:t> doing at any given moment.</a:t>
            </a:r>
          </a:p>
        </p:txBody>
      </p:sp>
      <p:sp>
        <p:nvSpPr>
          <p:cNvPr id="6147" name="Line 3">
            <a:extLst>
              <a:ext uri="{FF2B5EF4-FFF2-40B4-BE49-F238E27FC236}">
                <a16:creationId xmlns:a16="http://schemas.microsoft.com/office/drawing/2014/main" id="{47553FDD-D1F0-4619-8512-90AC730DD697}"/>
              </a:ext>
            </a:extLst>
          </p:cNvPr>
          <p:cNvSpPr>
            <a:spLocks noChangeShapeType="1"/>
          </p:cNvSpPr>
          <p:nvPr/>
        </p:nvSpPr>
        <p:spPr bwMode="auto">
          <a:xfrm>
            <a:off x="2013172" y="2220713"/>
            <a:ext cx="8328395" cy="1441"/>
          </a:xfrm>
          <a:prstGeom prst="line">
            <a:avLst/>
          </a:prstGeom>
          <a:noFill/>
          <a:ln w="360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33"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148" name="Line 4">
            <a:extLst>
              <a:ext uri="{FF2B5EF4-FFF2-40B4-BE49-F238E27FC236}">
                <a16:creationId xmlns:a16="http://schemas.microsoft.com/office/drawing/2014/main" id="{1B573E2D-03F9-428F-B27C-D36C9E0BA922}"/>
              </a:ext>
            </a:extLst>
          </p:cNvPr>
          <p:cNvSpPr>
            <a:spLocks noChangeShapeType="1"/>
          </p:cNvSpPr>
          <p:nvPr/>
        </p:nvSpPr>
        <p:spPr bwMode="auto">
          <a:xfrm>
            <a:off x="2013172" y="4703534"/>
            <a:ext cx="8328395" cy="1441"/>
          </a:xfrm>
          <a:prstGeom prst="line">
            <a:avLst/>
          </a:prstGeom>
          <a:noFill/>
          <a:ln w="360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33"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149" name="AutoShape 5">
            <a:extLst>
              <a:ext uri="{FF2B5EF4-FFF2-40B4-BE49-F238E27FC236}">
                <a16:creationId xmlns:a16="http://schemas.microsoft.com/office/drawing/2014/main" id="{671099FD-6081-4059-834D-3D7D572A6956}"/>
              </a:ext>
            </a:extLst>
          </p:cNvPr>
          <p:cNvSpPr>
            <a:spLocks noChangeArrowheads="1"/>
          </p:cNvSpPr>
          <p:nvPr/>
        </p:nvSpPr>
        <p:spPr bwMode="auto">
          <a:xfrm>
            <a:off x="6814636" y="2579312"/>
            <a:ext cx="3266263" cy="1633131"/>
          </a:xfrm>
          <a:prstGeom prst="roundRect">
            <a:avLst>
              <a:gd name="adj" fmla="val 88"/>
            </a:avLst>
          </a:prstGeom>
          <a:solidFill>
            <a:srgbClr val="FFFFFF"/>
          </a:solidFill>
          <a:ln w="36000">
            <a:solidFill>
              <a:srgbClr val="8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7976" tIns="73155" rIns="97976" bIns="57152" anchor="ctr" anchorCtr="1"/>
          <a:lstStyle>
            <a:lvl1pPr>
              <a:tabLst>
                <a:tab pos="723900" algn="l"/>
                <a:tab pos="1447800" algn="l"/>
                <a:tab pos="2171700" algn="l"/>
                <a:tab pos="28956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1pPr>
            <a:lvl2pPr>
              <a:tabLst>
                <a:tab pos="723900" algn="l"/>
                <a:tab pos="1447800" algn="l"/>
                <a:tab pos="2171700" algn="l"/>
                <a:tab pos="28956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2pPr>
            <a:lvl3pPr>
              <a:tabLst>
                <a:tab pos="723900" algn="l"/>
                <a:tab pos="1447800" algn="l"/>
                <a:tab pos="2171700" algn="l"/>
                <a:tab pos="28956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3pPr>
            <a:lvl4pPr>
              <a:tabLst>
                <a:tab pos="723900" algn="l"/>
                <a:tab pos="1447800" algn="l"/>
                <a:tab pos="2171700" algn="l"/>
                <a:tab pos="28956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4pPr>
            <a:lvl5pPr>
              <a:tabLst>
                <a:tab pos="723900" algn="l"/>
                <a:tab pos="1447800" algn="l"/>
                <a:tab pos="2171700" algn="l"/>
                <a:tab pos="28956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marL="0" marR="0" lvl="0" indent="0" algn="ctr" defTabSz="457200" rtl="0" eaLnBrk="1" fontAlgn="auto" latinLnBrk="0" hangingPunct="1">
              <a:lnSpc>
                <a:spcPct val="100000"/>
              </a:lnSpc>
              <a:spcBef>
                <a:spcPts val="0"/>
              </a:spcBef>
              <a:spcAft>
                <a:spcPts val="0"/>
              </a:spcAft>
              <a:buClrTx/>
              <a:buSzTx/>
              <a:buFontTx/>
              <a:buNone/>
              <a:tabLst>
                <a:tab pos="723900" algn="l"/>
                <a:tab pos="1447800" algn="l"/>
                <a:tab pos="2171700" algn="l"/>
                <a:tab pos="2895600" algn="l"/>
              </a:tabLst>
              <a:defRPr/>
            </a:pPr>
            <a:r>
              <a:rPr kumimoji="0" lang="en-GB" altLang="en-US" sz="1814" b="0" i="0" u="none" strike="noStrike" kern="1200" cap="none" spc="0" normalizeH="0" baseline="0" noProof="0" dirty="0">
                <a:ln>
                  <a:noFill/>
                </a:ln>
                <a:solidFill>
                  <a:srgbClr val="812628"/>
                </a:solidFill>
                <a:effectLst/>
                <a:uLnTx/>
                <a:uFillTx/>
                <a:latin typeface="Arial" panose="020B0604020202020204" pitchFamily="34" charset="0"/>
                <a:ea typeface="Arial Unicode MS" panose="020B0604020202020204" pitchFamily="34" charset="-128"/>
                <a:cs typeface="Arial" panose="020B0604020202020204" pitchFamily="34" charset="0"/>
              </a:rPr>
              <a:t>These steps may be repeated</a:t>
            </a:r>
          </a:p>
          <a:p>
            <a:pPr marL="0" marR="0" lvl="0" indent="0" algn="ctr" defTabSz="457200" rtl="0" eaLnBrk="1" fontAlgn="auto" latinLnBrk="0" hangingPunct="1">
              <a:lnSpc>
                <a:spcPct val="100000"/>
              </a:lnSpc>
              <a:spcBef>
                <a:spcPts val="0"/>
              </a:spcBef>
              <a:spcAft>
                <a:spcPts val="0"/>
              </a:spcAft>
              <a:buClrTx/>
              <a:buSzTx/>
              <a:buFontTx/>
              <a:buNone/>
              <a:tabLst>
                <a:tab pos="723900" algn="l"/>
                <a:tab pos="1447800" algn="l"/>
                <a:tab pos="2171700" algn="l"/>
                <a:tab pos="2895600" algn="l"/>
              </a:tabLst>
              <a:defRPr/>
            </a:pPr>
            <a:r>
              <a:rPr kumimoji="0" lang="en-GB" altLang="en-US" sz="1814" b="0" i="0" u="none" strike="noStrike" kern="1200" cap="none" spc="0" normalizeH="0" baseline="0" noProof="0" dirty="0">
                <a:ln>
                  <a:noFill/>
                </a:ln>
                <a:solidFill>
                  <a:srgbClr val="812628"/>
                </a:solidFill>
                <a:effectLst/>
                <a:uLnTx/>
                <a:uFillTx/>
                <a:latin typeface="Arial" panose="020B0604020202020204" pitchFamily="34" charset="0"/>
                <a:ea typeface="Arial Unicode MS" panose="020B0604020202020204" pitchFamily="34" charset="-128"/>
                <a:cs typeface="Arial" panose="020B0604020202020204" pitchFamily="34" charset="0"/>
              </a:rPr>
              <a:t>many times during the</a:t>
            </a:r>
          </a:p>
          <a:p>
            <a:pPr marL="0" marR="0" lvl="0" indent="0" algn="ctr" defTabSz="457200" rtl="0" eaLnBrk="1" fontAlgn="auto" latinLnBrk="0" hangingPunct="1">
              <a:lnSpc>
                <a:spcPct val="100000"/>
              </a:lnSpc>
              <a:spcBef>
                <a:spcPts val="0"/>
              </a:spcBef>
              <a:spcAft>
                <a:spcPts val="0"/>
              </a:spcAft>
              <a:buClrTx/>
              <a:buSzTx/>
              <a:buFontTx/>
              <a:buNone/>
              <a:tabLst>
                <a:tab pos="723900" algn="l"/>
                <a:tab pos="1447800" algn="l"/>
                <a:tab pos="2171700" algn="l"/>
                <a:tab pos="2895600" algn="l"/>
              </a:tabLst>
              <a:defRPr/>
            </a:pPr>
            <a:r>
              <a:rPr kumimoji="0" lang="en-GB" altLang="en-US" sz="1814" b="0" i="0" u="none" strike="noStrike" kern="1200" cap="none" spc="0" normalizeH="0" baseline="0" noProof="0" dirty="0">
                <a:ln>
                  <a:noFill/>
                </a:ln>
                <a:solidFill>
                  <a:srgbClr val="812628"/>
                </a:solidFill>
                <a:effectLst/>
                <a:uLnTx/>
                <a:uFillTx/>
                <a:latin typeface="Arial" panose="020B0604020202020204" pitchFamily="34" charset="0"/>
                <a:ea typeface="Arial Unicode MS" panose="020B0604020202020204" pitchFamily="34" charset="-128"/>
                <a:cs typeface="Arial" panose="020B0604020202020204" pitchFamily="34" charset="0"/>
              </a:rPr>
              <a:t>development cycle.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84671269-E064-4CDA-936F-BFEFE66B78D4}"/>
              </a:ext>
            </a:extLst>
          </p:cNvPr>
          <p:cNvSpPr>
            <a:spLocks noGrp="1" noChangeArrowheads="1"/>
          </p:cNvSpPr>
          <p:nvPr>
            <p:ph type="title"/>
          </p:nvPr>
        </p:nvSpPr>
        <p:spPr>
          <a:xfrm>
            <a:off x="1980049" y="273629"/>
            <a:ext cx="8229024" cy="1144921"/>
          </a:xfrm>
          <a:ln/>
        </p:spPr>
        <p:txBody>
          <a:bodyPr vert="horz" lIns="91440" tIns="35206" rIns="91440" bIns="45720" rtlCol="0" anchor="b">
            <a:normAutofit fontScale="90000"/>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dirty="0">
                <a:solidFill>
                  <a:srgbClr val="800000"/>
                </a:solidFill>
              </a:rPr>
              <a:t>Quality Control Steps in all Software Development</a:t>
            </a:r>
          </a:p>
        </p:txBody>
      </p:sp>
      <p:sp>
        <p:nvSpPr>
          <p:cNvPr id="7170" name="Rectangle 2">
            <a:extLst>
              <a:ext uri="{FF2B5EF4-FFF2-40B4-BE49-F238E27FC236}">
                <a16:creationId xmlns:a16="http://schemas.microsoft.com/office/drawing/2014/main" id="{A96D89B3-A2D0-403A-9167-D987E215D55B}"/>
              </a:ext>
            </a:extLst>
          </p:cNvPr>
          <p:cNvSpPr>
            <a:spLocks noGrp="1" noChangeArrowheads="1"/>
          </p:cNvSpPr>
          <p:nvPr>
            <p:ph type="body" idx="1"/>
          </p:nvPr>
        </p:nvSpPr>
        <p:spPr>
          <a:xfrm>
            <a:off x="1980049" y="1731145"/>
            <a:ext cx="8229024" cy="4399579"/>
          </a:xfrm>
          <a:ln/>
        </p:spPr>
        <p:txBody>
          <a:bodyPr vert="horz" lIns="0" tIns="22403" rIns="0" bIns="45720" rtlCol="0">
            <a:normAutofit/>
          </a:bodyPr>
          <a:lstStyle/>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cs typeface="Arial" panose="020B0604020202020204" pitchFamily="34" charset="0"/>
              </a:rPr>
              <a:t>Validating the </a:t>
            </a:r>
            <a:r>
              <a:rPr lang="en-GB" altLang="en-US" sz="2540" dirty="0">
                <a:solidFill>
                  <a:srgbClr val="2B4C7F"/>
                </a:solidFill>
                <a:cs typeface="Arial" panose="020B0604020202020204" pitchFamily="34" charset="0"/>
              </a:rPr>
              <a:t>requirements</a:t>
            </a: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cs typeface="Arial" panose="020B0604020202020204" pitchFamily="34" charset="0"/>
              </a:rPr>
              <a:t>Validating the system and program </a:t>
            </a:r>
            <a:r>
              <a:rPr lang="en-GB" altLang="en-US" sz="2540" dirty="0">
                <a:solidFill>
                  <a:srgbClr val="2B4C7F"/>
                </a:solidFill>
                <a:cs typeface="Arial" panose="020B0604020202020204" pitchFamily="34" charset="0"/>
              </a:rPr>
              <a:t>design</a:t>
            </a: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solidFill>
                  <a:srgbClr val="2B4C7F"/>
                </a:solidFill>
                <a:cs typeface="Arial" panose="020B0604020202020204" pitchFamily="34" charset="0"/>
              </a:rPr>
              <a:t>Usability </a:t>
            </a:r>
            <a:r>
              <a:rPr lang="en-GB" altLang="en-US" sz="2540" dirty="0">
                <a:cs typeface="Arial" panose="020B0604020202020204" pitchFamily="34" charset="0"/>
              </a:rPr>
              <a:t>testing</a:t>
            </a: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solidFill>
                  <a:srgbClr val="2B4C7F"/>
                </a:solidFill>
                <a:cs typeface="Arial" panose="020B0604020202020204" pitchFamily="34" charset="0"/>
              </a:rPr>
              <a:t>Program </a:t>
            </a:r>
            <a:r>
              <a:rPr lang="en-GB" altLang="en-US" sz="2540" dirty="0">
                <a:cs typeface="Arial" panose="020B0604020202020204" pitchFamily="34" charset="0"/>
              </a:rPr>
              <a:t>testing</a:t>
            </a: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solidFill>
                  <a:srgbClr val="2B4C7F"/>
                </a:solidFill>
                <a:cs typeface="Arial" panose="020B0604020202020204" pitchFamily="34" charset="0"/>
              </a:rPr>
              <a:t>Acceptance </a:t>
            </a:r>
            <a:r>
              <a:rPr lang="en-GB" altLang="en-US" sz="2540" dirty="0">
                <a:cs typeface="Arial" panose="020B0604020202020204" pitchFamily="34" charset="0"/>
              </a:rPr>
              <a:t>testing</a:t>
            </a:r>
          </a:p>
          <a:p>
            <a:pPr marL="391729" indent="-293797">
              <a:buClrTx/>
              <a:buSzTx/>
              <a:buNone/>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endParaRPr lang="en-GB" altLang="en-US" sz="2540" dirty="0">
              <a:cs typeface="Arial" panose="020B0604020202020204" pitchFamily="34" charset="0"/>
            </a:endParaRPr>
          </a:p>
          <a:p>
            <a:pPr marL="391729" indent="-293797">
              <a:buSzPct val="45000"/>
              <a:buFont typeface="Wingdings" panose="05000000000000000000" pitchFamily="2" charset="2"/>
              <a:buChar char=""/>
              <a:tabLst>
                <a:tab pos="714329" algn="l"/>
                <a:tab pos="1036930" algn="l"/>
                <a:tab pos="1358090" algn="l"/>
                <a:tab pos="1680691" algn="l"/>
                <a:tab pos="2004731" algn="l"/>
                <a:tab pos="2327331" algn="l"/>
                <a:tab pos="2648491" algn="l"/>
                <a:tab pos="2971092" algn="l"/>
                <a:tab pos="3295132" algn="l"/>
                <a:tab pos="3617732" algn="l"/>
                <a:tab pos="3940332" algn="l"/>
                <a:tab pos="4261493" algn="l"/>
                <a:tab pos="4597055" algn="l"/>
                <a:tab pos="5253777" algn="l"/>
                <a:tab pos="5910499" algn="l"/>
                <a:tab pos="6567221" algn="l"/>
                <a:tab pos="7223943" algn="l"/>
                <a:tab pos="7880665" algn="l"/>
              </a:tabLst>
            </a:pPr>
            <a:r>
              <a:rPr lang="en-GB" altLang="en-US" sz="2540" dirty="0">
                <a:cs typeface="Arial" panose="020B0604020202020204" pitchFamily="34" charset="0"/>
              </a:rPr>
              <a:t>Bug fixing and </a:t>
            </a:r>
            <a:r>
              <a:rPr lang="en-GB" altLang="en-US" sz="2540" dirty="0">
                <a:solidFill>
                  <a:srgbClr val="2B4C7F"/>
                </a:solidFill>
                <a:cs typeface="Arial" panose="020B0604020202020204" pitchFamily="34" charset="0"/>
              </a:rPr>
              <a:t>maintenance</a:t>
            </a:r>
          </a:p>
        </p:txBody>
      </p:sp>
      <p:sp>
        <p:nvSpPr>
          <p:cNvPr id="7171" name="Line 3">
            <a:extLst>
              <a:ext uri="{FF2B5EF4-FFF2-40B4-BE49-F238E27FC236}">
                <a16:creationId xmlns:a16="http://schemas.microsoft.com/office/drawing/2014/main" id="{B049EFB3-DD98-4879-B27A-F73B4E6C4B36}"/>
              </a:ext>
            </a:extLst>
          </p:cNvPr>
          <p:cNvSpPr>
            <a:spLocks noChangeShapeType="1"/>
          </p:cNvSpPr>
          <p:nvPr/>
        </p:nvSpPr>
        <p:spPr bwMode="auto">
          <a:xfrm>
            <a:off x="2013172" y="4212443"/>
            <a:ext cx="8164218" cy="1440"/>
          </a:xfrm>
          <a:prstGeom prst="line">
            <a:avLst/>
          </a:prstGeom>
          <a:noFill/>
          <a:ln w="360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33"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7172" name="AutoShape 4">
            <a:extLst>
              <a:ext uri="{FF2B5EF4-FFF2-40B4-BE49-F238E27FC236}">
                <a16:creationId xmlns:a16="http://schemas.microsoft.com/office/drawing/2014/main" id="{7210BBC9-0D6A-461A-B4C8-2BF6D6D091D8}"/>
              </a:ext>
            </a:extLst>
          </p:cNvPr>
          <p:cNvSpPr>
            <a:spLocks noChangeArrowheads="1"/>
          </p:cNvSpPr>
          <p:nvPr/>
        </p:nvSpPr>
        <p:spPr bwMode="auto">
          <a:xfrm>
            <a:off x="2177349" y="5224869"/>
            <a:ext cx="8001480" cy="1143480"/>
          </a:xfrm>
          <a:prstGeom prst="roundRect">
            <a:avLst>
              <a:gd name="adj" fmla="val 125"/>
            </a:avLst>
          </a:prstGeom>
          <a:solidFill>
            <a:srgbClr val="FFFFFF"/>
          </a:solidFill>
          <a:ln w="36000">
            <a:solidFill>
              <a:srgbClr val="8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7976" tIns="76356" rIns="97976" bIns="57152" anchor="ctr" anchorCtr="1"/>
          <a:lstStyle>
            <a:lvl1pPr>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1pPr>
            <a:lvl2pPr>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2pPr>
            <a:lvl3pPr>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3pPr>
            <a:lvl4pPr>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4pPr>
            <a:lvl5pPr>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solidFill>
                  <a:srgbClr val="000000"/>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marL="0" marR="0" lvl="0" indent="0" algn="l" defTabSz="457200" rtl="0" eaLnBrk="1" fontAlgn="auto" latinLnBrk="0" hangingPunct="1">
              <a:lnSpc>
                <a:spcPct val="100000"/>
              </a:lnSpc>
              <a:spcBef>
                <a:spcPts val="0"/>
              </a:spcBef>
              <a:spcAft>
                <a:spcPts val="0"/>
              </a:spcAft>
              <a:buClrTx/>
              <a:buSzTx/>
              <a:buFontTx/>
              <a:buNone/>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pPr>
            <a:r>
              <a:rPr kumimoji="0" lang="en-GB" altLang="en-US" sz="2177" b="0" i="0" u="none" strike="noStrike" kern="1200" cap="none" spc="0" normalizeH="0" baseline="0" noProof="0" dirty="0">
                <a:ln>
                  <a:noFill/>
                </a:ln>
                <a:solidFill>
                  <a:srgbClr val="812628"/>
                </a:solidFill>
                <a:effectLst/>
                <a:uLnTx/>
                <a:uFillTx/>
                <a:latin typeface="Arial" panose="020B0604020202020204" pitchFamily="34" charset="0"/>
                <a:ea typeface="Arial Unicode MS" panose="020B0604020202020204" pitchFamily="34" charset="-128"/>
                <a:cs typeface="Arial" panose="020B0604020202020204" pitchFamily="34" charset="0"/>
              </a:rPr>
              <a:t>Some of these steps will be repeated many times during the </a:t>
            </a:r>
          </a:p>
          <a:p>
            <a:pPr marL="0" marR="0" lvl="0" indent="0" algn="l" defTabSz="457200" rtl="0" eaLnBrk="1" fontAlgn="auto" latinLnBrk="0" hangingPunct="1">
              <a:lnSpc>
                <a:spcPct val="100000"/>
              </a:lnSpc>
              <a:spcBef>
                <a:spcPts val="0"/>
              </a:spcBef>
              <a:spcAft>
                <a:spcPts val="0"/>
              </a:spcAft>
              <a:buClrTx/>
              <a:buSzTx/>
              <a:buFontTx/>
              <a:buNone/>
              <a:tabLst>
                <a:tab pos="355600" algn="l"/>
                <a:tab pos="711200" algn="l"/>
                <a:tab pos="1065213" algn="l"/>
                <a:tab pos="1420813" algn="l"/>
                <a:tab pos="1778000" algn="l"/>
                <a:tab pos="2133600" algn="l"/>
                <a:tab pos="2487613" algn="l"/>
                <a:tab pos="2843213" algn="l"/>
                <a:tab pos="3200400" algn="l"/>
                <a:tab pos="3556000" algn="l"/>
                <a:tab pos="3911600" algn="l"/>
                <a:tab pos="4265613" algn="l"/>
                <a:tab pos="4343400" algn="l"/>
                <a:tab pos="5067300" algn="l"/>
                <a:tab pos="5791200" algn="l"/>
                <a:tab pos="6515100" algn="l"/>
                <a:tab pos="7239000" algn="l"/>
                <a:tab pos="7962900" algn="l"/>
                <a:tab pos="8686800" algn="l"/>
              </a:tabLst>
              <a:defRPr/>
            </a:pPr>
            <a:r>
              <a:rPr kumimoji="0" lang="en-GB" altLang="en-US" sz="2177" b="0" i="0" u="none" strike="noStrike" kern="1200" cap="none" spc="0" normalizeH="0" baseline="0" noProof="0" dirty="0">
                <a:ln>
                  <a:noFill/>
                </a:ln>
                <a:solidFill>
                  <a:srgbClr val="812628"/>
                </a:solidFill>
                <a:effectLst/>
                <a:uLnTx/>
                <a:uFillTx/>
                <a:latin typeface="Arial" panose="020B0604020202020204" pitchFamily="34" charset="0"/>
                <a:ea typeface="Arial Unicode MS" panose="020B0604020202020204" pitchFamily="34" charset="-128"/>
                <a:cs typeface="Arial" panose="020B0604020202020204" pitchFamily="34" charset="0"/>
              </a:rPr>
              <a:t>life of the system</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a:extLst>
              <a:ext uri="{FF2B5EF4-FFF2-40B4-BE49-F238E27FC236}">
                <a16:creationId xmlns:a16="http://schemas.microsoft.com/office/drawing/2014/main" id="{4A2CDF7D-0948-430F-A5E3-3C83FFEF57AB}"/>
              </a:ext>
            </a:extLst>
          </p:cNvPr>
          <p:cNvSpPr>
            <a:spLocks noGrp="1" noChangeArrowheads="1"/>
          </p:cNvSpPr>
          <p:nvPr>
            <p:ph type="title"/>
          </p:nvPr>
        </p:nvSpPr>
        <p:spPr>
          <a:xfrm>
            <a:off x="1980049" y="273629"/>
            <a:ext cx="8229024" cy="1144921"/>
          </a:xfrm>
          <a:ln/>
        </p:spPr>
        <p:txBody>
          <a:bodyPr vert="horz" lIns="91440" tIns="35206" rIns="91440" bIns="45720" rtlCol="0" anchor="b">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a:solidFill>
                  <a:srgbClr val="800000"/>
                </a:solidFill>
              </a:rPr>
              <a:t>Process Step: Feasibility</a:t>
            </a:r>
          </a:p>
        </p:txBody>
      </p:sp>
      <p:sp>
        <p:nvSpPr>
          <p:cNvPr id="9218" name="Rectangle 2">
            <a:extLst>
              <a:ext uri="{FF2B5EF4-FFF2-40B4-BE49-F238E27FC236}">
                <a16:creationId xmlns:a16="http://schemas.microsoft.com/office/drawing/2014/main" id="{E6A33B35-53F9-4FE8-A03E-77671D8F4FC3}"/>
              </a:ext>
            </a:extLst>
          </p:cNvPr>
          <p:cNvSpPr>
            <a:spLocks noGrp="1" noChangeArrowheads="1"/>
          </p:cNvSpPr>
          <p:nvPr>
            <p:ph type="body" idx="1"/>
          </p:nvPr>
        </p:nvSpPr>
        <p:spPr>
          <a:xfrm>
            <a:off x="1980049" y="1604330"/>
            <a:ext cx="8229024" cy="4543677"/>
          </a:xfrm>
          <a:ln/>
        </p:spPr>
        <p:txBody>
          <a:bodyPr vert="horz" lIns="0" tIns="22403" rIns="0" bIns="45720" rtlCol="0">
            <a:normAutofit lnSpcReduction="10000"/>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540" dirty="0">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A </a:t>
            </a:r>
            <a:r>
              <a:rPr lang="en-GB" altLang="en-US" sz="2540" dirty="0">
                <a:solidFill>
                  <a:srgbClr val="2B4C7F"/>
                </a:solidFill>
                <a:cs typeface="Arial" panose="020B0604020202020204" pitchFamily="34" charset="0"/>
              </a:rPr>
              <a:t>feasibility study </a:t>
            </a:r>
            <a:r>
              <a:rPr lang="en-GB" altLang="en-US" sz="2540" dirty="0">
                <a:cs typeface="Arial" panose="020B0604020202020204" pitchFamily="34" charset="0"/>
              </a:rPr>
              <a:t>precedes the decision to begin a project.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 What is the scope of the proposed project?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 Is the project technically feasible?</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 What are the projected benefits?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smtClean="0">
                <a:cs typeface="Arial" panose="020B0604020202020204" pitchFamily="34" charset="0"/>
              </a:rPr>
              <a:t>• What are the costs,?</a:t>
            </a:r>
            <a:endParaRPr lang="en-GB" altLang="en-US" sz="2540" dirty="0">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 Are the resources available?</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 What are the risks and how can they be managed?</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A feasibility study leads to a </a:t>
            </a:r>
            <a:r>
              <a:rPr lang="en-GB" altLang="en-US" sz="2540" dirty="0">
                <a:solidFill>
                  <a:srgbClr val="2B4C7F"/>
                </a:solidFill>
                <a:cs typeface="Arial" panose="020B0604020202020204" pitchFamily="34" charset="0"/>
              </a:rPr>
              <a:t>decision</a:t>
            </a:r>
            <a:r>
              <a:rPr lang="en-GB" altLang="en-US" sz="2540" dirty="0">
                <a:cs typeface="Arial" panose="020B0604020202020204" pitchFamily="34" charset="0"/>
              </a:rPr>
              <a:t>: go or no-­‐go.</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a:extLst>
              <a:ext uri="{FF2B5EF4-FFF2-40B4-BE49-F238E27FC236}">
                <a16:creationId xmlns:a16="http://schemas.microsoft.com/office/drawing/2014/main" id="{38DC461B-8DB9-434F-BAD4-CA7EF9F07471}"/>
              </a:ext>
            </a:extLst>
          </p:cNvPr>
          <p:cNvSpPr>
            <a:spLocks noGrp="1" noChangeArrowheads="1"/>
          </p:cNvSpPr>
          <p:nvPr>
            <p:ph type="title"/>
          </p:nvPr>
        </p:nvSpPr>
        <p:spPr>
          <a:xfrm>
            <a:off x="1980049" y="273629"/>
            <a:ext cx="8229024" cy="1144921"/>
          </a:xfrm>
          <a:ln/>
        </p:spPr>
        <p:txBody>
          <a:bodyPr vert="horz" lIns="91440" tIns="35206" rIns="91440" bIns="45720" rtlCol="0" anchor="b">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a:solidFill>
                  <a:srgbClr val="812628"/>
                </a:solidFill>
                <a:cs typeface="Arial" panose="020B0604020202020204" pitchFamily="34" charset="0"/>
              </a:rPr>
              <a:t>Process Step: Requirements</a:t>
            </a:r>
          </a:p>
        </p:txBody>
      </p:sp>
      <p:sp>
        <p:nvSpPr>
          <p:cNvPr id="10242" name="Rectangle 2">
            <a:extLst>
              <a:ext uri="{FF2B5EF4-FFF2-40B4-BE49-F238E27FC236}">
                <a16:creationId xmlns:a16="http://schemas.microsoft.com/office/drawing/2014/main" id="{1B65607E-54C9-457B-B067-13A25707691E}"/>
              </a:ext>
            </a:extLst>
          </p:cNvPr>
          <p:cNvSpPr>
            <a:spLocks noGrp="1" noChangeArrowheads="1"/>
          </p:cNvSpPr>
          <p:nvPr>
            <p:ph type="body" idx="1"/>
          </p:nvPr>
        </p:nvSpPr>
        <p:spPr>
          <a:xfrm>
            <a:off x="1980049" y="1604329"/>
            <a:ext cx="8229024" cy="4526396"/>
          </a:xfrm>
          <a:ln/>
        </p:spPr>
        <p:txBody>
          <a:bodyPr vert="horz" lIns="0" tIns="19203" rIns="0" bIns="45720" rtlCol="0">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177" dirty="0">
              <a:solidFill>
                <a:srgbClr val="2B4C7F"/>
              </a:solidFill>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solidFill>
                  <a:srgbClr val="2B4C7F"/>
                </a:solidFill>
                <a:cs typeface="Arial" panose="020B0604020202020204" pitchFamily="34" charset="0"/>
              </a:rPr>
              <a:t>Requirements </a:t>
            </a:r>
            <a:r>
              <a:rPr lang="en-GB" altLang="en-US" sz="2540" dirty="0">
                <a:cs typeface="Arial" panose="020B0604020202020204" pitchFamily="34" charset="0"/>
              </a:rPr>
              <a:t>define the function of the system </a:t>
            </a:r>
            <a:r>
              <a:rPr lang="en-GB" altLang="en-US" sz="2540" dirty="0">
                <a:solidFill>
                  <a:srgbClr val="2B4C7F"/>
                </a:solidFill>
                <a:cs typeface="Arial" panose="020B0604020202020204" pitchFamily="34" charset="0"/>
              </a:rPr>
              <a:t>from the client's viewpoint</a:t>
            </a:r>
            <a:r>
              <a:rPr lang="en-GB" altLang="en-US" sz="2540" dirty="0">
                <a:cs typeface="Arial" panose="020B0604020202020204" pitchFamily="34" charset="0"/>
              </a:rPr>
              <a: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The requirements establish the system's functionality, constraints, and goals </a:t>
            </a:r>
            <a:r>
              <a:rPr lang="en-GB" altLang="en-US" sz="2540" dirty="0"/>
              <a:t>by consultation with the client, customers, and users.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540" dirty="0"/>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They must be developed in a manner that is understandable by both the client and the development staff.</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540" dirty="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a:extLst>
              <a:ext uri="{FF2B5EF4-FFF2-40B4-BE49-F238E27FC236}">
                <a16:creationId xmlns:a16="http://schemas.microsoft.com/office/drawing/2014/main" id="{9B78579F-2291-4143-B2B6-CCF07B9ABF1F}"/>
              </a:ext>
            </a:extLst>
          </p:cNvPr>
          <p:cNvSpPr>
            <a:spLocks noGrp="1" noChangeArrowheads="1"/>
          </p:cNvSpPr>
          <p:nvPr>
            <p:ph type="title"/>
          </p:nvPr>
        </p:nvSpPr>
        <p:spPr>
          <a:xfrm>
            <a:off x="1980049" y="273629"/>
            <a:ext cx="8229024" cy="1144921"/>
          </a:xfrm>
          <a:ln/>
        </p:spPr>
        <p:txBody>
          <a:bodyPr vert="horz" lIns="91440" tIns="35206" rIns="91440" bIns="45720" rtlCol="0" anchor="b">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a:solidFill>
                  <a:srgbClr val="812628"/>
                </a:solidFill>
                <a:cs typeface="Arial" panose="020B0604020202020204" pitchFamily="34" charset="0"/>
              </a:rPr>
              <a:t>Process Step: Requirements</a:t>
            </a:r>
          </a:p>
        </p:txBody>
      </p:sp>
      <p:sp>
        <p:nvSpPr>
          <p:cNvPr id="11266" name="Rectangle 2">
            <a:extLst>
              <a:ext uri="{FF2B5EF4-FFF2-40B4-BE49-F238E27FC236}">
                <a16:creationId xmlns:a16="http://schemas.microsoft.com/office/drawing/2014/main" id="{BC4E2FC9-5783-4C00-9032-B679CF6E4F16}"/>
              </a:ext>
            </a:extLst>
          </p:cNvPr>
          <p:cNvSpPr>
            <a:spLocks noGrp="1" noChangeArrowheads="1"/>
          </p:cNvSpPr>
          <p:nvPr>
            <p:ph type="body" idx="1"/>
          </p:nvPr>
        </p:nvSpPr>
        <p:spPr>
          <a:xfrm>
            <a:off x="1944045" y="1641773"/>
            <a:ext cx="8229024" cy="4609924"/>
          </a:xfrm>
          <a:ln/>
        </p:spPr>
        <p:txBody>
          <a:bodyPr vert="horz" lIns="0" tIns="19203" rIns="0" bIns="45720" rtlCol="0">
            <a:normAutofit fontScale="92500" lnSpcReduction="20000"/>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177" dirty="0">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This step is sometimes divided into:</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  Requirements analysis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  Requirements </a:t>
            </a:r>
            <a:r>
              <a:rPr lang="en-GB" altLang="en-US" sz="2540" dirty="0" smtClean="0">
                <a:cs typeface="Arial" panose="020B0604020202020204" pitchFamily="34" charset="0"/>
              </a:rPr>
              <a:t>definition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smtClean="0">
                <a:cs typeface="Arial" panose="020B0604020202020204" pitchFamily="34" charset="0"/>
              </a:rPr>
              <a:t>•  </a:t>
            </a:r>
            <a:r>
              <a:rPr lang="en-GB" altLang="en-US" sz="2540" dirty="0">
                <a:cs typeface="Arial" panose="020B0604020202020204" pitchFamily="34" charset="0"/>
              </a:rPr>
              <a:t>Requirements </a:t>
            </a:r>
            <a:r>
              <a:rPr lang="en-GB" altLang="en-US" sz="2540" dirty="0" smtClean="0">
                <a:cs typeface="Arial" panose="020B0604020202020204" pitchFamily="34" charset="0"/>
              </a:rPr>
              <a:t>specification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smtClean="0">
                <a:cs typeface="Arial" panose="020B0604020202020204" pitchFamily="34" charset="0"/>
              </a:rPr>
              <a:t>(SRS document : </a:t>
            </a:r>
            <a:r>
              <a:rPr lang="en-US" sz="2800" dirty="0"/>
              <a:t>The system shall allow a student to borrow a maximum of 3 books for 14 days.</a:t>
            </a:r>
            <a:r>
              <a:rPr lang="en-GB" altLang="en-US" sz="2540" dirty="0" smtClean="0">
                <a:cs typeface="Arial" panose="020B0604020202020204" pitchFamily="34" charset="0"/>
              </a:rPr>
              <a:t>)</a:t>
            </a:r>
            <a:endParaRPr lang="en-GB" altLang="en-US" sz="2540" dirty="0">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The requirements may be developed in a self-­‐contained study, or may emerge incrementally</a:t>
            </a:r>
            <a:r>
              <a:rPr lang="en-GB" altLang="en-US" sz="2540" dirty="0" smtClean="0">
                <a:cs typeface="Arial" panose="020B0604020202020204" pitchFamily="34" charset="0"/>
              </a:rPr>
              <a: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540" dirty="0">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solidFill>
                  <a:srgbClr val="812628"/>
                </a:solidFill>
                <a:cs typeface="Arial" panose="020B0604020202020204" pitchFamily="34" charset="0"/>
              </a:rPr>
              <a:t>Failure to agree on the requirements and define them adequately is one of the biggest cause of software projects failing.</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177" dirty="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a:extLst>
              <a:ext uri="{FF2B5EF4-FFF2-40B4-BE49-F238E27FC236}">
                <a16:creationId xmlns:a16="http://schemas.microsoft.com/office/drawing/2014/main" id="{3371A261-7F05-4D5E-B1E9-92145BC555F7}"/>
              </a:ext>
            </a:extLst>
          </p:cNvPr>
          <p:cNvSpPr>
            <a:spLocks noGrp="1" noChangeArrowheads="1"/>
          </p:cNvSpPr>
          <p:nvPr>
            <p:ph type="title"/>
          </p:nvPr>
        </p:nvSpPr>
        <p:spPr>
          <a:xfrm>
            <a:off x="1980049" y="273629"/>
            <a:ext cx="8229024" cy="1144921"/>
          </a:xfrm>
          <a:ln/>
        </p:spPr>
        <p:txBody>
          <a:bodyPr vert="horz" lIns="91440" tIns="35206" rIns="91440" bIns="45720" rtlCol="0" anchor="b">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a:solidFill>
                  <a:srgbClr val="812628"/>
                </a:solidFill>
                <a:cs typeface="Arial" panose="020B0604020202020204" pitchFamily="34" charset="0"/>
              </a:rPr>
              <a:t>Process Step: System Design</a:t>
            </a:r>
          </a:p>
        </p:txBody>
      </p:sp>
      <p:sp>
        <p:nvSpPr>
          <p:cNvPr id="12290" name="Rectangle 2">
            <a:extLst>
              <a:ext uri="{FF2B5EF4-FFF2-40B4-BE49-F238E27FC236}">
                <a16:creationId xmlns:a16="http://schemas.microsoft.com/office/drawing/2014/main" id="{68E68046-FFF6-4D43-AF2A-926D8D9D43DD}"/>
              </a:ext>
            </a:extLst>
          </p:cNvPr>
          <p:cNvSpPr>
            <a:spLocks noGrp="1" noChangeArrowheads="1"/>
          </p:cNvSpPr>
          <p:nvPr>
            <p:ph type="body" idx="1"/>
          </p:nvPr>
        </p:nvSpPr>
        <p:spPr>
          <a:xfrm>
            <a:off x="252248" y="1873189"/>
            <a:ext cx="11666483" cy="4476595"/>
          </a:xfrm>
          <a:ln/>
        </p:spPr>
        <p:txBody>
          <a:bodyPr vert="horz" lIns="0" tIns="20803" rIns="0" bIns="45720" rtlCol="0">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dirty="0">
                <a:solidFill>
                  <a:srgbClr val="2B4C7F"/>
                </a:solidFill>
                <a:cs typeface="Arial" panose="020B0604020202020204" pitchFamily="34" charset="0"/>
              </a:rPr>
              <a:t>Design </a:t>
            </a:r>
            <a:r>
              <a:rPr lang="en-GB" altLang="en-US" sz="2359" dirty="0">
                <a:cs typeface="Arial" panose="020B0604020202020204" pitchFamily="34" charset="0"/>
              </a:rPr>
              <a:t>describes the system </a:t>
            </a:r>
            <a:r>
              <a:rPr lang="en-GB" altLang="en-US" sz="2359" dirty="0">
                <a:solidFill>
                  <a:srgbClr val="2B4C7F"/>
                </a:solidFill>
                <a:cs typeface="Arial" panose="020B0604020202020204" pitchFamily="34" charset="0"/>
              </a:rPr>
              <a:t>from the software developers' viewpoint </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System design: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Establish a system architecture, both hardware and software, that matches the requirements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Program design: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Represent the software functions in a form that can be transformed into one or more executable programs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dirty="0">
                <a:cs typeface="Arial" panose="020B0604020202020204" pitchFamily="34" charset="0"/>
              </a:rPr>
              <a:t>Preliminary </a:t>
            </a:r>
            <a:r>
              <a:rPr lang="en-GB" altLang="en-US" sz="2359" dirty="0">
                <a:solidFill>
                  <a:srgbClr val="812628"/>
                </a:solidFill>
                <a:cs typeface="Arial" panose="020B0604020202020204" pitchFamily="34" charset="0"/>
              </a:rPr>
              <a:t>user testing </a:t>
            </a:r>
            <a:r>
              <a:rPr lang="en-GB" altLang="en-US" sz="2359" dirty="0">
                <a:cs typeface="Arial" panose="020B0604020202020204" pitchFamily="34" charset="0"/>
              </a:rPr>
              <a:t>is often carried out as part of the design step</a:t>
            </a:r>
            <a:r>
              <a:rPr lang="en-GB" altLang="en-US" sz="2359" dirty="0" smtClean="0">
                <a:solidFill>
                  <a:srgbClr val="812628"/>
                </a:solidFill>
                <a:cs typeface="Arial" panose="020B0604020202020204" pitchFamily="34" charset="0"/>
              </a:rPr>
              <a:t>.</a:t>
            </a:r>
            <a:endParaRPr lang="en-GB" altLang="en-US" sz="2359" dirty="0">
              <a:solidFill>
                <a:srgbClr val="812628"/>
              </a:solidFill>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a:extLst>
              <a:ext uri="{FF2B5EF4-FFF2-40B4-BE49-F238E27FC236}">
                <a16:creationId xmlns:a16="http://schemas.microsoft.com/office/drawing/2014/main" id="{3927FF85-5E7D-4085-961A-60D409A7EEB0}"/>
              </a:ext>
            </a:extLst>
          </p:cNvPr>
          <p:cNvSpPr>
            <a:spLocks noGrp="1" noChangeArrowheads="1"/>
          </p:cNvSpPr>
          <p:nvPr>
            <p:ph type="title"/>
          </p:nvPr>
        </p:nvSpPr>
        <p:spPr>
          <a:xfrm>
            <a:off x="1980049" y="273629"/>
            <a:ext cx="8229024" cy="1144921"/>
          </a:xfrm>
          <a:ln/>
        </p:spPr>
        <p:txBody>
          <a:bodyPr vert="horz" lIns="91440" tIns="35206" rIns="91440" bIns="45720" rtlCol="0" anchor="b">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a:solidFill>
                  <a:srgbClr val="812628"/>
                </a:solidFill>
                <a:cs typeface="Arial" panose="020B0604020202020204" pitchFamily="34" charset="0"/>
              </a:rPr>
              <a:t>Process Step: Implementation</a:t>
            </a:r>
          </a:p>
        </p:txBody>
      </p:sp>
      <p:sp>
        <p:nvSpPr>
          <p:cNvPr id="13314" name="Rectangle 2">
            <a:extLst>
              <a:ext uri="{FF2B5EF4-FFF2-40B4-BE49-F238E27FC236}">
                <a16:creationId xmlns:a16="http://schemas.microsoft.com/office/drawing/2014/main" id="{ECD76833-343A-421D-936F-32DBF91218A6}"/>
              </a:ext>
            </a:extLst>
          </p:cNvPr>
          <p:cNvSpPr>
            <a:spLocks noGrp="1" noChangeArrowheads="1"/>
          </p:cNvSpPr>
          <p:nvPr>
            <p:ph type="body" idx="1"/>
          </p:nvPr>
        </p:nvSpPr>
        <p:spPr>
          <a:xfrm>
            <a:off x="1944045" y="1641773"/>
            <a:ext cx="8229024" cy="4532156"/>
          </a:xfrm>
          <a:ln/>
        </p:spPr>
        <p:txBody>
          <a:bodyPr vert="horz" lIns="0" tIns="20803" rIns="0" bIns="45720" rtlCol="0">
            <a:normAutofit fontScale="92500"/>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359" dirty="0">
              <a:solidFill>
                <a:srgbClr val="2B4C7F"/>
              </a:solidFill>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Implementation (coding)</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 software design is realized as a set of programs or program units.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These software components may be </a:t>
            </a:r>
            <a:r>
              <a:rPr lang="en-GB" altLang="en-US" sz="1996" dirty="0" err="1">
                <a:cs typeface="Arial" panose="020B0604020202020204" pitchFamily="34" charset="0"/>
              </a:rPr>
              <a:t>wriben</a:t>
            </a:r>
            <a:r>
              <a:rPr lang="en-GB" altLang="en-US" sz="1996" dirty="0">
                <a:cs typeface="Arial" panose="020B0604020202020204" pitchFamily="34" charset="0"/>
              </a:rPr>
              <a:t> by the development team, acquired from elsewhere, or modified from existing components.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359" dirty="0">
              <a:solidFill>
                <a:srgbClr val="812628"/>
              </a:solidFill>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812628"/>
                </a:solidFill>
                <a:cs typeface="Arial" panose="020B0604020202020204" pitchFamily="34" charset="0"/>
              </a:rPr>
              <a:t>Program testing</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Program testing by the </a:t>
            </a:r>
            <a:r>
              <a:rPr lang="en-GB" altLang="en-US" sz="1996" dirty="0">
                <a:solidFill>
                  <a:srgbClr val="812628"/>
                </a:solidFill>
                <a:cs typeface="Arial" panose="020B0604020202020204" pitchFamily="34" charset="0"/>
              </a:rPr>
              <a:t>development staff </a:t>
            </a:r>
            <a:r>
              <a:rPr lang="en-GB" altLang="en-US" sz="1996" dirty="0">
                <a:cs typeface="Arial" panose="020B0604020202020204" pitchFamily="34" charset="0"/>
              </a:rPr>
              <a:t>is an integral part of implementation.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Individual components are tested against the </a:t>
            </a:r>
            <a:r>
              <a:rPr lang="en-GB" altLang="en-US" sz="1996" dirty="0">
                <a:solidFill>
                  <a:srgbClr val="812628"/>
                </a:solidFill>
                <a:cs typeface="Arial" panose="020B0604020202020204" pitchFamily="34" charset="0"/>
              </a:rPr>
              <a:t>design</a:t>
            </a:r>
            <a:r>
              <a:rPr lang="en-GB" altLang="en-US" sz="1996" dirty="0">
                <a:cs typeface="Arial" panose="020B0604020202020204" pitchFamily="34" charset="0"/>
              </a:rPr>
              <a: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 components are integrated and tested against the </a:t>
            </a:r>
            <a:r>
              <a:rPr lang="en-GB" altLang="en-US" sz="1996" dirty="0">
                <a:solidFill>
                  <a:srgbClr val="812628"/>
                </a:solidFill>
                <a:cs typeface="Arial" panose="020B0604020202020204" pitchFamily="34" charset="0"/>
              </a:rPr>
              <a:t>design </a:t>
            </a:r>
            <a:r>
              <a:rPr lang="en-GB" altLang="en-US" sz="1996" dirty="0">
                <a:cs typeface="Arial" panose="020B0604020202020204" pitchFamily="34" charset="0"/>
              </a:rPr>
              <a:t>as a complete system.</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3" name="Rectangle 1">
            <a:extLst>
              <a:ext uri="{FF2B5EF4-FFF2-40B4-BE49-F238E27FC236}">
                <a16:creationId xmlns:a16="http://schemas.microsoft.com/office/drawing/2014/main" id="{87AE6991-E780-4E5F-B640-AAD320F0F3EE}"/>
              </a:ext>
            </a:extLst>
          </p:cNvPr>
          <p:cNvSpPr>
            <a:spLocks noGrp="1" noChangeArrowheads="1"/>
          </p:cNvSpPr>
          <p:nvPr>
            <p:ph type="title"/>
          </p:nvPr>
        </p:nvSpPr>
        <p:spPr>
          <a:xfrm>
            <a:off x="1980049" y="273629"/>
            <a:ext cx="8229024" cy="1144921"/>
          </a:xfrm>
          <a:ln/>
        </p:spPr>
        <p:txBody>
          <a:bodyPr vert="horz" lIns="91440" tIns="35206" rIns="91440" bIns="45720" rtlCol="0" anchor="b">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GB" altLang="en-US">
                <a:solidFill>
                  <a:srgbClr val="800000"/>
                </a:solidFill>
              </a:rPr>
              <a:t>Categories of Testing</a:t>
            </a:r>
          </a:p>
        </p:txBody>
      </p:sp>
      <p:sp>
        <p:nvSpPr>
          <p:cNvPr id="8194" name="Rectangle 2">
            <a:extLst>
              <a:ext uri="{FF2B5EF4-FFF2-40B4-BE49-F238E27FC236}">
                <a16:creationId xmlns:a16="http://schemas.microsoft.com/office/drawing/2014/main" id="{1C25F6AA-5561-4307-98A5-45CFE87A2F1B}"/>
              </a:ext>
            </a:extLst>
          </p:cNvPr>
          <p:cNvSpPr>
            <a:spLocks noGrp="1" noChangeArrowheads="1"/>
          </p:cNvSpPr>
          <p:nvPr>
            <p:ph type="body" idx="1"/>
          </p:nvPr>
        </p:nvSpPr>
        <p:spPr>
          <a:xfrm>
            <a:off x="1980049" y="1882065"/>
            <a:ext cx="8229024" cy="4248659"/>
          </a:xfrm>
          <a:ln/>
        </p:spPr>
        <p:txBody>
          <a:bodyPr vert="horz" lIns="0" tIns="17603" rIns="0" bIns="45720" rtlCol="0">
            <a:normAutofit lnSpcReduction="10000"/>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 term “</a:t>
            </a:r>
            <a:r>
              <a:rPr lang="en-GB" altLang="en-US" sz="1996" dirty="0">
                <a:solidFill>
                  <a:srgbClr val="2B4C7F"/>
                </a:solidFill>
                <a:cs typeface="Arial" panose="020B0604020202020204" pitchFamily="34" charset="0"/>
              </a:rPr>
              <a:t>testing</a:t>
            </a:r>
            <a:r>
              <a:rPr lang="en-GB" altLang="en-US" sz="1996" dirty="0">
                <a:cs typeface="Arial" panose="020B0604020202020204" pitchFamily="34" charset="0"/>
              </a:rPr>
              <a:t>” is used in several different contexts, which are easily confused:</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177" u="sng" dirty="0">
                <a:solidFill>
                  <a:srgbClr val="2B4C7F"/>
                </a:solidFill>
                <a:cs typeface="Arial" panose="020B0604020202020204" pitchFamily="34" charset="0"/>
              </a:rPr>
              <a:t>User testing</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Versions of the user interface are tested by </a:t>
            </a:r>
            <a:r>
              <a:rPr lang="en-GB" altLang="en-US" sz="1996" dirty="0">
                <a:solidFill>
                  <a:srgbClr val="2B4C7F"/>
                </a:solidFill>
                <a:cs typeface="Arial" panose="020B0604020202020204" pitchFamily="34" charset="0"/>
              </a:rPr>
              <a:t>users</a:t>
            </a:r>
            <a:r>
              <a:rPr lang="en-GB" altLang="en-US" sz="1996" dirty="0">
                <a:cs typeface="Arial" panose="020B0604020202020204" pitchFamily="34" charset="0"/>
              </a:rPr>
              <a:t>. Their experience may</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lead to changes in the requirements or the design.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177" u="sng" dirty="0">
                <a:solidFill>
                  <a:srgbClr val="2B4C7F"/>
                </a:solidFill>
                <a:cs typeface="Arial" panose="020B0604020202020204" pitchFamily="34" charset="0"/>
              </a:rPr>
              <a:t>Program testing</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 </a:t>
            </a:r>
            <a:r>
              <a:rPr lang="en-GB" altLang="en-US" sz="1996" dirty="0">
                <a:solidFill>
                  <a:srgbClr val="2B4C7F"/>
                </a:solidFill>
                <a:cs typeface="Arial" panose="020B0604020202020204" pitchFamily="34" charset="0"/>
              </a:rPr>
              <a:t>development team </a:t>
            </a:r>
            <a:r>
              <a:rPr lang="en-GB" altLang="en-US" sz="1996" dirty="0">
                <a:cs typeface="Arial" panose="020B0604020202020204" pitchFamily="34" charset="0"/>
              </a:rPr>
              <a:t>tests components individually (unit testing) or in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combination (system testing) against the </a:t>
            </a:r>
            <a:r>
              <a:rPr lang="en-GB" altLang="en-US" sz="1996" dirty="0">
                <a:solidFill>
                  <a:srgbClr val="812628"/>
                </a:solidFill>
                <a:cs typeface="Arial" panose="020B0604020202020204" pitchFamily="34" charset="0"/>
              </a:rPr>
              <a:t>design </a:t>
            </a:r>
            <a:r>
              <a:rPr lang="en-GB" altLang="en-US" sz="1996" dirty="0">
                <a:cs typeface="Arial" panose="020B0604020202020204" pitchFamily="34" charset="0"/>
              </a:rPr>
              <a:t>to find bugs, etc.</a:t>
            </a:r>
            <a:r>
              <a:rPr lang="en-GB" altLang="en-US" sz="1814" dirty="0">
                <a:cs typeface="Arial" panose="020B0604020202020204" pitchFamily="34" charset="0"/>
              </a:rPr>
              <a:t> </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177" u="sng" dirty="0">
                <a:solidFill>
                  <a:srgbClr val="2B4C7F"/>
                </a:solidFill>
                <a:cs typeface="Arial" panose="020B0604020202020204" pitchFamily="34" charset="0"/>
              </a:rPr>
              <a:t>Acceptance testing</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 </a:t>
            </a:r>
            <a:r>
              <a:rPr lang="en-GB" altLang="en-US" sz="1996" dirty="0">
                <a:solidFill>
                  <a:srgbClr val="2B4C7F"/>
                </a:solidFill>
                <a:cs typeface="Arial" panose="020B0604020202020204" pitchFamily="34" charset="0"/>
              </a:rPr>
              <a:t>client </a:t>
            </a:r>
            <a:r>
              <a:rPr lang="en-GB" altLang="en-US" sz="1996" dirty="0">
                <a:cs typeface="Arial" panose="020B0604020202020204" pitchFamily="34" charset="0"/>
              </a:rPr>
              <a:t>tests the final version of the system or parts of the system against the </a:t>
            </a:r>
            <a:r>
              <a:rPr lang="en-GB" altLang="en-US" sz="1996" dirty="0">
                <a:solidFill>
                  <a:srgbClr val="812628"/>
                </a:solidFill>
                <a:cs typeface="Arial" panose="020B0604020202020204" pitchFamily="34" charset="0"/>
              </a:rPr>
              <a:t>requirements</a:t>
            </a:r>
            <a:r>
              <a:rPr lang="en-GB" altLang="en-US" sz="1996" dirty="0">
                <a:cs typeface="Arial" panose="020B0604020202020204" pitchFamily="34" charset="0"/>
              </a:rPr>
              <a: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a:extLst>
              <a:ext uri="{FF2B5EF4-FFF2-40B4-BE49-F238E27FC236}">
                <a16:creationId xmlns:a16="http://schemas.microsoft.com/office/drawing/2014/main" id="{7514DEC4-DCFB-4E97-9C45-F6128B0F7F8F}"/>
              </a:ext>
            </a:extLst>
          </p:cNvPr>
          <p:cNvSpPr>
            <a:spLocks noGrp="1" noChangeArrowheads="1"/>
          </p:cNvSpPr>
          <p:nvPr>
            <p:ph type="title"/>
          </p:nvPr>
        </p:nvSpPr>
        <p:spPr>
          <a:xfrm>
            <a:off x="1500655" y="496852"/>
            <a:ext cx="8744176" cy="1144921"/>
          </a:xfrm>
          <a:ln/>
        </p:spPr>
        <p:txBody>
          <a:bodyPr vert="horz" lIns="91440" tIns="35206" rIns="91440" bIns="45720" rtlCol="0" anchor="b">
            <a:normAutofit fontScale="90000"/>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dirty="0">
                <a:solidFill>
                  <a:srgbClr val="812628"/>
                </a:solidFill>
                <a:cs typeface="Arial" panose="020B0604020202020204" pitchFamily="34" charset="0"/>
              </a:rPr>
              <a:t>Process Step: Acceptance and Release</a:t>
            </a:r>
          </a:p>
        </p:txBody>
      </p:sp>
      <p:sp>
        <p:nvSpPr>
          <p:cNvPr id="14338" name="Rectangle 2">
            <a:extLst>
              <a:ext uri="{FF2B5EF4-FFF2-40B4-BE49-F238E27FC236}">
                <a16:creationId xmlns:a16="http://schemas.microsoft.com/office/drawing/2014/main" id="{FAB88CAD-FDA4-46B6-8644-6790F5F0216E}"/>
              </a:ext>
            </a:extLst>
          </p:cNvPr>
          <p:cNvSpPr>
            <a:spLocks noGrp="1" noChangeArrowheads="1"/>
          </p:cNvSpPr>
          <p:nvPr>
            <p:ph type="body" idx="1"/>
          </p:nvPr>
        </p:nvSpPr>
        <p:spPr>
          <a:xfrm>
            <a:off x="1944045" y="1641773"/>
            <a:ext cx="8229024" cy="4526396"/>
          </a:xfrm>
          <a:ln/>
        </p:spPr>
        <p:txBody>
          <a:bodyPr vert="horz" lIns="0" tIns="20803" rIns="0" bIns="45720" rtlCol="0">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359" dirty="0">
              <a:solidFill>
                <a:srgbClr val="2B4C7F"/>
              </a:solidFill>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Acceptance testing</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 system is tested against the </a:t>
            </a:r>
            <a:r>
              <a:rPr lang="en-GB" altLang="en-US" sz="1996" dirty="0">
                <a:solidFill>
                  <a:srgbClr val="812628"/>
                </a:solidFill>
                <a:cs typeface="Arial" panose="020B0604020202020204" pitchFamily="34" charset="0"/>
              </a:rPr>
              <a:t>requirements </a:t>
            </a:r>
            <a:r>
              <a:rPr lang="en-GB" altLang="en-US" sz="1996" dirty="0">
                <a:cs typeface="Arial" panose="020B0604020202020204" pitchFamily="34" charset="0"/>
              </a:rPr>
              <a:t>by the </a:t>
            </a:r>
            <a:r>
              <a:rPr lang="en-GB" altLang="en-US" sz="1996" dirty="0">
                <a:solidFill>
                  <a:srgbClr val="812628"/>
                </a:solidFill>
                <a:cs typeface="Arial" panose="020B0604020202020204" pitchFamily="34" charset="0"/>
              </a:rPr>
              <a:t>client</a:t>
            </a:r>
            <a:r>
              <a:rPr lang="en-GB" altLang="en-US" sz="1996" dirty="0">
                <a:cs typeface="Arial" panose="020B0604020202020204" pitchFamily="34" charset="0"/>
              </a:rPr>
              <a:t>, often with selected customers and users.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Delivery and release</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After successful acceptance testing, the system is delivered to the client and released into production or marketed to customers.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a:extLst>
              <a:ext uri="{FF2B5EF4-FFF2-40B4-BE49-F238E27FC236}">
                <a16:creationId xmlns:a16="http://schemas.microsoft.com/office/drawing/2014/main" id="{B0C9B1DD-3827-43C7-83B3-27604B071BFB}"/>
              </a:ext>
            </a:extLst>
          </p:cNvPr>
          <p:cNvSpPr>
            <a:spLocks noGrp="1" noChangeArrowheads="1"/>
          </p:cNvSpPr>
          <p:nvPr>
            <p:ph type="title"/>
          </p:nvPr>
        </p:nvSpPr>
        <p:spPr>
          <a:xfrm>
            <a:off x="1260957" y="389039"/>
            <a:ext cx="9196937" cy="1144921"/>
          </a:xfrm>
          <a:ln/>
        </p:spPr>
        <p:txBody>
          <a:bodyPr vert="horz" lIns="91440" tIns="35206" rIns="91440" bIns="45720" rtlCol="0" anchor="b">
            <a:normAutofit fontScale="90000"/>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dirty="0">
                <a:solidFill>
                  <a:srgbClr val="812628"/>
                </a:solidFill>
                <a:cs typeface="Arial" panose="020B0604020202020204" pitchFamily="34" charset="0"/>
              </a:rPr>
              <a:t>Process Step: Operation and Maintenance</a:t>
            </a:r>
          </a:p>
        </p:txBody>
      </p:sp>
      <p:sp>
        <p:nvSpPr>
          <p:cNvPr id="15362" name="Rectangle 2">
            <a:extLst>
              <a:ext uri="{FF2B5EF4-FFF2-40B4-BE49-F238E27FC236}">
                <a16:creationId xmlns:a16="http://schemas.microsoft.com/office/drawing/2014/main" id="{E77DFC02-0389-432C-95F3-492EB288F494}"/>
              </a:ext>
            </a:extLst>
          </p:cNvPr>
          <p:cNvSpPr>
            <a:spLocks noGrp="1" noChangeArrowheads="1"/>
          </p:cNvSpPr>
          <p:nvPr>
            <p:ph type="body" idx="1"/>
          </p:nvPr>
        </p:nvSpPr>
        <p:spPr>
          <a:xfrm>
            <a:off x="1944045" y="1784411"/>
            <a:ext cx="9011000" cy="4383757"/>
          </a:xfrm>
          <a:ln/>
        </p:spPr>
        <p:txBody>
          <a:bodyPr vert="horz" lIns="0" tIns="20803" rIns="0" bIns="45720" rtlCol="0">
            <a:normAutofit lnSpcReduction="10000"/>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Operation: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 system is put into practical use.</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Maintenance:</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Errors and problems are identified and fixed.</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Evolution: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 system evolves over time as requirements change, to add new functions, or adapt to a changing technical environment.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Phase out: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996" dirty="0">
                <a:cs typeface="Arial" panose="020B0604020202020204" pitchFamily="34" charset="0"/>
              </a:rPr>
              <a:t>The system is withdrawn from service.</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cs typeface="Arial" panose="020B0604020202020204" pitchFamily="34" charset="0"/>
              </a:rPr>
              <a:t>This is sometimes called the </a:t>
            </a:r>
            <a:r>
              <a:rPr lang="en-GB" altLang="en-US" sz="2359" b="1" dirty="0">
                <a:solidFill>
                  <a:srgbClr val="2B4C7F"/>
                </a:solidFill>
                <a:cs typeface="Arial" panose="020B0604020202020204" pitchFamily="34" charset="0"/>
              </a:rPr>
              <a:t>Software Life Cycle</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a:extLst>
              <a:ext uri="{FF2B5EF4-FFF2-40B4-BE49-F238E27FC236}">
                <a16:creationId xmlns:a16="http://schemas.microsoft.com/office/drawing/2014/main" id="{C2186CA3-4567-40BB-A194-C6F4BDD6A383}"/>
              </a:ext>
            </a:extLst>
          </p:cNvPr>
          <p:cNvSpPr>
            <a:spLocks noGrp="1" noChangeArrowheads="1"/>
          </p:cNvSpPr>
          <p:nvPr>
            <p:ph type="title"/>
          </p:nvPr>
        </p:nvSpPr>
        <p:spPr>
          <a:xfrm>
            <a:off x="1980049" y="273629"/>
            <a:ext cx="8229024" cy="1144921"/>
          </a:xfrm>
          <a:ln/>
        </p:spPr>
        <p:txBody>
          <a:bodyPr vert="horz" lIns="91440" tIns="35206" rIns="91440" bIns="45720" rtlCol="0" anchor="b">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a:solidFill>
                  <a:srgbClr val="812628"/>
                </a:solidFill>
                <a:cs typeface="Arial" panose="020B0604020202020204" pitchFamily="34" charset="0"/>
              </a:rPr>
              <a:t>Sequence of Process Steps</a:t>
            </a:r>
          </a:p>
        </p:txBody>
      </p:sp>
      <p:sp>
        <p:nvSpPr>
          <p:cNvPr id="16386" name="Rectangle 2">
            <a:extLst>
              <a:ext uri="{FF2B5EF4-FFF2-40B4-BE49-F238E27FC236}">
                <a16:creationId xmlns:a16="http://schemas.microsoft.com/office/drawing/2014/main" id="{BC0533F0-6A01-41C1-B0C6-D2EA983B2480}"/>
              </a:ext>
            </a:extLst>
          </p:cNvPr>
          <p:cNvSpPr>
            <a:spLocks noGrp="1" noChangeArrowheads="1"/>
          </p:cNvSpPr>
          <p:nvPr>
            <p:ph type="body" idx="1"/>
          </p:nvPr>
        </p:nvSpPr>
        <p:spPr>
          <a:xfrm>
            <a:off x="1944044" y="1641773"/>
            <a:ext cx="9126409" cy="4526396"/>
          </a:xfrm>
          <a:ln/>
        </p:spPr>
        <p:txBody>
          <a:bodyPr vert="horz" lIns="0" tIns="22403" rIns="0" bIns="45720" rtlCol="0">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540" dirty="0">
              <a:cs typeface="Arial" panose="020B0604020202020204" pitchFamily="34" charset="0"/>
            </a:endParaRP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Every software project will include these basic processes, </a:t>
            </a:r>
            <a:r>
              <a:rPr lang="en-GB" altLang="en-US" sz="2540" dirty="0">
                <a:solidFill>
                  <a:srgbClr val="2B4C7F"/>
                </a:solidFill>
                <a:cs typeface="Arial" panose="020B0604020202020204" pitchFamily="34" charset="0"/>
              </a:rPr>
              <a:t>in some shape or form</a:t>
            </a:r>
            <a:r>
              <a:rPr lang="en-GB" altLang="en-US" sz="2540" dirty="0">
                <a:cs typeface="Arial" panose="020B0604020202020204" pitchFamily="34" charset="0"/>
              </a:rPr>
              <a:t>, but: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 The steps may be formal or informal</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cs typeface="Arial" panose="020B0604020202020204" pitchFamily="34" charset="0"/>
              </a:rPr>
              <a:t>• The steps may be carried out in various sequences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a:extLst>
              <a:ext uri="{FF2B5EF4-FFF2-40B4-BE49-F238E27FC236}">
                <a16:creationId xmlns:a16="http://schemas.microsoft.com/office/drawing/2014/main" id="{984F6DD0-34A8-4DA2-873D-0510EF042470}"/>
              </a:ext>
            </a:extLst>
          </p:cNvPr>
          <p:cNvSpPr>
            <a:spLocks noGrp="1" noChangeArrowheads="1"/>
          </p:cNvSpPr>
          <p:nvPr>
            <p:ph type="title"/>
          </p:nvPr>
        </p:nvSpPr>
        <p:spPr>
          <a:xfrm>
            <a:off x="1980049" y="273629"/>
            <a:ext cx="8229024" cy="1144921"/>
          </a:xfrm>
          <a:ln/>
        </p:spPr>
        <p:txBody>
          <a:bodyPr vert="horz" lIns="91440" tIns="35206" rIns="91440" bIns="45720" rtlCol="0" anchor="b">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a:solidFill>
                  <a:srgbClr val="812628"/>
                </a:solidFill>
                <a:cs typeface="Arial" panose="020B0604020202020204" pitchFamily="34" charset="0"/>
              </a:rPr>
              <a:t>Sequence of Process Steps</a:t>
            </a:r>
          </a:p>
        </p:txBody>
      </p:sp>
      <p:sp>
        <p:nvSpPr>
          <p:cNvPr id="17410" name="Rectangle 2">
            <a:extLst>
              <a:ext uri="{FF2B5EF4-FFF2-40B4-BE49-F238E27FC236}">
                <a16:creationId xmlns:a16="http://schemas.microsoft.com/office/drawing/2014/main" id="{54329509-102C-4F3B-83AA-5B3D6853D3D7}"/>
              </a:ext>
            </a:extLst>
          </p:cNvPr>
          <p:cNvSpPr>
            <a:spLocks noGrp="1" noChangeArrowheads="1"/>
          </p:cNvSpPr>
          <p:nvPr>
            <p:ph type="body" idx="1"/>
          </p:nvPr>
        </p:nvSpPr>
        <p:spPr>
          <a:xfrm>
            <a:off x="1251751" y="1899821"/>
            <a:ext cx="9845336" cy="4268348"/>
          </a:xfrm>
          <a:ln/>
        </p:spPr>
        <p:txBody>
          <a:bodyPr vert="horz" lIns="0" tIns="22403" rIns="0" bIns="45720" rtlCol="0">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dirty="0">
                <a:solidFill>
                  <a:srgbClr val="004586"/>
                </a:solidFill>
                <a:cs typeface="Arial" panose="020B0604020202020204" pitchFamily="34" charset="0"/>
              </a:rPr>
              <a:t>Major alternatives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177" dirty="0">
                <a:cs typeface="Arial" panose="020B0604020202020204" pitchFamily="34" charset="0"/>
              </a:rPr>
              <a:t>In this course, we will look at three categories of software development processes: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b="1" dirty="0">
                <a:solidFill>
                  <a:srgbClr val="2B4C7F"/>
                </a:solidFill>
                <a:cs typeface="Arial" panose="020B0604020202020204" pitchFamily="34" charset="0"/>
              </a:rPr>
              <a:t>Sequential:</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814" dirty="0">
                <a:cs typeface="Arial" panose="020B0604020202020204" pitchFamily="34" charset="0"/>
              </a:rPr>
              <a:t>As far as possible, complete each process step before beginning the next. </a:t>
            </a:r>
            <a:r>
              <a:rPr lang="en-GB" altLang="en-US" sz="1814" dirty="0">
                <a:solidFill>
                  <a:srgbClr val="812628"/>
                </a:solidFill>
                <a:cs typeface="Arial" panose="020B0604020202020204" pitchFamily="34" charset="0"/>
              </a:rPr>
              <a:t>Waterfall model</a:t>
            </a:r>
            <a:r>
              <a:rPr lang="en-GB" altLang="en-US" sz="1814" dirty="0">
                <a:cs typeface="Arial" panose="020B0604020202020204" pitchFamily="34" charset="0"/>
              </a:rPr>
              <a: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b="1" dirty="0">
                <a:solidFill>
                  <a:srgbClr val="2B4C7F"/>
                </a:solidFill>
                <a:cs typeface="Arial" panose="020B0604020202020204" pitchFamily="34" charset="0"/>
              </a:rPr>
              <a:t>Iterative:</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814" dirty="0">
                <a:cs typeface="Arial" panose="020B0604020202020204" pitchFamily="34" charset="0"/>
              </a:rPr>
              <a:t>Go quickly through all process steps to create a rough system, then repeat them to improve the system. </a:t>
            </a:r>
            <a:r>
              <a:rPr lang="en-GB" altLang="en-US" sz="1814" dirty="0">
                <a:solidFill>
                  <a:srgbClr val="812628"/>
                </a:solidFill>
                <a:cs typeface="Arial" panose="020B0604020202020204" pitchFamily="34" charset="0"/>
              </a:rPr>
              <a:t>Iterative refinement</a:t>
            </a:r>
            <a:r>
              <a:rPr lang="en-GB" altLang="en-US" sz="1814" dirty="0">
                <a:solidFill>
                  <a:srgbClr val="953735"/>
                </a:solidFill>
                <a:cs typeface="Arial" panose="020B0604020202020204" pitchFamily="34" charset="0"/>
              </a:rPr>
              <a: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540" b="1" dirty="0">
                <a:solidFill>
                  <a:srgbClr val="2B4C7F"/>
                </a:solidFill>
                <a:cs typeface="Arial" panose="020B0604020202020204" pitchFamily="34" charset="0"/>
              </a:rPr>
              <a:t>Incremental:</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1814" dirty="0">
                <a:cs typeface="Arial" panose="020B0604020202020204" pitchFamily="34" charset="0"/>
              </a:rPr>
              <a:t>A variant of iterative refinement in which small increments of software are placed in production (sprints). </a:t>
            </a:r>
            <a:r>
              <a:rPr lang="en-GB" altLang="en-US" sz="1814" dirty="0">
                <a:solidFill>
                  <a:srgbClr val="812628"/>
                </a:solidFill>
                <a:cs typeface="Arial" panose="020B0604020202020204" pitchFamily="34" charset="0"/>
              </a:rPr>
              <a:t>Agile development</a:t>
            </a:r>
            <a:r>
              <a:rPr lang="en-GB" altLang="en-US" sz="1814" dirty="0">
                <a:solidFill>
                  <a:srgbClr val="0000C0"/>
                </a:solidFill>
                <a:cs typeface="Arial" panose="020B0604020202020204" pitchFamily="34" charset="0"/>
              </a:rPr>
              <a: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a:extLst>
              <a:ext uri="{FF2B5EF4-FFF2-40B4-BE49-F238E27FC236}">
                <a16:creationId xmlns:a16="http://schemas.microsoft.com/office/drawing/2014/main" id="{4689EF05-5D72-45CA-8851-F2607BCA1C8C}"/>
              </a:ext>
            </a:extLst>
          </p:cNvPr>
          <p:cNvSpPr>
            <a:spLocks noGrp="1" noChangeArrowheads="1"/>
          </p:cNvSpPr>
          <p:nvPr>
            <p:ph type="title"/>
          </p:nvPr>
        </p:nvSpPr>
        <p:spPr>
          <a:xfrm>
            <a:off x="1208843" y="496852"/>
            <a:ext cx="9774314" cy="1144921"/>
          </a:xfrm>
          <a:ln/>
        </p:spPr>
        <p:txBody>
          <a:bodyPr vert="horz" lIns="91440" tIns="35206" rIns="91440" bIns="45720" rtlCol="0" anchor="b">
            <a:normAutofit fontScale="90000"/>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a:solidFill>
                  <a:srgbClr val="812628"/>
                </a:solidFill>
                <a:cs typeface="Arial" panose="020B0604020202020204" pitchFamily="34" charset="0"/>
              </a:rPr>
              <a:t>Heavyweight and Lightweight Software Development</a:t>
            </a:r>
          </a:p>
        </p:txBody>
      </p:sp>
      <p:sp>
        <p:nvSpPr>
          <p:cNvPr id="18434" name="Rectangle 2">
            <a:extLst>
              <a:ext uri="{FF2B5EF4-FFF2-40B4-BE49-F238E27FC236}">
                <a16:creationId xmlns:a16="http://schemas.microsoft.com/office/drawing/2014/main" id="{FD46A340-E515-476D-B0B0-411A79379712}"/>
              </a:ext>
            </a:extLst>
          </p:cNvPr>
          <p:cNvSpPr>
            <a:spLocks noGrp="1" noChangeArrowheads="1"/>
          </p:cNvSpPr>
          <p:nvPr>
            <p:ph type="body" idx="1"/>
          </p:nvPr>
        </p:nvSpPr>
        <p:spPr>
          <a:xfrm>
            <a:off x="1208842" y="1961965"/>
            <a:ext cx="10083553" cy="4206204"/>
          </a:xfrm>
          <a:ln/>
        </p:spPr>
        <p:txBody>
          <a:bodyPr vert="horz" lIns="0" tIns="20803" rIns="0" bIns="45720" rtlCol="0">
            <a:normAutofit/>
          </a:bodyPr>
          <a:lstStyle/>
          <a:p>
            <a:pPr algn="just">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dirty="0">
                <a:cs typeface="Arial" panose="020B0604020202020204" pitchFamily="34" charset="0"/>
              </a:rPr>
              <a:t>In a </a:t>
            </a:r>
            <a:r>
              <a:rPr lang="en-GB" altLang="en-US" sz="2359" b="1" dirty="0">
                <a:solidFill>
                  <a:srgbClr val="2B4C7F"/>
                </a:solidFill>
                <a:cs typeface="Arial" panose="020B0604020202020204" pitchFamily="34" charset="0"/>
              </a:rPr>
              <a:t>heavyweight process</a:t>
            </a:r>
            <a:r>
              <a:rPr lang="en-GB" altLang="en-US" sz="2359" dirty="0">
                <a:cs typeface="Arial" panose="020B0604020202020204" pitchFamily="34" charset="0"/>
              </a:rPr>
              <a:t>, the development team works through the process steps slowly and systematically, with the aim of fully completing each process step and deliverables for that step that will need minimal changes and revision.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dirty="0">
                <a:cs typeface="Arial" panose="020B0604020202020204" pitchFamily="34" charset="0"/>
              </a:rPr>
              <a:t>Example: </a:t>
            </a:r>
            <a:r>
              <a:rPr lang="en-GB" altLang="en-US" sz="2359" dirty="0">
                <a:solidFill>
                  <a:srgbClr val="812628"/>
                </a:solidFill>
                <a:cs typeface="Arial" panose="020B0604020202020204" pitchFamily="34" charset="0"/>
              </a:rPr>
              <a:t>Modified Waterfall Model</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359" dirty="0">
              <a:solidFill>
                <a:srgbClr val="812628"/>
              </a:solidFill>
              <a:cs typeface="Arial" panose="020B0604020202020204" pitchFamily="34" charset="0"/>
            </a:endParaRPr>
          </a:p>
          <a:p>
            <a:pPr algn="just">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dirty="0">
                <a:cs typeface="Arial" panose="020B0604020202020204" pitchFamily="34" charset="0"/>
              </a:rPr>
              <a:t>In a </a:t>
            </a:r>
            <a:r>
              <a:rPr lang="en-GB" altLang="en-US" sz="2359" b="1" dirty="0">
                <a:solidFill>
                  <a:srgbClr val="2B4C7F"/>
                </a:solidFill>
                <a:cs typeface="Arial" panose="020B0604020202020204" pitchFamily="34" charset="0"/>
              </a:rPr>
              <a:t>lightweight process</a:t>
            </a:r>
            <a:r>
              <a:rPr lang="en-GB" altLang="en-US" sz="2359" dirty="0">
                <a:cs typeface="Arial" panose="020B0604020202020204" pitchFamily="34" charset="0"/>
              </a:rPr>
              <a:t>, the development team releases working software in small increments, and develops the plans incrementally, based on experience. Each increment includes all the process steps. There is an expectation that changes will be made based on experience.</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dirty="0">
                <a:cs typeface="Arial" panose="020B0604020202020204" pitchFamily="34" charset="0"/>
              </a:rPr>
              <a:t>Example: </a:t>
            </a:r>
            <a:r>
              <a:rPr lang="en-GB" altLang="en-US" sz="2359" dirty="0">
                <a:solidFill>
                  <a:srgbClr val="812628"/>
                </a:solidFill>
                <a:cs typeface="Arial" panose="020B0604020202020204" pitchFamily="34" charset="0"/>
              </a:rPr>
              <a:t>Agile Software Development</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a:extLst>
              <a:ext uri="{FF2B5EF4-FFF2-40B4-BE49-F238E27FC236}">
                <a16:creationId xmlns:a16="http://schemas.microsoft.com/office/drawing/2014/main" id="{3042BE2F-D59F-4308-8CD7-EE4039922CF9}"/>
              </a:ext>
            </a:extLst>
          </p:cNvPr>
          <p:cNvSpPr>
            <a:spLocks noGrp="1" noChangeArrowheads="1"/>
          </p:cNvSpPr>
          <p:nvPr>
            <p:ph type="title"/>
          </p:nvPr>
        </p:nvSpPr>
        <p:spPr>
          <a:xfrm>
            <a:off x="1145219" y="273629"/>
            <a:ext cx="9063854" cy="1144921"/>
          </a:xfrm>
          <a:ln/>
        </p:spPr>
        <p:txBody>
          <a:bodyPr vert="horz" lIns="91440" tIns="35206" rIns="91440" bIns="45720" rtlCol="0" anchor="b">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dirty="0">
                <a:solidFill>
                  <a:srgbClr val="812628"/>
                </a:solidFill>
                <a:cs typeface="Arial" panose="020B0604020202020204" pitchFamily="34" charset="0"/>
              </a:rPr>
              <a:t>Deliverables</a:t>
            </a:r>
          </a:p>
        </p:txBody>
      </p:sp>
      <p:sp>
        <p:nvSpPr>
          <p:cNvPr id="19458" name="Rectangle 2">
            <a:extLst>
              <a:ext uri="{FF2B5EF4-FFF2-40B4-BE49-F238E27FC236}">
                <a16:creationId xmlns:a16="http://schemas.microsoft.com/office/drawing/2014/main" id="{8ADA344E-0B17-4005-BCC1-ECB5E45EC819}"/>
              </a:ext>
            </a:extLst>
          </p:cNvPr>
          <p:cNvSpPr>
            <a:spLocks noGrp="1" noChangeArrowheads="1"/>
          </p:cNvSpPr>
          <p:nvPr>
            <p:ph type="body" idx="1"/>
          </p:nvPr>
        </p:nvSpPr>
        <p:spPr>
          <a:xfrm>
            <a:off x="1145219" y="2015231"/>
            <a:ext cx="9951868" cy="4152938"/>
          </a:xfrm>
          <a:ln/>
        </p:spPr>
        <p:txBody>
          <a:bodyPr vert="horz" lIns="0" tIns="20803" rIns="0" bIns="45720" rtlCol="0">
            <a:normAutofit/>
          </a:bodyPr>
          <a:lstStyle/>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359" b="1" dirty="0">
                <a:solidFill>
                  <a:srgbClr val="2B4C7F"/>
                </a:solidFill>
                <a:cs typeface="Arial" panose="020B0604020202020204" pitchFamily="34" charset="0"/>
              </a:rPr>
              <a:t>Deliverables</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177" dirty="0">
                <a:cs typeface="Arial" panose="020B0604020202020204" pitchFamily="34" charset="0"/>
              </a:rPr>
              <a:t>A deliverable is some work product that is delivered to the client.</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177" dirty="0">
                <a:cs typeface="Arial" panose="020B0604020202020204" pitchFamily="34" charset="0"/>
              </a:rPr>
              <a:t>• In a </a:t>
            </a:r>
            <a:r>
              <a:rPr lang="en-GB" altLang="en-US" sz="2177" dirty="0">
                <a:solidFill>
                  <a:srgbClr val="812628"/>
                </a:solidFill>
                <a:cs typeface="Arial" panose="020B0604020202020204" pitchFamily="34" charset="0"/>
              </a:rPr>
              <a:t>heavyweight process</a:t>
            </a:r>
            <a:r>
              <a:rPr lang="en-GB" altLang="en-US" sz="2177" dirty="0">
                <a:cs typeface="Arial" panose="020B0604020202020204" pitchFamily="34" charset="0"/>
              </a:rPr>
              <a:t>, each process step creates a deliverable, usually documentation, e.g., a requirements specification.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r>
              <a:rPr lang="en-GB" altLang="en-US" sz="2177" dirty="0">
                <a:cs typeface="Arial" panose="020B0604020202020204" pitchFamily="34" charset="0"/>
              </a:rPr>
              <a:t>• In a </a:t>
            </a:r>
            <a:r>
              <a:rPr lang="en-GB" altLang="en-US" sz="2177" dirty="0">
                <a:solidFill>
                  <a:srgbClr val="812628"/>
                </a:solidFill>
                <a:cs typeface="Arial" panose="020B0604020202020204" pitchFamily="34" charset="0"/>
              </a:rPr>
              <a:t>lightweight process</a:t>
            </a:r>
            <a:r>
              <a:rPr lang="en-GB" altLang="en-US" sz="2177" dirty="0">
                <a:cs typeface="Arial" panose="020B0604020202020204" pitchFamily="34" charset="0"/>
              </a:rPr>
              <a:t>, the deliverables are incremental working code, with minimal supporting documentation.</a:t>
            </a:r>
          </a:p>
          <a:p>
            <a:pPr>
              <a:tabLst>
                <a:tab pos="322600" algn="l"/>
                <a:tab pos="645201" algn="l"/>
                <a:tab pos="966361" algn="l"/>
                <a:tab pos="1288962" algn="l"/>
                <a:tab pos="1613002" algn="l"/>
                <a:tab pos="1935602" algn="l"/>
                <a:tab pos="2256763" algn="l"/>
                <a:tab pos="2579363" algn="l"/>
                <a:tab pos="2903403" algn="l"/>
                <a:tab pos="3226003" algn="l"/>
                <a:tab pos="3548604" algn="l"/>
                <a:tab pos="3869764" algn="l"/>
                <a:tab pos="3940332" algn="l"/>
                <a:tab pos="4597055" algn="l"/>
                <a:tab pos="5253777" algn="l"/>
                <a:tab pos="5910499" algn="l"/>
                <a:tab pos="6567221" algn="l"/>
                <a:tab pos="7223943" algn="l"/>
                <a:tab pos="7880665" algn="l"/>
              </a:tabLst>
            </a:pPr>
            <a:endParaRPr lang="en-GB" altLang="en-US" sz="2177" dirty="0">
              <a:cs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1999" cy="6858000"/>
          </a:xfrm>
        </p:spPr>
      </p:pic>
      <p:sp>
        <p:nvSpPr>
          <p:cNvPr id="3" name="Slide Number Placeholder 2">
            <a:extLst>
              <a:ext uri="{FF2B5EF4-FFF2-40B4-BE49-F238E27FC236}">
                <a16:creationId xmlns:a16="http://schemas.microsoft.com/office/drawing/2014/main" id="{A41273A4-DCF5-44D5-9424-0C64C55405A2}"/>
              </a:ext>
            </a:extLst>
          </p:cNvPr>
          <p:cNvSpPr>
            <a:spLocks noGrp="1"/>
          </p:cNvSpPr>
          <p:nvPr>
            <p:ph type="sldNum" sz="quarter" idx="12"/>
          </p:nvPr>
        </p:nvSpPr>
        <p:spPr/>
        <p:txBody>
          <a:bodyPr/>
          <a:lstStyle/>
          <a:p>
            <a:fld id="{51A81361-66D7-4C6D-A462-B780D05B41E3}" type="slidenum">
              <a:rPr lang="en-US" smtClean="0"/>
              <a:t>28</a:t>
            </a:fld>
            <a:endParaRPr lang="en-US"/>
          </a:p>
        </p:txBody>
      </p:sp>
    </p:spTree>
    <p:extLst>
      <p:ext uri="{BB962C8B-B14F-4D97-AF65-F5344CB8AC3E}">
        <p14:creationId xmlns:p14="http://schemas.microsoft.com/office/powerpoint/2010/main" val="2510062262"/>
      </p:ext>
    </p:extLst>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1478</TotalTime>
  <Words>1685</Words>
  <Application>Microsoft Office PowerPoint</Application>
  <PresentationFormat>Widescreen</PresentationFormat>
  <Paragraphs>223</Paragraphs>
  <Slides>28</Slides>
  <Notes>21</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28</vt:i4>
      </vt:variant>
    </vt:vector>
  </HeadingPairs>
  <TitlesOfParts>
    <vt:vector size="38" baseType="lpstr">
      <vt:lpstr>Arial</vt:lpstr>
      <vt:lpstr>Arial</vt:lpstr>
      <vt:lpstr>Arial Unicode MS</vt:lpstr>
      <vt:lpstr>Calibri</vt:lpstr>
      <vt:lpstr>Calibri Light</vt:lpstr>
      <vt:lpstr>Century Gothic</vt:lpstr>
      <vt:lpstr>Wingdings</vt:lpstr>
      <vt:lpstr>Wingdings 3</vt:lpstr>
      <vt:lpstr>Ion Boardroom</vt:lpstr>
      <vt:lpstr>Retrospect</vt:lpstr>
      <vt:lpstr>Fundamentals of  Software Engineering </vt:lpstr>
      <vt:lpstr>Types of Software Application</vt:lpstr>
      <vt:lpstr>Types of Software </vt:lpstr>
      <vt:lpstr>Software Application Types</vt:lpstr>
      <vt:lpstr>Software Application types</vt:lpstr>
      <vt:lpstr>Application types</vt:lpstr>
      <vt:lpstr>Application types</vt:lpstr>
      <vt:lpstr>Software Processes </vt:lpstr>
      <vt:lpstr>What is a software process?</vt:lpstr>
      <vt:lpstr>Software Process</vt:lpstr>
      <vt:lpstr>Variety of Software Processes</vt:lpstr>
      <vt:lpstr>What is a software process model?</vt:lpstr>
      <vt:lpstr>Software Lifecycle Activities</vt:lpstr>
      <vt:lpstr>Basic Process Steps in all Software Development</vt:lpstr>
      <vt:lpstr>Quality Control Steps in all Software Development</vt:lpstr>
      <vt:lpstr>Process Step: Feasibility</vt:lpstr>
      <vt:lpstr>Process Step: Requirements</vt:lpstr>
      <vt:lpstr>Process Step: Requirements</vt:lpstr>
      <vt:lpstr>Process Step: System Design</vt:lpstr>
      <vt:lpstr>Process Step: Implementation</vt:lpstr>
      <vt:lpstr>Categories of Testing</vt:lpstr>
      <vt:lpstr>Process Step: Acceptance and Release</vt:lpstr>
      <vt:lpstr>Process Step: Operation and Maintenance</vt:lpstr>
      <vt:lpstr>Sequence of Process Steps</vt:lpstr>
      <vt:lpstr>Sequence of Process Steps</vt:lpstr>
      <vt:lpstr>Heavyweight and Lightweight Software Development</vt:lpstr>
      <vt:lpstr>Deliverables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Software Engineering </dc:title>
  <dc:creator>Bilal Khalid Dar</dc:creator>
  <cp:lastModifiedBy>Rabail Zahid</cp:lastModifiedBy>
  <cp:revision>63</cp:revision>
  <dcterms:created xsi:type="dcterms:W3CDTF">2021-03-01T16:42:46Z</dcterms:created>
  <dcterms:modified xsi:type="dcterms:W3CDTF">2026-01-25T20:51:43Z</dcterms:modified>
</cp:coreProperties>
</file>