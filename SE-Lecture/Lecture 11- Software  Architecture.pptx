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47"/>
  </p:notesMasterIdLst>
  <p:sldIdLst>
    <p:sldId id="333" r:id="rId3"/>
    <p:sldId id="369" r:id="rId4"/>
    <p:sldId id="338" r:id="rId5"/>
    <p:sldId id="364" r:id="rId6"/>
    <p:sldId id="336" r:id="rId7"/>
    <p:sldId id="337" r:id="rId8"/>
    <p:sldId id="365" r:id="rId9"/>
    <p:sldId id="363" r:id="rId10"/>
    <p:sldId id="368" r:id="rId11"/>
    <p:sldId id="366" r:id="rId12"/>
    <p:sldId id="367" r:id="rId13"/>
    <p:sldId id="339" r:id="rId14"/>
    <p:sldId id="372" r:id="rId15"/>
    <p:sldId id="373" r:id="rId16"/>
    <p:sldId id="374" r:id="rId17"/>
    <p:sldId id="381" r:id="rId18"/>
    <p:sldId id="370" r:id="rId19"/>
    <p:sldId id="380" r:id="rId20"/>
    <p:sldId id="335" r:id="rId21"/>
    <p:sldId id="340" r:id="rId22"/>
    <p:sldId id="375" r:id="rId23"/>
    <p:sldId id="355" r:id="rId24"/>
    <p:sldId id="357" r:id="rId25"/>
    <p:sldId id="358" r:id="rId26"/>
    <p:sldId id="341" r:id="rId27"/>
    <p:sldId id="342" r:id="rId28"/>
    <p:sldId id="376" r:id="rId29"/>
    <p:sldId id="343" r:id="rId30"/>
    <p:sldId id="344" r:id="rId31"/>
    <p:sldId id="379" r:id="rId32"/>
    <p:sldId id="345" r:id="rId33"/>
    <p:sldId id="377" r:id="rId34"/>
    <p:sldId id="378" r:id="rId35"/>
    <p:sldId id="263" r:id="rId36"/>
    <p:sldId id="264" r:id="rId37"/>
    <p:sldId id="286" r:id="rId38"/>
    <p:sldId id="291" r:id="rId39"/>
    <p:sldId id="349" r:id="rId40"/>
    <p:sldId id="350" r:id="rId41"/>
    <p:sldId id="359" r:id="rId42"/>
    <p:sldId id="351" r:id="rId43"/>
    <p:sldId id="371" r:id="rId44"/>
    <p:sldId id="283" r:id="rId45"/>
    <p:sldId id="277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8868" autoAdjust="0"/>
  </p:normalViewPr>
  <p:slideViewPr>
    <p:cSldViewPr snapToGrid="0">
      <p:cViewPr varScale="1">
        <p:scale>
          <a:sx n="78" d="100"/>
          <a:sy n="78" d="100"/>
        </p:scale>
        <p:origin x="21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A87AFF-DB77-4D29-B10B-16FB38569D0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C7056AE-84E4-4AA3-ABDA-7C927ABF6E40}">
      <dgm:prSet/>
      <dgm:spPr/>
      <dgm:t>
        <a:bodyPr/>
        <a:lstStyle/>
        <a:p>
          <a:r>
            <a:rPr lang="en-GB"/>
            <a:t>The fundamental problem to be solved with a large system</a:t>
          </a:r>
          <a:r>
            <a:rPr lang="tr-TR"/>
            <a:t> </a:t>
          </a:r>
          <a:r>
            <a:rPr lang="en-GB"/>
            <a:t>is how to break it into chunks manageable for human</a:t>
          </a:r>
          <a:r>
            <a:rPr lang="tr-TR"/>
            <a:t> </a:t>
          </a:r>
          <a:r>
            <a:rPr lang="en-GB"/>
            <a:t>programmers to understand, implement, and maintain.</a:t>
          </a:r>
          <a:endParaRPr lang="en-US"/>
        </a:p>
      </dgm:t>
    </dgm:pt>
    <dgm:pt modelId="{52E43F55-B7F3-4533-9FA7-9531A471A18C}" type="parTrans" cxnId="{78EF8569-599F-4F1B-B785-B20D0DD5A705}">
      <dgm:prSet/>
      <dgm:spPr/>
      <dgm:t>
        <a:bodyPr/>
        <a:lstStyle/>
        <a:p>
          <a:endParaRPr lang="en-US"/>
        </a:p>
      </dgm:t>
    </dgm:pt>
    <dgm:pt modelId="{9EC2D777-F331-4DF3-A91E-0F592AD4898A}" type="sibTrans" cxnId="{78EF8569-599F-4F1B-B785-B20D0DD5A705}">
      <dgm:prSet/>
      <dgm:spPr/>
      <dgm:t>
        <a:bodyPr/>
        <a:lstStyle/>
        <a:p>
          <a:endParaRPr lang="en-US"/>
        </a:p>
      </dgm:t>
    </dgm:pt>
    <dgm:pt modelId="{E1DF4D11-896F-49F8-B852-E597CC077FAF}">
      <dgm:prSet/>
      <dgm:spPr/>
      <dgm:t>
        <a:bodyPr/>
        <a:lstStyle/>
        <a:p>
          <a:r>
            <a:rPr lang="en-GB" i="1"/>
            <a:t>An </a:t>
          </a:r>
          <a:r>
            <a:rPr lang="en-GB" b="1" i="1"/>
            <a:t>architectural pattern</a:t>
          </a:r>
          <a:r>
            <a:rPr lang="en-GB" i="1"/>
            <a:t> is a general, reusable solution to a commonly occurring problem in software architecture within a given context. Architectural patterns are similar to software design pattern but have a broader scope.</a:t>
          </a:r>
          <a:endParaRPr lang="en-US"/>
        </a:p>
      </dgm:t>
    </dgm:pt>
    <dgm:pt modelId="{8DAAC9B0-ADEB-4DD7-8D96-EAF482881C4C}" type="parTrans" cxnId="{3CC8AA3F-DC42-4041-A413-93F77011EE37}">
      <dgm:prSet/>
      <dgm:spPr/>
      <dgm:t>
        <a:bodyPr/>
        <a:lstStyle/>
        <a:p>
          <a:endParaRPr lang="en-US"/>
        </a:p>
      </dgm:t>
    </dgm:pt>
    <dgm:pt modelId="{B3E59CE2-E482-4881-AEDE-28EAAD2B55FE}" type="sibTrans" cxnId="{3CC8AA3F-DC42-4041-A413-93F77011EE37}">
      <dgm:prSet/>
      <dgm:spPr/>
      <dgm:t>
        <a:bodyPr/>
        <a:lstStyle/>
        <a:p>
          <a:endParaRPr lang="en-US"/>
        </a:p>
      </dgm:t>
    </dgm:pt>
    <dgm:pt modelId="{96CCB832-6A59-4B91-9637-158AB9628E2E}" type="pres">
      <dgm:prSet presAssocID="{07A87AFF-DB77-4D29-B10B-16FB38569D07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B8CA827-E1D4-4A1A-A880-B5887443CBD6}" type="pres">
      <dgm:prSet presAssocID="{0C7056AE-84E4-4AA3-ABDA-7C927ABF6E40}" presName="compNode" presStyleCnt="0"/>
      <dgm:spPr/>
    </dgm:pt>
    <dgm:pt modelId="{6A3D7764-5512-4105-8318-2C81B97CB51E}" type="pres">
      <dgm:prSet presAssocID="{0C7056AE-84E4-4AA3-ABDA-7C927ABF6E40}" presName="bgRect" presStyleLbl="bgShp" presStyleIdx="0" presStyleCnt="2"/>
      <dgm:spPr/>
    </dgm:pt>
    <dgm:pt modelId="{B380280E-DBA7-40E5-BC9A-D0D19DF8849E}" type="pres">
      <dgm:prSet presAssocID="{0C7056AE-84E4-4AA3-ABDA-7C927ABF6E4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D3BF8177-0BA8-408F-AFE3-86609DDF5320}" type="pres">
      <dgm:prSet presAssocID="{0C7056AE-84E4-4AA3-ABDA-7C927ABF6E40}" presName="spaceRect" presStyleCnt="0"/>
      <dgm:spPr/>
    </dgm:pt>
    <dgm:pt modelId="{95AE8069-DEEB-4811-822D-85D791D305C3}" type="pres">
      <dgm:prSet presAssocID="{0C7056AE-84E4-4AA3-ABDA-7C927ABF6E40}" presName="parTx" presStyleLbl="revTx" presStyleIdx="0" presStyleCnt="2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D21DD556-414D-4941-A7EC-27FC3A298147}" type="pres">
      <dgm:prSet presAssocID="{9EC2D777-F331-4DF3-A91E-0F592AD4898A}" presName="sibTrans" presStyleCnt="0"/>
      <dgm:spPr/>
    </dgm:pt>
    <dgm:pt modelId="{A1C91E5B-4822-4090-8611-4EF18983FEAC}" type="pres">
      <dgm:prSet presAssocID="{E1DF4D11-896F-49F8-B852-E597CC077FAF}" presName="compNode" presStyleCnt="0"/>
      <dgm:spPr/>
    </dgm:pt>
    <dgm:pt modelId="{5284B32E-3817-40B6-B0E5-49E4D2898D90}" type="pres">
      <dgm:prSet presAssocID="{E1DF4D11-896F-49F8-B852-E597CC077FAF}" presName="bgRect" presStyleLbl="bgShp" presStyleIdx="1" presStyleCnt="2"/>
      <dgm:spPr/>
    </dgm:pt>
    <dgm:pt modelId="{D52A8DC7-A64E-400B-8C9A-16A8BE74D15C}" type="pres">
      <dgm:prSet presAssocID="{E1DF4D11-896F-49F8-B852-E597CC077FAF}" presName="iconRect" presStyleLbl="node1" presStyleIdx="1" presStyleCnt="2"/>
      <dgm:spPr>
        <a:blipFill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Maze"/>
        </a:ext>
      </dgm:extLst>
    </dgm:pt>
    <dgm:pt modelId="{7852A282-9B8A-4B84-8D51-89C179846F73}" type="pres">
      <dgm:prSet presAssocID="{E1DF4D11-896F-49F8-B852-E597CC077FAF}" presName="spaceRect" presStyleCnt="0"/>
      <dgm:spPr/>
    </dgm:pt>
    <dgm:pt modelId="{FB37E876-57F4-4627-A9B5-9FB1315BD168}" type="pres">
      <dgm:prSet presAssocID="{E1DF4D11-896F-49F8-B852-E597CC077FAF}" presName="parTx" presStyleLbl="revTx" presStyleIdx="1" presStyleCnt="2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CA536A11-54E2-46DB-8E38-F73F882D4585}" type="presOf" srcId="{E1DF4D11-896F-49F8-B852-E597CC077FAF}" destId="{FB37E876-57F4-4627-A9B5-9FB1315BD168}" srcOrd="0" destOrd="0" presId="urn:microsoft.com/office/officeart/2018/2/layout/IconVerticalSolidList"/>
    <dgm:cxn modelId="{20CAE1E4-27A7-470E-957E-49735A1DCDD8}" type="presOf" srcId="{0C7056AE-84E4-4AA3-ABDA-7C927ABF6E40}" destId="{95AE8069-DEEB-4811-822D-85D791D305C3}" srcOrd="0" destOrd="0" presId="urn:microsoft.com/office/officeart/2018/2/layout/IconVerticalSolidList"/>
    <dgm:cxn modelId="{1966702E-EAFF-4862-9F22-54F4325FF4DB}" type="presOf" srcId="{07A87AFF-DB77-4D29-B10B-16FB38569D07}" destId="{96CCB832-6A59-4B91-9637-158AB9628E2E}" srcOrd="0" destOrd="0" presId="urn:microsoft.com/office/officeart/2018/2/layout/IconVerticalSolidList"/>
    <dgm:cxn modelId="{78EF8569-599F-4F1B-B785-B20D0DD5A705}" srcId="{07A87AFF-DB77-4D29-B10B-16FB38569D07}" destId="{0C7056AE-84E4-4AA3-ABDA-7C927ABF6E40}" srcOrd="0" destOrd="0" parTransId="{52E43F55-B7F3-4533-9FA7-9531A471A18C}" sibTransId="{9EC2D777-F331-4DF3-A91E-0F592AD4898A}"/>
    <dgm:cxn modelId="{3CC8AA3F-DC42-4041-A413-93F77011EE37}" srcId="{07A87AFF-DB77-4D29-B10B-16FB38569D07}" destId="{E1DF4D11-896F-49F8-B852-E597CC077FAF}" srcOrd="1" destOrd="0" parTransId="{8DAAC9B0-ADEB-4DD7-8D96-EAF482881C4C}" sibTransId="{B3E59CE2-E482-4881-AEDE-28EAAD2B55FE}"/>
    <dgm:cxn modelId="{9A576352-8B7E-408E-86AF-815CC8CBF549}" type="presParOf" srcId="{96CCB832-6A59-4B91-9637-158AB9628E2E}" destId="{1B8CA827-E1D4-4A1A-A880-B5887443CBD6}" srcOrd="0" destOrd="0" presId="urn:microsoft.com/office/officeart/2018/2/layout/IconVerticalSolidList"/>
    <dgm:cxn modelId="{59AC074D-C5CE-4D82-A6DE-9705430D2B71}" type="presParOf" srcId="{1B8CA827-E1D4-4A1A-A880-B5887443CBD6}" destId="{6A3D7764-5512-4105-8318-2C81B97CB51E}" srcOrd="0" destOrd="0" presId="urn:microsoft.com/office/officeart/2018/2/layout/IconVerticalSolidList"/>
    <dgm:cxn modelId="{A6858B7F-D9F3-4239-8743-3ED005E561EA}" type="presParOf" srcId="{1B8CA827-E1D4-4A1A-A880-B5887443CBD6}" destId="{B380280E-DBA7-40E5-BC9A-D0D19DF8849E}" srcOrd="1" destOrd="0" presId="urn:microsoft.com/office/officeart/2018/2/layout/IconVerticalSolidList"/>
    <dgm:cxn modelId="{B41472C8-D473-4A42-BD24-D8908149FAD7}" type="presParOf" srcId="{1B8CA827-E1D4-4A1A-A880-B5887443CBD6}" destId="{D3BF8177-0BA8-408F-AFE3-86609DDF5320}" srcOrd="2" destOrd="0" presId="urn:microsoft.com/office/officeart/2018/2/layout/IconVerticalSolidList"/>
    <dgm:cxn modelId="{0BD54E49-F1DB-4CCE-9C13-2529B4D5628D}" type="presParOf" srcId="{1B8CA827-E1D4-4A1A-A880-B5887443CBD6}" destId="{95AE8069-DEEB-4811-822D-85D791D305C3}" srcOrd="3" destOrd="0" presId="urn:microsoft.com/office/officeart/2018/2/layout/IconVerticalSolidList"/>
    <dgm:cxn modelId="{36FA0723-0823-4EA7-8BEB-A2E692024673}" type="presParOf" srcId="{96CCB832-6A59-4B91-9637-158AB9628E2E}" destId="{D21DD556-414D-4941-A7EC-27FC3A298147}" srcOrd="1" destOrd="0" presId="urn:microsoft.com/office/officeart/2018/2/layout/IconVerticalSolidList"/>
    <dgm:cxn modelId="{8CBBFAD6-5184-4F43-AFB8-ED336D50C4DF}" type="presParOf" srcId="{96CCB832-6A59-4B91-9637-158AB9628E2E}" destId="{A1C91E5B-4822-4090-8611-4EF18983FEAC}" srcOrd="2" destOrd="0" presId="urn:microsoft.com/office/officeart/2018/2/layout/IconVerticalSolidList"/>
    <dgm:cxn modelId="{12A36F32-F07D-41B8-9896-08D61223AD93}" type="presParOf" srcId="{A1C91E5B-4822-4090-8611-4EF18983FEAC}" destId="{5284B32E-3817-40B6-B0E5-49E4D2898D90}" srcOrd="0" destOrd="0" presId="urn:microsoft.com/office/officeart/2018/2/layout/IconVerticalSolidList"/>
    <dgm:cxn modelId="{BD679263-9A8A-4BBD-9459-168C3A7FF754}" type="presParOf" srcId="{A1C91E5B-4822-4090-8611-4EF18983FEAC}" destId="{D52A8DC7-A64E-400B-8C9A-16A8BE74D15C}" srcOrd="1" destOrd="0" presId="urn:microsoft.com/office/officeart/2018/2/layout/IconVerticalSolidList"/>
    <dgm:cxn modelId="{51C6E0EE-52D6-4F3F-B508-070079638345}" type="presParOf" srcId="{A1C91E5B-4822-4090-8611-4EF18983FEAC}" destId="{7852A282-9B8A-4B84-8D51-89C179846F73}" srcOrd="2" destOrd="0" presId="urn:microsoft.com/office/officeart/2018/2/layout/IconVerticalSolidList"/>
    <dgm:cxn modelId="{2358DDA7-E3E2-4514-89C4-4AC920DEECA8}" type="presParOf" srcId="{A1C91E5B-4822-4090-8611-4EF18983FEAC}" destId="{FB37E876-57F4-4627-A9B5-9FB1315BD1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D6730F-E063-40FF-9179-7B626DC62F93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BDCE7FF-48F4-4F26-8B3B-4097DCD9D3DC}">
      <dgm:prSet/>
      <dgm:spPr/>
      <dgm:t>
        <a:bodyPr/>
        <a:lstStyle/>
        <a:p>
          <a:r>
            <a:rPr lang="en-US"/>
            <a:t>An architectural Pattern expresses a fundamental structural organization schema for software systems. It provides a set of predefined subsystems, their responsibilities, and includes rules and guidelines for organizing the relationships between them.</a:t>
          </a:r>
        </a:p>
      </dgm:t>
    </dgm:pt>
    <dgm:pt modelId="{E7693AFE-A282-4962-935D-2DB87B2BC4AE}" type="parTrans" cxnId="{B5B8ED82-D69B-44B5-A1AE-CB0F058EF380}">
      <dgm:prSet/>
      <dgm:spPr/>
      <dgm:t>
        <a:bodyPr/>
        <a:lstStyle/>
        <a:p>
          <a:endParaRPr lang="en-US"/>
        </a:p>
      </dgm:t>
    </dgm:pt>
    <dgm:pt modelId="{B693F7C6-E260-4FF2-AE8E-663E3B712298}" type="sibTrans" cxnId="{B5B8ED82-D69B-44B5-A1AE-CB0F058EF380}">
      <dgm:prSet/>
      <dgm:spPr/>
      <dgm:t>
        <a:bodyPr/>
        <a:lstStyle/>
        <a:p>
          <a:endParaRPr lang="en-US"/>
        </a:p>
      </dgm:t>
    </dgm:pt>
    <dgm:pt modelId="{F9B749DF-1244-49E0-BED0-D1045AF3FBD4}">
      <dgm:prSet/>
      <dgm:spPr/>
      <dgm:t>
        <a:bodyPr/>
        <a:lstStyle/>
        <a:p>
          <a:r>
            <a:rPr lang="en-US"/>
            <a:t>A design pattern provides a scheme for refining the subsystems or components of a software system, or the relation ships between them. It describes a commonly recurring structure of communicating components that solves a general design problem within a particular context.</a:t>
          </a:r>
        </a:p>
      </dgm:t>
    </dgm:pt>
    <dgm:pt modelId="{EAD4A174-0CF4-4553-A86E-473F908C952A}" type="parTrans" cxnId="{C91BB873-9C90-4D35-B866-8507B3B10771}">
      <dgm:prSet/>
      <dgm:spPr/>
      <dgm:t>
        <a:bodyPr/>
        <a:lstStyle/>
        <a:p>
          <a:endParaRPr lang="en-US"/>
        </a:p>
      </dgm:t>
    </dgm:pt>
    <dgm:pt modelId="{5E3C42C4-9B4D-4DC4-B6A7-D23992C20A46}" type="sibTrans" cxnId="{C91BB873-9C90-4D35-B866-8507B3B10771}">
      <dgm:prSet/>
      <dgm:spPr/>
      <dgm:t>
        <a:bodyPr/>
        <a:lstStyle/>
        <a:p>
          <a:endParaRPr lang="en-US"/>
        </a:p>
      </dgm:t>
    </dgm:pt>
    <dgm:pt modelId="{08EA2CA1-A255-4A08-97E5-1B237C95BCAA}" type="pres">
      <dgm:prSet presAssocID="{F2D6730F-E063-40FF-9179-7B626DC62F9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F5B86F8-401F-4A3E-BFAA-F287A67D5E45}" type="pres">
      <dgm:prSet presAssocID="{4BDCE7FF-48F4-4F26-8B3B-4097DCD9D3DC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AAC91D-8F7A-4820-A7BE-E3330AFCD277}" type="pres">
      <dgm:prSet presAssocID="{B693F7C6-E260-4FF2-AE8E-663E3B712298}" presName="spacer" presStyleCnt="0"/>
      <dgm:spPr/>
    </dgm:pt>
    <dgm:pt modelId="{D395FED1-330A-4AC1-A897-C74C1CBBA262}" type="pres">
      <dgm:prSet presAssocID="{F9B749DF-1244-49E0-BED0-D1045AF3FBD4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91BB873-9C90-4D35-B866-8507B3B10771}" srcId="{F2D6730F-E063-40FF-9179-7B626DC62F93}" destId="{F9B749DF-1244-49E0-BED0-D1045AF3FBD4}" srcOrd="1" destOrd="0" parTransId="{EAD4A174-0CF4-4553-A86E-473F908C952A}" sibTransId="{5E3C42C4-9B4D-4DC4-B6A7-D23992C20A46}"/>
    <dgm:cxn modelId="{0F9537BE-A9AF-47C7-81EE-D6A4F8628D5E}" type="presOf" srcId="{4BDCE7FF-48F4-4F26-8B3B-4097DCD9D3DC}" destId="{EF5B86F8-401F-4A3E-BFAA-F287A67D5E45}" srcOrd="0" destOrd="0" presId="urn:microsoft.com/office/officeart/2005/8/layout/vList2"/>
    <dgm:cxn modelId="{77D0E3C5-8CB6-4938-A28E-F361D49AF1CF}" type="presOf" srcId="{F2D6730F-E063-40FF-9179-7B626DC62F93}" destId="{08EA2CA1-A255-4A08-97E5-1B237C95BCAA}" srcOrd="0" destOrd="0" presId="urn:microsoft.com/office/officeart/2005/8/layout/vList2"/>
    <dgm:cxn modelId="{B5B8ED82-D69B-44B5-A1AE-CB0F058EF380}" srcId="{F2D6730F-E063-40FF-9179-7B626DC62F93}" destId="{4BDCE7FF-48F4-4F26-8B3B-4097DCD9D3DC}" srcOrd="0" destOrd="0" parTransId="{E7693AFE-A282-4962-935D-2DB87B2BC4AE}" sibTransId="{B693F7C6-E260-4FF2-AE8E-663E3B712298}"/>
    <dgm:cxn modelId="{ACA4EE7F-835A-4E86-ADD6-AD879B39519E}" type="presOf" srcId="{F9B749DF-1244-49E0-BED0-D1045AF3FBD4}" destId="{D395FED1-330A-4AC1-A897-C74C1CBBA262}" srcOrd="0" destOrd="0" presId="urn:microsoft.com/office/officeart/2005/8/layout/vList2"/>
    <dgm:cxn modelId="{BB74F718-6961-4997-8F76-D23CA1088B6B}" type="presParOf" srcId="{08EA2CA1-A255-4A08-97E5-1B237C95BCAA}" destId="{EF5B86F8-401F-4A3E-BFAA-F287A67D5E45}" srcOrd="0" destOrd="0" presId="urn:microsoft.com/office/officeart/2005/8/layout/vList2"/>
    <dgm:cxn modelId="{D819D41C-A41F-4AFE-8064-47E6FB48488E}" type="presParOf" srcId="{08EA2CA1-A255-4A08-97E5-1B237C95BCAA}" destId="{C2AAC91D-8F7A-4820-A7BE-E3330AFCD277}" srcOrd="1" destOrd="0" presId="urn:microsoft.com/office/officeart/2005/8/layout/vList2"/>
    <dgm:cxn modelId="{E93EAC4E-2143-4E05-9997-E05EECFBD5DF}" type="presParOf" srcId="{08EA2CA1-A255-4A08-97E5-1B237C95BCAA}" destId="{D395FED1-330A-4AC1-A897-C74C1CBBA26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8ABFB2-E971-45DC-980F-AFC2607B78E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30488E8-833D-419F-B080-A2773C92AB69}">
      <dgm:prSet/>
      <dgm:spPr/>
      <dgm:t>
        <a:bodyPr/>
        <a:lstStyle/>
        <a:p>
          <a:r>
            <a:rPr lang="en-US"/>
            <a:t>• Systems can be easily maintained and enhanced, since new filters can be added to existing systems and old filters can be replaced by improved ones.</a:t>
          </a:r>
        </a:p>
      </dgm:t>
    </dgm:pt>
    <dgm:pt modelId="{DE7E1D23-C4B5-406B-927B-BB8E1ED81B5E}" type="parTrans" cxnId="{FD9620D6-C024-4C9A-B4AD-A5342B11752E}">
      <dgm:prSet/>
      <dgm:spPr/>
      <dgm:t>
        <a:bodyPr/>
        <a:lstStyle/>
        <a:p>
          <a:endParaRPr lang="en-US"/>
        </a:p>
      </dgm:t>
    </dgm:pt>
    <dgm:pt modelId="{9F1344EA-715A-4615-A9AE-C5DF1A13E459}" type="sibTrans" cxnId="{FD9620D6-C024-4C9A-B4AD-A5342B11752E}">
      <dgm:prSet/>
      <dgm:spPr/>
      <dgm:t>
        <a:bodyPr/>
        <a:lstStyle/>
        <a:p>
          <a:endParaRPr lang="en-US"/>
        </a:p>
      </dgm:t>
    </dgm:pt>
    <dgm:pt modelId="{AD58640E-86F6-4EBE-A582-7768A253C8C9}">
      <dgm:prSet/>
      <dgm:spPr/>
      <dgm:t>
        <a:bodyPr/>
        <a:lstStyle/>
        <a:p>
          <a:r>
            <a:rPr lang="en-US"/>
            <a:t>• They permit certain kinds of specialized analysis, such as throughput and deadlock analysis.</a:t>
          </a:r>
        </a:p>
      </dgm:t>
    </dgm:pt>
    <dgm:pt modelId="{F7791C30-D0F6-4D8C-93F2-4AE32E2C42BA}" type="parTrans" cxnId="{3F5C403A-A3BD-41C6-B010-37A3853C2132}">
      <dgm:prSet/>
      <dgm:spPr/>
      <dgm:t>
        <a:bodyPr/>
        <a:lstStyle/>
        <a:p>
          <a:endParaRPr lang="en-US"/>
        </a:p>
      </dgm:t>
    </dgm:pt>
    <dgm:pt modelId="{EC3F64D8-2D79-492E-8CCF-8CF1EDB2045D}" type="sibTrans" cxnId="{3F5C403A-A3BD-41C6-B010-37A3853C2132}">
      <dgm:prSet/>
      <dgm:spPr/>
      <dgm:t>
        <a:bodyPr/>
        <a:lstStyle/>
        <a:p>
          <a:endParaRPr lang="en-US"/>
        </a:p>
      </dgm:t>
    </dgm:pt>
    <dgm:pt modelId="{05F7747A-6A44-4587-B4B0-BFCFFACDCC53}">
      <dgm:prSet/>
      <dgm:spPr/>
      <dgm:t>
        <a:bodyPr/>
        <a:lstStyle/>
        <a:p>
          <a:r>
            <a:rPr lang="en-US"/>
            <a:t>• The naturally support concurrent execution</a:t>
          </a:r>
        </a:p>
      </dgm:t>
    </dgm:pt>
    <dgm:pt modelId="{9B02D460-5745-41DA-AD56-F85C9DE749F2}" type="parTrans" cxnId="{FA8A822E-7037-400D-804A-FECBB771102B}">
      <dgm:prSet/>
      <dgm:spPr/>
      <dgm:t>
        <a:bodyPr/>
        <a:lstStyle/>
        <a:p>
          <a:endParaRPr lang="en-US"/>
        </a:p>
      </dgm:t>
    </dgm:pt>
    <dgm:pt modelId="{491705BC-61D2-40A2-80CA-44621321D86F}" type="sibTrans" cxnId="{FA8A822E-7037-400D-804A-FECBB771102B}">
      <dgm:prSet/>
      <dgm:spPr/>
      <dgm:t>
        <a:bodyPr/>
        <a:lstStyle/>
        <a:p>
          <a:endParaRPr lang="en-US"/>
        </a:p>
      </dgm:t>
    </dgm:pt>
    <dgm:pt modelId="{DA6BCED6-5A2C-4D14-9503-F59C6CF70CFD}" type="pres">
      <dgm:prSet presAssocID="{0C8ABFB2-E971-45DC-980F-AFC2607B78E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0C365D6-540D-4776-A7F8-5DA2E65409CA}" type="pres">
      <dgm:prSet presAssocID="{330488E8-833D-419F-B080-A2773C92AB69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A2F359-DE80-42B5-99B1-8B0BF8BE3E33}" type="pres">
      <dgm:prSet presAssocID="{9F1344EA-715A-4615-A9AE-C5DF1A13E459}" presName="spacer" presStyleCnt="0"/>
      <dgm:spPr/>
    </dgm:pt>
    <dgm:pt modelId="{B9EFAE21-F6B8-4AED-BF9F-E28A9302EC84}" type="pres">
      <dgm:prSet presAssocID="{AD58640E-86F6-4EBE-A582-7768A253C8C9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D55E6C-208E-4DD3-9861-9431CAA0C693}" type="pres">
      <dgm:prSet presAssocID="{EC3F64D8-2D79-492E-8CCF-8CF1EDB2045D}" presName="spacer" presStyleCnt="0"/>
      <dgm:spPr/>
    </dgm:pt>
    <dgm:pt modelId="{BFE8BAE2-8B6E-4C81-B419-95C81F028528}" type="pres">
      <dgm:prSet presAssocID="{05F7747A-6A44-4587-B4B0-BFCFFACDCC53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EC7899D-0B90-457D-9D51-457C570B13F5}" type="presOf" srcId="{05F7747A-6A44-4587-B4B0-BFCFFACDCC53}" destId="{BFE8BAE2-8B6E-4C81-B419-95C81F028528}" srcOrd="0" destOrd="0" presId="urn:microsoft.com/office/officeart/2005/8/layout/vList2"/>
    <dgm:cxn modelId="{A615FB70-F324-4F6B-9754-A1600DFBCDBC}" type="presOf" srcId="{AD58640E-86F6-4EBE-A582-7768A253C8C9}" destId="{B9EFAE21-F6B8-4AED-BF9F-E28A9302EC84}" srcOrd="0" destOrd="0" presId="urn:microsoft.com/office/officeart/2005/8/layout/vList2"/>
    <dgm:cxn modelId="{037A1F12-B894-4335-B150-6A8470C21035}" type="presOf" srcId="{330488E8-833D-419F-B080-A2773C92AB69}" destId="{80C365D6-540D-4776-A7F8-5DA2E65409CA}" srcOrd="0" destOrd="0" presId="urn:microsoft.com/office/officeart/2005/8/layout/vList2"/>
    <dgm:cxn modelId="{FA8A822E-7037-400D-804A-FECBB771102B}" srcId="{0C8ABFB2-E971-45DC-980F-AFC2607B78E4}" destId="{05F7747A-6A44-4587-B4B0-BFCFFACDCC53}" srcOrd="2" destOrd="0" parTransId="{9B02D460-5745-41DA-AD56-F85C9DE749F2}" sibTransId="{491705BC-61D2-40A2-80CA-44621321D86F}"/>
    <dgm:cxn modelId="{FD9620D6-C024-4C9A-B4AD-A5342B11752E}" srcId="{0C8ABFB2-E971-45DC-980F-AFC2607B78E4}" destId="{330488E8-833D-419F-B080-A2773C92AB69}" srcOrd="0" destOrd="0" parTransId="{DE7E1D23-C4B5-406B-927B-BB8E1ED81B5E}" sibTransId="{9F1344EA-715A-4615-A9AE-C5DF1A13E459}"/>
    <dgm:cxn modelId="{3F5C403A-A3BD-41C6-B010-37A3853C2132}" srcId="{0C8ABFB2-E971-45DC-980F-AFC2607B78E4}" destId="{AD58640E-86F6-4EBE-A582-7768A253C8C9}" srcOrd="1" destOrd="0" parTransId="{F7791C30-D0F6-4D8C-93F2-4AE32E2C42BA}" sibTransId="{EC3F64D8-2D79-492E-8CCF-8CF1EDB2045D}"/>
    <dgm:cxn modelId="{82FA21B8-46B2-426B-BF87-F2173715C644}" type="presOf" srcId="{0C8ABFB2-E971-45DC-980F-AFC2607B78E4}" destId="{DA6BCED6-5A2C-4D14-9503-F59C6CF70CFD}" srcOrd="0" destOrd="0" presId="urn:microsoft.com/office/officeart/2005/8/layout/vList2"/>
    <dgm:cxn modelId="{089BC3DF-DC3D-43FB-B3F7-F26A8533E06D}" type="presParOf" srcId="{DA6BCED6-5A2C-4D14-9503-F59C6CF70CFD}" destId="{80C365D6-540D-4776-A7F8-5DA2E65409CA}" srcOrd="0" destOrd="0" presId="urn:microsoft.com/office/officeart/2005/8/layout/vList2"/>
    <dgm:cxn modelId="{21FA4D3C-73B0-45CF-A32C-2D67B43FF121}" type="presParOf" srcId="{DA6BCED6-5A2C-4D14-9503-F59C6CF70CFD}" destId="{EFA2F359-DE80-42B5-99B1-8B0BF8BE3E33}" srcOrd="1" destOrd="0" presId="urn:microsoft.com/office/officeart/2005/8/layout/vList2"/>
    <dgm:cxn modelId="{4C3328CC-206A-440A-895E-101C0C419A1E}" type="presParOf" srcId="{DA6BCED6-5A2C-4D14-9503-F59C6CF70CFD}" destId="{B9EFAE21-F6B8-4AED-BF9F-E28A9302EC84}" srcOrd="2" destOrd="0" presId="urn:microsoft.com/office/officeart/2005/8/layout/vList2"/>
    <dgm:cxn modelId="{C120523A-E3BA-41CB-BE63-57BE49364576}" type="presParOf" srcId="{DA6BCED6-5A2C-4D14-9503-F59C6CF70CFD}" destId="{4DD55E6C-208E-4DD3-9861-9431CAA0C693}" srcOrd="3" destOrd="0" presId="urn:microsoft.com/office/officeart/2005/8/layout/vList2"/>
    <dgm:cxn modelId="{608F19B0-1436-4C5D-B076-695B2AF78376}" type="presParOf" srcId="{DA6BCED6-5A2C-4D14-9503-F59C6CF70CFD}" destId="{BFE8BAE2-8B6E-4C81-B419-95C81F02852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FE1E3D4-B15E-43B9-B42E-104DCE85E14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E3386B4-5327-4C2F-AC92-6F460B56C9F3}">
      <dgm:prSet/>
      <dgm:spPr/>
      <dgm:t>
        <a:bodyPr/>
        <a:lstStyle/>
        <a:p>
          <a:r>
            <a:rPr lang="en-US"/>
            <a:t>• Not good choice for interactive systems, because of their transformational character.</a:t>
          </a:r>
        </a:p>
      </dgm:t>
    </dgm:pt>
    <dgm:pt modelId="{2CB0A74D-62D8-4C7F-9F22-52A667306F23}" type="parTrans" cxnId="{0DDBAD4B-36E4-4AB6-9503-EB7838D8BD72}">
      <dgm:prSet/>
      <dgm:spPr/>
      <dgm:t>
        <a:bodyPr/>
        <a:lstStyle/>
        <a:p>
          <a:endParaRPr lang="en-US"/>
        </a:p>
      </dgm:t>
    </dgm:pt>
    <dgm:pt modelId="{0E3FCD14-0B68-49EB-9901-4F7A81566720}" type="sibTrans" cxnId="{0DDBAD4B-36E4-4AB6-9503-EB7838D8BD72}">
      <dgm:prSet/>
      <dgm:spPr/>
      <dgm:t>
        <a:bodyPr/>
        <a:lstStyle/>
        <a:p>
          <a:endParaRPr lang="en-US"/>
        </a:p>
      </dgm:t>
    </dgm:pt>
    <dgm:pt modelId="{6215788F-A4FF-4AC9-833F-74D173155862}">
      <dgm:prSet/>
      <dgm:spPr/>
      <dgm:t>
        <a:bodyPr/>
        <a:lstStyle/>
        <a:p>
          <a:r>
            <a:rPr lang="en-US"/>
            <a:t>• Excessive parsing and unparsing leads to loss of performance and increased complexity in writing the filters themselves</a:t>
          </a:r>
        </a:p>
      </dgm:t>
    </dgm:pt>
    <dgm:pt modelId="{AC055C1A-AC07-4ACB-9E70-2F3AD6B6457F}" type="parTrans" cxnId="{04EC57E3-9A9D-4F1A-B156-602FF8327859}">
      <dgm:prSet/>
      <dgm:spPr/>
      <dgm:t>
        <a:bodyPr/>
        <a:lstStyle/>
        <a:p>
          <a:endParaRPr lang="en-US"/>
        </a:p>
      </dgm:t>
    </dgm:pt>
    <dgm:pt modelId="{1FDF1F05-3432-4160-BDE7-EFBFEA383973}" type="sibTrans" cxnId="{04EC57E3-9A9D-4F1A-B156-602FF8327859}">
      <dgm:prSet/>
      <dgm:spPr/>
      <dgm:t>
        <a:bodyPr/>
        <a:lstStyle/>
        <a:p>
          <a:endParaRPr lang="en-US"/>
        </a:p>
      </dgm:t>
    </dgm:pt>
    <dgm:pt modelId="{15DE71FD-A692-49E3-9CBC-85E3E7C43DF0}" type="pres">
      <dgm:prSet presAssocID="{0FE1E3D4-B15E-43B9-B42E-104DCE85E14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53788BC-032A-473C-A75A-C613CB5EA95C}" type="pres">
      <dgm:prSet presAssocID="{0E3386B4-5327-4C2F-AC92-6F460B56C9F3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1671A7-8E91-47A0-B430-22B8165EB763}" type="pres">
      <dgm:prSet presAssocID="{0E3FCD14-0B68-49EB-9901-4F7A81566720}" presName="spacer" presStyleCnt="0"/>
      <dgm:spPr/>
    </dgm:pt>
    <dgm:pt modelId="{F6709E34-8FD6-411B-A6EB-108BE4E1449A}" type="pres">
      <dgm:prSet presAssocID="{6215788F-A4FF-4AC9-833F-74D173155862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DDBAD4B-36E4-4AB6-9503-EB7838D8BD72}" srcId="{0FE1E3D4-B15E-43B9-B42E-104DCE85E148}" destId="{0E3386B4-5327-4C2F-AC92-6F460B56C9F3}" srcOrd="0" destOrd="0" parTransId="{2CB0A74D-62D8-4C7F-9F22-52A667306F23}" sibTransId="{0E3FCD14-0B68-49EB-9901-4F7A81566720}"/>
    <dgm:cxn modelId="{04EC57E3-9A9D-4F1A-B156-602FF8327859}" srcId="{0FE1E3D4-B15E-43B9-B42E-104DCE85E148}" destId="{6215788F-A4FF-4AC9-833F-74D173155862}" srcOrd="1" destOrd="0" parTransId="{AC055C1A-AC07-4ACB-9E70-2F3AD6B6457F}" sibTransId="{1FDF1F05-3432-4160-BDE7-EFBFEA383973}"/>
    <dgm:cxn modelId="{063352B6-1ECC-4F87-A74A-8B4989F597AB}" type="presOf" srcId="{0FE1E3D4-B15E-43B9-B42E-104DCE85E148}" destId="{15DE71FD-A692-49E3-9CBC-85E3E7C43DF0}" srcOrd="0" destOrd="0" presId="urn:microsoft.com/office/officeart/2005/8/layout/vList2"/>
    <dgm:cxn modelId="{307DCBD1-44C1-4B9E-9D77-C1FB4E40BE98}" type="presOf" srcId="{6215788F-A4FF-4AC9-833F-74D173155862}" destId="{F6709E34-8FD6-411B-A6EB-108BE4E1449A}" srcOrd="0" destOrd="0" presId="urn:microsoft.com/office/officeart/2005/8/layout/vList2"/>
    <dgm:cxn modelId="{8C17A514-5494-4529-AF42-6784B3652FC6}" type="presOf" srcId="{0E3386B4-5327-4C2F-AC92-6F460B56C9F3}" destId="{E53788BC-032A-473C-A75A-C613CB5EA95C}" srcOrd="0" destOrd="0" presId="urn:microsoft.com/office/officeart/2005/8/layout/vList2"/>
    <dgm:cxn modelId="{3B82E7BB-CDCD-4D75-90F5-745A38E3DE72}" type="presParOf" srcId="{15DE71FD-A692-49E3-9CBC-85E3E7C43DF0}" destId="{E53788BC-032A-473C-A75A-C613CB5EA95C}" srcOrd="0" destOrd="0" presId="urn:microsoft.com/office/officeart/2005/8/layout/vList2"/>
    <dgm:cxn modelId="{63B82090-8257-49B7-A185-F608F94FC8E3}" type="presParOf" srcId="{15DE71FD-A692-49E3-9CBC-85E3E7C43DF0}" destId="{161671A7-8E91-47A0-B430-22B8165EB763}" srcOrd="1" destOrd="0" presId="urn:microsoft.com/office/officeart/2005/8/layout/vList2"/>
    <dgm:cxn modelId="{AFF3CCCE-E16E-4188-AB94-44F8F19C05D2}" type="presParOf" srcId="{15DE71FD-A692-49E3-9CBC-85E3E7C43DF0}" destId="{F6709E34-8FD6-411B-A6EB-108BE4E1449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3D7764-5512-4105-8318-2C81B97CB51E}">
      <dsp:nvSpPr>
        <dsp:cNvPr id="0" name=""/>
        <dsp:cNvSpPr/>
      </dsp:nvSpPr>
      <dsp:spPr>
        <a:xfrm>
          <a:off x="0" y="615237"/>
          <a:ext cx="10058399" cy="113582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80280E-DBA7-40E5-BC9A-D0D19DF8849E}">
      <dsp:nvSpPr>
        <dsp:cNvPr id="0" name=""/>
        <dsp:cNvSpPr/>
      </dsp:nvSpPr>
      <dsp:spPr>
        <a:xfrm>
          <a:off x="343586" y="870798"/>
          <a:ext cx="624703" cy="6247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E8069-DEEB-4811-822D-85D791D305C3}">
      <dsp:nvSpPr>
        <dsp:cNvPr id="0" name=""/>
        <dsp:cNvSpPr/>
      </dsp:nvSpPr>
      <dsp:spPr>
        <a:xfrm>
          <a:off x="1311876" y="615237"/>
          <a:ext cx="8746523" cy="113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208" tIns="120208" rIns="120208" bIns="120208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/>
            <a:t>The fundamental problem to be solved with a large system</a:t>
          </a:r>
          <a:r>
            <a:rPr lang="tr-TR" sz="2000" kern="1200"/>
            <a:t> </a:t>
          </a:r>
          <a:r>
            <a:rPr lang="en-GB" sz="2000" kern="1200"/>
            <a:t>is how to break it into chunks manageable for human</a:t>
          </a:r>
          <a:r>
            <a:rPr lang="tr-TR" sz="2000" kern="1200"/>
            <a:t> </a:t>
          </a:r>
          <a:r>
            <a:rPr lang="en-GB" sz="2000" kern="1200"/>
            <a:t>programmers to understand, implement, and maintain.</a:t>
          </a:r>
          <a:endParaRPr lang="en-US" sz="2000" kern="1200"/>
        </a:p>
      </dsp:txBody>
      <dsp:txXfrm>
        <a:off x="1311876" y="615237"/>
        <a:ext cx="8746523" cy="1135824"/>
      </dsp:txXfrm>
    </dsp:sp>
    <dsp:sp modelId="{5284B32E-3817-40B6-B0E5-49E4D2898D90}">
      <dsp:nvSpPr>
        <dsp:cNvPr id="0" name=""/>
        <dsp:cNvSpPr/>
      </dsp:nvSpPr>
      <dsp:spPr>
        <a:xfrm>
          <a:off x="0" y="2035018"/>
          <a:ext cx="10058399" cy="113582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2A8DC7-A64E-400B-8C9A-16A8BE74D15C}">
      <dsp:nvSpPr>
        <dsp:cNvPr id="0" name=""/>
        <dsp:cNvSpPr/>
      </dsp:nvSpPr>
      <dsp:spPr>
        <a:xfrm>
          <a:off x="343586" y="2290578"/>
          <a:ext cx="624703" cy="624703"/>
        </a:xfrm>
        <a:prstGeom prst="rect">
          <a:avLst/>
        </a:prstGeom>
        <a:blipFill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37E876-57F4-4627-A9B5-9FB1315BD168}">
      <dsp:nvSpPr>
        <dsp:cNvPr id="0" name=""/>
        <dsp:cNvSpPr/>
      </dsp:nvSpPr>
      <dsp:spPr>
        <a:xfrm>
          <a:off x="1311876" y="2035018"/>
          <a:ext cx="8746523" cy="113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208" tIns="120208" rIns="120208" bIns="120208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i="1" kern="1200"/>
            <a:t>An </a:t>
          </a:r>
          <a:r>
            <a:rPr lang="en-GB" sz="2000" b="1" i="1" kern="1200"/>
            <a:t>architectural pattern</a:t>
          </a:r>
          <a:r>
            <a:rPr lang="en-GB" sz="2000" i="1" kern="1200"/>
            <a:t> is a general, reusable solution to a commonly occurring problem in software architecture within a given context. Architectural patterns are similar to software design pattern but have a broader scope.</a:t>
          </a:r>
          <a:endParaRPr lang="en-US" sz="2000" kern="1200"/>
        </a:p>
      </dsp:txBody>
      <dsp:txXfrm>
        <a:off x="1311876" y="2035018"/>
        <a:ext cx="8746523" cy="11358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5B86F8-401F-4A3E-BFAA-F287A67D5E45}">
      <dsp:nvSpPr>
        <dsp:cNvPr id="0" name=""/>
        <dsp:cNvSpPr/>
      </dsp:nvSpPr>
      <dsp:spPr>
        <a:xfrm>
          <a:off x="0" y="319356"/>
          <a:ext cx="6797675" cy="24710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An architectural Pattern expresses a fundamental structural organization schema for software systems. It provides a set of predefined subsystems, their responsibilities, and includes rules and guidelines for organizing the relationships between them.</a:t>
          </a:r>
        </a:p>
      </dsp:txBody>
      <dsp:txXfrm>
        <a:off x="120626" y="439982"/>
        <a:ext cx="6556423" cy="2229787"/>
      </dsp:txXfrm>
    </dsp:sp>
    <dsp:sp modelId="{D395FED1-330A-4AC1-A897-C74C1CBBA262}">
      <dsp:nvSpPr>
        <dsp:cNvPr id="0" name=""/>
        <dsp:cNvSpPr/>
      </dsp:nvSpPr>
      <dsp:spPr>
        <a:xfrm>
          <a:off x="0" y="2859516"/>
          <a:ext cx="6797675" cy="247103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A design pattern provides a scheme for refining the subsystems or components of a software system, or the relation ships between them. It describes a commonly recurring structure of communicating components that solves a general design problem within a particular context.</a:t>
          </a:r>
        </a:p>
      </dsp:txBody>
      <dsp:txXfrm>
        <a:off x="120626" y="2980142"/>
        <a:ext cx="6556423" cy="22297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C365D6-540D-4776-A7F8-5DA2E65409CA}">
      <dsp:nvSpPr>
        <dsp:cNvPr id="0" name=""/>
        <dsp:cNvSpPr/>
      </dsp:nvSpPr>
      <dsp:spPr>
        <a:xfrm>
          <a:off x="0" y="76581"/>
          <a:ext cx="6797675" cy="17842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/>
            <a:t>• Systems can be easily maintained and enhanced, since new filters can be added to existing systems and old filters can be replaced by improved ones.</a:t>
          </a:r>
        </a:p>
      </dsp:txBody>
      <dsp:txXfrm>
        <a:off x="87100" y="163681"/>
        <a:ext cx="6623475" cy="1610050"/>
      </dsp:txXfrm>
    </dsp:sp>
    <dsp:sp modelId="{B9EFAE21-F6B8-4AED-BF9F-E28A9302EC84}">
      <dsp:nvSpPr>
        <dsp:cNvPr id="0" name=""/>
        <dsp:cNvSpPr/>
      </dsp:nvSpPr>
      <dsp:spPr>
        <a:xfrm>
          <a:off x="0" y="1932831"/>
          <a:ext cx="6797675" cy="1784250"/>
        </a:xfrm>
        <a:prstGeom prst="roundRec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/>
            <a:t>• They permit certain kinds of specialized analysis, such as throughput and deadlock analysis.</a:t>
          </a:r>
        </a:p>
      </dsp:txBody>
      <dsp:txXfrm>
        <a:off x="87100" y="2019931"/>
        <a:ext cx="6623475" cy="1610050"/>
      </dsp:txXfrm>
    </dsp:sp>
    <dsp:sp modelId="{BFE8BAE2-8B6E-4C81-B419-95C81F028528}">
      <dsp:nvSpPr>
        <dsp:cNvPr id="0" name=""/>
        <dsp:cNvSpPr/>
      </dsp:nvSpPr>
      <dsp:spPr>
        <a:xfrm>
          <a:off x="0" y="3789081"/>
          <a:ext cx="6797675" cy="1784250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/>
            <a:t>• The naturally support concurrent execution</a:t>
          </a:r>
        </a:p>
      </dsp:txBody>
      <dsp:txXfrm>
        <a:off x="87100" y="3876181"/>
        <a:ext cx="6623475" cy="16100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3788BC-032A-473C-A75A-C613CB5EA95C}">
      <dsp:nvSpPr>
        <dsp:cNvPr id="0" name=""/>
        <dsp:cNvSpPr/>
      </dsp:nvSpPr>
      <dsp:spPr>
        <a:xfrm>
          <a:off x="0" y="308598"/>
          <a:ext cx="6797675" cy="246595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/>
            <a:t>• Not good choice for interactive systems, because of their transformational character.</a:t>
          </a:r>
        </a:p>
      </dsp:txBody>
      <dsp:txXfrm>
        <a:off x="120378" y="428976"/>
        <a:ext cx="6556919" cy="2225201"/>
      </dsp:txXfrm>
    </dsp:sp>
    <dsp:sp modelId="{F6709E34-8FD6-411B-A6EB-108BE4E1449A}">
      <dsp:nvSpPr>
        <dsp:cNvPr id="0" name=""/>
        <dsp:cNvSpPr/>
      </dsp:nvSpPr>
      <dsp:spPr>
        <a:xfrm>
          <a:off x="0" y="2875356"/>
          <a:ext cx="6797675" cy="2465957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/>
            <a:t>• Excessive parsing and unparsing leads to loss of performance and increased complexity in writing the filters themselves</a:t>
          </a:r>
        </a:p>
      </dsp:txBody>
      <dsp:txXfrm>
        <a:off x="120378" y="2995734"/>
        <a:ext cx="6556919" cy="22252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0F9D5-BE6F-473E-9D77-BBF2A8FDE88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3D971-058C-4BE7-B6FF-E3D68746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64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 fundamental problem to be solved with a large system</a:t>
            </a:r>
            <a:r>
              <a:rPr lang="tr-TR" dirty="0"/>
              <a:t> </a:t>
            </a:r>
            <a:r>
              <a:rPr lang="en-GB" dirty="0"/>
              <a:t>is how to break it into chunks manageable for human</a:t>
            </a:r>
            <a:r>
              <a:rPr lang="tr-TR" dirty="0"/>
              <a:t> </a:t>
            </a:r>
            <a:r>
              <a:rPr lang="en-GB" dirty="0"/>
              <a:t>programmers to understand, implement, and maintain.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3D971-058C-4BE7-B6FF-E3D6874677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45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Easy to understand the overall input/output behavior of a system as a simple composition of the behaviors of the individual filters.</a:t>
            </a:r>
          </a:p>
          <a:p>
            <a:r>
              <a:rPr lang="en-US" sz="1200" dirty="0"/>
              <a:t>• They support reuse, since any two filters can be hooked together, provided they agree on the data that is being transmitted between them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3D971-058C-4BE7-B6FF-E3D6874677B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79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3D971-058C-4BE7-B6FF-E3D6874677B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65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pattern is used to structure distributed systems with </a:t>
            </a:r>
            <a:r>
              <a:rPr lang="en-GB" i="1" dirty="0"/>
              <a:t>decoupled</a:t>
            </a:r>
            <a:r>
              <a:rPr lang="en-GB" dirty="0"/>
              <a:t> components. </a:t>
            </a:r>
            <a:endParaRPr lang="tr-TR" dirty="0"/>
          </a:p>
          <a:p>
            <a:r>
              <a:rPr lang="en-GB" dirty="0"/>
              <a:t>These components can interact with each other by remote service invocations. </a:t>
            </a:r>
            <a:endParaRPr lang="tr-TR" dirty="0"/>
          </a:p>
          <a:p>
            <a:r>
              <a:rPr lang="en-GB" dirty="0"/>
              <a:t>A </a:t>
            </a:r>
            <a:r>
              <a:rPr lang="en-GB" b="1" dirty="0"/>
              <a:t>broker </a:t>
            </a:r>
            <a:r>
              <a:rPr lang="en-GB" dirty="0"/>
              <a:t>component is responsible for the coordination of communication among </a:t>
            </a:r>
            <a:r>
              <a:rPr lang="en-GB" b="1" dirty="0"/>
              <a:t>components</a:t>
            </a:r>
            <a:r>
              <a:rPr lang="en-GB" dirty="0"/>
              <a:t>.</a:t>
            </a:r>
          </a:p>
          <a:p>
            <a:r>
              <a:rPr lang="en-GB" dirty="0"/>
              <a:t>Servers publish their capabilities (services and characteristics) to a broker.</a:t>
            </a:r>
            <a:endParaRPr lang="tr-TR" dirty="0"/>
          </a:p>
          <a:p>
            <a:r>
              <a:rPr lang="en-GB" dirty="0"/>
              <a:t>Clients request a service from the broker, and the broker then redirects the client to a suitable service from its registry.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3D971-058C-4BE7-B6FF-E3D6874677B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02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35808-BC81-4424-B0F4-70D82941508D}" type="datetime1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5 System Modeling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056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D4DC-3E4C-4B0B-B1AF-F4479C5A5571}" type="datetime1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5 System Modeling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7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052F-69D4-44BA-89FC-4F02E22A9CE4}" type="datetime1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5 System Modeling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11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A657F-EAB9-468B-94E8-9EA8E1DE3F47}" type="datetime1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5 System Modeling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1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B3F5-D255-4C56-87F1-00ECEBFCFD2E}" type="datetime1">
              <a:rPr lang="en-US" smtClean="0"/>
              <a:t>4/6/2023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5 System Modeling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46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F8769-43B5-4507-B896-E7AEEF349778}" type="datetime1">
              <a:rPr lang="en-US" smtClean="0"/>
              <a:t>4/6/2023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5 System Modeling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44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214F-F5BA-4C6F-BD91-564133BC61F2}" type="datetime1">
              <a:rPr lang="en-US" smtClean="0"/>
              <a:t>4/6/2023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Chapter 5 System Modeling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19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64CC8A4-728C-458F-B794-CF31A267E6F5}" type="datetime1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Chapter 5 System Modeling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925E92-DD69-4B30-91D7-BC3CA8339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54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4D960-5363-4586-A74D-4F1E1BA9DE51}" type="datetime1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5 System Modeling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01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2D12C-02E8-4180-A389-123AB965730A}" type="datetime1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5 System Modeling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756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0A9A2-FC78-4921-BD3F-C64DBE517692}" type="datetime1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5 System Modeling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832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8C1CE-BDDD-4C7B-ACF8-85C637A96D22}" type="datetimeFigureOut">
              <a:rPr lang="en-GB" smtClean="0"/>
              <a:t>06/04/2023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2B2C-521F-4C34-BD1A-9C57A11E4B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69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8C1CE-BDDD-4C7B-ACF8-85C637A96D22}" type="datetimeFigureOut">
              <a:rPr lang="en-GB" smtClean="0"/>
              <a:t>06/04/2023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2B2C-521F-4C34-BD1A-9C57A11E4B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080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8C1CE-BDDD-4C7B-ACF8-85C637A96D22}" type="datetimeFigureOut">
              <a:rPr lang="en-GB" smtClean="0"/>
              <a:t>06/04/2023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2B2C-521F-4C34-BD1A-9C57A11E4B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2116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8C1CE-BDDD-4C7B-ACF8-85C637A96D22}" type="datetimeFigureOut">
              <a:rPr lang="en-GB" smtClean="0"/>
              <a:t>06/04/2023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2B2C-521F-4C34-BD1A-9C57A11E4B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4591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8C1CE-BDDD-4C7B-ACF8-85C637A96D22}" type="datetimeFigureOut">
              <a:rPr lang="en-GB" smtClean="0"/>
              <a:t>06/04/2023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2B2C-521F-4C34-BD1A-9C57A11E4B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316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8C1CE-BDDD-4C7B-ACF8-85C637A96D22}" type="datetimeFigureOut">
              <a:rPr lang="en-GB" smtClean="0"/>
              <a:t>06/04/2023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2B2C-521F-4C34-BD1A-9C57A11E4B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581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8C1CE-BDDD-4C7B-ACF8-85C637A96D22}" type="datetimeFigureOut">
              <a:rPr lang="en-GB" smtClean="0"/>
              <a:t>06/04/2023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2B2C-521F-4C34-BD1A-9C57A11E4B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6321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8C1CE-BDDD-4C7B-ACF8-85C637A96D22}" type="datetimeFigureOut">
              <a:rPr lang="en-GB" smtClean="0"/>
              <a:t>06/04/2023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2B2C-521F-4C34-BD1A-9C57A11E4B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52733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8C1CE-BDDD-4C7B-ACF8-85C637A96D22}" type="datetimeFigureOut">
              <a:rPr lang="en-GB" smtClean="0"/>
              <a:t>06/04/2023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2B2C-521F-4C34-BD1A-9C57A11E4B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10678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8C1CE-BDDD-4C7B-ACF8-85C637A96D22}" type="datetimeFigureOut">
              <a:rPr lang="en-GB" smtClean="0"/>
              <a:t>06/04/2023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2B2C-521F-4C34-BD1A-9C57A11E4B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5200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8C1CE-BDDD-4C7B-ACF8-85C637A96D22}" type="datetimeFigureOut">
              <a:rPr lang="en-GB" smtClean="0"/>
              <a:t>06/04/2023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2B2C-521F-4C34-BD1A-9C57A11E4B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49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71AF68C-A24D-46B1-9E1D-A5F25B3E014C}" type="datetime1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Chapter 5 System Modeling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2925E92-DD69-4B30-91D7-BC3CA833981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051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8C1CE-BDDD-4C7B-ACF8-85C637A96D22}" type="datetimeFigureOut">
              <a:rPr lang="en-GB" smtClean="0"/>
              <a:t>06/04/2023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32B2C-521F-4C34-BD1A-9C57A11E4B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769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group.org/agilearchitecture" TargetMode="External"/><Relationship Id="rId2" Type="http://schemas.openxmlformats.org/officeDocument/2006/relationships/hyperlink" Target="https://www.zachman.com/about-the-zachman-framewor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xamarin.com/" TargetMode="External"/><Relationship Id="rId5" Type="http://schemas.openxmlformats.org/officeDocument/2006/relationships/hyperlink" Target="https://www.daffodilsw.com/ai-application-development-solutions" TargetMode="External"/><Relationship Id="rId4" Type="http://schemas.openxmlformats.org/officeDocument/2006/relationships/hyperlink" Target="https://www.techtarget.com/searchapparchitecture/definition/The-Open-Group-Architecture-Framework-TOGAF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hyperlink" Target="https://en.wikipedia.org/wiki/JBoss_Messagi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RabbitMQ" TargetMode="External"/><Relationship Id="rId5" Type="http://schemas.openxmlformats.org/officeDocument/2006/relationships/hyperlink" Target="https://en.wikipedia.org/wiki/Apache_Kafka" TargetMode="External"/><Relationship Id="rId4" Type="http://schemas.openxmlformats.org/officeDocument/2006/relationships/hyperlink" Target="https://en.wikipedia.org/wiki/Apache_ActiveMQ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nutella2" TargetMode="External"/><Relationship Id="rId7" Type="http://schemas.openxmlformats.org/officeDocument/2006/relationships/image" Target="../media/image27.png"/><Relationship Id="rId2" Type="http://schemas.openxmlformats.org/officeDocument/2006/relationships/hyperlink" Target="https://en.wikipedia.org/wiki/Gnutell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Spotify" TargetMode="External"/><Relationship Id="rId5" Type="http://schemas.openxmlformats.org/officeDocument/2006/relationships/hyperlink" Target="https://en.wikipedia.org/wiki/Peer_Distributed_Transfer_Protocol" TargetMode="External"/><Relationship Id="rId4" Type="http://schemas.openxmlformats.org/officeDocument/2006/relationships/hyperlink" Target="https://en.wikipedia.org/wiki/P2PTV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uby_on_Rails" TargetMode="External"/><Relationship Id="rId2" Type="http://schemas.openxmlformats.org/officeDocument/2006/relationships/hyperlink" Target="https://en.wikipedia.org/wiki/Django_(web_framework)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gi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Software Engineering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</a:t>
            </a:r>
            <a:r>
              <a:rPr lang="en-US" smtClean="0"/>
              <a:t>11: </a:t>
            </a:r>
            <a:r>
              <a:rPr lang="en-US" dirty="0"/>
              <a:t>Software Architecture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48BE4-3F2B-4D9A-97E6-499505F16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A81361-66D7-4C6D-A462-B780D05B41E3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628444"/>
            <a:ext cx="5029200" cy="180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13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794" y="1845734"/>
            <a:ext cx="10791886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dirty="0"/>
              <a:t>Software architecture refers to the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000" dirty="0">
                <a:solidFill>
                  <a:srgbClr val="0070C0"/>
                </a:solidFill>
              </a:rPr>
              <a:t>high level structures </a:t>
            </a:r>
            <a:r>
              <a:rPr lang="en-GB" sz="3000" dirty="0"/>
              <a:t>of a software system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000" dirty="0">
                <a:solidFill>
                  <a:srgbClr val="0070C0"/>
                </a:solidFill>
              </a:rPr>
              <a:t>discipline</a:t>
            </a:r>
            <a:r>
              <a:rPr lang="en-GB" sz="3000" dirty="0"/>
              <a:t> of creating such structures,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000" dirty="0"/>
              <a:t>and the </a:t>
            </a:r>
            <a:r>
              <a:rPr lang="en-GB" sz="3000" dirty="0">
                <a:solidFill>
                  <a:srgbClr val="0070C0"/>
                </a:solidFill>
              </a:rPr>
              <a:t>documentation</a:t>
            </a:r>
            <a:r>
              <a:rPr lang="en-GB" sz="3000" dirty="0"/>
              <a:t> of these structures. </a:t>
            </a:r>
          </a:p>
          <a:p>
            <a:r>
              <a:rPr lang="en-GB" sz="3200" dirty="0"/>
              <a:t>These structures are needed to reason about the software system. </a:t>
            </a:r>
            <a:endParaRPr lang="tr-TR" sz="3200" dirty="0"/>
          </a:p>
          <a:p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142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050E8-91E8-4E24-BAA9-205C4414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C8AB0-8C36-46DA-8522-774122CC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614051"/>
          </a:xfrm>
        </p:spPr>
        <p:txBody>
          <a:bodyPr>
            <a:normAutofit/>
          </a:bodyPr>
          <a:lstStyle/>
          <a:p>
            <a:r>
              <a:rPr lang="en-US" sz="3200" dirty="0"/>
              <a:t>A software architecture defines:</a:t>
            </a:r>
          </a:p>
          <a:p>
            <a:pPr lvl="1"/>
            <a:r>
              <a:rPr lang="en-US" sz="3200" dirty="0"/>
              <a:t>the components of the software system</a:t>
            </a:r>
          </a:p>
          <a:p>
            <a:pPr lvl="1"/>
            <a:r>
              <a:rPr lang="en-US" sz="3200" dirty="0"/>
              <a:t>how the components use each other’s functionality and data</a:t>
            </a:r>
          </a:p>
          <a:p>
            <a:pPr lvl="1"/>
            <a:r>
              <a:rPr lang="en-US" sz="3200" dirty="0"/>
              <a:t>How control is managed between the components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5FA5CC-3BED-4596-B3C7-1FA990926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9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B159E-117E-92BA-D271-19EC58D98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vs. design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D3FC6A-4563-D3B9-C839-9C2E27F12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7320" y="1846263"/>
            <a:ext cx="6563829" cy="40227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AD324-FAEA-CF45-F6BE-C2631DD76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79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63B30-9FAA-4CBD-9CF8-EA20F970A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vs.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F9AE8-CBCB-4450-8CE4-EEA398898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614051"/>
          </a:xfrm>
        </p:spPr>
        <p:txBody>
          <a:bodyPr>
            <a:normAutofit/>
          </a:bodyPr>
          <a:lstStyle/>
          <a:p>
            <a:pPr algn="l"/>
            <a:r>
              <a:rPr lang="en-US" sz="3200" b="1" i="0" u="sng" strike="noStrike" baseline="0" dirty="0">
                <a:solidFill>
                  <a:srgbClr val="000000"/>
                </a:solidFill>
                <a:latin typeface="MonotypeSorts"/>
              </a:rPr>
              <a:t>Analysis</a:t>
            </a:r>
          </a:p>
          <a:p>
            <a:pPr algn="l"/>
            <a:r>
              <a:rPr lang="en-US" sz="3200" b="0" i="0" u="none" strike="noStrike" baseline="0" dirty="0">
                <a:solidFill>
                  <a:srgbClr val="000000"/>
                </a:solidFill>
                <a:latin typeface="MonotypeSorts"/>
              </a:rPr>
              <a:t>Asks “what is the problem?”</a:t>
            </a:r>
          </a:p>
          <a:p>
            <a:pPr lvl="1"/>
            <a:r>
              <a:rPr lang="en-US" sz="2800" b="0" i="0" u="none" strike="noStrike" baseline="0" dirty="0">
                <a:solidFill>
                  <a:srgbClr val="000000"/>
                </a:solidFill>
                <a:latin typeface="MonotypeSorts"/>
              </a:rPr>
              <a:t>what happens in the current system?</a:t>
            </a:r>
          </a:p>
          <a:p>
            <a:pPr lvl="1"/>
            <a:r>
              <a:rPr lang="en-US" sz="2800" b="0" i="0" u="none" strike="noStrike" baseline="0" dirty="0">
                <a:solidFill>
                  <a:srgbClr val="000000"/>
                </a:solidFill>
                <a:latin typeface="MonotypeSorts"/>
              </a:rPr>
              <a:t>what is required in the new system?</a:t>
            </a:r>
          </a:p>
          <a:p>
            <a:pPr algn="l"/>
            <a:r>
              <a:rPr lang="en-US" sz="3200" b="0" i="0" u="none" strike="noStrike" baseline="0" dirty="0">
                <a:solidFill>
                  <a:srgbClr val="000000"/>
                </a:solidFill>
                <a:latin typeface="MonotypeSorts"/>
              </a:rPr>
              <a:t>Results in a detailed understanding of:</a:t>
            </a:r>
          </a:p>
          <a:p>
            <a:pPr lvl="1"/>
            <a:r>
              <a:rPr lang="en-US" sz="2800" b="0" i="0" u="none" strike="noStrike" baseline="0" dirty="0">
                <a:solidFill>
                  <a:srgbClr val="000000"/>
                </a:solidFill>
                <a:latin typeface="MonotypeSorts"/>
              </a:rPr>
              <a:t>Requirements</a:t>
            </a:r>
          </a:p>
          <a:p>
            <a:pPr lvl="1"/>
            <a:r>
              <a:rPr lang="en-US" sz="2800" b="0" i="0" u="none" strike="noStrike" baseline="0" dirty="0">
                <a:solidFill>
                  <a:srgbClr val="000000"/>
                </a:solidFill>
                <a:latin typeface="MonotypeSorts"/>
              </a:rPr>
              <a:t>Domain Properties</a:t>
            </a:r>
          </a:p>
          <a:p>
            <a:pPr algn="l"/>
            <a:r>
              <a:rPr lang="en-US" sz="3200" b="0" i="0" u="none" strike="noStrike" baseline="0" dirty="0">
                <a:solidFill>
                  <a:srgbClr val="000000"/>
                </a:solidFill>
                <a:latin typeface="MonotypeSorts"/>
              </a:rPr>
              <a:t>Focuses on the way human activities are conducted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E88103-B572-4B64-8666-1E8EDAE8A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398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63B30-9FAA-4CBD-9CF8-EA20F970A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vs.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F9AE8-CBCB-4450-8CE4-EEA398898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614051"/>
          </a:xfrm>
        </p:spPr>
        <p:txBody>
          <a:bodyPr>
            <a:normAutofit fontScale="92500"/>
          </a:bodyPr>
          <a:lstStyle/>
          <a:p>
            <a:pPr algn="l"/>
            <a:r>
              <a:rPr lang="en-US" sz="2800" b="1" i="0" u="sng" strike="noStrike" baseline="0" dirty="0">
                <a:solidFill>
                  <a:srgbClr val="000000"/>
                </a:solidFill>
                <a:latin typeface="MonotypeSorts"/>
              </a:rPr>
              <a:t>Design</a:t>
            </a:r>
          </a:p>
          <a:p>
            <a:pPr algn="l"/>
            <a:r>
              <a:rPr lang="en-US" sz="2800" b="0" i="0" u="none" strike="noStrike" baseline="0" dirty="0">
                <a:solidFill>
                  <a:srgbClr val="000000"/>
                </a:solidFill>
                <a:latin typeface="MonotypeSorts"/>
              </a:rPr>
              <a:t>Investigates “how to build a solution”</a:t>
            </a:r>
          </a:p>
          <a:p>
            <a:pPr lvl="1"/>
            <a:r>
              <a:rPr lang="en-US" sz="2400" b="0" i="0" u="none" strike="noStrike" baseline="0" dirty="0">
                <a:solidFill>
                  <a:srgbClr val="000000"/>
                </a:solidFill>
                <a:latin typeface="MonotypeSorts"/>
              </a:rPr>
              <a:t>How will the new system work?</a:t>
            </a:r>
          </a:p>
          <a:p>
            <a:pPr lvl="1"/>
            <a:r>
              <a:rPr lang="en-US" sz="2400" b="0" i="0" u="none" strike="noStrike" baseline="0" dirty="0">
                <a:solidFill>
                  <a:srgbClr val="000000"/>
                </a:solidFill>
                <a:latin typeface="MonotypeSorts"/>
              </a:rPr>
              <a:t>How can we solve the problem that the analysis identified?</a:t>
            </a:r>
          </a:p>
          <a:p>
            <a:pPr algn="l"/>
            <a:r>
              <a:rPr lang="en-US" sz="2800" b="0" i="0" u="none" strike="noStrike" baseline="0" dirty="0">
                <a:solidFill>
                  <a:srgbClr val="000000"/>
                </a:solidFill>
                <a:latin typeface="MonotypeSorts"/>
              </a:rPr>
              <a:t>Results in a solution to the problem</a:t>
            </a:r>
          </a:p>
          <a:p>
            <a:pPr lvl="1"/>
            <a:r>
              <a:rPr lang="en-US" sz="2400" b="0" i="0" u="none" strike="noStrike" baseline="0" dirty="0">
                <a:solidFill>
                  <a:srgbClr val="000000"/>
                </a:solidFill>
                <a:latin typeface="MonotypeSorts"/>
              </a:rPr>
              <a:t>A working system that satisfies the requirements</a:t>
            </a:r>
          </a:p>
          <a:p>
            <a:pPr lvl="1"/>
            <a:r>
              <a:rPr lang="en-US" sz="2400" b="0" i="0" u="none" strike="noStrike" baseline="0" dirty="0">
                <a:solidFill>
                  <a:srgbClr val="000000"/>
                </a:solidFill>
                <a:latin typeface="MonotypeSorts"/>
              </a:rPr>
              <a:t>Hardware + Software + Peopleware</a:t>
            </a:r>
          </a:p>
          <a:p>
            <a:pPr algn="l"/>
            <a:r>
              <a:rPr lang="en-US" sz="2800" b="0" i="0" u="none" strike="noStrike" baseline="0" dirty="0">
                <a:solidFill>
                  <a:srgbClr val="000000"/>
                </a:solidFill>
                <a:latin typeface="MonotypeSorts"/>
              </a:rPr>
              <a:t>Focuses on building technical solutions</a:t>
            </a:r>
          </a:p>
          <a:p>
            <a:pPr algn="l"/>
            <a:r>
              <a:rPr lang="en-US" sz="2800" b="0" i="0" u="none" strike="noStrike" baseline="0" dirty="0">
                <a:solidFill>
                  <a:srgbClr val="000000"/>
                </a:solidFill>
                <a:latin typeface="MonotypeSorts"/>
              </a:rPr>
              <a:t>Separate activities, but not necessarily sequential</a:t>
            </a:r>
          </a:p>
          <a:p>
            <a:pPr lvl="1"/>
            <a:r>
              <a:rPr lang="en-US" sz="2400" b="0" i="0" u="none" strike="noStrike" baseline="0" dirty="0">
                <a:solidFill>
                  <a:srgbClr val="000000"/>
                </a:solidFill>
                <a:latin typeface="MonotypeSorts"/>
              </a:rPr>
              <a:t>…and attempting a design usually improves understanding of the problem</a:t>
            </a:r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E88103-B572-4B64-8666-1E8EDAE8A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12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38687-FA96-D682-5B9E-A68E50F46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abstraction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6FED186-61E3-933B-638D-7023892FE4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3434" y="1846263"/>
            <a:ext cx="10005458" cy="40227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AE2FD-6AFA-CC7B-2311-874FB25C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029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F2BEA-C34F-5FF8-5A80-4E0DF406F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vs.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A3070-ED1C-0E22-43AE-94FB01480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845733"/>
            <a:ext cx="10860712" cy="4505905"/>
          </a:xfrm>
        </p:spPr>
        <p:txBody>
          <a:bodyPr>
            <a:noAutofit/>
          </a:bodyPr>
          <a:lstStyle/>
          <a:p>
            <a:r>
              <a:rPr lang="en-US" sz="2800" b="1" dirty="0"/>
              <a:t>Architecture (what is developed?)</a:t>
            </a:r>
          </a:p>
          <a:p>
            <a:r>
              <a:rPr lang="en-US" sz="2800" dirty="0"/>
              <a:t>  High-level view of the overall system:</a:t>
            </a:r>
          </a:p>
          <a:p>
            <a:pPr lvl="2"/>
            <a:r>
              <a:rPr lang="en-US" sz="2400" dirty="0"/>
              <a:t> What components do exist? </a:t>
            </a:r>
          </a:p>
          <a:p>
            <a:pPr lvl="2"/>
            <a:r>
              <a:rPr lang="en-US" sz="2400" dirty="0"/>
              <a:t> What are the protocols between components? </a:t>
            </a:r>
          </a:p>
          <a:p>
            <a:pPr lvl="2"/>
            <a:r>
              <a:rPr lang="en-US" sz="2400" dirty="0"/>
              <a:t>What type of storage etc.?</a:t>
            </a:r>
          </a:p>
          <a:p>
            <a:r>
              <a:rPr lang="en-US" sz="2800" dirty="0"/>
              <a:t> </a:t>
            </a:r>
            <a:r>
              <a:rPr lang="en-US" sz="2800" b="1" dirty="0"/>
              <a:t>Design (how are the components developed?) </a:t>
            </a:r>
          </a:p>
          <a:p>
            <a:r>
              <a:rPr lang="en-US" sz="2800" dirty="0"/>
              <a:t> Considers individual components: </a:t>
            </a:r>
          </a:p>
          <a:p>
            <a:pPr lvl="2"/>
            <a:r>
              <a:rPr lang="en-US" sz="2400" dirty="0"/>
              <a:t>Data representation </a:t>
            </a:r>
          </a:p>
          <a:p>
            <a:pPr lvl="2"/>
            <a:r>
              <a:rPr lang="en-US" sz="2400" dirty="0"/>
              <a:t>Interfaces, Class hierarchy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AB422-DF13-E8C1-6850-E6140DB24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19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56FDC-5D94-3BB3-5BCA-88D9882E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396FD8-CAC6-71B7-8B37-121B5CBD6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368" y="155642"/>
            <a:ext cx="9988115" cy="616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302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307D8-75FC-29DA-4188-0D631C0ED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9DBD61-2718-5EE4-CCE3-8BD39C8EF0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1882630"/>
            <a:ext cx="10058400" cy="394999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BB3EC-1C3C-DFB3-6E9A-D1668C05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044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EB85A-C217-F829-3F6E-1D849AF15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considerations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E4FD51-F930-88C9-78F7-1B7C4FFC7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9561" y="1846263"/>
            <a:ext cx="9713204" cy="40227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8B3E6-2448-26E1-8D5B-57D61ACEE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54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FF9C9-D706-4110-85CB-D8938DB31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Building blocks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AD986-5482-491B-BFAE-6BABDFD86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45884"/>
          </a:xfrm>
        </p:spPr>
        <p:txBody>
          <a:bodyPr>
            <a:normAutofit/>
          </a:bodyPr>
          <a:lstStyle/>
          <a:p>
            <a:r>
              <a:rPr lang="en-US" dirty="0"/>
              <a:t>Architectural Building blocks: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 good architecture:</a:t>
            </a:r>
          </a:p>
          <a:p>
            <a:pPr lvl="1"/>
            <a:r>
              <a:rPr lang="en-US" dirty="0"/>
              <a:t>Minimizes coupling between modules:</a:t>
            </a:r>
          </a:p>
          <a:p>
            <a:pPr lvl="2"/>
            <a:r>
              <a:rPr lang="en-US" dirty="0"/>
              <a:t>Goal: modules don’t need to know much about one another to interact</a:t>
            </a:r>
          </a:p>
          <a:p>
            <a:pPr lvl="2"/>
            <a:r>
              <a:rPr lang="en-US" dirty="0"/>
              <a:t>Low coupling makes future change easier</a:t>
            </a:r>
          </a:p>
          <a:p>
            <a:pPr lvl="1"/>
            <a:r>
              <a:rPr lang="en-US" dirty="0"/>
              <a:t>Maximizes the cohesion of each module</a:t>
            </a:r>
          </a:p>
          <a:p>
            <a:pPr lvl="2"/>
            <a:r>
              <a:rPr lang="en-US" dirty="0"/>
              <a:t>Goal: the contents of each module are strongly inter-related</a:t>
            </a:r>
          </a:p>
          <a:p>
            <a:pPr lvl="2"/>
            <a:r>
              <a:rPr lang="en-US" dirty="0"/>
              <a:t>High cohesion makes a module easier to understand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9D41E7-F123-448D-849D-00E89B55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B59F33-56B5-44B8-B9F2-AB6AC68B5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631" y="2209547"/>
            <a:ext cx="3505200" cy="819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410093-7919-4C4D-A2B3-E75A6F180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468" y="4550570"/>
            <a:ext cx="6867525" cy="1381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D41EB4-8B4B-E68E-EA33-699B990518ED}"/>
              </a:ext>
            </a:extLst>
          </p:cNvPr>
          <p:cNvSpPr txBox="1"/>
          <p:nvPr/>
        </p:nvSpPr>
        <p:spPr>
          <a:xfrm>
            <a:off x="4739802" y="5915196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Coupling and Cohesion</a:t>
            </a:r>
          </a:p>
        </p:txBody>
      </p:sp>
    </p:spTree>
    <p:extLst>
      <p:ext uri="{BB962C8B-B14F-4D97-AF65-F5344CB8AC3E}">
        <p14:creationId xmlns:p14="http://schemas.microsoft.com/office/powerpoint/2010/main" val="1150269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CB988-A163-891A-207A-3325ABCE4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B11C9-6B6B-FAC6-6512-DC6C88DD5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General grouping of system elements </a:t>
            </a:r>
          </a:p>
          <a:p>
            <a:r>
              <a:rPr lang="en-US"/>
              <a:t>Appropriate for denoting subsystem at conceptual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3E87D-C90C-44FB-6CE5-5A7A8415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2D3EA5-F8B8-B051-3D7B-5F6A66E13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320" y="1663633"/>
            <a:ext cx="3200400" cy="21301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11DFCE-694C-474C-D2FC-60AB85AC9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42" y="3682771"/>
            <a:ext cx="11344275" cy="20002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73A9A7-E760-C24A-B43C-BFD2DEB09C19}"/>
              </a:ext>
            </a:extLst>
          </p:cNvPr>
          <p:cNvSpPr txBox="1"/>
          <p:nvPr/>
        </p:nvSpPr>
        <p:spPr>
          <a:xfrm>
            <a:off x="4321512" y="551740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Conceptual diagram</a:t>
            </a:r>
          </a:p>
        </p:txBody>
      </p:sp>
    </p:spTree>
    <p:extLst>
      <p:ext uri="{BB962C8B-B14F-4D97-AF65-F5344CB8AC3E}">
        <p14:creationId xmlns:p14="http://schemas.microsoft.com/office/powerpoint/2010/main" val="1189637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F0AAC-0C53-CFBB-E7AB-127CA88CF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F9EA63-5926-2528-68DD-A7B23EF918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42447" y="1846230"/>
            <a:ext cx="3505200" cy="20383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0C4BD-7CEC-5FDF-4F2E-C6626851A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BEAF4F-265A-A5CA-9DC8-4E2906D67FD7}"/>
              </a:ext>
            </a:extLst>
          </p:cNvPr>
          <p:cNvSpPr txBox="1"/>
          <p:nvPr/>
        </p:nvSpPr>
        <p:spPr>
          <a:xfrm>
            <a:off x="1189206" y="2115926"/>
            <a:ext cx="60943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Replaceable part of a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Conforms to and realizes a set of interfaces </a:t>
            </a:r>
          </a:p>
          <a:p>
            <a:pPr lvl="1"/>
            <a:r>
              <a:rPr lang="en-US" dirty="0"/>
              <a:t>• An implementation of a subsystem </a:t>
            </a:r>
          </a:p>
          <a:p>
            <a:pPr lvl="1"/>
            <a:r>
              <a:rPr lang="en-US" dirty="0"/>
              <a:t>• Could be replaced by another component that realizes the same interfaces, and system would still function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954BFA-0BED-25F3-7CBD-3CBDE23D5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47" y="3993450"/>
            <a:ext cx="11201400" cy="19163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6CF2F06-B12C-E8ED-AE38-8F40E1D521E0}"/>
              </a:ext>
            </a:extLst>
          </p:cNvPr>
          <p:cNvSpPr txBox="1"/>
          <p:nvPr/>
        </p:nvSpPr>
        <p:spPr>
          <a:xfrm>
            <a:off x="1189206" y="3569683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Components realize interfaces, are assembled into systems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C027AC-A167-152C-78B8-7427D68589D9}"/>
              </a:ext>
            </a:extLst>
          </p:cNvPr>
          <p:cNvSpPr txBox="1"/>
          <p:nvPr/>
        </p:nvSpPr>
        <p:spPr>
          <a:xfrm>
            <a:off x="4584160" y="596423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interface diagram</a:t>
            </a:r>
          </a:p>
        </p:txBody>
      </p:sp>
    </p:spTree>
    <p:extLst>
      <p:ext uri="{BB962C8B-B14F-4D97-AF65-F5344CB8AC3E}">
        <p14:creationId xmlns:p14="http://schemas.microsoft.com/office/powerpoint/2010/main" val="3112586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3C8A6-49FB-E6AC-9D70-B6232EAD5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93A3A-FF6D-7DB9-1018-F95FF309F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6733A1-6771-4631-C1D1-E6B8CF0AF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084" y="1817611"/>
            <a:ext cx="2228850" cy="1886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32925A-889C-9741-6A52-CAB27B487DB8}"/>
              </a:ext>
            </a:extLst>
          </p:cNvPr>
          <p:cNvSpPr txBox="1"/>
          <p:nvPr/>
        </p:nvSpPr>
        <p:spPr>
          <a:xfrm>
            <a:off x="1036969" y="1413745"/>
            <a:ext cx="60943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Physical element that exists at runtime, provides a computational resource </a:t>
            </a:r>
          </a:p>
          <a:p>
            <a:pPr lvl="1"/>
            <a:r>
              <a:rPr lang="en-US" dirty="0"/>
              <a:t>• Computer </a:t>
            </a:r>
          </a:p>
          <a:p>
            <a:pPr lvl="1"/>
            <a:r>
              <a:rPr lang="en-US" dirty="0"/>
              <a:t>• Smartphone </a:t>
            </a:r>
          </a:p>
          <a:p>
            <a:pPr lvl="1"/>
            <a:r>
              <a:rPr lang="en-US" dirty="0"/>
              <a:t>• Network router </a:t>
            </a:r>
          </a:p>
          <a:p>
            <a:r>
              <a:rPr lang="en-US" dirty="0"/>
              <a:t>• Components live on nodes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381AB7-4660-3410-5F20-9D98D07E7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3429000"/>
            <a:ext cx="10629900" cy="25726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3322A99-CA9B-C129-FF2A-C9C30BFC051C}"/>
              </a:ext>
            </a:extLst>
          </p:cNvPr>
          <p:cNvSpPr txBox="1"/>
          <p:nvPr/>
        </p:nvSpPr>
        <p:spPr>
          <a:xfrm>
            <a:off x="3806080" y="6001659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deployment diagram</a:t>
            </a:r>
          </a:p>
        </p:txBody>
      </p:sp>
    </p:spTree>
    <p:extLst>
      <p:ext uri="{BB962C8B-B14F-4D97-AF65-F5344CB8AC3E}">
        <p14:creationId xmlns:p14="http://schemas.microsoft.com/office/powerpoint/2010/main" val="3574947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C7491-A793-FABB-6FBC-6BE75C24E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A5268-6D41-2311-0A13-DED0B31AC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295" y="1737360"/>
            <a:ext cx="10630386" cy="456819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800" b="0" i="0" dirty="0">
                <a:solidFill>
                  <a:srgbClr val="202124"/>
                </a:solidFill>
                <a:effectLst/>
              </a:rPr>
              <a:t>A framework, or software framework, is </a:t>
            </a:r>
            <a:r>
              <a:rPr lang="en-US" sz="4800" b="0" i="0" dirty="0">
                <a:solidFill>
                  <a:srgbClr val="040C28"/>
                </a:solidFill>
                <a:effectLst/>
              </a:rPr>
              <a:t>a platform that provides a foundation for developing software applications</a:t>
            </a:r>
            <a:r>
              <a:rPr lang="en-US" sz="4800" b="0" i="0" dirty="0">
                <a:solidFill>
                  <a:srgbClr val="202124"/>
                </a:solidFill>
                <a:effectLst/>
              </a:rPr>
              <a:t>. Think of it as a template of a working program that can be selectively modified by adding code.</a:t>
            </a:r>
            <a:endParaRPr lang="en-US" sz="4800" dirty="0"/>
          </a:p>
          <a:p>
            <a:pPr marL="292608" lvl="1" indent="0">
              <a:buNone/>
            </a:pPr>
            <a:r>
              <a:rPr lang="en-US" sz="4800" dirty="0"/>
              <a:t>A framework is a partially complete software (sub-) system that is intended to be instantiated. </a:t>
            </a:r>
          </a:p>
          <a:p>
            <a:pPr marL="292608" lvl="1" indent="0">
              <a:buNone/>
            </a:pPr>
            <a:r>
              <a:rPr lang="en-US" sz="4800" dirty="0"/>
              <a:t>It defines the architecture for a family of (sub-) systems and provides the basic building blocks to create them.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0" i="0" dirty="0">
                <a:solidFill>
                  <a:srgbClr val="202124"/>
                </a:solidFill>
                <a:effectLst/>
              </a:rPr>
              <a:t>Web app framework.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494949"/>
                </a:solidFill>
              </a:rPr>
              <a:t>React, Angular, Vue , Spring boot, Asp.net Core, Django, Rails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0" i="0" dirty="0">
                <a:solidFill>
                  <a:srgbClr val="202124"/>
                </a:solidFill>
                <a:effectLst/>
              </a:rPr>
              <a:t>Mobile app framework.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800" b="0" i="0" dirty="0">
                <a:solidFill>
                  <a:srgbClr val="202124"/>
                </a:solidFill>
                <a:effectLst/>
              </a:rPr>
              <a:t> </a:t>
            </a:r>
            <a:r>
              <a:rPr lang="en-US" sz="4800" dirty="0">
                <a:solidFill>
                  <a:srgbClr val="494949"/>
                </a:solidFill>
              </a:rPr>
              <a:t>Flutter  React Native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0" i="0" dirty="0">
                <a:solidFill>
                  <a:srgbClr val="202124"/>
                </a:solidFill>
                <a:effectLst/>
              </a:rPr>
              <a:t>Technology framework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rgbClr val="333333"/>
                </a:solidFill>
                <a:effectLst/>
              </a:rPr>
              <a:t>. Selenium</a:t>
            </a:r>
            <a:endParaRPr lang="en-US" sz="4800" b="0" i="0" dirty="0">
              <a:solidFill>
                <a:srgbClr val="202124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0" i="0" dirty="0">
                <a:solidFill>
                  <a:srgbClr val="202124"/>
                </a:solidFill>
                <a:effectLst/>
              </a:rPr>
              <a:t>Enterprise architecture framework.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600" b="0" i="0" dirty="0">
                <a:solidFill>
                  <a:srgbClr val="202124"/>
                </a:solidFill>
                <a:effectLst/>
              </a:rPr>
              <a:t>ITIL,IT4IT,COBIT,ISO20000,Six Sigma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600" b="0" i="0" u="sng" dirty="0">
                <a:solidFill>
                  <a:srgbClr val="005272"/>
                </a:solidFill>
                <a:effectLst/>
                <a:hlinkClick r:id="rId2"/>
              </a:rPr>
              <a:t>The Zachman Framework</a:t>
            </a:r>
            <a:r>
              <a:rPr lang="en-US" sz="4600" b="0" i="0" u="sng" dirty="0">
                <a:solidFill>
                  <a:srgbClr val="005272"/>
                </a:solidFill>
                <a:effectLst/>
              </a:rPr>
              <a:t> ,</a:t>
            </a:r>
            <a:r>
              <a:rPr lang="en-US" sz="4600" b="0" i="0" dirty="0">
                <a:solidFill>
                  <a:srgbClr val="666666"/>
                </a:solidFill>
                <a:effectLst/>
              </a:rPr>
              <a:t> Open Agile Architecture (</a:t>
            </a:r>
            <a:r>
              <a:rPr lang="en-US" sz="4600" b="0" i="0" u="sng" dirty="0">
                <a:solidFill>
                  <a:srgbClr val="007CAD"/>
                </a:solidFill>
                <a:effectLst/>
                <a:hlinkClick r:id="rId3"/>
              </a:rPr>
              <a:t>O-AA</a:t>
            </a:r>
            <a:r>
              <a:rPr lang="en-US" sz="4600" b="0" i="0" dirty="0">
                <a:solidFill>
                  <a:srgbClr val="666666"/>
                </a:solidFill>
                <a:effectLst/>
              </a:rPr>
              <a:t>),  The Open Group Architectural Framework (</a:t>
            </a:r>
            <a:r>
              <a:rPr lang="en-US" sz="4600" b="0" i="0" u="sng" dirty="0">
                <a:solidFill>
                  <a:srgbClr val="007CAD"/>
                </a:solidFill>
                <a:effectLst/>
                <a:hlinkClick r:id="rId4"/>
              </a:rPr>
              <a:t>TOGAF</a:t>
            </a:r>
            <a:r>
              <a:rPr lang="en-US" sz="4600" b="0" i="0" dirty="0">
                <a:solidFill>
                  <a:srgbClr val="666666"/>
                </a:solidFill>
                <a:effectLst/>
              </a:rPr>
              <a:t>), </a:t>
            </a:r>
            <a:endParaRPr lang="en-US" sz="4600" b="0" i="0" dirty="0">
              <a:solidFill>
                <a:srgbClr val="202124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0" i="0" dirty="0">
                <a:solidFill>
                  <a:srgbClr val="202124"/>
                </a:solidFill>
                <a:effectLst/>
              </a:rPr>
              <a:t>Database framework. </a:t>
            </a:r>
            <a:endParaRPr lang="en-US" sz="4800" dirty="0">
              <a:solidFill>
                <a:srgbClr val="202124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800" b="0" i="0" dirty="0">
                <a:solidFill>
                  <a:srgbClr val="202124"/>
                </a:solidFill>
                <a:effectLst/>
              </a:rPr>
              <a:t>Hadoop by A</a:t>
            </a:r>
            <a:r>
              <a:rPr lang="en-US" sz="4800" b="0" i="0" dirty="0">
                <a:solidFill>
                  <a:srgbClr val="494949"/>
                </a:solidFill>
                <a:effectLst/>
              </a:rPr>
              <a:t>pache that stores and distributes large data sets across several servers</a:t>
            </a:r>
            <a:endParaRPr lang="en-US" sz="4800" b="0" i="0" dirty="0">
              <a:solidFill>
                <a:srgbClr val="202124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0" i="0" dirty="0">
                <a:solidFill>
                  <a:srgbClr val="202124"/>
                </a:solidFill>
                <a:effectLst/>
              </a:rPr>
              <a:t>Testing framework.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rgbClr val="333333"/>
                </a:solidFill>
                <a:effectLst/>
              </a:rPr>
              <a:t>Selenium ,</a:t>
            </a:r>
            <a:r>
              <a:rPr lang="en-US" sz="4800" b="1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4800" b="1" i="0" dirty="0" err="1">
                <a:solidFill>
                  <a:srgbClr val="000000"/>
                </a:solidFill>
                <a:effectLst/>
              </a:rPr>
              <a:t>WebdriverIO</a:t>
            </a:r>
            <a:r>
              <a:rPr lang="en-US" sz="4800" b="1" i="0" dirty="0">
                <a:solidFill>
                  <a:srgbClr val="000000"/>
                </a:solidFill>
                <a:effectLst/>
              </a:rPr>
              <a:t> , Cypress</a:t>
            </a:r>
            <a:endParaRPr lang="en-US" sz="4800" b="0" i="0" dirty="0">
              <a:solidFill>
                <a:srgbClr val="202124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0" i="0" dirty="0">
                <a:solidFill>
                  <a:srgbClr val="494949"/>
                </a:solidFill>
                <a:effectLst/>
              </a:rPr>
              <a:t> </a:t>
            </a:r>
            <a:r>
              <a:rPr lang="en-US" sz="4800" dirty="0">
                <a:solidFill>
                  <a:srgbClr val="494949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AI application development</a:t>
            </a:r>
            <a:r>
              <a:rPr lang="en-US" sz="4800" dirty="0">
                <a:solidFill>
                  <a:srgbClr val="494949"/>
                </a:solidFill>
              </a:rPr>
              <a:t>.   </a:t>
            </a:r>
            <a:r>
              <a:rPr lang="en-US" sz="4800" b="0" i="0" dirty="0">
                <a:solidFill>
                  <a:srgbClr val="494949"/>
                </a:solidFill>
                <a:effectLst/>
              </a:rPr>
              <a:t>TensorFlow , </a:t>
            </a:r>
            <a:r>
              <a:rPr lang="en-US" sz="4800" b="0" i="0" dirty="0" err="1">
                <a:solidFill>
                  <a:srgbClr val="494949"/>
                </a:solidFill>
                <a:effectLst/>
              </a:rPr>
              <a:t>PyTorch</a:t>
            </a:r>
            <a:endParaRPr lang="en-US" sz="4800" b="0" i="0" dirty="0">
              <a:solidFill>
                <a:srgbClr val="494949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0" i="0" dirty="0">
                <a:solidFill>
                  <a:srgbClr val="494949"/>
                </a:solidFill>
                <a:effectLst/>
              </a:rPr>
              <a:t>Cross-platform native apps -</a:t>
            </a:r>
            <a:r>
              <a:rPr lang="en-US" sz="4800" b="1" i="0" dirty="0">
                <a:solidFill>
                  <a:srgbClr val="494949"/>
                </a:solidFill>
                <a:effectLst/>
              </a:rPr>
              <a:t> . </a:t>
            </a:r>
            <a:r>
              <a:rPr lang="en-US" sz="4800" dirty="0">
                <a:solidFill>
                  <a:srgbClr val="D8561A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Xamarin</a:t>
            </a:r>
            <a:endParaRPr lang="en-US" sz="4800" dirty="0">
              <a:solidFill>
                <a:srgbClr val="D8561A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5E86D-D170-D237-8ADD-9C73D59F8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24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GB" b="1"/>
              <a:t>Architectural Patterns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2925E92-DD69-4B30-91D7-BC3CA833981C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454846A-9B28-9EDE-4506-E6C9069F99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4512271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1815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42F3B0-1B51-1924-6895-650C89CE7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Architectural Pattern Vs Design Pattern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4BA96-D8B3-8A18-7A3A-9972855C6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23055" y="6459785"/>
            <a:ext cx="10894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2925E92-DD69-4B30-91D7-BC3CA833981C}" type="slidenum">
              <a:rPr 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>
              <a:solidFill>
                <a:schemeClr val="tx2"/>
              </a:solidFill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6A822E7B-086A-F8D8-69B2-689C81D1EB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9909705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7972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6D55F-5695-4543-8CCE-558BACCE4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Software Architectures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B1CCF-FE56-491B-B308-AD2869085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/>
              <a:t>Architectural Styles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/>
              <a:t>Pipe and filter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/>
              <a:t>Object oriented: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/>
              <a:t>Client-Server; Object Broker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/>
              <a:t>Event based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/>
              <a:t>Layered: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/>
              <a:t>Designing Layered Architectures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/>
              <a:t>Repositories: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/>
              <a:t>Blackboard, MVC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21B64B-1E6F-4517-8A4B-D2E178666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23055" y="6459785"/>
            <a:ext cx="10894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2925E92-DD69-4B30-91D7-BC3CA833981C}" type="slidenum">
              <a:rPr 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372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0B1FDA-E1CD-4FD1-96B9-52FD987D0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8689" y="178231"/>
            <a:ext cx="5127171" cy="1450757"/>
          </a:xfrm>
        </p:spPr>
        <p:txBody>
          <a:bodyPr>
            <a:normAutofit/>
          </a:bodyPr>
          <a:lstStyle/>
          <a:p>
            <a:r>
              <a:rPr lang="en-US" dirty="0"/>
              <a:t>Pipe-and-filter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F3B274-B509-4B7E-A6CE-1E93C0CB1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93" y="2621599"/>
            <a:ext cx="4502740" cy="129476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8A0B8-81D9-4EA2-9088-2108A92AF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5933" y="1807219"/>
            <a:ext cx="6392923" cy="4468112"/>
          </a:xfrm>
        </p:spPr>
        <p:txBody>
          <a:bodyPr>
            <a:normAutofit fontScale="92500" lnSpcReduction="20000"/>
          </a:bodyPr>
          <a:lstStyle/>
          <a:p>
            <a:r>
              <a:rPr lang="en-US" sz="1000" dirty="0"/>
              <a:t> </a:t>
            </a:r>
          </a:p>
          <a:p>
            <a:r>
              <a:rPr lang="en-GB" sz="1900" dirty="0"/>
              <a:t>This pattern can be used to structure systems which produce and process a stream of data. </a:t>
            </a:r>
            <a:endParaRPr lang="tr-TR" sz="1900" dirty="0"/>
          </a:p>
          <a:p>
            <a:r>
              <a:rPr lang="en-GB" sz="1900" dirty="0"/>
              <a:t>Each processing step is enclosed within a </a:t>
            </a:r>
            <a:r>
              <a:rPr lang="en-GB" sz="1900" b="1" dirty="0"/>
              <a:t>filter </a:t>
            </a:r>
            <a:r>
              <a:rPr lang="en-GB" sz="1900" dirty="0"/>
              <a:t>component. </a:t>
            </a:r>
            <a:endParaRPr lang="tr-TR" sz="1900" dirty="0"/>
          </a:p>
          <a:p>
            <a:r>
              <a:rPr lang="en-GB" sz="1900" dirty="0"/>
              <a:t>Data to be processed is passed through </a:t>
            </a:r>
            <a:r>
              <a:rPr lang="en-GB" sz="1900" b="1" dirty="0"/>
              <a:t>pipes</a:t>
            </a:r>
            <a:r>
              <a:rPr lang="en-GB" sz="1900" dirty="0"/>
              <a:t>. </a:t>
            </a:r>
            <a:endParaRPr lang="tr-TR" sz="1900" dirty="0"/>
          </a:p>
          <a:p>
            <a:r>
              <a:rPr lang="en-GB" sz="1900" dirty="0"/>
              <a:t>These pipes can be used for buffering or for synchronization purposes.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b="1" dirty="0"/>
              <a:t>Usage:</a:t>
            </a:r>
          </a:p>
          <a:p>
            <a:pPr lvl="1"/>
            <a:r>
              <a:rPr lang="en-US" sz="1900" dirty="0"/>
              <a:t> UNIX shell commands – Grep Command</a:t>
            </a:r>
          </a:p>
          <a:p>
            <a:pPr lvl="1"/>
            <a:r>
              <a:rPr lang="en-US" sz="1900" dirty="0"/>
              <a:t> Compilers:</a:t>
            </a:r>
          </a:p>
          <a:p>
            <a:pPr lvl="2"/>
            <a:r>
              <a:rPr lang="en-US" sz="1900" dirty="0"/>
              <a:t> Lexical Analysis -&gt; parsing -&gt; semantic analysis -&gt; code generation</a:t>
            </a:r>
          </a:p>
          <a:p>
            <a:pPr lvl="1"/>
            <a:r>
              <a:rPr lang="en-US" sz="1900" dirty="0"/>
              <a:t> Signal Processing</a:t>
            </a:r>
          </a:p>
          <a:p>
            <a:pPr lvl="1"/>
            <a:r>
              <a:rPr lang="en-GB" sz="1900" dirty="0"/>
              <a:t>Workflows in bioinformatics.</a:t>
            </a:r>
          </a:p>
          <a:p>
            <a:pPr lvl="1"/>
            <a:endParaRPr lang="en-US" sz="1000" dirty="0"/>
          </a:p>
          <a:p>
            <a:endParaRPr lang="en-US" sz="1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49F163-44AC-4860-95F1-82F956A8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2925E92-DD69-4B30-91D7-BC3CA833981C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71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81F9C-E756-9142-8D7A-B5148481F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Pipe-and-filter – Example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F0E37-36C4-9066-A7D4-01C5B6BF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D1F479D-5AC6-1283-6C67-87C4684D86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33" y="2595562"/>
            <a:ext cx="576262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6928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1FDA-E1CD-4FD1-96B9-52FD987D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Pipe-and-filter – Example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49F163-44AC-4860-95F1-82F956A8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22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0948891-96C3-4EB5-AAB4-5278DB7FF2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13" y="2230746"/>
            <a:ext cx="10314970" cy="3326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5548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D423DD-873C-4AC3-8254-C2B25830E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Pipe and Filter Advantages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70B58-9663-491E-929C-3A0490199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23055" y="6459785"/>
            <a:ext cx="10894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2925E92-DD69-4B30-91D7-BC3CA833981C}" type="slidenum">
              <a:rPr 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23</a:t>
            </a:fld>
            <a:endParaRPr lang="en-US">
              <a:solidFill>
                <a:schemeClr val="tx2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064DD32-B5E4-4885-95DA-17BFE09C67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7497128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0130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B7FC9B-7CAA-4CA7-B185-9B172CD34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Pipe and Filter Disadvantages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21EDB-20C9-46FE-98A8-945E6C23F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23055" y="6459785"/>
            <a:ext cx="10894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2925E92-DD69-4B30-91D7-BC3CA833981C}" type="slidenum">
              <a:rPr 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24</a:t>
            </a:fld>
            <a:endParaRPr lang="en-US">
              <a:solidFill>
                <a:schemeClr val="tx2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36AA169-F2A1-66C7-D99A-3DF5FAE012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375321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8399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AC20C-6C00-4A75-A22A-BD1A49C6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Object Oriented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BC08A-DB6F-4196-9567-F933E15DB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253" y="1959825"/>
            <a:ext cx="7031675" cy="3924769"/>
          </a:xfrm>
        </p:spPr>
        <p:txBody>
          <a:bodyPr>
            <a:normAutofit fontScale="92500"/>
          </a:bodyPr>
          <a:lstStyle/>
          <a:p>
            <a:pPr marL="69494" indent="-69494" defTabSz="694944">
              <a:spcBef>
                <a:spcPts val="912"/>
              </a:spcBef>
              <a:spcAft>
                <a:spcPts val="152"/>
              </a:spcAft>
            </a:pPr>
            <a:r>
              <a:rPr lang="en-US" sz="152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Examples:</a:t>
            </a:r>
          </a:p>
          <a:p>
            <a:pPr marL="291876" lvl="1" indent="-138989" defTabSz="694944">
              <a:spcBef>
                <a:spcPts val="152"/>
              </a:spcBef>
              <a:spcAft>
                <a:spcPts val="304"/>
              </a:spcAft>
            </a:pPr>
            <a:r>
              <a: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abstract data types</a:t>
            </a:r>
          </a:p>
          <a:p>
            <a:pPr marL="69494" indent="-69494" defTabSz="694944">
              <a:spcBef>
                <a:spcPts val="912"/>
              </a:spcBef>
              <a:spcAft>
                <a:spcPts val="152"/>
              </a:spcAft>
            </a:pPr>
            <a:r>
              <a: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Interesting properties</a:t>
            </a:r>
          </a:p>
          <a:p>
            <a:pPr marL="291876" lvl="1" indent="-138989" defTabSz="694944">
              <a:spcBef>
                <a:spcPts val="152"/>
              </a:spcBef>
              <a:spcAft>
                <a:spcPts val="304"/>
              </a:spcAft>
            </a:pPr>
            <a:r>
              <a: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data hiding (internal data representations are not visible to clients)</a:t>
            </a:r>
          </a:p>
          <a:p>
            <a:pPr marL="291876" lvl="1" indent="-138989" defTabSz="694944">
              <a:spcBef>
                <a:spcPts val="152"/>
              </a:spcBef>
              <a:spcAft>
                <a:spcPts val="304"/>
              </a:spcAft>
            </a:pPr>
            <a:r>
              <a: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can decompose problems into sets of interacting agents</a:t>
            </a:r>
          </a:p>
          <a:p>
            <a:pPr marL="291876" lvl="1" indent="-138989" defTabSz="694944">
              <a:spcBef>
                <a:spcPts val="152"/>
              </a:spcBef>
              <a:spcAft>
                <a:spcPts val="304"/>
              </a:spcAft>
            </a:pPr>
            <a:r>
              <a: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can be multi-threaded or single thread</a:t>
            </a:r>
          </a:p>
          <a:p>
            <a:pPr marL="69494" indent="-69494" defTabSz="694944">
              <a:spcBef>
                <a:spcPts val="912"/>
              </a:spcBef>
              <a:spcAft>
                <a:spcPts val="152"/>
              </a:spcAft>
            </a:pPr>
            <a:r>
              <a: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Disadvantages</a:t>
            </a:r>
          </a:p>
          <a:p>
            <a:pPr marL="291876" lvl="1" indent="-138989" defTabSz="694944">
              <a:spcBef>
                <a:spcPts val="152"/>
              </a:spcBef>
              <a:spcAft>
                <a:spcPts val="304"/>
              </a:spcAft>
            </a:pPr>
            <a:r>
              <a: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objects must know the identity of objects</a:t>
            </a:r>
          </a:p>
          <a:p>
            <a:pPr marL="152888" lvl="1" indent="0" defTabSz="694944">
              <a:spcBef>
                <a:spcPts val="152"/>
              </a:spcBef>
              <a:spcAft>
                <a:spcPts val="304"/>
              </a:spcAft>
              <a:buNone/>
            </a:pPr>
            <a:r>
              <a: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 they wish to interact with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17D9FF-6A74-4358-8A3B-5B70F969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831" y="5606960"/>
            <a:ext cx="997641" cy="277635"/>
          </a:xfrm>
        </p:spPr>
        <p:txBody>
          <a:bodyPr/>
          <a:lstStyle/>
          <a:p>
            <a:pPr defTabSz="347472">
              <a:spcAft>
                <a:spcPts val="600"/>
              </a:spcAft>
            </a:pPr>
            <a:fld id="{72925E92-DD69-4B30-91D7-BC3CA833981C}" type="slidenum">
              <a:rPr lang="en-US" sz="798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defTabSz="347472">
                <a:spcAft>
                  <a:spcPts val="600"/>
                </a:spcAft>
              </a:pPr>
              <a:t>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370B07-E1BA-431C-B2C3-7BC6F310E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031" y="2237362"/>
            <a:ext cx="4584970" cy="26459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1131A80-7A45-4AAD-B54F-1BAB52F63133}"/>
              </a:ext>
            </a:extLst>
          </p:cNvPr>
          <p:cNvSpPr/>
          <p:nvPr/>
        </p:nvSpPr>
        <p:spPr>
          <a:xfrm>
            <a:off x="5178824" y="5019120"/>
            <a:ext cx="1106677" cy="5193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986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6E65-0929-49D1-9A8E-187049BD2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 1: Client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BBB23-161F-4E00-AFC3-E8E4BBA65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070" y="1675945"/>
            <a:ext cx="10058400" cy="40233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</a:t>
            </a:r>
            <a:r>
              <a:rPr lang="en-GB" dirty="0"/>
              <a:t>This pattern consists of two parties;</a:t>
            </a:r>
            <a:endParaRPr lang="tr-TR" dirty="0"/>
          </a:p>
          <a:p>
            <a:pPr lvl="1"/>
            <a:r>
              <a:rPr lang="en-GB" dirty="0"/>
              <a:t> a </a:t>
            </a:r>
            <a:r>
              <a:rPr lang="en-GB" b="1" dirty="0"/>
              <a:t>server</a:t>
            </a:r>
            <a:r>
              <a:rPr lang="en-GB" dirty="0"/>
              <a:t> and </a:t>
            </a:r>
            <a:endParaRPr lang="tr-TR" dirty="0"/>
          </a:p>
          <a:p>
            <a:pPr lvl="1"/>
            <a:r>
              <a:rPr lang="en-GB" dirty="0"/>
              <a:t>multiple </a:t>
            </a:r>
            <a:r>
              <a:rPr lang="en-GB" b="1" dirty="0"/>
              <a:t>clients</a:t>
            </a:r>
            <a:r>
              <a:rPr lang="en-GB" dirty="0"/>
              <a:t>. </a:t>
            </a:r>
            <a:endParaRPr lang="tr-TR" dirty="0"/>
          </a:p>
          <a:p>
            <a:r>
              <a:rPr lang="en-GB" dirty="0"/>
              <a:t>The server component will provide services to multiple client components.</a:t>
            </a:r>
            <a:endParaRPr lang="tr-TR" dirty="0"/>
          </a:p>
          <a:p>
            <a:r>
              <a:rPr lang="en-GB" dirty="0"/>
              <a:t> Clients request services from the server and the server provides relevant services to those clients. </a:t>
            </a:r>
            <a:endParaRPr lang="tr-TR" dirty="0"/>
          </a:p>
          <a:p>
            <a:r>
              <a:rPr lang="tr-TR" dirty="0"/>
              <a:t>T</a:t>
            </a:r>
            <a:r>
              <a:rPr lang="en-GB" dirty="0"/>
              <a:t>he server continues to listen to client requests.</a:t>
            </a:r>
          </a:p>
          <a:p>
            <a:pPr marL="0" indent="0">
              <a:buNone/>
            </a:pPr>
            <a:r>
              <a:rPr lang="en-GB" b="1" dirty="0"/>
              <a:t>Usage</a:t>
            </a:r>
          </a:p>
          <a:p>
            <a:r>
              <a:rPr lang="en-GB" dirty="0"/>
              <a:t>Online applications such as email, document sharing and banking.</a:t>
            </a:r>
          </a:p>
          <a:p>
            <a:pPr marL="0" indent="0">
              <a:buNone/>
            </a:pPr>
            <a:r>
              <a:rPr lang="en-US" dirty="0"/>
              <a:t> Disadvantages</a:t>
            </a:r>
          </a:p>
          <a:p>
            <a:pPr lvl="1"/>
            <a:r>
              <a:rPr lang="en-US" dirty="0"/>
              <a:t> Client objects must know the identity of the server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E982F-907D-4865-862A-CCDD62AEB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89F38B-C3EF-458A-B47A-6F8FBE3E7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204" y="3885130"/>
            <a:ext cx="4606803" cy="243258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122B46C-0734-4CC5-93F1-BEE24900386C}"/>
              </a:ext>
            </a:extLst>
          </p:cNvPr>
          <p:cNvSpPr/>
          <p:nvPr/>
        </p:nvSpPr>
        <p:spPr>
          <a:xfrm>
            <a:off x="6400800" y="5869094"/>
            <a:ext cx="3122596" cy="44861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19" y="4866954"/>
            <a:ext cx="5925011" cy="145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21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C0B78-E779-AA9A-FE01-012D76B7D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40" y="263527"/>
            <a:ext cx="10058400" cy="1450757"/>
          </a:xfrm>
        </p:spPr>
        <p:txBody>
          <a:bodyPr/>
          <a:lstStyle/>
          <a:p>
            <a:r>
              <a:rPr lang="en-US" dirty="0"/>
              <a:t>Variant 2- </a:t>
            </a:r>
            <a:r>
              <a:rPr lang="en-GB" dirty="0"/>
              <a:t>Master-slave pattern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5A566-7DE8-1896-AAC2-29929A4E3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245" y="1714284"/>
            <a:ext cx="6937767" cy="4023360"/>
          </a:xfrm>
        </p:spPr>
        <p:txBody>
          <a:bodyPr/>
          <a:lstStyle/>
          <a:p>
            <a:r>
              <a:rPr lang="en-GB" dirty="0"/>
              <a:t>This pattern consists of two parties; </a:t>
            </a:r>
            <a:endParaRPr lang="tr-TR" dirty="0"/>
          </a:p>
          <a:p>
            <a:pPr lvl="1"/>
            <a:r>
              <a:rPr lang="en-GB" b="1" dirty="0"/>
              <a:t>master</a:t>
            </a:r>
            <a:r>
              <a:rPr lang="en-GB" dirty="0"/>
              <a:t> </a:t>
            </a:r>
            <a:endParaRPr lang="tr-TR" dirty="0"/>
          </a:p>
          <a:p>
            <a:pPr lvl="1"/>
            <a:r>
              <a:rPr lang="en-GB" dirty="0"/>
              <a:t> </a:t>
            </a:r>
            <a:r>
              <a:rPr lang="en-GB" b="1" dirty="0"/>
              <a:t>slaves</a:t>
            </a:r>
            <a:r>
              <a:rPr lang="en-GB" dirty="0"/>
              <a:t>. </a:t>
            </a:r>
            <a:endParaRPr lang="tr-TR" dirty="0"/>
          </a:p>
          <a:p>
            <a:r>
              <a:rPr lang="en-GB" dirty="0"/>
              <a:t>The master component distributes the work among identical slave components, and computes a final result from the results which the slaves return.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C0CC2-E47B-B33F-D63D-D0DB0F27A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2" descr="Image result for sample Master-slave pattern">
            <a:extLst>
              <a:ext uri="{FF2B5EF4-FFF2-40B4-BE49-F238E27FC236}">
                <a16:creationId xmlns:a16="http://schemas.microsoft.com/office/drawing/2014/main" id="{D43F1F9F-8678-5D3A-3A02-137C56E38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008" y="2404586"/>
            <a:ext cx="4326899" cy="290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7D9B4A-C950-C49F-DB70-7A7D560A2B2A}"/>
              </a:ext>
            </a:extLst>
          </p:cNvPr>
          <p:cNvSpPr txBox="1"/>
          <p:nvPr/>
        </p:nvSpPr>
        <p:spPr>
          <a:xfrm>
            <a:off x="433205" y="3857414"/>
            <a:ext cx="62205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b="1" dirty="0"/>
              <a:t>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database replication, the master database is regarded as the authoritative source, and the slave databases are synchronized to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Peripherals connected to a bus in a computer system (master and slave drives).</a:t>
            </a:r>
          </a:p>
        </p:txBody>
      </p:sp>
    </p:spTree>
    <p:extLst>
      <p:ext uri="{BB962C8B-B14F-4D97-AF65-F5344CB8AC3E}">
        <p14:creationId xmlns:p14="http://schemas.microsoft.com/office/powerpoint/2010/main" val="23358284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9E80720-23E6-4B89-B77E-04A7689F1B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1D3CA1-3EB6-41F3-A419-8424B56BE6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D579FC-91CB-4A4F-9C42-46F4A5E3C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52936"/>
            <a:ext cx="10058400" cy="1028715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Variant 3: Object Brokers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87F7B2-AA36-4B58-BC2C-1BBA135E8B6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A4596-CCF6-460F-B37F-D6A669324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032" y="643467"/>
            <a:ext cx="7311206" cy="2924483"/>
          </a:xfrm>
        </p:spPr>
        <p:txBody>
          <a:bodyPr/>
          <a:lstStyle/>
          <a:p>
            <a:pPr marL="65837" indent="-65837" defTabSz="658368">
              <a:spcBef>
                <a:spcPts val="864"/>
              </a:spcBef>
              <a:spcAft>
                <a:spcPts val="144"/>
              </a:spcAft>
            </a:pPr>
            <a:r>
              <a:rPr lang="en-US" sz="1296" kern="1200">
                <a:solidFill>
                  <a:srgbClr val="000000"/>
                </a:solidFill>
                <a:latin typeface="MonotypeSorts"/>
                <a:ea typeface="+mn-ea"/>
                <a:cs typeface="+mn-cs"/>
              </a:rPr>
              <a:t> </a:t>
            </a:r>
            <a:r>
              <a:rPr lang="en-US" sz="1296" b="1" kern="1200">
                <a:solidFill>
                  <a:srgbClr val="000000"/>
                </a:solidFill>
                <a:latin typeface="ComicSansMS-Bold"/>
                <a:ea typeface="+mn-ea"/>
                <a:cs typeface="+mn-cs"/>
              </a:rPr>
              <a:t>Interesting properties</a:t>
            </a:r>
          </a:p>
          <a:p>
            <a:pPr marL="65837" indent="-65837" defTabSz="658368">
              <a:spcBef>
                <a:spcPts val="864"/>
              </a:spcBef>
              <a:spcAft>
                <a:spcPts val="144"/>
              </a:spcAft>
            </a:pPr>
            <a:r>
              <a:rPr lang="en-US" sz="1296" kern="1200">
                <a:solidFill>
                  <a:srgbClr val="00339A"/>
                </a:solidFill>
                <a:latin typeface="Wingdings" panose="05000000000000000000" pitchFamily="2" charset="2"/>
                <a:ea typeface="+mn-ea"/>
                <a:cs typeface="+mn-cs"/>
              </a:rPr>
              <a:t> </a:t>
            </a:r>
            <a:r>
              <a:rPr lang="en-US" sz="1296" b="1" kern="1200">
                <a:solidFill>
                  <a:srgbClr val="00339A"/>
                </a:solidFill>
                <a:latin typeface="ComicSansMS-Bold"/>
                <a:ea typeface="+mn-ea"/>
                <a:cs typeface="+mn-cs"/>
              </a:rPr>
              <a:t>Adds a broker between the clients and servers</a:t>
            </a:r>
          </a:p>
          <a:p>
            <a:pPr marL="65837" indent="-65837" defTabSz="658368">
              <a:spcBef>
                <a:spcPts val="864"/>
              </a:spcBef>
              <a:spcAft>
                <a:spcPts val="144"/>
              </a:spcAft>
            </a:pPr>
            <a:r>
              <a:rPr lang="en-US" sz="1296" kern="1200">
                <a:solidFill>
                  <a:srgbClr val="00339A"/>
                </a:solidFill>
                <a:latin typeface="Wingdings" panose="05000000000000000000" pitchFamily="2" charset="2"/>
                <a:ea typeface="+mn-ea"/>
                <a:cs typeface="+mn-cs"/>
              </a:rPr>
              <a:t> </a:t>
            </a:r>
            <a:r>
              <a:rPr lang="en-US" sz="1296" b="1" kern="1200">
                <a:solidFill>
                  <a:srgbClr val="00339A"/>
                </a:solidFill>
                <a:latin typeface="ComicSansMS-Bold"/>
                <a:ea typeface="+mn-ea"/>
                <a:cs typeface="+mn-cs"/>
              </a:rPr>
              <a:t>Clients no longer need to know which server they are using</a:t>
            </a:r>
          </a:p>
          <a:p>
            <a:pPr marL="65837" indent="-65837" defTabSz="658368">
              <a:spcBef>
                <a:spcPts val="864"/>
              </a:spcBef>
              <a:spcAft>
                <a:spcPts val="144"/>
              </a:spcAft>
            </a:pPr>
            <a:r>
              <a:rPr lang="en-US" sz="1296" kern="1200">
                <a:solidFill>
                  <a:srgbClr val="00339A"/>
                </a:solidFill>
                <a:latin typeface="Wingdings" panose="05000000000000000000" pitchFamily="2" charset="2"/>
                <a:ea typeface="+mn-ea"/>
                <a:cs typeface="+mn-cs"/>
              </a:rPr>
              <a:t> </a:t>
            </a:r>
            <a:r>
              <a:rPr lang="en-US" sz="1296" b="1" kern="1200">
                <a:solidFill>
                  <a:srgbClr val="00339A"/>
                </a:solidFill>
                <a:latin typeface="ComicSansMS-Bold"/>
                <a:ea typeface="+mn-ea"/>
                <a:cs typeface="+mn-cs"/>
              </a:rPr>
              <a:t>Can have many brokers, many servers.</a:t>
            </a:r>
          </a:p>
          <a:p>
            <a:pPr marL="65837" indent="-65837" defTabSz="658368">
              <a:spcBef>
                <a:spcPts val="864"/>
              </a:spcBef>
              <a:spcAft>
                <a:spcPts val="144"/>
              </a:spcAft>
            </a:pPr>
            <a:r>
              <a:rPr lang="en-US" sz="1296" kern="1200">
                <a:solidFill>
                  <a:srgbClr val="000000"/>
                </a:solidFill>
                <a:latin typeface="MonotypeSorts"/>
                <a:ea typeface="+mn-ea"/>
                <a:cs typeface="+mn-cs"/>
              </a:rPr>
              <a:t> </a:t>
            </a:r>
            <a:r>
              <a:rPr lang="en-US" sz="1296" b="1" kern="1200">
                <a:solidFill>
                  <a:srgbClr val="000000"/>
                </a:solidFill>
                <a:latin typeface="ComicSansMS-Bold"/>
                <a:ea typeface="+mn-ea"/>
                <a:cs typeface="+mn-cs"/>
              </a:rPr>
              <a:t>Disadvantages</a:t>
            </a:r>
          </a:p>
          <a:p>
            <a:pPr marL="65837" indent="-65837" defTabSz="658368">
              <a:spcBef>
                <a:spcPts val="864"/>
              </a:spcBef>
              <a:spcAft>
                <a:spcPts val="144"/>
              </a:spcAft>
            </a:pPr>
            <a:r>
              <a:rPr lang="en-US" sz="1296" kern="1200">
                <a:solidFill>
                  <a:srgbClr val="00339A"/>
                </a:solidFill>
                <a:latin typeface="Wingdings" panose="05000000000000000000" pitchFamily="2" charset="2"/>
                <a:ea typeface="+mn-ea"/>
                <a:cs typeface="+mn-cs"/>
              </a:rPr>
              <a:t> </a:t>
            </a:r>
            <a:r>
              <a:rPr lang="en-US" sz="1296" b="1" kern="1200">
                <a:solidFill>
                  <a:srgbClr val="00339A"/>
                </a:solidFill>
                <a:latin typeface="ComicSansMS-Bold"/>
                <a:ea typeface="+mn-ea"/>
                <a:cs typeface="+mn-cs"/>
              </a:rPr>
              <a:t>Broker can become a bottleneck</a:t>
            </a:r>
          </a:p>
          <a:p>
            <a:pPr marL="65837" indent="-65837" defTabSz="658368">
              <a:spcBef>
                <a:spcPts val="864"/>
              </a:spcBef>
              <a:spcAft>
                <a:spcPts val="144"/>
              </a:spcAft>
            </a:pPr>
            <a:r>
              <a:rPr lang="en-US" sz="1296" kern="1200">
                <a:solidFill>
                  <a:srgbClr val="00339A"/>
                </a:solidFill>
                <a:latin typeface="Wingdings" panose="05000000000000000000" pitchFamily="2" charset="2"/>
                <a:ea typeface="+mn-ea"/>
                <a:cs typeface="+mn-cs"/>
              </a:rPr>
              <a:t> </a:t>
            </a:r>
            <a:r>
              <a:rPr lang="en-US" sz="1296" b="1" kern="1200">
                <a:solidFill>
                  <a:srgbClr val="00339A"/>
                </a:solidFill>
                <a:latin typeface="ComicSansMS-Bold"/>
                <a:ea typeface="+mn-ea"/>
                <a:cs typeface="+mn-cs"/>
              </a:rPr>
              <a:t>Degraded performance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C4D9A-5BC1-4E6C-9472-CB3DCCF68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52848" y="3997309"/>
            <a:ext cx="953679" cy="265400"/>
          </a:xfrm>
        </p:spPr>
        <p:txBody>
          <a:bodyPr/>
          <a:lstStyle/>
          <a:p>
            <a:pPr defTabSz="329184">
              <a:spcAft>
                <a:spcPts val="600"/>
              </a:spcAft>
            </a:pPr>
            <a:fld id="{72925E92-DD69-4B30-91D7-BC3CA833981C}" type="slidenum">
              <a:rPr lang="en-US" sz="756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defTabSz="329184">
                <a:spcAft>
                  <a:spcPts val="600"/>
                </a:spcAft>
              </a:pPr>
              <a:t>28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FCD879-A7A8-4224-94D9-C555B4107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611" y="2090860"/>
            <a:ext cx="4804903" cy="17931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DE6FB2-61FB-D7BB-A730-AF29AA74CD45}"/>
              </a:ext>
            </a:extLst>
          </p:cNvPr>
          <p:cNvSpPr txBox="1"/>
          <p:nvPr/>
        </p:nvSpPr>
        <p:spPr>
          <a:xfrm>
            <a:off x="1768894" y="3004603"/>
            <a:ext cx="4429855" cy="1320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29184">
              <a:spcAft>
                <a:spcPts val="600"/>
              </a:spcAft>
            </a:pPr>
            <a:r>
              <a:rPr lang="en-GB" sz="1296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Usage</a:t>
            </a:r>
          </a:p>
          <a:p>
            <a:pPr defTabSz="329184">
              <a:spcAft>
                <a:spcPts val="600"/>
              </a:spcAft>
            </a:pPr>
            <a:r>
              <a:rPr lang="en-GB" sz="129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Message broker software such as </a:t>
            </a:r>
            <a:r>
              <a:rPr lang="en-GB" sz="1296" b="1" kern="1200">
                <a:solidFill>
                  <a:schemeClr val="tx1"/>
                </a:solidFill>
                <a:latin typeface="+mn-lt"/>
                <a:ea typeface="+mn-ea"/>
                <a:cs typeface="+mn-cs"/>
                <a:hlinkClick r:id="rId4" tooltip="Apache ActiveMQ"/>
              </a:rPr>
              <a:t>Apache ActiveMQ</a:t>
            </a:r>
            <a:r>
              <a:rPr lang="en-GB" sz="129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en-GB" sz="1296" b="1" kern="1200">
                <a:solidFill>
                  <a:schemeClr val="tx1"/>
                </a:solidFill>
                <a:latin typeface="+mn-lt"/>
                <a:ea typeface="+mn-ea"/>
                <a:cs typeface="+mn-cs"/>
                <a:hlinkClick r:id="rId5" tooltip="Apache Kafka"/>
              </a:rPr>
              <a:t>Apache Kafka</a:t>
            </a:r>
            <a:r>
              <a:rPr lang="en-GB" sz="129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en-GB" sz="1296" b="1" kern="1200">
                <a:solidFill>
                  <a:schemeClr val="tx1"/>
                </a:solidFill>
                <a:latin typeface="+mn-lt"/>
                <a:ea typeface="+mn-ea"/>
                <a:cs typeface="+mn-cs"/>
                <a:hlinkClick r:id="rId6" tooltip="RabbitMQ"/>
              </a:rPr>
              <a:t>RabbitMQ</a:t>
            </a:r>
            <a:r>
              <a:rPr lang="en-GB" sz="129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and </a:t>
            </a:r>
            <a:r>
              <a:rPr lang="en-GB" sz="1296" b="1" kern="1200">
                <a:solidFill>
                  <a:schemeClr val="tx1"/>
                </a:solidFill>
                <a:latin typeface="+mn-lt"/>
                <a:ea typeface="+mn-ea"/>
                <a:cs typeface="+mn-cs"/>
                <a:hlinkClick r:id="rId7" tooltip="JBoss Messaging"/>
              </a:rPr>
              <a:t>JBoss Messaging</a:t>
            </a:r>
            <a:r>
              <a:rPr lang="en-GB" sz="129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defTabSz="329184">
              <a:spcAft>
                <a:spcPts val="600"/>
              </a:spcAft>
            </a:pPr>
            <a:r>
              <a:rPr lang="en-GB" sz="129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GB" sz="129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9556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FD4CE7-381E-41E4-B7B0-965C26205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Broker Architecture Example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E96E564B-1680-B4FC-E299-8360C1ED3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endParaRPr lang="en-US" sz="1500">
              <a:solidFill>
                <a:srgbClr val="FFFFFF"/>
              </a:solidFill>
            </a:endParaRPr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6" name="Picture 2" descr="Image result for sample broker pattern">
            <a:extLst>
              <a:ext uri="{FF2B5EF4-FFF2-40B4-BE49-F238E27FC236}">
                <a16:creationId xmlns:a16="http://schemas.microsoft.com/office/drawing/2014/main" id="{CB38F1C7-148B-8C19-C5C3-C1C23C8F6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2017" y="1465686"/>
            <a:ext cx="6798082" cy="3926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0943B-CC26-4D0E-BDA2-7AFD3ADF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2925E92-DD69-4B30-91D7-BC3CA833981C}" type="slidenum">
              <a:rPr 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29</a:t>
            </a:fld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5209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DEA2A-5DB7-A4A4-CC0E-AE7B0E48E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GB" b="1" dirty="0"/>
              <a:t>Peer-to-peer pattern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27DE5-D57B-8939-5529-3C2843DA7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 fontScale="92500" lnSpcReduction="20000"/>
          </a:bodyPr>
          <a:lstStyle/>
          <a:p>
            <a:r>
              <a:rPr lang="en-GB" sz="1800" dirty="0"/>
              <a:t>In this pattern, individual components are known as </a:t>
            </a:r>
            <a:r>
              <a:rPr lang="en-GB" sz="1800" b="1" dirty="0"/>
              <a:t>peers</a:t>
            </a:r>
            <a:r>
              <a:rPr lang="en-GB" sz="1800" dirty="0"/>
              <a:t>. </a:t>
            </a:r>
            <a:endParaRPr lang="tr-TR" sz="1800" dirty="0"/>
          </a:p>
          <a:p>
            <a:r>
              <a:rPr lang="en-GB" sz="1800" dirty="0"/>
              <a:t>Peers may function both as a </a:t>
            </a:r>
            <a:r>
              <a:rPr lang="en-GB" sz="1800" b="1" dirty="0"/>
              <a:t>client</a:t>
            </a:r>
            <a:r>
              <a:rPr lang="en-GB" sz="1800" dirty="0"/>
              <a:t>, requesting services from other peers, and as a </a:t>
            </a:r>
            <a:r>
              <a:rPr lang="en-GB" sz="1800" b="1" dirty="0"/>
              <a:t>server</a:t>
            </a:r>
            <a:r>
              <a:rPr lang="en-GB" sz="1800" dirty="0"/>
              <a:t>, providing services to other peers. </a:t>
            </a:r>
            <a:endParaRPr lang="tr-TR" sz="1800" dirty="0"/>
          </a:p>
          <a:p>
            <a:r>
              <a:rPr lang="en-GB" sz="1800" dirty="0"/>
              <a:t>A peer may act as a client or as a server or as both, and it can change its role dynamically with time.</a:t>
            </a:r>
          </a:p>
          <a:p>
            <a:pPr marL="0" indent="0">
              <a:buNone/>
            </a:pPr>
            <a:endParaRPr lang="tr-TR" sz="1800" b="1" dirty="0"/>
          </a:p>
          <a:p>
            <a:pPr marL="0" indent="0">
              <a:buNone/>
            </a:pPr>
            <a:r>
              <a:rPr lang="en-GB" sz="1800" b="1" dirty="0"/>
              <a:t>Usage</a:t>
            </a:r>
          </a:p>
          <a:p>
            <a:r>
              <a:rPr lang="en-GB" sz="1800" dirty="0"/>
              <a:t>File-sharing networks such as </a:t>
            </a:r>
            <a:r>
              <a:rPr lang="en-GB" sz="1800" b="1" dirty="0">
                <a:hlinkClick r:id="rId2" tooltip="Gnutella"/>
              </a:rPr>
              <a:t>Gnutella</a:t>
            </a:r>
            <a:r>
              <a:rPr lang="en-GB" sz="1800" b="1" dirty="0"/>
              <a:t> </a:t>
            </a:r>
            <a:r>
              <a:rPr lang="en-GB" sz="1800" dirty="0"/>
              <a:t>and </a:t>
            </a:r>
            <a:r>
              <a:rPr lang="en-GB" sz="1800" b="1" dirty="0">
                <a:hlinkClick r:id="rId3" tooltip="Gnutella2"/>
              </a:rPr>
              <a:t>G2</a:t>
            </a:r>
            <a:r>
              <a:rPr lang="en-GB" sz="1800" dirty="0"/>
              <a:t>)</a:t>
            </a:r>
          </a:p>
          <a:p>
            <a:r>
              <a:rPr lang="en-GB" sz="1800" dirty="0"/>
              <a:t>Multimedia protocols such as </a:t>
            </a:r>
            <a:r>
              <a:rPr lang="en-GB" sz="1800" b="1" dirty="0">
                <a:hlinkClick r:id="rId4" tooltip="P2PTV"/>
              </a:rPr>
              <a:t>P2PTV</a:t>
            </a:r>
            <a:r>
              <a:rPr lang="en-GB" sz="1800" b="1" dirty="0"/>
              <a:t> </a:t>
            </a:r>
            <a:r>
              <a:rPr lang="en-GB" sz="1800" dirty="0"/>
              <a:t>and </a:t>
            </a:r>
            <a:r>
              <a:rPr lang="en-GB" sz="1800" b="1" dirty="0">
                <a:hlinkClick r:id="rId5" tooltip="Peer Distributed Transfer Protocol"/>
              </a:rPr>
              <a:t>PDTP</a:t>
            </a:r>
            <a:r>
              <a:rPr lang="en-GB" sz="1800" dirty="0"/>
              <a:t>.</a:t>
            </a:r>
          </a:p>
          <a:p>
            <a:r>
              <a:rPr lang="en-GB" sz="1800" dirty="0"/>
              <a:t>Proprietary multimedia applications such as </a:t>
            </a:r>
            <a:r>
              <a:rPr lang="en-GB" sz="1800" b="1" dirty="0">
                <a:hlinkClick r:id="rId6" tooltip="Spotify"/>
              </a:rPr>
              <a:t>Spotify</a:t>
            </a:r>
            <a:r>
              <a:rPr lang="en-GB" sz="1800" dirty="0"/>
              <a:t>.</a:t>
            </a:r>
          </a:p>
          <a:p>
            <a:r>
              <a:rPr lang="en-GB" sz="1800" dirty="0">
                <a:effectLst/>
              </a:rPr>
              <a:t/>
            </a:r>
            <a:br>
              <a:rPr lang="en-GB" sz="1800" dirty="0">
                <a:effectLst/>
              </a:rPr>
            </a:br>
            <a:endParaRPr lang="en-GB" sz="1800" dirty="0"/>
          </a:p>
          <a:p>
            <a:endParaRPr lang="en-US" sz="1400" dirty="0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E382B107-B9E3-852E-F2A5-522C40A4EED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4" r="7012"/>
          <a:stretch/>
        </p:blipFill>
        <p:spPr>
          <a:xfrm>
            <a:off x="8020570" y="1916318"/>
            <a:ext cx="3135109" cy="34710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EB932-85F8-0D72-1B7E-EAA9FF8A0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2925E92-DD69-4B30-91D7-BC3CA833981C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439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BDD66-206D-4B5E-A6CB-5611ECDF6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based (implicit invocation)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60892-E993-416F-9EBE-41BCE0D0E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MonotypeSorts"/>
              </a:rPr>
              <a:t>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omicSansMS-Bold"/>
              </a:rPr>
              <a:t>Examples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339A"/>
                </a:solidFill>
                <a:latin typeface="Wingdings" panose="05000000000000000000" pitchFamily="2" charset="2"/>
              </a:rPr>
              <a:t> </a:t>
            </a:r>
            <a:r>
              <a:rPr lang="en-US" sz="1800" b="1" i="0" u="none" strike="noStrike" baseline="0" dirty="0">
                <a:solidFill>
                  <a:srgbClr val="00339A"/>
                </a:solidFill>
                <a:latin typeface="ComicSansMS-Bold"/>
              </a:rPr>
              <a:t>debugging systems (listen for particular breakpoints)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339A"/>
                </a:solidFill>
                <a:latin typeface="Wingdings" panose="05000000000000000000" pitchFamily="2" charset="2"/>
              </a:rPr>
              <a:t> </a:t>
            </a:r>
            <a:r>
              <a:rPr lang="en-US" sz="1800" b="1" i="0" u="none" strike="noStrike" baseline="0" dirty="0">
                <a:solidFill>
                  <a:srgbClr val="00339A"/>
                </a:solidFill>
                <a:latin typeface="ComicSansMS-Bold"/>
              </a:rPr>
              <a:t>database management systems (for data integrity checking)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339A"/>
                </a:solidFill>
                <a:latin typeface="Wingdings" panose="05000000000000000000" pitchFamily="2" charset="2"/>
              </a:rPr>
              <a:t> </a:t>
            </a:r>
            <a:r>
              <a:rPr lang="en-US" sz="1800" b="1" i="0" u="none" strike="noStrike" baseline="0" dirty="0">
                <a:solidFill>
                  <a:srgbClr val="00339A"/>
                </a:solidFill>
                <a:latin typeface="ComicSansMS-Bold"/>
              </a:rPr>
              <a:t>graphical user interfaces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MonotypeSorts"/>
              </a:rPr>
              <a:t>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omicSansMS-Bold"/>
              </a:rPr>
              <a:t>Interesting properties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339A"/>
                </a:solidFill>
                <a:latin typeface="Wingdings" panose="05000000000000000000" pitchFamily="2" charset="2"/>
              </a:rPr>
              <a:t> </a:t>
            </a:r>
            <a:r>
              <a:rPr lang="en-US" sz="1800" b="1" i="0" u="none" strike="noStrike" baseline="0" dirty="0">
                <a:solidFill>
                  <a:srgbClr val="00339A"/>
                </a:solidFill>
                <a:latin typeface="ComicSansMS-Bold"/>
              </a:rPr>
              <a:t>announcers of events don’t need to know who will handle the event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339A"/>
                </a:solidFill>
                <a:latin typeface="Wingdings" panose="05000000000000000000" pitchFamily="2" charset="2"/>
              </a:rPr>
              <a:t> </a:t>
            </a:r>
            <a:r>
              <a:rPr lang="en-US" sz="1800" b="1" i="0" u="none" strike="noStrike" baseline="0" dirty="0">
                <a:solidFill>
                  <a:srgbClr val="00339A"/>
                </a:solidFill>
                <a:latin typeface="ComicSansMS-Bold"/>
              </a:rPr>
              <a:t>Supports re-use, and evolution of systems (add new agents easily)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MonotypeSorts"/>
              </a:rPr>
              <a:t>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omicSansMS-Bold"/>
              </a:rPr>
              <a:t>Disadvantages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339A"/>
                </a:solidFill>
                <a:latin typeface="Wingdings" panose="05000000000000000000" pitchFamily="2" charset="2"/>
              </a:rPr>
              <a:t> </a:t>
            </a:r>
            <a:r>
              <a:rPr lang="en-US" sz="1800" b="1" i="0" u="none" strike="noStrike" baseline="0" dirty="0">
                <a:solidFill>
                  <a:srgbClr val="00339A"/>
                </a:solidFill>
                <a:latin typeface="ComicSansMS-Bold"/>
              </a:rPr>
              <a:t>Components have no control over ordering of computations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80806F-F35E-4EB5-BC52-38E83B6C9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31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D6FDC4-93A6-48BD-A0FA-E89BEF4DE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958" y="2002144"/>
            <a:ext cx="4588042" cy="161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00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72FF1-F746-D179-FB22-EF6E4D6C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32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289C9A-D803-C008-1CB7-7F1A5B1155DE}"/>
              </a:ext>
            </a:extLst>
          </p:cNvPr>
          <p:cNvSpPr txBox="1"/>
          <p:nvPr/>
        </p:nvSpPr>
        <p:spPr>
          <a:xfrm>
            <a:off x="204282" y="1836776"/>
            <a:ext cx="81031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This pattern primarily deals with events and has </a:t>
            </a:r>
          </a:p>
          <a:p>
            <a:r>
              <a:rPr lang="en-GB" dirty="0"/>
              <a:t>4 major components; </a:t>
            </a:r>
            <a:endParaRPr lang="en-GB" b="1" dirty="0"/>
          </a:p>
          <a:p>
            <a:pPr lvl="1"/>
            <a:r>
              <a:rPr lang="en-GB" b="1" dirty="0"/>
              <a:t>event source</a:t>
            </a:r>
            <a:r>
              <a:rPr lang="en-GB" dirty="0"/>
              <a:t>, </a:t>
            </a:r>
            <a:endParaRPr lang="tr-TR" dirty="0"/>
          </a:p>
          <a:p>
            <a:pPr lvl="1"/>
            <a:r>
              <a:rPr lang="en-GB" b="1" dirty="0"/>
              <a:t>event listener</a:t>
            </a:r>
            <a:r>
              <a:rPr lang="en-GB" dirty="0"/>
              <a:t>, </a:t>
            </a:r>
            <a:endParaRPr lang="tr-TR" dirty="0"/>
          </a:p>
          <a:p>
            <a:pPr lvl="1"/>
            <a:r>
              <a:rPr lang="en-GB" b="1" dirty="0"/>
              <a:t>channel </a:t>
            </a:r>
            <a:endParaRPr lang="tr-TR" dirty="0"/>
          </a:p>
          <a:p>
            <a:pPr lvl="1"/>
            <a:r>
              <a:rPr lang="en-GB" b="1" dirty="0"/>
              <a:t>event bus</a:t>
            </a:r>
            <a:r>
              <a:rPr lang="en-GB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Sources publish messages to particular channels on an event bus.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 Listeners subscribe to particular channels. 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Listeners are notified of messages that are published to a channel to which they have subscribed before.</a:t>
            </a:r>
            <a:endParaRPr lang="tr-TR" b="1" dirty="0"/>
          </a:p>
          <a:p>
            <a:pPr marL="0" indent="0">
              <a:buNone/>
            </a:pPr>
            <a:r>
              <a:rPr lang="en-GB" b="1" dirty="0"/>
              <a:t>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Android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Notification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debugging systems (listen for particular breakpoints)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management systems (for data integrity checking)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graphical user interfaces </a:t>
            </a:r>
            <a:endParaRPr lang="en-GB" dirty="0"/>
          </a:p>
        </p:txBody>
      </p:sp>
      <p:pic>
        <p:nvPicPr>
          <p:cNvPr id="12" name="Picture 2" descr="Image result for sample Event-bus pattern">
            <a:extLst>
              <a:ext uri="{FF2B5EF4-FFF2-40B4-BE49-F238E27FC236}">
                <a16:creationId xmlns:a16="http://schemas.microsoft.com/office/drawing/2014/main" id="{A2026445-3A91-5529-6EC9-5833C8C0F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610" y="1836776"/>
            <a:ext cx="6885390" cy="1592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5615F0F-A8E9-B9D0-6B9E-4126B135915D}"/>
              </a:ext>
            </a:extLst>
          </p:cNvPr>
          <p:cNvSpPr txBox="1"/>
          <p:nvPr/>
        </p:nvSpPr>
        <p:spPr>
          <a:xfrm>
            <a:off x="547180" y="851330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/>
              <a:t>Event-bus pattern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940073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B2B8762-61F0-4F1B-9364-D633EE9D6A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7675C8-1328-460C-9EBF-6B446B67EA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14EE78B-AF71-4195-A01B-F1165D9233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6417104-D4C1-4710-9982-2154A7F4849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A9BC93-D544-2267-A9DB-3AE710E83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Event-bus pattern-Example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D603FEF0-0159-C36E-C491-9371D4EF1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57" y="799319"/>
            <a:ext cx="5131653" cy="328425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26F1402-2DEC-4071-84AF-350C7BF00D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mage result for sample Event-bus pattern">
            <a:extLst>
              <a:ext uri="{FF2B5EF4-FFF2-40B4-BE49-F238E27FC236}">
                <a16:creationId xmlns:a16="http://schemas.microsoft.com/office/drawing/2014/main" id="{3C4C7934-1C2F-01D3-D711-FFEFF1B300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24891" y="640080"/>
            <a:ext cx="4803648" cy="360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733B62-1719-4677-A612-CA0AC0AD74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A52A394-10F4-4AA5-90E4-634D1E919D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BDDC51-8BB2-42BE-8EA8-39B3E9AC1E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2F6AB-6204-4454-B970-FB94AA667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2925E92-DD69-4B30-91D7-BC3CA833981C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7129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045" y="-41981"/>
            <a:ext cx="10515600" cy="1325563"/>
          </a:xfrm>
        </p:spPr>
        <p:txBody>
          <a:bodyPr/>
          <a:lstStyle/>
          <a:p>
            <a:r>
              <a:rPr lang="en-GB" b="1" dirty="0"/>
              <a:t> Layered pattern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045" y="1818604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This pattern is also known as </a:t>
            </a:r>
            <a:r>
              <a:rPr lang="en-GB" b="1" dirty="0"/>
              <a:t>n-tier architecture</a:t>
            </a:r>
            <a:r>
              <a:rPr lang="en-GB" dirty="0"/>
              <a:t> </a:t>
            </a:r>
            <a:r>
              <a:rPr lang="en-GB" b="1" dirty="0"/>
              <a:t>pattern</a:t>
            </a:r>
            <a:r>
              <a:rPr lang="en-GB" dirty="0"/>
              <a:t>. </a:t>
            </a:r>
            <a:endParaRPr lang="tr-TR" dirty="0"/>
          </a:p>
          <a:p>
            <a:r>
              <a:rPr lang="en-GB" dirty="0"/>
              <a:t>It can be used to structure programs that can be decomposed into groups of subtasks, each of which is at a particular level of abstraction. </a:t>
            </a:r>
            <a:endParaRPr lang="tr-TR" dirty="0"/>
          </a:p>
          <a:p>
            <a:r>
              <a:rPr lang="en-GB" dirty="0"/>
              <a:t>Each layer provides services to the next higher layer.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r>
              <a:rPr lang="en-GB" b="1" dirty="0"/>
              <a:t>Usage</a:t>
            </a:r>
          </a:p>
          <a:p>
            <a:r>
              <a:rPr lang="en-GB" dirty="0"/>
              <a:t>General desktop applications.</a:t>
            </a:r>
          </a:p>
          <a:p>
            <a:r>
              <a:rPr lang="en-GB" dirty="0"/>
              <a:t>E commerce web applications.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155" y="3079238"/>
            <a:ext cx="4294800" cy="321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3541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349" y="131004"/>
            <a:ext cx="11190668" cy="832610"/>
          </a:xfrm>
        </p:spPr>
        <p:txBody>
          <a:bodyPr>
            <a:normAutofit fontScale="90000"/>
          </a:bodyPr>
          <a:lstStyle/>
          <a:p>
            <a:r>
              <a:rPr lang="en-GB" dirty="0"/>
              <a:t>Common</a:t>
            </a:r>
            <a:r>
              <a:rPr lang="tr-TR" dirty="0"/>
              <a:t> </a:t>
            </a:r>
            <a:r>
              <a:rPr lang="en-GB" dirty="0"/>
              <a:t>layers of a general information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6017" y="1749288"/>
            <a:ext cx="5575853" cy="1767952"/>
          </a:xfrm>
        </p:spPr>
        <p:txBody>
          <a:bodyPr/>
          <a:lstStyle/>
          <a:p>
            <a:r>
              <a:rPr lang="en-GB" b="1" dirty="0"/>
              <a:t>Presentation layer </a:t>
            </a:r>
            <a:r>
              <a:rPr lang="en-GB" dirty="0"/>
              <a:t>(also known as </a:t>
            </a:r>
            <a:r>
              <a:rPr lang="en-GB" b="1" dirty="0"/>
              <a:t>UI layer</a:t>
            </a:r>
            <a:r>
              <a:rPr lang="en-GB" dirty="0"/>
              <a:t>)</a:t>
            </a:r>
          </a:p>
          <a:p>
            <a:r>
              <a:rPr lang="en-GB" b="1" dirty="0"/>
              <a:t>Application layer </a:t>
            </a:r>
            <a:r>
              <a:rPr lang="en-GB" dirty="0"/>
              <a:t>(also known as </a:t>
            </a:r>
            <a:r>
              <a:rPr lang="en-GB" b="1" dirty="0"/>
              <a:t>service layer</a:t>
            </a:r>
            <a:r>
              <a:rPr lang="en-GB" dirty="0"/>
              <a:t>)</a:t>
            </a:r>
          </a:p>
          <a:p>
            <a:r>
              <a:rPr lang="en-GB" b="1" dirty="0"/>
              <a:t>Business logic layer </a:t>
            </a:r>
            <a:r>
              <a:rPr lang="en-GB" dirty="0"/>
              <a:t>(also known as </a:t>
            </a:r>
            <a:r>
              <a:rPr lang="en-GB" b="1" dirty="0"/>
              <a:t>domain layer</a:t>
            </a:r>
            <a:r>
              <a:rPr lang="en-GB" dirty="0"/>
              <a:t>)</a:t>
            </a:r>
          </a:p>
          <a:p>
            <a:r>
              <a:rPr lang="en-GB" b="1" dirty="0"/>
              <a:t>Data access layer</a:t>
            </a:r>
            <a:r>
              <a:rPr lang="en-GB" dirty="0"/>
              <a:t> (also known as </a:t>
            </a:r>
            <a:r>
              <a:rPr lang="en-GB" b="1" dirty="0"/>
              <a:t>persistence layer</a:t>
            </a:r>
            <a:r>
              <a:rPr lang="en-GB" dirty="0"/>
              <a:t>)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655" y="3005092"/>
            <a:ext cx="1790700" cy="3133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183" y="3813995"/>
            <a:ext cx="3529490" cy="2324822"/>
          </a:xfrm>
          <a:prstGeom prst="rect">
            <a:avLst/>
          </a:prstGeom>
        </p:spPr>
      </p:pic>
      <p:pic>
        <p:nvPicPr>
          <p:cNvPr id="7" name="Picture 2" descr="Image result for sample layered patter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27" y="3517240"/>
            <a:ext cx="4438650" cy="271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24527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13197" y="1594566"/>
            <a:ext cx="4892899" cy="35183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tr-TR" dirty="0"/>
          </a:p>
          <a:p>
            <a:pPr lvl="1"/>
            <a:r>
              <a:rPr lang="tr-TR" dirty="0"/>
              <a:t>Different levels of abstraction</a:t>
            </a:r>
          </a:p>
          <a:p>
            <a:pPr lvl="1"/>
            <a:r>
              <a:rPr lang="tr-TR" dirty="0"/>
              <a:t>Requests go down, notifictions go back up</a:t>
            </a:r>
          </a:p>
          <a:p>
            <a:pPr lvl="1"/>
            <a:r>
              <a:rPr lang="tr-TR" dirty="0"/>
              <a:t>Possible to define stable interaces between layers</a:t>
            </a:r>
          </a:p>
          <a:p>
            <a:pPr lvl="1"/>
            <a:r>
              <a:rPr lang="tr-TR" dirty="0"/>
              <a:t>May add or change layers over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0540" y="315395"/>
            <a:ext cx="30972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/>
              <a:t>Layered pattern</a:t>
            </a:r>
            <a:endParaRPr lang="en-US" sz="2800" dirty="0"/>
          </a:p>
        </p:txBody>
      </p:sp>
      <p:pic>
        <p:nvPicPr>
          <p:cNvPr id="1028" name="Picture 4" descr="Image result for sample layered patter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239" y="1262129"/>
            <a:ext cx="6205563" cy="4641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2812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0752" y="1825624"/>
            <a:ext cx="6297770" cy="43513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tr-TR" dirty="0"/>
              <a:t>Start with the lowest later</a:t>
            </a:r>
          </a:p>
          <a:p>
            <a:r>
              <a:rPr lang="tr-TR" dirty="0"/>
              <a:t>Build layers on top</a:t>
            </a:r>
          </a:p>
          <a:p>
            <a:r>
              <a:rPr lang="tr-TR" dirty="0"/>
              <a:t>Use s</a:t>
            </a:r>
            <a:r>
              <a:rPr lang="en-US" dirty="0"/>
              <a:t>a</a:t>
            </a:r>
            <a:r>
              <a:rPr lang="tr-TR" dirty="0"/>
              <a:t>me </a:t>
            </a:r>
            <a:r>
              <a:rPr lang="en-US" dirty="0"/>
              <a:t>l</a:t>
            </a:r>
            <a:r>
              <a:rPr lang="tr-TR" dirty="0"/>
              <a:t>evel</a:t>
            </a:r>
            <a:r>
              <a:rPr lang="en-US" dirty="0"/>
              <a:t> </a:t>
            </a:r>
            <a:r>
              <a:rPr lang="tr-TR" dirty="0"/>
              <a:t>of abstraction within each layer</a:t>
            </a:r>
          </a:p>
          <a:p>
            <a:r>
              <a:rPr lang="tr-TR" dirty="0"/>
              <a:t>Componenets cannot spread over two layers</a:t>
            </a:r>
          </a:p>
          <a:p>
            <a:r>
              <a:rPr lang="tr-TR" dirty="0"/>
              <a:t>Keey lower layers lean</a:t>
            </a:r>
          </a:p>
          <a:p>
            <a:r>
              <a:rPr lang="tr-TR" dirty="0"/>
              <a:t>Spec</a:t>
            </a:r>
            <a:r>
              <a:rPr lang="en-US" dirty="0" err="1"/>
              <a:t>i</a:t>
            </a:r>
            <a:r>
              <a:rPr lang="tr-TR" dirty="0"/>
              <a:t>fy </a:t>
            </a:r>
            <a:r>
              <a:rPr lang="en-US" dirty="0"/>
              <a:t>i</a:t>
            </a:r>
            <a:r>
              <a:rPr lang="tr-TR" dirty="0"/>
              <a:t>nterfaces for each layer</a:t>
            </a:r>
          </a:p>
          <a:p>
            <a:r>
              <a:rPr lang="tr-TR" dirty="0"/>
              <a:t>Handle errors at the lowest level possible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650540" y="315395"/>
            <a:ext cx="30972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/>
              <a:t>Layered pattern</a:t>
            </a:r>
            <a:endParaRPr lang="en-US" sz="2800" dirty="0"/>
          </a:p>
        </p:txBody>
      </p:sp>
      <p:pic>
        <p:nvPicPr>
          <p:cNvPr id="2052" name="Picture 4" descr="Image result for sample layered patter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923" y="1954127"/>
            <a:ext cx="4009041" cy="387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4403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E378C-7F3C-4933-8F10-3239DE84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layers?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00D7E6-8710-4A00-939D-FE0A79624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1846263"/>
            <a:ext cx="7031151" cy="4431916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C069B-CB2C-4EA4-A89E-064EAD867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341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90A77-E4BC-4ECC-9E14-5E22AD523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C94A4-DA5B-4800-BFD7-E8CABA9D9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MonotypeSorts"/>
              </a:rPr>
              <a:t>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omicSansMS-Bold"/>
              </a:rPr>
              <a:t>Examples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339A"/>
                </a:solidFill>
                <a:latin typeface="Wingdings" panose="05000000000000000000" pitchFamily="2" charset="2"/>
              </a:rPr>
              <a:t> </a:t>
            </a:r>
            <a:r>
              <a:rPr lang="en-US" sz="1800" b="1" i="0" u="none" strike="noStrike" baseline="0" dirty="0">
                <a:solidFill>
                  <a:srgbClr val="00339A"/>
                </a:solidFill>
                <a:latin typeface="ComicSansMS-Bold"/>
              </a:rPr>
              <a:t>databases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339A"/>
                </a:solidFill>
                <a:latin typeface="Wingdings" panose="05000000000000000000" pitchFamily="2" charset="2"/>
              </a:rPr>
              <a:t> </a:t>
            </a:r>
            <a:r>
              <a:rPr lang="en-US" sz="1800" b="1" i="0" u="none" strike="noStrike" baseline="0" dirty="0">
                <a:solidFill>
                  <a:srgbClr val="00339A"/>
                </a:solidFill>
                <a:latin typeface="ComicSansMS-Bold"/>
              </a:rPr>
              <a:t>blackboard expert systems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339A"/>
                </a:solidFill>
                <a:latin typeface="Wingdings" panose="05000000000000000000" pitchFamily="2" charset="2"/>
              </a:rPr>
              <a:t> </a:t>
            </a:r>
            <a:r>
              <a:rPr lang="en-US" sz="1800" b="1" i="0" u="none" strike="noStrike" baseline="0" dirty="0">
                <a:solidFill>
                  <a:srgbClr val="00339A"/>
                </a:solidFill>
                <a:latin typeface="ComicSansMS-Bold"/>
              </a:rPr>
              <a:t>programming environments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MonotypeSorts"/>
              </a:rPr>
              <a:t>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omicSansMS-Bold"/>
              </a:rPr>
              <a:t>Interesting properties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339A"/>
                </a:solidFill>
                <a:latin typeface="Wingdings" panose="05000000000000000000" pitchFamily="2" charset="2"/>
              </a:rPr>
              <a:t> </a:t>
            </a:r>
            <a:r>
              <a:rPr lang="en-US" sz="1800" b="1" i="0" u="none" strike="noStrike" baseline="0" dirty="0">
                <a:solidFill>
                  <a:srgbClr val="00339A"/>
                </a:solidFill>
                <a:latin typeface="ComicSansMS-Bold"/>
              </a:rPr>
              <a:t>can choose where the locus of control is (agents, blackboard, both)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339A"/>
                </a:solidFill>
                <a:latin typeface="Wingdings" panose="05000000000000000000" pitchFamily="2" charset="2"/>
              </a:rPr>
              <a:t> </a:t>
            </a:r>
            <a:r>
              <a:rPr lang="en-US" sz="1800" b="1" i="0" u="none" strike="noStrike" baseline="0" dirty="0">
                <a:solidFill>
                  <a:srgbClr val="00339A"/>
                </a:solidFill>
                <a:latin typeface="ComicSansMS-Bold"/>
              </a:rPr>
              <a:t>reduce the need to duplicate complex data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MonotypeSorts"/>
              </a:rPr>
              <a:t>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omicSansMS-Bold"/>
              </a:rPr>
              <a:t>Disadvantages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339A"/>
                </a:solidFill>
                <a:latin typeface="Wingdings" panose="05000000000000000000" pitchFamily="2" charset="2"/>
              </a:rPr>
              <a:t> </a:t>
            </a:r>
            <a:r>
              <a:rPr lang="en-US" sz="1800" b="1" i="0" u="none" strike="noStrike" baseline="0" dirty="0">
                <a:solidFill>
                  <a:srgbClr val="00339A"/>
                </a:solidFill>
                <a:latin typeface="ComicSansMS-Bold"/>
              </a:rPr>
              <a:t>blackboard becomes a bottleneck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EA74FA-F435-481A-A656-798FBB1CF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39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F6333B-4F1E-4E50-8088-08B335034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736" y="1895264"/>
            <a:ext cx="392430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051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B52F3-9B6C-4E6F-9217-D892EC81D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 Style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BB87B-FD8D-41F9-82E3-4BBCA22BC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• Information Systems</a:t>
            </a:r>
          </a:p>
          <a:p>
            <a:r>
              <a:rPr lang="en-US" sz="3600" dirty="0"/>
              <a:t>• Programming Environments</a:t>
            </a:r>
          </a:p>
          <a:p>
            <a:r>
              <a:rPr lang="en-US" sz="3600" dirty="0"/>
              <a:t>• Graphical Editors</a:t>
            </a:r>
          </a:p>
          <a:p>
            <a:r>
              <a:rPr lang="en-US" sz="3600" dirty="0"/>
              <a:t>• AI Knowledge Bases</a:t>
            </a:r>
          </a:p>
          <a:p>
            <a:r>
              <a:rPr lang="en-US" sz="3600" dirty="0"/>
              <a:t>• Reverse Engineering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2DD09-AB46-409F-B4AC-1DA72E1C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1148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EB747-A107-4845-B45A-80B07AD2D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Variant: Model-View-Controller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767AD-467E-4BCD-BF03-8020765B9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r>
              <a:rPr lang="en-GB" sz="1700" dirty="0"/>
              <a:t>This pattern, also known as MVC pattern, divides an interactive application in to 3 parts as,</a:t>
            </a:r>
          </a:p>
          <a:p>
            <a:r>
              <a:rPr lang="en-GB" sz="1700" b="1" dirty="0"/>
              <a:t>model</a:t>
            </a:r>
            <a:r>
              <a:rPr lang="en-GB" sz="1700" dirty="0"/>
              <a:t> — contains the core functionality and data</a:t>
            </a:r>
          </a:p>
          <a:p>
            <a:r>
              <a:rPr lang="en-GB" sz="1700" b="1" dirty="0"/>
              <a:t>view</a:t>
            </a:r>
            <a:r>
              <a:rPr lang="en-GB" sz="1700" dirty="0"/>
              <a:t> — displays the information to the user (more than one view may be defined)</a:t>
            </a:r>
          </a:p>
          <a:p>
            <a:r>
              <a:rPr lang="en-GB" sz="1700" b="1" dirty="0"/>
              <a:t>controller</a:t>
            </a:r>
            <a:r>
              <a:rPr lang="en-GB" sz="1700" dirty="0"/>
              <a:t> — handles the input from the user</a:t>
            </a:r>
          </a:p>
          <a:p>
            <a:r>
              <a:rPr lang="en-GB" sz="1700" b="1" dirty="0"/>
              <a:t>Usage</a:t>
            </a:r>
            <a:r>
              <a:rPr lang="en-GB" sz="1700" dirty="0"/>
              <a:t>:</a:t>
            </a:r>
          </a:p>
          <a:p>
            <a:r>
              <a:rPr lang="en-GB" sz="1700" dirty="0"/>
              <a:t>Architecture for World Wide Web applications in major programming languages. </a:t>
            </a:r>
          </a:p>
          <a:p>
            <a:r>
              <a:rPr lang="en-GB" sz="1700" dirty="0"/>
              <a:t>Web frameworks such as </a:t>
            </a:r>
            <a:r>
              <a:rPr lang="en-GB" sz="1700" b="1" dirty="0">
                <a:hlinkClick r:id="rId2"/>
              </a:rPr>
              <a:t>Django </a:t>
            </a:r>
            <a:r>
              <a:rPr lang="en-GB" sz="1700" dirty="0"/>
              <a:t>and </a:t>
            </a:r>
            <a:r>
              <a:rPr lang="en-GB" sz="1700" b="1" dirty="0">
                <a:hlinkClick r:id="rId3"/>
              </a:rPr>
              <a:t>Rails</a:t>
            </a:r>
            <a:r>
              <a:rPr lang="en-GB" sz="1700" dirty="0"/>
              <a:t>.</a:t>
            </a:r>
          </a:p>
          <a:p>
            <a:r>
              <a:rPr lang="en-GB" sz="1700" dirty="0" err="1"/>
              <a:t>JavaSpring</a:t>
            </a:r>
            <a:r>
              <a:rPr lang="en-GB" sz="1700" dirty="0"/>
              <a:t> boot, PHP Laravel, Asp.NET MVC)</a:t>
            </a:r>
          </a:p>
          <a:p>
            <a:endParaRPr lang="en-GB" sz="1700" dirty="0"/>
          </a:p>
          <a:p>
            <a:endParaRPr lang="en-US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87847D-E217-5A73-B0AE-05032021D4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587" y="2723745"/>
            <a:ext cx="4027251" cy="21595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8A0FBE-92EA-46C4-8786-B9E2C6820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2925E92-DD69-4B30-91D7-BC3CA833981C}" type="slidenum">
              <a:rPr lang="en-US" smtClean="0"/>
              <a:pPr>
                <a:spcAft>
                  <a:spcPts val="600"/>
                </a:spcAft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3822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9E70A-DECE-6956-55E0-603F9C41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5E92-DD69-4B30-91D7-BC3CA833981C}" type="slidenum">
              <a:rPr lang="en-US" smtClean="0"/>
              <a:t>42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C49FBC-9C8C-28E9-4BBB-4A8265A7A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26" y="680936"/>
            <a:ext cx="10398868" cy="546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271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411" y="-212460"/>
            <a:ext cx="12637104" cy="7070460"/>
          </a:xfrm>
        </p:spPr>
      </p:pic>
    </p:spTree>
    <p:extLst>
      <p:ext uri="{BB962C8B-B14F-4D97-AF65-F5344CB8AC3E}">
        <p14:creationId xmlns:p14="http://schemas.microsoft.com/office/powerpoint/2010/main" val="7492520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1273A4-DCF5-44D5-9424-0C64C5540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1361-66D7-4C6D-A462-B780D05B41E3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06226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1540</TotalTime>
  <Words>2067</Words>
  <Application>Microsoft Office PowerPoint</Application>
  <PresentationFormat>Widescreen</PresentationFormat>
  <Paragraphs>316</Paragraphs>
  <Slides>44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Arial</vt:lpstr>
      <vt:lpstr>Calibri</vt:lpstr>
      <vt:lpstr>Calibri Light</vt:lpstr>
      <vt:lpstr>ComicSansMS-Bold</vt:lpstr>
      <vt:lpstr>MonotypeSorts</vt:lpstr>
      <vt:lpstr>Wingdings</vt:lpstr>
      <vt:lpstr>Retrospect</vt:lpstr>
      <vt:lpstr>Office Theme</vt:lpstr>
      <vt:lpstr>Software Engineering </vt:lpstr>
      <vt:lpstr>Software architecture</vt:lpstr>
      <vt:lpstr>Software Architecture</vt:lpstr>
      <vt:lpstr>Architecture vs. design</vt:lpstr>
      <vt:lpstr>Analysis vs. Design</vt:lpstr>
      <vt:lpstr>Analysis vs. Design</vt:lpstr>
      <vt:lpstr>Levels of abstraction</vt:lpstr>
      <vt:lpstr>Architecture vs. design</vt:lpstr>
      <vt:lpstr>PowerPoint Presentation</vt:lpstr>
      <vt:lpstr>Example</vt:lpstr>
      <vt:lpstr>Architectural considerations</vt:lpstr>
      <vt:lpstr>Architectural Building blocks </vt:lpstr>
      <vt:lpstr>Package</vt:lpstr>
      <vt:lpstr>Component</vt:lpstr>
      <vt:lpstr>Node </vt:lpstr>
      <vt:lpstr>Framework</vt:lpstr>
      <vt:lpstr>Architectural Patterns</vt:lpstr>
      <vt:lpstr>Architectural Pattern Vs Design Pattern</vt:lpstr>
      <vt:lpstr>Software Architectures</vt:lpstr>
      <vt:lpstr>Pipe-and-filter</vt:lpstr>
      <vt:lpstr>Pipe-and-filter – Example </vt:lpstr>
      <vt:lpstr>Pipe-and-filter – Example </vt:lpstr>
      <vt:lpstr>Pipe and Filter Advantages</vt:lpstr>
      <vt:lpstr>Pipe and Filter Disadvantages</vt:lpstr>
      <vt:lpstr>Object Oriented Architectures</vt:lpstr>
      <vt:lpstr>Variant 1: Client Server</vt:lpstr>
      <vt:lpstr>Variant 2- Master-slave pattern</vt:lpstr>
      <vt:lpstr>Variant 3: Object Brokers</vt:lpstr>
      <vt:lpstr>Broker Architecture Example</vt:lpstr>
      <vt:lpstr>Peer-to-peer pattern</vt:lpstr>
      <vt:lpstr>Event based (implicit invocation)</vt:lpstr>
      <vt:lpstr>PowerPoint Presentation</vt:lpstr>
      <vt:lpstr> Event-bus pattern-Example </vt:lpstr>
      <vt:lpstr> Layered pattern</vt:lpstr>
      <vt:lpstr>Common layers of a general information system</vt:lpstr>
      <vt:lpstr>PowerPoint Presentation</vt:lpstr>
      <vt:lpstr>PowerPoint Presentation</vt:lpstr>
      <vt:lpstr>How many layers?</vt:lpstr>
      <vt:lpstr>Repositories</vt:lpstr>
      <vt:lpstr>Repository Style Examples</vt:lpstr>
      <vt:lpstr>Variant: Model-View-Controller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Irum Inayat</dc:creator>
  <cp:lastModifiedBy>Administrator</cp:lastModifiedBy>
  <cp:revision>73</cp:revision>
  <dcterms:created xsi:type="dcterms:W3CDTF">2021-05-04T05:27:42Z</dcterms:created>
  <dcterms:modified xsi:type="dcterms:W3CDTF">2023-04-06T03:05:20Z</dcterms:modified>
</cp:coreProperties>
</file>