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EDB2B3-BE89-40D4-951B-5A667385375A}" type="datetimeFigureOut">
              <a:rPr lang="en-PK" smtClean="0"/>
              <a:t>15/02/2026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B2822-FD16-463D-8C0C-7EA99CAE90F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4540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3337C6B-59FC-4F10-82FD-96E21B5F1FF6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2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2B4F-3F90-494A-BC6C-B034DBA439C7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5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82E4821-E185-4D7E-A5AB-A8E893978A2D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8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6CE2-5E49-4931-A01E-AF1BB10944DE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3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03EF1-7DA6-4A78-9A1D-C5C0FCFD2990}" type="datetime1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5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8C4C-9E93-4FF2-A10C-BBE64908AEE7}" type="datetime1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12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DB17-18A9-481F-A312-5E06335B1951}" type="datetime1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2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74A11D-C2CB-41AD-AE54-DE9901E7871D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6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2E1-B6A6-48A8-AECB-CA68FFA4080C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5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851C-821E-4EE9-9698-105BBAFDA462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0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5AE7815-0D5B-4286-8BF8-20AE32B0DB71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4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58FC4CF-4774-4E1E-8FDC-868DFB3B6A24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0990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Architecture of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Systematic toolkit for innovation</a:t>
            </a:r>
          </a:p>
          <a:p>
            <a:r>
              <a:t>No need to wait for a Eureka moment</a:t>
            </a:r>
          </a:p>
          <a:p>
            <a:r>
              <a:t>Output: Structured opportunities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F9B99-814F-CB3A-365A-C3A50D161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Innovation: Process vs Accident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Amateur: waits for inspiration</a:t>
            </a:r>
          </a:p>
          <a:p>
            <a:r>
              <a:t>Professional: uses frameworks</a:t>
            </a:r>
          </a:p>
          <a:p>
            <a:r>
              <a:t>Systematic innovation is repeatable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72D18-D19B-82EF-A485-27E0DBAD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Lenses of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Microscope – Customer pain</a:t>
            </a:r>
          </a:p>
          <a:p>
            <a:r>
              <a:t>Mirror – Existing assets</a:t>
            </a:r>
          </a:p>
          <a:p>
            <a:r>
              <a:t>Binoculars – Observation</a:t>
            </a:r>
          </a:p>
          <a:p>
            <a:r>
              <a:t>Prism – New combinations</a:t>
            </a:r>
          </a:p>
          <a:p>
            <a:r>
              <a:t>Telescope – Future-backwards</a:t>
            </a:r>
          </a:p>
          <a:p>
            <a:r>
              <a:t>Blueprint – Intrapreneurship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7AC92-0496-0CBC-4C27-76E64F40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Lens 1: Microscope (Customer Pain)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real customer struggles</a:t>
            </a:r>
          </a:p>
          <a:p>
            <a:r>
              <a:t>Jobs To Be Done (JTBD)</a:t>
            </a:r>
          </a:p>
          <a:p>
            <a:r>
              <a:t>Customers hire products to progress</a:t>
            </a:r>
          </a:p>
          <a:p>
            <a:r>
              <a:t>Examples: Airbnb, Uber, Salesforce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1E4AB-BE3E-3125-7358-7659824B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Lens 2: Binoculars (Observation)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Watch what users do, not say</a:t>
            </a:r>
          </a:p>
          <a:p>
            <a:r>
              <a:rPr dirty="0"/>
              <a:t>Analogous inspiration</a:t>
            </a:r>
            <a:r>
              <a:rPr lang="en-US" dirty="0"/>
              <a:t> (who else solved similar problem?)</a:t>
            </a:r>
            <a:endParaRPr dirty="0"/>
          </a:p>
          <a:p>
            <a:r>
              <a:rPr dirty="0"/>
              <a:t>Edge user analysis</a:t>
            </a:r>
            <a:r>
              <a:rPr lang="en-US" dirty="0"/>
              <a:t> (not average but power users)</a:t>
            </a:r>
            <a:endParaRPr dirty="0"/>
          </a:p>
          <a:p>
            <a:r>
              <a:rPr dirty="0"/>
              <a:t>Examples: Netflix, GoPro, Amazon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937C5-5DAA-31F4-7014-9D21E008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Lens 3: Telescope (Future-Backwards)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from future scenario</a:t>
            </a:r>
          </a:p>
          <a:p>
            <a:r>
              <a:t>Work backward to today</a:t>
            </a:r>
          </a:p>
          <a:p>
            <a:r>
              <a:t>Trend convergence</a:t>
            </a:r>
          </a:p>
          <a:p>
            <a:r>
              <a:t>Examples: Instagram, Tesla, Microsoft Copilot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05F71-BB41-13CF-05D2-3B9A6197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Lens 4: Mirror (Assets &amp; Resources)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Innovate using what you have</a:t>
            </a:r>
          </a:p>
          <a:p>
            <a:r>
              <a:t>Leverage core strengths</a:t>
            </a:r>
          </a:p>
          <a:p>
            <a:r>
              <a:t>Examples: AWS, Google Maps, Cirque du Soleil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3AE62-AD27-2F3C-906C-70AE2AE2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Lens 5: Prism (Structured Ideation)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Force new connections</a:t>
            </a:r>
          </a:p>
          <a:p>
            <a:r>
              <a:rPr dirty="0"/>
              <a:t>SCAMPER framework</a:t>
            </a:r>
            <a:r>
              <a:rPr lang="en-US" dirty="0"/>
              <a:t> (Substitute, Combine, Adapt, Modify/Magnify, Put to another use, Eliminate, Rearrange/Reverse )</a:t>
            </a:r>
            <a:endParaRPr dirty="0"/>
          </a:p>
          <a:p>
            <a:r>
              <a:rPr dirty="0"/>
              <a:t>Business Model Canvas pivots</a:t>
            </a:r>
          </a:p>
          <a:p>
            <a:r>
              <a:rPr dirty="0"/>
              <a:t>Examples: Dyson, IBM, Adobe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7B960-A0F5-D930-F853-0F499C58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Lens 6: Blueprint (Intrapreneurship)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Innovation inside organizations</a:t>
            </a:r>
          </a:p>
          <a:p>
            <a:r>
              <a:t>70–20–10 rule</a:t>
            </a:r>
          </a:p>
          <a:p>
            <a:r>
              <a:t>Two-pizza teams</a:t>
            </a:r>
          </a:p>
          <a:p>
            <a:r>
              <a:t>Examples: Gmail, Waymo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6929E-AF45-5FD6-29BE-B7D2554C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Lens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pain → JTBD</a:t>
            </a:r>
          </a:p>
          <a:p>
            <a:r>
              <a:t>Strong assets → Asset-driven</a:t>
            </a:r>
          </a:p>
          <a:p>
            <a:r>
              <a:t>Crowded market → SCAMPER / Blue Ocean</a:t>
            </a:r>
          </a:p>
          <a:p>
            <a:r>
              <a:t>Future bets → Trend convergence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12C3C-FA85-6543-68AC-8A9A4562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Frameworks Effectively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Mix 2–3 lenses</a:t>
            </a:r>
          </a:p>
          <a:p>
            <a:r>
              <a:t>Quantity before quality</a:t>
            </a:r>
          </a:p>
          <a:p>
            <a:r>
              <a:t>Entrepreneurs: start with pain</a:t>
            </a:r>
          </a:p>
          <a:p>
            <a:r>
              <a:t>Intrapreneurs: start with assets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DF028-4691-CD8F-251E-520A011F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Next Step: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Ideas are hypotheses</a:t>
            </a:r>
          </a:p>
          <a:p>
            <a:r>
              <a:t>Validate with customers</a:t>
            </a:r>
          </a:p>
          <a:p>
            <a:r>
              <a:t>Use interviews, prototypes, MVPs</a:t>
            </a:r>
          </a:p>
          <a:p>
            <a:r>
              <a:t>Do not build before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FCC5A-D5D1-9208-84BB-0A432549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Stop waiting for inspiration</a:t>
            </a:r>
          </a:p>
          <a:p>
            <a:r>
              <a:t>Use the lenses</a:t>
            </a:r>
          </a:p>
          <a:p>
            <a:r>
              <a:t>Pick one and start today</a:t>
            </a:r>
          </a:p>
          <a:p>
            <a:r>
              <a:t>Innovation is a decision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F7550-2167-8AF7-236A-4CAB2418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14</TotalTime>
  <Words>348</Words>
  <Application>Microsoft Office PowerPoint</Application>
  <PresentationFormat>On-screen Show (4:3)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Gill Sans MT</vt:lpstr>
      <vt:lpstr>Wingdings 2</vt:lpstr>
      <vt:lpstr>Dividend</vt:lpstr>
      <vt:lpstr>The Architecture of Ideas</vt:lpstr>
      <vt:lpstr>Innovation: Process vs Accident</vt:lpstr>
      <vt:lpstr>Six Lenses of Innovation</vt:lpstr>
      <vt:lpstr>Lens 1: Microscope (Customer Pain)</vt:lpstr>
      <vt:lpstr>Lens 2: Binoculars (Observation)</vt:lpstr>
      <vt:lpstr>Lens 3: Telescope (Future-Backwards)</vt:lpstr>
      <vt:lpstr>Lens 4: Mirror (Assets &amp; Resources)</vt:lpstr>
      <vt:lpstr>Lens 5: Prism (Structured Ideation)</vt:lpstr>
      <vt:lpstr>Lens 6: Blueprint (Intrapreneurship)</vt:lpstr>
      <vt:lpstr>Choosing the Right Lens</vt:lpstr>
      <vt:lpstr>Using Frameworks Effectively</vt:lpstr>
      <vt:lpstr>Critical Next Step: Validation</vt:lpstr>
      <vt:lpstr>Final Message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Fariah Rafiq</cp:lastModifiedBy>
  <cp:revision>4</cp:revision>
  <dcterms:created xsi:type="dcterms:W3CDTF">2013-01-27T09:14:16Z</dcterms:created>
  <dcterms:modified xsi:type="dcterms:W3CDTF">2026-02-15T18:37:10Z</dcterms:modified>
  <cp:category/>
</cp:coreProperties>
</file>